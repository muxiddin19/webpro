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29217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Week 4 Friday. Today we learn JavaScript DOM and Events – the skill that makes web pages interactive and dynamic. Every button click, form validation, and live update students see on the web is powered by exactly what we cover today.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 roadmap for the 90-minute session. Emphasise the career corner at the end – DOM manipulation is asked in virtually every front-end job interview.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Analogy: the DOM is like a family tree. 'document' is the root ancestor. Every HTML element is a family member. JavaScript is like a messenger that can visit any family member, read their info, or change what they say/look like.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three-panel diagram shows the pipeline: (1) HTML text → (2) DOM tree inside the browser memory → (3) JS manipulates the DOM → screen updates. The key insight is 'no page reload' – this is how modern SPAs work.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students 30 seconds. The answer is 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Confirm: DOM = Document Object Model. Briefly show the browser DevTools (F12 → Elements tab) to show the live DOM tree.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querySelector is the modern standard. getElementById is older but still faster and commonly seen in production code. querySelectorAll is essential for working with lists of items.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Remind students: these CSS selectors are exactly the ones they learned in Week 3. JavaScript reuses the same syntax. This is why CSS knowledge is so valuable.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C — querySelectorAll returns a NodeList of ALL matching elements.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live example in browser console: document.querySelectorAll('p') on any page.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Emphasise the security note about innerHTML: NEVER put raw user input into innerHTML – it can execute malicious scripts (XSS attack). Always use textContent for user-provided text.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classList.toggle is extremely common in real projects: hamburger menu open/close, dark-mode buttons, accordion expand/collapse. Have students try: document.body.classList.toggle('dark') in the console of any webpage.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B — XSS (Cross-Site Scripting). This is a real security vulnerability. Always use textContent for user-provided strings.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XSS is one of the OWASP Top 10 security vulnerabilities. Mention that KAKAO, Naver, and every major Korean tech company has security checks for this in code review.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addEventListener is the ONLY modern way to attach events. The old onclick='...' HTML attribute approach is discouraged. Arrow functions are now standard in industry code – this is a good moment to introduce them if students haven't seen them.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e.preventDefault() is crucial for form handling – without it the form submits and reloads the page, losing the user's data. This is one of the most common beginner mistakes.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Event delegation is a professional performance technique: instead of adding a listener to 100 list items, add ONE listener to the parent. Used heavily in React, vanilla todo apps, and table row selection.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C — e.preventDefault() stops the default form submission behaviour (page reload).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 create a basic form without preventDefault, show reload, then add it and show the data stays. Very effective 2-minute demo.</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Real-world use: adding comments to a post, adding items to a shopping cart, building a dynamic table from API data. This is core to every web app.</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Have students code this live with you. It takes about 10 minutes and covers everything from today. The click-to-delete feature (adding a listener to a dynamically created element) is a common interview question.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Answer: B — create first, configure, then attach to the DOM.</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Bonus: inserting a node before attaching listeners to it means those listeners work correctly. Attaching to document first then adding listeners is fine too, but show the clean pattern.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motivates students to master today's DOM fundamentals. Fetch week is typically Week 6 or 7. Having a clear roadmap increases engagement.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Spend 3 minutes on this slide. Point out that ALL of today's content maps directly to real interview questions at Korean tech companies. This is not just for the exam.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color palette project is highly visual and shareable on GitHub. Students who complete the extra credit learn localStorage early, which is used in Week 8. Encourage them to share screenshots in the class chat.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'If you can select an element, change its content, and respond to a click, you can build ANY user interface. The rest is just practice.' Week 5 preview: Fetch API + async/await.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109728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88952" cy="402336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371600"/>
            <a:ext cx="10972800" cy="1280160"/>
          </a:xfrm>
          <a:prstGeom prst="rect">
            <a:avLst/>
          </a:prstGeom>
          <a:noFill/>
        </p:spPr>
        <p:txBody>
          <a:bodyPr wrap="square">
            <a:spAutoFit/>
          </a:bodyPr>
          <a:lstStyle/>
          <a:p>
            <a:pPr algn="l"/>
            <a:r>
              <a:rPr sz="7200" b="1" i="0">
                <a:solidFill>
                  <a:srgbClr val="F7DF1E"/>
                </a:solidFill>
                <a:latin typeface="Calibri"/>
              </a:rPr>
              <a:t>JavaScript</a:t>
            </a:r>
          </a:p>
        </p:txBody>
      </p:sp>
      <p:sp>
        <p:nvSpPr>
          <p:cNvPr id="6" name="TextBox 5"/>
          <p:cNvSpPr txBox="1"/>
          <p:nvPr/>
        </p:nvSpPr>
        <p:spPr>
          <a:xfrm>
            <a:off x="548640" y="2606040"/>
            <a:ext cx="10972800" cy="1097280"/>
          </a:xfrm>
          <a:prstGeom prst="rect">
            <a:avLst/>
          </a:prstGeom>
          <a:noFill/>
        </p:spPr>
        <p:txBody>
          <a:bodyPr wrap="square">
            <a:spAutoFit/>
          </a:bodyPr>
          <a:lstStyle/>
          <a:p>
            <a:pPr algn="l"/>
            <a:r>
              <a:rPr sz="5200" b="1" i="0">
                <a:solidFill>
                  <a:srgbClr val="FFFFFF"/>
                </a:solidFill>
                <a:latin typeface="Calibri"/>
              </a:rPr>
              <a:t>DOM &amp; Events</a:t>
            </a:r>
          </a:p>
        </p:txBody>
      </p:sp>
      <p:sp>
        <p:nvSpPr>
          <p:cNvPr id="7" name="TextBox 6"/>
          <p:cNvSpPr txBox="1"/>
          <p:nvPr/>
        </p:nvSpPr>
        <p:spPr>
          <a:xfrm>
            <a:off x="548640" y="3749039"/>
            <a:ext cx="9144000" cy="457200"/>
          </a:xfrm>
          <a:prstGeom prst="rect">
            <a:avLst/>
          </a:prstGeom>
          <a:noFill/>
        </p:spPr>
        <p:txBody>
          <a:bodyPr wrap="square">
            <a:spAutoFit/>
          </a:bodyPr>
          <a:lstStyle/>
          <a:p>
            <a:pPr algn="l"/>
            <a:r>
              <a:rPr sz="1600" b="0" i="0">
                <a:solidFill>
                  <a:srgbClr val="94A3B8"/>
                </a:solidFill>
                <a:latin typeface="Calibri"/>
              </a:rPr>
              <a:t>Week 4 · Friday  —  Web Programming</a:t>
            </a:r>
          </a:p>
        </p:txBody>
      </p:sp>
      <p:sp>
        <p:nvSpPr>
          <p:cNvPr id="8" name="TextBox 7"/>
          <p:cNvSpPr txBox="1"/>
          <p:nvPr/>
        </p:nvSpPr>
        <p:spPr>
          <a:xfrm>
            <a:off x="548640" y="4251960"/>
            <a:ext cx="9144000" cy="457200"/>
          </a:xfrm>
          <a:prstGeom prst="rect">
            <a:avLst/>
          </a:prstGeom>
          <a:noFill/>
        </p:spPr>
        <p:txBody>
          <a:bodyPr wrap="square">
            <a:spAutoFit/>
          </a:bodyPr>
          <a:lstStyle/>
          <a:p>
            <a:pPr algn="l"/>
            <a:r>
              <a:rPr sz="1300" b="0" i="1">
                <a:solidFill>
                  <a:srgbClr val="38BDF8"/>
                </a:solidFill>
                <a:latin typeface="Calibri"/>
              </a:rPr>
              <a:t>Make web pages ALIVE with code</a:t>
            </a:r>
          </a:p>
        </p:txBody>
      </p:sp>
      <p:sp>
        <p:nvSpPr>
          <p:cNvPr id="9" name="Rectangle 8"/>
          <p:cNvSpPr/>
          <p:nvPr/>
        </p:nvSpPr>
        <p:spPr>
          <a:xfrm>
            <a:off x="10241280" y="4754880"/>
            <a:ext cx="1371600" cy="13716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78440" y="4846320"/>
            <a:ext cx="1097280" cy="1097280"/>
          </a:xfrm>
          <a:prstGeom prst="rect">
            <a:avLst/>
          </a:prstGeom>
          <a:noFill/>
        </p:spPr>
        <p:txBody>
          <a:bodyPr wrap="square">
            <a:spAutoFit/>
          </a:bodyPr>
          <a:lstStyle/>
          <a:p>
            <a:pPr algn="ctr"/>
            <a:r>
              <a:rPr sz="5200" b="1" i="0">
                <a:solidFill>
                  <a:srgbClr val="0D111A"/>
                </a:solidFill>
                <a:latin typeface="Calibri"/>
              </a:rPr>
              <a:t>JS</a:t>
            </a:r>
          </a:p>
        </p:txBody>
      </p:sp>
      <p:sp>
        <p:nvSpPr>
          <p:cNvPr id="11" name="TextBox 10"/>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Today's Roadmap</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88720"/>
            <a:ext cx="5303520" cy="155448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188720"/>
            <a:ext cx="502920" cy="155448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0624" y="1691640"/>
            <a:ext cx="411480" cy="548640"/>
          </a:xfrm>
          <a:prstGeom prst="rect">
            <a:avLst/>
          </a:prstGeom>
          <a:noFill/>
        </p:spPr>
        <p:txBody>
          <a:bodyPr wrap="square">
            <a:spAutoFit/>
          </a:bodyPr>
          <a:lstStyle/>
          <a:p>
            <a:pPr algn="ctr"/>
            <a:r>
              <a:rPr sz="1600" b="1" i="0">
                <a:solidFill>
                  <a:srgbClr val="F7DF1E"/>
                </a:solidFill>
                <a:latin typeface="Calibri"/>
              </a:rPr>
              <a:t>01</a:t>
            </a:r>
          </a:p>
        </p:txBody>
      </p:sp>
      <p:sp>
        <p:nvSpPr>
          <p:cNvPr id="9" name="TextBox 8"/>
          <p:cNvSpPr txBox="1"/>
          <p:nvPr/>
        </p:nvSpPr>
        <p:spPr>
          <a:xfrm>
            <a:off x="960120" y="1325880"/>
            <a:ext cx="4617720" cy="457200"/>
          </a:xfrm>
          <a:prstGeom prst="rect">
            <a:avLst/>
          </a:prstGeom>
          <a:noFill/>
        </p:spPr>
        <p:txBody>
          <a:bodyPr wrap="square">
            <a:spAutoFit/>
          </a:bodyPr>
          <a:lstStyle/>
          <a:p>
            <a:pPr algn="l"/>
            <a:r>
              <a:rPr sz="1400" b="1" i="0">
                <a:solidFill>
                  <a:srgbClr val="FFFFFF"/>
                </a:solidFill>
                <a:latin typeface="Calibri"/>
              </a:rPr>
              <a:t>What is the DOM?</a:t>
            </a:r>
          </a:p>
        </p:txBody>
      </p:sp>
      <p:sp>
        <p:nvSpPr>
          <p:cNvPr id="10" name="TextBox 9"/>
          <p:cNvSpPr txBox="1"/>
          <p:nvPr/>
        </p:nvSpPr>
        <p:spPr>
          <a:xfrm>
            <a:off x="960120" y="1783080"/>
            <a:ext cx="4617720" cy="822960"/>
          </a:xfrm>
          <a:prstGeom prst="rect">
            <a:avLst/>
          </a:prstGeom>
          <a:noFill/>
        </p:spPr>
        <p:txBody>
          <a:bodyPr wrap="square">
            <a:spAutoFit/>
          </a:bodyPr>
          <a:lstStyle/>
          <a:p>
            <a:pPr algn="l"/>
            <a:r>
              <a:rPr sz="1100" b="0" i="0">
                <a:solidFill>
                  <a:srgbClr val="94A3B8"/>
                </a:solidFill>
                <a:latin typeface="Calibri"/>
              </a:rPr>
              <a:t>The tree that represents your web page</a:t>
            </a:r>
          </a:p>
        </p:txBody>
      </p:sp>
      <p:sp>
        <p:nvSpPr>
          <p:cNvPr id="11" name="Rectangle 10"/>
          <p:cNvSpPr/>
          <p:nvPr/>
        </p:nvSpPr>
        <p:spPr>
          <a:xfrm>
            <a:off x="365760" y="2926080"/>
            <a:ext cx="5303520" cy="155448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926080"/>
            <a:ext cx="502920" cy="155448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 y="3429000"/>
            <a:ext cx="411480" cy="548640"/>
          </a:xfrm>
          <a:prstGeom prst="rect">
            <a:avLst/>
          </a:prstGeom>
          <a:noFill/>
        </p:spPr>
        <p:txBody>
          <a:bodyPr wrap="square">
            <a:spAutoFit/>
          </a:bodyPr>
          <a:lstStyle/>
          <a:p>
            <a:pPr algn="ctr"/>
            <a:r>
              <a:rPr sz="1600" b="1" i="0">
                <a:solidFill>
                  <a:srgbClr val="F7DF1E"/>
                </a:solidFill>
                <a:latin typeface="Calibri"/>
              </a:rPr>
              <a:t>02</a:t>
            </a:r>
          </a:p>
        </p:txBody>
      </p:sp>
      <p:sp>
        <p:nvSpPr>
          <p:cNvPr id="14" name="TextBox 13"/>
          <p:cNvSpPr txBox="1"/>
          <p:nvPr/>
        </p:nvSpPr>
        <p:spPr>
          <a:xfrm>
            <a:off x="960120" y="3063240"/>
            <a:ext cx="4617720" cy="457200"/>
          </a:xfrm>
          <a:prstGeom prst="rect">
            <a:avLst/>
          </a:prstGeom>
          <a:noFill/>
        </p:spPr>
        <p:txBody>
          <a:bodyPr wrap="square">
            <a:spAutoFit/>
          </a:bodyPr>
          <a:lstStyle/>
          <a:p>
            <a:pPr algn="l"/>
            <a:r>
              <a:rPr sz="1400" b="1" i="0">
                <a:solidFill>
                  <a:srgbClr val="FFFFFF"/>
                </a:solidFill>
                <a:latin typeface="Calibri"/>
              </a:rPr>
              <a:t>Selecting Elements</a:t>
            </a:r>
          </a:p>
        </p:txBody>
      </p:sp>
      <p:sp>
        <p:nvSpPr>
          <p:cNvPr id="15" name="TextBox 14"/>
          <p:cNvSpPr txBox="1"/>
          <p:nvPr/>
        </p:nvSpPr>
        <p:spPr>
          <a:xfrm>
            <a:off x="960120" y="3520440"/>
            <a:ext cx="4617720" cy="822960"/>
          </a:xfrm>
          <a:prstGeom prst="rect">
            <a:avLst/>
          </a:prstGeom>
          <a:noFill/>
        </p:spPr>
        <p:txBody>
          <a:bodyPr wrap="square">
            <a:spAutoFit/>
          </a:bodyPr>
          <a:lstStyle/>
          <a:p>
            <a:pPr algn="l"/>
            <a:r>
              <a:rPr sz="1100" b="0" i="0">
                <a:solidFill>
                  <a:srgbClr val="94A3B8"/>
                </a:solidFill>
                <a:latin typeface="Calibri"/>
              </a:rPr>
              <a:t>querySelector / getElementById</a:t>
            </a:r>
          </a:p>
        </p:txBody>
      </p:sp>
      <p:sp>
        <p:nvSpPr>
          <p:cNvPr id="16" name="Rectangle 15"/>
          <p:cNvSpPr/>
          <p:nvPr/>
        </p:nvSpPr>
        <p:spPr>
          <a:xfrm>
            <a:off x="365760" y="4663440"/>
            <a:ext cx="5303520" cy="155448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4663440"/>
            <a:ext cx="502920" cy="155448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0624" y="5166360"/>
            <a:ext cx="411480" cy="548640"/>
          </a:xfrm>
          <a:prstGeom prst="rect">
            <a:avLst/>
          </a:prstGeom>
          <a:noFill/>
        </p:spPr>
        <p:txBody>
          <a:bodyPr wrap="square">
            <a:spAutoFit/>
          </a:bodyPr>
          <a:lstStyle/>
          <a:p>
            <a:pPr algn="ctr"/>
            <a:r>
              <a:rPr sz="1600" b="1" i="0">
                <a:solidFill>
                  <a:srgbClr val="F7DF1E"/>
                </a:solidFill>
                <a:latin typeface="Calibri"/>
              </a:rPr>
              <a:t>03</a:t>
            </a:r>
          </a:p>
        </p:txBody>
      </p:sp>
      <p:sp>
        <p:nvSpPr>
          <p:cNvPr id="19" name="TextBox 18"/>
          <p:cNvSpPr txBox="1"/>
          <p:nvPr/>
        </p:nvSpPr>
        <p:spPr>
          <a:xfrm>
            <a:off x="960120" y="4800600"/>
            <a:ext cx="4617720" cy="457200"/>
          </a:xfrm>
          <a:prstGeom prst="rect">
            <a:avLst/>
          </a:prstGeom>
          <a:noFill/>
        </p:spPr>
        <p:txBody>
          <a:bodyPr wrap="square">
            <a:spAutoFit/>
          </a:bodyPr>
          <a:lstStyle/>
          <a:p>
            <a:pPr algn="l"/>
            <a:r>
              <a:rPr sz="1400" b="1" i="0">
                <a:solidFill>
                  <a:srgbClr val="FFFFFF"/>
                </a:solidFill>
                <a:latin typeface="Calibri"/>
              </a:rPr>
              <a:t>Changing Content &amp; Style</a:t>
            </a:r>
          </a:p>
        </p:txBody>
      </p:sp>
      <p:sp>
        <p:nvSpPr>
          <p:cNvPr id="20" name="TextBox 19"/>
          <p:cNvSpPr txBox="1"/>
          <p:nvPr/>
        </p:nvSpPr>
        <p:spPr>
          <a:xfrm>
            <a:off x="960120" y="5257800"/>
            <a:ext cx="4617720" cy="822960"/>
          </a:xfrm>
          <a:prstGeom prst="rect">
            <a:avLst/>
          </a:prstGeom>
          <a:noFill/>
        </p:spPr>
        <p:txBody>
          <a:bodyPr wrap="square">
            <a:spAutoFit/>
          </a:bodyPr>
          <a:lstStyle/>
          <a:p>
            <a:pPr algn="l"/>
            <a:r>
              <a:rPr sz="1100" b="0" i="0">
                <a:solidFill>
                  <a:srgbClr val="94A3B8"/>
                </a:solidFill>
                <a:latin typeface="Calibri"/>
              </a:rPr>
              <a:t>innerHTML, textContent, style</a:t>
            </a:r>
          </a:p>
        </p:txBody>
      </p:sp>
      <p:sp>
        <p:nvSpPr>
          <p:cNvPr id="21" name="Rectangle 20"/>
          <p:cNvSpPr/>
          <p:nvPr/>
        </p:nvSpPr>
        <p:spPr>
          <a:xfrm>
            <a:off x="6309360" y="1188720"/>
            <a:ext cx="5303520" cy="155448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1188720"/>
            <a:ext cx="502920" cy="155448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64224" y="1691640"/>
            <a:ext cx="411480" cy="548640"/>
          </a:xfrm>
          <a:prstGeom prst="rect">
            <a:avLst/>
          </a:prstGeom>
          <a:noFill/>
        </p:spPr>
        <p:txBody>
          <a:bodyPr wrap="square">
            <a:spAutoFit/>
          </a:bodyPr>
          <a:lstStyle/>
          <a:p>
            <a:pPr algn="ctr"/>
            <a:r>
              <a:rPr sz="1600" b="1" i="0">
                <a:solidFill>
                  <a:srgbClr val="F7DF1E"/>
                </a:solidFill>
                <a:latin typeface="Calibri"/>
              </a:rPr>
              <a:t>04</a:t>
            </a:r>
          </a:p>
        </p:txBody>
      </p:sp>
      <p:sp>
        <p:nvSpPr>
          <p:cNvPr id="24" name="TextBox 23"/>
          <p:cNvSpPr txBox="1"/>
          <p:nvPr/>
        </p:nvSpPr>
        <p:spPr>
          <a:xfrm>
            <a:off x="6903720" y="1325880"/>
            <a:ext cx="4617720" cy="457200"/>
          </a:xfrm>
          <a:prstGeom prst="rect">
            <a:avLst/>
          </a:prstGeom>
          <a:noFill/>
        </p:spPr>
        <p:txBody>
          <a:bodyPr wrap="square">
            <a:spAutoFit/>
          </a:bodyPr>
          <a:lstStyle/>
          <a:p>
            <a:pPr algn="l"/>
            <a:r>
              <a:rPr sz="1400" b="1" i="0">
                <a:solidFill>
                  <a:srgbClr val="FFFFFF"/>
                </a:solidFill>
                <a:latin typeface="Calibri"/>
              </a:rPr>
              <a:t>Event Listeners</a:t>
            </a:r>
          </a:p>
        </p:txBody>
      </p:sp>
      <p:sp>
        <p:nvSpPr>
          <p:cNvPr id="25" name="TextBox 24"/>
          <p:cNvSpPr txBox="1"/>
          <p:nvPr/>
        </p:nvSpPr>
        <p:spPr>
          <a:xfrm>
            <a:off x="6903720" y="1783080"/>
            <a:ext cx="4617720" cy="822960"/>
          </a:xfrm>
          <a:prstGeom prst="rect">
            <a:avLst/>
          </a:prstGeom>
          <a:noFill/>
        </p:spPr>
        <p:txBody>
          <a:bodyPr wrap="square">
            <a:spAutoFit/>
          </a:bodyPr>
          <a:lstStyle/>
          <a:p>
            <a:pPr algn="l"/>
            <a:r>
              <a:rPr sz="1100" b="0" i="0">
                <a:solidFill>
                  <a:srgbClr val="94A3B8"/>
                </a:solidFill>
                <a:latin typeface="Calibri"/>
              </a:rPr>
              <a:t>click, input, keydown, submit</a:t>
            </a:r>
          </a:p>
        </p:txBody>
      </p:sp>
      <p:sp>
        <p:nvSpPr>
          <p:cNvPr id="26" name="Rectangle 25"/>
          <p:cNvSpPr/>
          <p:nvPr/>
        </p:nvSpPr>
        <p:spPr>
          <a:xfrm>
            <a:off x="6309360" y="2926080"/>
            <a:ext cx="5303520" cy="155448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60" y="2926080"/>
            <a:ext cx="502920" cy="155448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64224" y="3429000"/>
            <a:ext cx="411480" cy="548640"/>
          </a:xfrm>
          <a:prstGeom prst="rect">
            <a:avLst/>
          </a:prstGeom>
          <a:noFill/>
        </p:spPr>
        <p:txBody>
          <a:bodyPr wrap="square">
            <a:spAutoFit/>
          </a:bodyPr>
          <a:lstStyle/>
          <a:p>
            <a:pPr algn="ctr"/>
            <a:r>
              <a:rPr sz="1600" b="1" i="0">
                <a:solidFill>
                  <a:srgbClr val="F7DF1E"/>
                </a:solidFill>
                <a:latin typeface="Calibri"/>
              </a:rPr>
              <a:t>05</a:t>
            </a:r>
          </a:p>
        </p:txBody>
      </p:sp>
      <p:sp>
        <p:nvSpPr>
          <p:cNvPr id="29" name="TextBox 28"/>
          <p:cNvSpPr txBox="1"/>
          <p:nvPr/>
        </p:nvSpPr>
        <p:spPr>
          <a:xfrm>
            <a:off x="6903720" y="3063240"/>
            <a:ext cx="4617720" cy="457200"/>
          </a:xfrm>
          <a:prstGeom prst="rect">
            <a:avLst/>
          </a:prstGeom>
          <a:noFill/>
        </p:spPr>
        <p:txBody>
          <a:bodyPr wrap="square">
            <a:spAutoFit/>
          </a:bodyPr>
          <a:lstStyle/>
          <a:p>
            <a:pPr algn="l"/>
            <a:r>
              <a:rPr sz="1400" b="1" i="0">
                <a:solidFill>
                  <a:srgbClr val="FFFFFF"/>
                </a:solidFill>
                <a:latin typeface="Calibri"/>
              </a:rPr>
              <a:t>Creating &amp; Removing Nodes</a:t>
            </a:r>
          </a:p>
        </p:txBody>
      </p:sp>
      <p:sp>
        <p:nvSpPr>
          <p:cNvPr id="30" name="TextBox 29"/>
          <p:cNvSpPr txBox="1"/>
          <p:nvPr/>
        </p:nvSpPr>
        <p:spPr>
          <a:xfrm>
            <a:off x="6903720" y="3520440"/>
            <a:ext cx="4617720" cy="822960"/>
          </a:xfrm>
          <a:prstGeom prst="rect">
            <a:avLst/>
          </a:prstGeom>
          <a:noFill/>
        </p:spPr>
        <p:txBody>
          <a:bodyPr wrap="square">
            <a:spAutoFit/>
          </a:bodyPr>
          <a:lstStyle/>
          <a:p>
            <a:pPr algn="l"/>
            <a:r>
              <a:rPr sz="1100" b="0" i="0">
                <a:solidFill>
                  <a:srgbClr val="94A3B8"/>
                </a:solidFill>
                <a:latin typeface="Calibri"/>
              </a:rPr>
              <a:t>createElement, appendChild, remove</a:t>
            </a:r>
          </a:p>
        </p:txBody>
      </p:sp>
      <p:sp>
        <p:nvSpPr>
          <p:cNvPr id="31" name="Rectangle 30"/>
          <p:cNvSpPr/>
          <p:nvPr/>
        </p:nvSpPr>
        <p:spPr>
          <a:xfrm>
            <a:off x="6309360" y="4663440"/>
            <a:ext cx="5303520" cy="155448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09360" y="4663440"/>
            <a:ext cx="502920" cy="155448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64224" y="5166360"/>
            <a:ext cx="411480" cy="548640"/>
          </a:xfrm>
          <a:prstGeom prst="rect">
            <a:avLst/>
          </a:prstGeom>
          <a:noFill/>
        </p:spPr>
        <p:txBody>
          <a:bodyPr wrap="square">
            <a:spAutoFit/>
          </a:bodyPr>
          <a:lstStyle/>
          <a:p>
            <a:pPr algn="ctr"/>
            <a:r>
              <a:rPr sz="1600" b="1" i="0">
                <a:solidFill>
                  <a:srgbClr val="F7DF1E"/>
                </a:solidFill>
                <a:latin typeface="Calibri"/>
              </a:rPr>
              <a:t>06</a:t>
            </a:r>
          </a:p>
        </p:txBody>
      </p:sp>
      <p:sp>
        <p:nvSpPr>
          <p:cNvPr id="34" name="TextBox 33"/>
          <p:cNvSpPr txBox="1"/>
          <p:nvPr/>
        </p:nvSpPr>
        <p:spPr>
          <a:xfrm>
            <a:off x="6903720" y="4800600"/>
            <a:ext cx="4617720" cy="457200"/>
          </a:xfrm>
          <a:prstGeom prst="rect">
            <a:avLst/>
          </a:prstGeom>
          <a:noFill/>
        </p:spPr>
        <p:txBody>
          <a:bodyPr wrap="square">
            <a:spAutoFit/>
          </a:bodyPr>
          <a:lstStyle/>
          <a:p>
            <a:pPr algn="l"/>
            <a:r>
              <a:rPr sz="1400" b="1" i="0">
                <a:solidFill>
                  <a:srgbClr val="FFFFFF"/>
                </a:solidFill>
                <a:latin typeface="Calibri"/>
              </a:rPr>
              <a:t>Career Corner</a:t>
            </a:r>
          </a:p>
        </p:txBody>
      </p:sp>
      <p:sp>
        <p:nvSpPr>
          <p:cNvPr id="35" name="TextBox 34"/>
          <p:cNvSpPr txBox="1"/>
          <p:nvPr/>
        </p:nvSpPr>
        <p:spPr>
          <a:xfrm>
            <a:off x="6903720" y="5257800"/>
            <a:ext cx="4617720" cy="822960"/>
          </a:xfrm>
          <a:prstGeom prst="rect">
            <a:avLst/>
          </a:prstGeom>
          <a:noFill/>
        </p:spPr>
        <p:txBody>
          <a:bodyPr wrap="square">
            <a:spAutoFit/>
          </a:bodyPr>
          <a:lstStyle/>
          <a:p>
            <a:pPr algn="l"/>
            <a:r>
              <a:rPr sz="1100" b="0" i="0">
                <a:solidFill>
                  <a:srgbClr val="94A3B8"/>
                </a:solidFill>
                <a:latin typeface="Calibri"/>
              </a:rPr>
              <a:t>Real job skill – every front-end role needs this</a:t>
            </a:r>
          </a:p>
        </p:txBody>
      </p:sp>
      <p:sp>
        <p:nvSpPr>
          <p:cNvPr id="36" name="TextBox 35"/>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What is the DOM?</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143000"/>
            <a:ext cx="10972800" cy="502920"/>
          </a:xfrm>
          <a:prstGeom prst="rect">
            <a:avLst/>
          </a:prstGeom>
          <a:noFill/>
        </p:spPr>
        <p:txBody>
          <a:bodyPr wrap="square">
            <a:spAutoFit/>
          </a:bodyPr>
          <a:lstStyle/>
          <a:p>
            <a:pPr algn="l"/>
            <a:r>
              <a:rPr sz="2200" b="1" i="0">
                <a:solidFill>
                  <a:srgbClr val="F7DF1E"/>
                </a:solidFill>
                <a:latin typeface="Calibri"/>
              </a:rPr>
              <a:t>DOM = Document Object Model</a:t>
            </a:r>
          </a:p>
        </p:txBody>
      </p:sp>
      <p:sp>
        <p:nvSpPr>
          <p:cNvPr id="7" name="TextBox 6"/>
          <p:cNvSpPr txBox="1"/>
          <p:nvPr/>
        </p:nvSpPr>
        <p:spPr>
          <a:xfrm>
            <a:off x="365760" y="1691640"/>
            <a:ext cx="11430000" cy="914400"/>
          </a:xfrm>
          <a:prstGeom prst="rect">
            <a:avLst/>
          </a:prstGeom>
          <a:noFill/>
        </p:spPr>
        <p:txBody>
          <a:bodyPr wrap="square">
            <a:spAutoFit/>
          </a:bodyPr>
          <a:lstStyle/>
          <a:p>
            <a:pPr algn="l"/>
            <a:r>
              <a:rPr sz="1300" b="0" i="0">
                <a:solidFill>
                  <a:srgbClr val="FFFFFF"/>
                </a:solidFill>
                <a:latin typeface="Calibri"/>
              </a:rPr>
              <a:t>When a browser loads an HTML file, it converts every tag into a JavaScript object and arranges them in a tree structure — that tree is the DOM. JavaScript can read, change, add, or delete any node in the tree, and the browser immediately updates what the user sees.</a:t>
            </a:r>
          </a:p>
        </p:txBody>
      </p:sp>
      <p:sp>
        <p:nvSpPr>
          <p:cNvPr id="8" name="Rectangle 7"/>
          <p:cNvSpPr/>
          <p:nvPr/>
        </p:nvSpPr>
        <p:spPr>
          <a:xfrm>
            <a:off x="5303520" y="2788920"/>
            <a:ext cx="1645920" cy="475488"/>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2862072"/>
            <a:ext cx="1645920" cy="365760"/>
          </a:xfrm>
          <a:prstGeom prst="rect">
            <a:avLst/>
          </a:prstGeom>
          <a:noFill/>
        </p:spPr>
        <p:txBody>
          <a:bodyPr wrap="square">
            <a:spAutoFit/>
          </a:bodyPr>
          <a:lstStyle/>
          <a:p>
            <a:pPr algn="ctr"/>
            <a:r>
              <a:rPr sz="1100" b="1" i="0">
                <a:solidFill>
                  <a:srgbClr val="FFFFFF"/>
                </a:solidFill>
                <a:latin typeface="Calibri"/>
              </a:rPr>
              <a:t>document</a:t>
            </a:r>
          </a:p>
        </p:txBody>
      </p:sp>
      <p:sp>
        <p:nvSpPr>
          <p:cNvPr id="10" name="Rectangle 9"/>
          <p:cNvSpPr/>
          <p:nvPr/>
        </p:nvSpPr>
        <p:spPr>
          <a:xfrm>
            <a:off x="5303520" y="3520440"/>
            <a:ext cx="1645920" cy="47548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0" y="3593592"/>
            <a:ext cx="1645920" cy="365760"/>
          </a:xfrm>
          <a:prstGeom prst="rect">
            <a:avLst/>
          </a:prstGeom>
          <a:noFill/>
        </p:spPr>
        <p:txBody>
          <a:bodyPr wrap="square">
            <a:spAutoFit/>
          </a:bodyPr>
          <a:lstStyle/>
          <a:p>
            <a:pPr algn="ctr"/>
            <a:r>
              <a:rPr sz="1100" b="1" i="0">
                <a:solidFill>
                  <a:srgbClr val="FFFFFF"/>
                </a:solidFill>
                <a:latin typeface="Calibri"/>
              </a:rPr>
              <a:t>&lt;html&gt;</a:t>
            </a:r>
          </a:p>
        </p:txBody>
      </p:sp>
      <p:sp>
        <p:nvSpPr>
          <p:cNvPr id="12" name="Rectangle 11"/>
          <p:cNvSpPr/>
          <p:nvPr/>
        </p:nvSpPr>
        <p:spPr>
          <a:xfrm>
            <a:off x="3200400" y="4343400"/>
            <a:ext cx="1645920" cy="475488"/>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00400" y="4416552"/>
            <a:ext cx="1645920" cy="365760"/>
          </a:xfrm>
          <a:prstGeom prst="rect">
            <a:avLst/>
          </a:prstGeom>
          <a:noFill/>
        </p:spPr>
        <p:txBody>
          <a:bodyPr wrap="square">
            <a:spAutoFit/>
          </a:bodyPr>
          <a:lstStyle/>
          <a:p>
            <a:pPr algn="ctr"/>
            <a:r>
              <a:rPr sz="1100" b="1" i="0">
                <a:solidFill>
                  <a:srgbClr val="FFFFFF"/>
                </a:solidFill>
                <a:latin typeface="Calibri"/>
              </a:rPr>
              <a:t>&lt;head&gt;</a:t>
            </a:r>
          </a:p>
        </p:txBody>
      </p:sp>
      <p:sp>
        <p:nvSpPr>
          <p:cNvPr id="14" name="Rectangle 13"/>
          <p:cNvSpPr/>
          <p:nvPr/>
        </p:nvSpPr>
        <p:spPr>
          <a:xfrm>
            <a:off x="7406640" y="4343400"/>
            <a:ext cx="1645920" cy="475488"/>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0" y="4416552"/>
            <a:ext cx="1645920" cy="365760"/>
          </a:xfrm>
          <a:prstGeom prst="rect">
            <a:avLst/>
          </a:prstGeom>
          <a:noFill/>
        </p:spPr>
        <p:txBody>
          <a:bodyPr wrap="square">
            <a:spAutoFit/>
          </a:bodyPr>
          <a:lstStyle/>
          <a:p>
            <a:pPr algn="ctr"/>
            <a:r>
              <a:rPr sz="1100" b="1" i="0">
                <a:solidFill>
                  <a:srgbClr val="FFFFFF"/>
                </a:solidFill>
                <a:latin typeface="Calibri"/>
              </a:rPr>
              <a:t>&lt;body&gt;</a:t>
            </a:r>
          </a:p>
        </p:txBody>
      </p:sp>
      <p:sp>
        <p:nvSpPr>
          <p:cNvPr id="16" name="Rectangle 15"/>
          <p:cNvSpPr/>
          <p:nvPr/>
        </p:nvSpPr>
        <p:spPr>
          <a:xfrm>
            <a:off x="6217920" y="5166360"/>
            <a:ext cx="1371600" cy="4754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5239512"/>
            <a:ext cx="1371600" cy="365760"/>
          </a:xfrm>
          <a:prstGeom prst="rect">
            <a:avLst/>
          </a:prstGeom>
          <a:noFill/>
        </p:spPr>
        <p:txBody>
          <a:bodyPr wrap="square">
            <a:spAutoFit/>
          </a:bodyPr>
          <a:lstStyle/>
          <a:p>
            <a:pPr algn="ctr"/>
            <a:r>
              <a:rPr sz="1100" b="1" i="0">
                <a:solidFill>
                  <a:srgbClr val="FFFFFF"/>
                </a:solidFill>
                <a:latin typeface="Calibri"/>
              </a:rPr>
              <a:t>&lt;h1&gt;</a:t>
            </a:r>
          </a:p>
        </p:txBody>
      </p:sp>
      <p:sp>
        <p:nvSpPr>
          <p:cNvPr id="18" name="Rectangle 17"/>
          <p:cNvSpPr/>
          <p:nvPr/>
        </p:nvSpPr>
        <p:spPr>
          <a:xfrm>
            <a:off x="7863840" y="5166360"/>
            <a:ext cx="1371600" cy="4754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63840" y="5239512"/>
            <a:ext cx="1371600" cy="365760"/>
          </a:xfrm>
          <a:prstGeom prst="rect">
            <a:avLst/>
          </a:prstGeom>
          <a:noFill/>
        </p:spPr>
        <p:txBody>
          <a:bodyPr wrap="square">
            <a:spAutoFit/>
          </a:bodyPr>
          <a:lstStyle/>
          <a:p>
            <a:pPr algn="ctr"/>
            <a:r>
              <a:rPr sz="1100" b="1" i="0">
                <a:solidFill>
                  <a:srgbClr val="FFFFFF"/>
                </a:solidFill>
                <a:latin typeface="Calibri"/>
              </a:rPr>
              <a:t>&lt;p&gt;</a:t>
            </a:r>
          </a:p>
        </p:txBody>
      </p:sp>
      <p:sp>
        <p:nvSpPr>
          <p:cNvPr id="20" name="Rectangle 19"/>
          <p:cNvSpPr/>
          <p:nvPr/>
        </p:nvSpPr>
        <p:spPr>
          <a:xfrm>
            <a:off x="9509760" y="5166360"/>
            <a:ext cx="1371600" cy="4754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09760" y="5239512"/>
            <a:ext cx="1371600" cy="365760"/>
          </a:xfrm>
          <a:prstGeom prst="rect">
            <a:avLst/>
          </a:prstGeom>
          <a:noFill/>
        </p:spPr>
        <p:txBody>
          <a:bodyPr wrap="square">
            <a:spAutoFit/>
          </a:bodyPr>
          <a:lstStyle/>
          <a:p>
            <a:pPr algn="ctr"/>
            <a:r>
              <a:rPr sz="1100" b="1" i="0">
                <a:solidFill>
                  <a:srgbClr val="FFFFFF"/>
                </a:solidFill>
                <a:latin typeface="Calibri"/>
              </a:rPr>
              <a:t>&lt;div&gt;</a:t>
            </a:r>
          </a:p>
        </p:txBody>
      </p:sp>
      <p:cxnSp>
        <p:nvCxnSpPr>
          <p:cNvPr id="22" name="Connector 21"/>
          <p:cNvCxnSpPr/>
          <p:nvPr/>
        </p:nvCxnSpPr>
        <p:spPr>
          <a:xfrm>
            <a:off x="6126480" y="3264408"/>
            <a:ext cx="0" cy="256032"/>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a:cxnSpLocks/>
          </p:cNvCxnSpPr>
          <p:nvPr/>
        </p:nvCxnSpPr>
        <p:spPr>
          <a:xfrm>
            <a:off x="6126480" y="3995928"/>
            <a:ext cx="0" cy="572516"/>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83710" y="4568444"/>
            <a:ext cx="2103120" cy="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02630" y="4568444"/>
            <a:ext cx="2103120" cy="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a:cxnSpLocks/>
          </p:cNvCxnSpPr>
          <p:nvPr/>
        </p:nvCxnSpPr>
        <p:spPr>
          <a:xfrm>
            <a:off x="7125970" y="5372354"/>
            <a:ext cx="1262380" cy="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a:cxnSpLocks/>
          </p:cNvCxnSpPr>
          <p:nvPr/>
        </p:nvCxnSpPr>
        <p:spPr>
          <a:xfrm>
            <a:off x="8712200" y="5372354"/>
            <a:ext cx="1210310" cy="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a:cxnSpLocks/>
          </p:cNvCxnSpPr>
          <p:nvPr/>
        </p:nvCxnSpPr>
        <p:spPr>
          <a:xfrm>
            <a:off x="8549640" y="4705350"/>
            <a:ext cx="0" cy="584454"/>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5760" y="6035040"/>
            <a:ext cx="7315200" cy="502920"/>
          </a:xfrm>
          <a:prstGeom prst="rect">
            <a:avLst/>
          </a:prstGeom>
          <a:noFill/>
        </p:spPr>
        <p:txBody>
          <a:bodyPr wrap="square">
            <a:spAutoFit/>
          </a:bodyPr>
          <a:lstStyle/>
          <a:p>
            <a:pPr algn="l"/>
            <a:r>
              <a:rPr sz="1200" b="1" i="0">
                <a:solidFill>
                  <a:srgbClr val="4ADE80"/>
                </a:solidFill>
                <a:latin typeface="Calibri"/>
              </a:rPr>
              <a:t>JavaScript can touch ANY node in this tree!</a:t>
            </a:r>
          </a:p>
        </p:txBody>
      </p:sp>
      <p:sp>
        <p:nvSpPr>
          <p:cNvPr id="30" name="TextBox 29"/>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3/27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HTML → DOM → Screen</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400" b="0" i="0">
                <a:solidFill>
                  <a:srgbClr val="94A3B8"/>
                </a:solidFill>
                <a:latin typeface="Calibri"/>
              </a:rPr>
              <a:t>How the browser converts your code into a living page</a:t>
            </a:r>
          </a:p>
        </p:txBody>
      </p:sp>
      <p:sp>
        <p:nvSpPr>
          <p:cNvPr id="7" name="Rectangle 6"/>
          <p:cNvSpPr/>
          <p:nvPr/>
        </p:nvSpPr>
        <p:spPr>
          <a:xfrm>
            <a:off x="274320" y="1691640"/>
            <a:ext cx="3749039" cy="448056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691640"/>
            <a:ext cx="3749039" cy="438912"/>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4048" y="1728216"/>
            <a:ext cx="3566160" cy="365760"/>
          </a:xfrm>
          <a:prstGeom prst="rect">
            <a:avLst/>
          </a:prstGeom>
          <a:noFill/>
        </p:spPr>
        <p:txBody>
          <a:bodyPr wrap="square">
            <a:spAutoFit/>
          </a:bodyPr>
          <a:lstStyle/>
          <a:p>
            <a:pPr algn="l"/>
            <a:r>
              <a:rPr sz="1200" b="1" i="0">
                <a:solidFill>
                  <a:srgbClr val="0D111A"/>
                </a:solidFill>
                <a:latin typeface="Calibri"/>
              </a:rPr>
              <a:t>1  You write HTML</a:t>
            </a:r>
          </a:p>
        </p:txBody>
      </p:sp>
      <p:sp>
        <p:nvSpPr>
          <p:cNvPr id="10" name="TextBox 9"/>
          <p:cNvSpPr txBox="1"/>
          <p:nvPr/>
        </p:nvSpPr>
        <p:spPr>
          <a:xfrm>
            <a:off x="402336" y="2240280"/>
            <a:ext cx="3474720" cy="3749039"/>
          </a:xfrm>
          <a:prstGeom prst="rect">
            <a:avLst/>
          </a:prstGeom>
          <a:noFill/>
        </p:spPr>
        <p:txBody>
          <a:bodyPr wrap="none">
            <a:spAutoFit/>
          </a:bodyPr>
          <a:lstStyle/>
          <a:p>
            <a:r>
              <a:rPr sz="1200">
                <a:solidFill>
                  <a:srgbClr val="FFFFFF"/>
                </a:solidFill>
                <a:latin typeface="Consolas"/>
              </a:rPr>
              <a:t>&lt;body&gt;</a:t>
            </a:r>
          </a:p>
          <a:p>
            <a:r>
              <a:rPr sz="1200">
                <a:solidFill>
                  <a:srgbClr val="FFFFFF"/>
                </a:solidFill>
                <a:latin typeface="Consolas"/>
              </a:rPr>
              <a:t>  &lt;h1&gt;Hello&lt;/h1&gt;</a:t>
            </a:r>
          </a:p>
          <a:p>
            <a:r>
              <a:rPr sz="1200">
                <a:solidFill>
                  <a:srgbClr val="FFFFFF"/>
                </a:solidFill>
                <a:latin typeface="Consolas"/>
              </a:rPr>
              <a:t>  &lt;p&gt;World&lt;/p&gt;</a:t>
            </a:r>
          </a:p>
          <a:p>
            <a:r>
              <a:rPr sz="1200">
                <a:solidFill>
                  <a:srgbClr val="FFFFFF"/>
                </a:solidFill>
                <a:latin typeface="Consolas"/>
              </a:rPr>
              <a:t>&lt;/body&gt;</a:t>
            </a:r>
          </a:p>
        </p:txBody>
      </p:sp>
      <p:sp>
        <p:nvSpPr>
          <p:cNvPr id="11" name="Rectangle 10"/>
          <p:cNvSpPr/>
          <p:nvPr/>
        </p:nvSpPr>
        <p:spPr>
          <a:xfrm>
            <a:off x="4251959" y="1691640"/>
            <a:ext cx="3749039" cy="448056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59" y="1691640"/>
            <a:ext cx="3749039" cy="43891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61687" y="1728216"/>
            <a:ext cx="3566160" cy="365760"/>
          </a:xfrm>
          <a:prstGeom prst="rect">
            <a:avLst/>
          </a:prstGeom>
          <a:noFill/>
        </p:spPr>
        <p:txBody>
          <a:bodyPr wrap="square">
            <a:spAutoFit/>
          </a:bodyPr>
          <a:lstStyle/>
          <a:p>
            <a:pPr algn="l"/>
            <a:r>
              <a:rPr sz="1200" b="1" i="0">
                <a:solidFill>
                  <a:srgbClr val="0D111A"/>
                </a:solidFill>
                <a:latin typeface="Calibri"/>
              </a:rPr>
              <a:t>2  Browser parses</a:t>
            </a:r>
          </a:p>
        </p:txBody>
      </p:sp>
      <p:sp>
        <p:nvSpPr>
          <p:cNvPr id="14" name="TextBox 13"/>
          <p:cNvSpPr txBox="1"/>
          <p:nvPr/>
        </p:nvSpPr>
        <p:spPr>
          <a:xfrm>
            <a:off x="4379975" y="2240280"/>
            <a:ext cx="3474720" cy="3749039"/>
          </a:xfrm>
          <a:prstGeom prst="rect">
            <a:avLst/>
          </a:prstGeom>
          <a:noFill/>
        </p:spPr>
        <p:txBody>
          <a:bodyPr wrap="none">
            <a:spAutoFit/>
          </a:bodyPr>
          <a:lstStyle/>
          <a:p>
            <a:r>
              <a:rPr sz="1200">
                <a:solidFill>
                  <a:srgbClr val="FFFFFF"/>
                </a:solidFill>
                <a:latin typeface="Consolas"/>
              </a:rPr>
              <a:t>document</a:t>
            </a:r>
          </a:p>
          <a:p>
            <a:r>
              <a:rPr sz="1200">
                <a:solidFill>
                  <a:srgbClr val="FFFFFF"/>
                </a:solidFill>
                <a:latin typeface="Consolas"/>
              </a:rPr>
              <a:t>  └─ body</a:t>
            </a:r>
          </a:p>
          <a:p>
            <a:r>
              <a:rPr sz="1200">
                <a:solidFill>
                  <a:srgbClr val="FFFFFF"/>
                </a:solidFill>
                <a:latin typeface="Consolas"/>
              </a:rPr>
              <a:t>     ├─ h1 : "Hello"</a:t>
            </a:r>
          </a:p>
          <a:p>
            <a:r>
              <a:rPr sz="1200">
                <a:solidFill>
                  <a:srgbClr val="FFFFFF"/>
                </a:solidFill>
                <a:latin typeface="Consolas"/>
              </a:rPr>
              <a:t>     └─ p  : "World"</a:t>
            </a:r>
          </a:p>
        </p:txBody>
      </p:sp>
      <p:sp>
        <p:nvSpPr>
          <p:cNvPr id="15" name="Rectangle 14"/>
          <p:cNvSpPr/>
          <p:nvPr/>
        </p:nvSpPr>
        <p:spPr>
          <a:xfrm>
            <a:off x="8229598" y="1691640"/>
            <a:ext cx="3749039" cy="448056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598" y="1691640"/>
            <a:ext cx="3749039" cy="43891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6" y="1728216"/>
            <a:ext cx="3566160" cy="365760"/>
          </a:xfrm>
          <a:prstGeom prst="rect">
            <a:avLst/>
          </a:prstGeom>
          <a:noFill/>
        </p:spPr>
        <p:txBody>
          <a:bodyPr wrap="square">
            <a:spAutoFit/>
          </a:bodyPr>
          <a:lstStyle/>
          <a:p>
            <a:pPr algn="l"/>
            <a:r>
              <a:rPr sz="1200" b="1" i="0">
                <a:solidFill>
                  <a:srgbClr val="0D111A"/>
                </a:solidFill>
                <a:latin typeface="Calibri"/>
              </a:rPr>
              <a:t>3  JS can change it</a:t>
            </a:r>
          </a:p>
        </p:txBody>
      </p:sp>
      <p:sp>
        <p:nvSpPr>
          <p:cNvPr id="18" name="TextBox 17"/>
          <p:cNvSpPr txBox="1"/>
          <p:nvPr/>
        </p:nvSpPr>
        <p:spPr>
          <a:xfrm>
            <a:off x="8357614" y="2240280"/>
            <a:ext cx="3474720" cy="3749039"/>
          </a:xfrm>
          <a:prstGeom prst="rect">
            <a:avLst/>
          </a:prstGeom>
          <a:noFill/>
        </p:spPr>
        <p:txBody>
          <a:bodyPr wrap="none">
            <a:spAutoFit/>
          </a:bodyPr>
          <a:lstStyle/>
          <a:p>
            <a:r>
              <a:rPr sz="1200">
                <a:solidFill>
                  <a:srgbClr val="FFFFFF"/>
                </a:solidFill>
                <a:latin typeface="Consolas"/>
              </a:rPr>
              <a:t>document</a:t>
            </a:r>
          </a:p>
          <a:p>
            <a:r>
              <a:rPr sz="1200">
                <a:solidFill>
                  <a:srgbClr val="FFFFFF"/>
                </a:solidFill>
                <a:latin typeface="Consolas"/>
              </a:rPr>
              <a:t>  .querySelector("h1")</a:t>
            </a:r>
          </a:p>
          <a:p>
            <a:r>
              <a:rPr sz="1200">
                <a:solidFill>
                  <a:srgbClr val="FFFFFF"/>
                </a:solidFill>
                <a:latin typeface="Consolas"/>
              </a:rPr>
              <a:t>  .textContent = "Hi!"</a:t>
            </a:r>
          </a:p>
        </p:txBody>
      </p:sp>
      <p:sp>
        <p:nvSpPr>
          <p:cNvPr id="19" name="TextBox 18"/>
          <p:cNvSpPr txBox="1"/>
          <p:nvPr/>
        </p:nvSpPr>
        <p:spPr>
          <a:xfrm>
            <a:off x="3794760" y="3520440"/>
            <a:ext cx="320040" cy="548640"/>
          </a:xfrm>
          <a:prstGeom prst="rect">
            <a:avLst/>
          </a:prstGeom>
          <a:noFill/>
        </p:spPr>
        <p:txBody>
          <a:bodyPr wrap="square">
            <a:spAutoFit/>
          </a:bodyPr>
          <a:lstStyle/>
          <a:p>
            <a:pPr algn="ctr"/>
            <a:r>
              <a:rPr sz="2800" b="1" i="0">
                <a:solidFill>
                  <a:srgbClr val="F7DF1E"/>
                </a:solidFill>
                <a:latin typeface="Calibri"/>
              </a:rPr>
              <a:t>→</a:t>
            </a:r>
          </a:p>
        </p:txBody>
      </p:sp>
      <p:sp>
        <p:nvSpPr>
          <p:cNvPr id="20" name="TextBox 19"/>
          <p:cNvSpPr txBox="1"/>
          <p:nvPr/>
        </p:nvSpPr>
        <p:spPr>
          <a:xfrm>
            <a:off x="7818120" y="3520440"/>
            <a:ext cx="320040" cy="548640"/>
          </a:xfrm>
          <a:prstGeom prst="rect">
            <a:avLst/>
          </a:prstGeom>
          <a:noFill/>
        </p:spPr>
        <p:txBody>
          <a:bodyPr wrap="square">
            <a:spAutoFit/>
          </a:bodyPr>
          <a:lstStyle/>
          <a:p>
            <a:pPr algn="ctr"/>
            <a:r>
              <a:rPr sz="2800" b="1" i="0">
                <a:solidFill>
                  <a:srgbClr val="F7DF1E"/>
                </a:solidFill>
                <a:latin typeface="Calibri"/>
              </a:rPr>
              <a:t>→</a:t>
            </a:r>
          </a:p>
        </p:txBody>
      </p:sp>
      <p:sp>
        <p:nvSpPr>
          <p:cNvPr id="21" name="TextBox 20"/>
          <p:cNvSpPr txBox="1"/>
          <p:nvPr/>
        </p:nvSpPr>
        <p:spPr>
          <a:xfrm>
            <a:off x="365760" y="6400800"/>
            <a:ext cx="11430000" cy="384048"/>
          </a:xfrm>
          <a:prstGeom prst="rect">
            <a:avLst/>
          </a:prstGeom>
          <a:noFill/>
        </p:spPr>
        <p:txBody>
          <a:bodyPr wrap="square">
            <a:spAutoFit/>
          </a:bodyPr>
          <a:lstStyle/>
          <a:p>
            <a:pPr algn="l"/>
            <a:r>
              <a:rPr sz="1200" b="1" i="0">
                <a:solidFill>
                  <a:srgbClr val="4ADE80"/>
                </a:solidFill>
                <a:latin typeface="Calibri"/>
              </a:rPr>
              <a:t>The DOM is live — change it with JS, the screen updates instantly (no page reload!)</a:t>
            </a:r>
          </a:p>
        </p:txBody>
      </p:sp>
      <p:sp>
        <p:nvSpPr>
          <p:cNvPr id="22" name="TextBox 21"/>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4/27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Quick Check – DOM Basics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3657600" cy="411480"/>
          </a:xfrm>
          <a:prstGeom prst="rect">
            <a:avLst/>
          </a:prstGeom>
          <a:noFill/>
        </p:spPr>
        <p:txBody>
          <a:bodyPr wrap="square">
            <a:spAutoFit/>
          </a:bodyPr>
          <a:lstStyle/>
          <a:p>
            <a:pPr algn="l"/>
            <a:r>
              <a:rPr sz="1100" b="1" i="0">
                <a:solidFill>
                  <a:srgbClr val="F7DF1E"/>
                </a:solidFill>
                <a:latin typeface="Calibri"/>
              </a:rPr>
              <a:t>QUICK CHECK</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What does 'DOM' stand for?</a:t>
            </a:r>
          </a:p>
        </p:txBody>
      </p:sp>
      <p:sp>
        <p:nvSpPr>
          <p:cNvPr id="9" name="Rectangle 8"/>
          <p:cNvSpPr/>
          <p:nvPr/>
        </p:nvSpPr>
        <p:spPr>
          <a:xfrm>
            <a:off x="502920" y="224028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FFFFFF"/>
                </a:solidFill>
                <a:latin typeface="Calibri"/>
              </a:rPr>
              <a:t>Document Object Model</a:t>
            </a:r>
          </a:p>
        </p:txBody>
      </p:sp>
      <p:sp>
        <p:nvSpPr>
          <p:cNvPr id="12" name="Rectangle 11"/>
          <p:cNvSpPr/>
          <p:nvPr/>
        </p:nvSpPr>
        <p:spPr>
          <a:xfrm>
            <a:off x="502920" y="310896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94A3B8"/>
                </a:solidFill>
                <a:latin typeface="Calibri"/>
              </a:rPr>
              <a:t>B</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FFFFFF"/>
                </a:solidFill>
                <a:latin typeface="Calibri"/>
              </a:rPr>
              <a:t>Data Object Map</a:t>
            </a:r>
          </a:p>
        </p:txBody>
      </p:sp>
      <p:sp>
        <p:nvSpPr>
          <p:cNvPr id="15" name="Rectangle 14"/>
          <p:cNvSpPr/>
          <p:nvPr/>
        </p:nvSpPr>
        <p:spPr>
          <a:xfrm>
            <a:off x="502920" y="3977639"/>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94A3B8"/>
                </a:solidFill>
                <a:latin typeface="Calibri"/>
              </a:rPr>
              <a:t>C</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FFFFFF"/>
                </a:solidFill>
                <a:latin typeface="Calibri"/>
              </a:rPr>
              <a:t>Dynamic Output Manager</a:t>
            </a:r>
          </a:p>
        </p:txBody>
      </p:sp>
      <p:sp>
        <p:nvSpPr>
          <p:cNvPr id="18" name="Rectangle 17"/>
          <p:cNvSpPr/>
          <p:nvPr/>
        </p:nvSpPr>
        <p:spPr>
          <a:xfrm>
            <a:off x="502920" y="484632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FFFFFF"/>
                </a:solidFill>
                <a:latin typeface="Calibri"/>
              </a:rPr>
              <a:t>Display Object Module</a:t>
            </a:r>
          </a:p>
        </p:txBody>
      </p:sp>
      <p:sp>
        <p:nvSpPr>
          <p:cNvPr id="21" name="TextBox 20"/>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5/27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Answer – DOM Basics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4572000" cy="411480"/>
          </a:xfrm>
          <a:prstGeom prst="rect">
            <a:avLst/>
          </a:prstGeom>
          <a:noFill/>
        </p:spPr>
        <p:txBody>
          <a:bodyPr wrap="square">
            <a:spAutoFit/>
          </a:bodyPr>
          <a:lstStyle/>
          <a:p>
            <a:pPr algn="l"/>
            <a:r>
              <a:rPr sz="1100" b="1" i="0">
                <a:solidFill>
                  <a:srgbClr val="4ADE80"/>
                </a:solidFill>
                <a:latin typeface="Calibri"/>
              </a:rPr>
              <a:t>ANSWER REVEALED</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What does 'DOM' stand for?</a:t>
            </a:r>
          </a:p>
        </p:txBody>
      </p:sp>
      <p:sp>
        <p:nvSpPr>
          <p:cNvPr id="9" name="Rectangle 8"/>
          <p:cNvSpPr/>
          <p:nvPr/>
        </p:nvSpPr>
        <p:spPr>
          <a:xfrm>
            <a:off x="502920" y="2240280"/>
            <a:ext cx="10789920" cy="713232"/>
          </a:xfrm>
          <a:prstGeom prst="rect">
            <a:avLst/>
          </a:prstGeom>
          <a:solidFill>
            <a:srgbClr val="054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4ADE80"/>
                </a:solidFill>
                <a:latin typeface="Calibri"/>
              </a:rPr>
              <a:t>✓</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4ADE80"/>
                </a:solidFill>
                <a:latin typeface="Calibri"/>
              </a:rPr>
              <a:t>Document Object Model</a:t>
            </a:r>
          </a:p>
        </p:txBody>
      </p:sp>
      <p:sp>
        <p:nvSpPr>
          <p:cNvPr id="12" name="Rectangle 11"/>
          <p:cNvSpPr/>
          <p:nvPr/>
        </p:nvSpPr>
        <p:spPr>
          <a:xfrm>
            <a:off x="502920" y="310896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94A3B8"/>
                </a:solidFill>
                <a:latin typeface="Calibri"/>
              </a:rPr>
              <a:t>B</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94A3B8"/>
                </a:solidFill>
                <a:latin typeface="Calibri"/>
              </a:rPr>
              <a:t>Data Object Map</a:t>
            </a:r>
          </a:p>
        </p:txBody>
      </p:sp>
      <p:sp>
        <p:nvSpPr>
          <p:cNvPr id="15" name="Rectangle 14"/>
          <p:cNvSpPr/>
          <p:nvPr/>
        </p:nvSpPr>
        <p:spPr>
          <a:xfrm>
            <a:off x="502920" y="3977639"/>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94A3B8"/>
                </a:solidFill>
                <a:latin typeface="Calibri"/>
              </a:rPr>
              <a:t>C</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94A3B8"/>
                </a:solidFill>
                <a:latin typeface="Calibri"/>
              </a:rPr>
              <a:t>Dynamic Output Manager</a:t>
            </a:r>
          </a:p>
        </p:txBody>
      </p:sp>
      <p:sp>
        <p:nvSpPr>
          <p:cNvPr id="18" name="Rectangle 17"/>
          <p:cNvSpPr/>
          <p:nvPr/>
        </p:nvSpPr>
        <p:spPr>
          <a:xfrm>
            <a:off x="502920" y="484632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94A3B8"/>
                </a:solidFill>
                <a:latin typeface="Calibri"/>
              </a:rPr>
              <a:t>Display Object Module</a:t>
            </a:r>
          </a:p>
        </p:txBody>
      </p:sp>
      <p:sp>
        <p:nvSpPr>
          <p:cNvPr id="21" name="Rectangle 20"/>
          <p:cNvSpPr/>
          <p:nvPr/>
        </p:nvSpPr>
        <p:spPr>
          <a:xfrm>
            <a:off x="502920" y="5669280"/>
            <a:ext cx="10789920" cy="82296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5715000"/>
            <a:ext cx="2286000" cy="347472"/>
          </a:xfrm>
          <a:prstGeom prst="rect">
            <a:avLst/>
          </a:prstGeom>
          <a:noFill/>
        </p:spPr>
        <p:txBody>
          <a:bodyPr wrap="square">
            <a:spAutoFit/>
          </a:bodyPr>
          <a:lstStyle/>
          <a:p>
            <a:pPr algn="l"/>
            <a:r>
              <a:rPr sz="1000" b="1" i="0">
                <a:solidFill>
                  <a:srgbClr val="F7DF1E"/>
                </a:solidFill>
                <a:latin typeface="Calibri"/>
              </a:rPr>
              <a:t>Explanation:</a:t>
            </a:r>
          </a:p>
        </p:txBody>
      </p:sp>
      <p:sp>
        <p:nvSpPr>
          <p:cNvPr id="23" name="TextBox 22"/>
          <p:cNvSpPr txBox="1"/>
          <p:nvPr/>
        </p:nvSpPr>
        <p:spPr>
          <a:xfrm>
            <a:off x="658368" y="5989320"/>
            <a:ext cx="10424160" cy="457200"/>
          </a:xfrm>
          <a:prstGeom prst="rect">
            <a:avLst/>
          </a:prstGeom>
          <a:noFill/>
        </p:spPr>
        <p:txBody>
          <a:bodyPr wrap="square">
            <a:spAutoFit/>
          </a:bodyPr>
          <a:lstStyle/>
          <a:p>
            <a:pPr algn="l"/>
            <a:r>
              <a:rPr sz="1100" b="0" i="0">
                <a:solidFill>
                  <a:srgbClr val="FFFFFF"/>
                </a:solidFill>
                <a:latin typeface="Calibri"/>
              </a:rPr>
              <a:t>DOM = Document Object Model. The browser converts HTML into a tree of objects (nodes) that JavaScript can read and modify at any time.</a:t>
            </a:r>
          </a:p>
        </p:txBody>
      </p:sp>
      <p:sp>
        <p:nvSpPr>
          <p:cNvPr id="24" name="TextBox 23"/>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6/27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Selecting Elements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400" b="0" i="0">
                <a:solidFill>
                  <a:srgbClr val="94A3B8"/>
                </a:solidFill>
                <a:latin typeface="Calibri"/>
              </a:rPr>
              <a:t>Before you can change anything, you must FIND it in the DOM</a:t>
            </a:r>
          </a:p>
        </p:txBody>
      </p:sp>
      <p:sp>
        <p:nvSpPr>
          <p:cNvPr id="7" name="Rectangle 6"/>
          <p:cNvSpPr/>
          <p:nvPr/>
        </p:nvSpPr>
        <p:spPr>
          <a:xfrm>
            <a:off x="320040" y="1691640"/>
            <a:ext cx="11521440" cy="141732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91640"/>
            <a:ext cx="73152" cy="14173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783080"/>
            <a:ext cx="4572000" cy="384048"/>
          </a:xfrm>
          <a:prstGeom prst="rect">
            <a:avLst/>
          </a:prstGeom>
          <a:noFill/>
        </p:spPr>
        <p:txBody>
          <a:bodyPr wrap="square">
            <a:spAutoFit/>
          </a:bodyPr>
          <a:lstStyle/>
          <a:p>
            <a:pPr algn="l"/>
            <a:r>
              <a:rPr sz="1500" b="1" i="0">
                <a:solidFill>
                  <a:srgbClr val="F7DF1E"/>
                </a:solidFill>
                <a:latin typeface="Consolas"/>
              </a:rPr>
              <a:t>getElementById()</a:t>
            </a:r>
          </a:p>
        </p:txBody>
      </p:sp>
      <p:sp>
        <p:nvSpPr>
          <p:cNvPr id="10" name="TextBox 9"/>
          <p:cNvSpPr txBox="1"/>
          <p:nvPr/>
        </p:nvSpPr>
        <p:spPr>
          <a:xfrm>
            <a:off x="502920" y="2167128"/>
            <a:ext cx="5486400" cy="347472"/>
          </a:xfrm>
          <a:prstGeom prst="rect">
            <a:avLst/>
          </a:prstGeom>
          <a:noFill/>
        </p:spPr>
        <p:txBody>
          <a:bodyPr wrap="square">
            <a:spAutoFit/>
          </a:bodyPr>
          <a:lstStyle/>
          <a:p>
            <a:pPr algn="l"/>
            <a:r>
              <a:rPr sz="1200" b="0" i="0">
                <a:solidFill>
                  <a:srgbClr val="94A3B8"/>
                </a:solidFill>
                <a:latin typeface="Calibri"/>
              </a:rPr>
              <a:t>Find by id attribute – returns one element</a:t>
            </a:r>
          </a:p>
        </p:txBody>
      </p:sp>
      <p:sp>
        <p:nvSpPr>
          <p:cNvPr id="11" name="TextBox 10"/>
          <p:cNvSpPr txBox="1"/>
          <p:nvPr/>
        </p:nvSpPr>
        <p:spPr>
          <a:xfrm>
            <a:off x="6126480" y="2011680"/>
            <a:ext cx="5577840" cy="457200"/>
          </a:xfrm>
          <a:prstGeom prst="rect">
            <a:avLst/>
          </a:prstGeom>
          <a:noFill/>
        </p:spPr>
        <p:txBody>
          <a:bodyPr wrap="square">
            <a:spAutoFit/>
          </a:bodyPr>
          <a:lstStyle/>
          <a:p>
            <a:pPr algn="l"/>
            <a:r>
              <a:rPr sz="1100" b="0" i="0">
                <a:solidFill>
                  <a:srgbClr val="FFFFFF"/>
                </a:solidFill>
                <a:latin typeface="Consolas"/>
              </a:rPr>
              <a:t>const btn = document.getElementById("myBtn");</a:t>
            </a:r>
          </a:p>
        </p:txBody>
      </p:sp>
      <p:sp>
        <p:nvSpPr>
          <p:cNvPr id="12" name="Rectangle 11"/>
          <p:cNvSpPr/>
          <p:nvPr/>
        </p:nvSpPr>
        <p:spPr>
          <a:xfrm>
            <a:off x="320040" y="3246120"/>
            <a:ext cx="11521440" cy="141732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3246120"/>
            <a:ext cx="73152" cy="1417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337560"/>
            <a:ext cx="4572000" cy="384048"/>
          </a:xfrm>
          <a:prstGeom prst="rect">
            <a:avLst/>
          </a:prstGeom>
          <a:noFill/>
        </p:spPr>
        <p:txBody>
          <a:bodyPr wrap="square">
            <a:spAutoFit/>
          </a:bodyPr>
          <a:lstStyle/>
          <a:p>
            <a:pPr algn="l"/>
            <a:r>
              <a:rPr sz="1500" b="1" i="0">
                <a:solidFill>
                  <a:srgbClr val="38BDF8"/>
                </a:solidFill>
                <a:latin typeface="Consolas"/>
              </a:rPr>
              <a:t>querySelector()</a:t>
            </a:r>
          </a:p>
        </p:txBody>
      </p:sp>
      <p:sp>
        <p:nvSpPr>
          <p:cNvPr id="15" name="TextBox 14"/>
          <p:cNvSpPr txBox="1"/>
          <p:nvPr/>
        </p:nvSpPr>
        <p:spPr>
          <a:xfrm>
            <a:off x="502920" y="3721608"/>
            <a:ext cx="5486400" cy="347472"/>
          </a:xfrm>
          <a:prstGeom prst="rect">
            <a:avLst/>
          </a:prstGeom>
          <a:noFill/>
        </p:spPr>
        <p:txBody>
          <a:bodyPr wrap="square">
            <a:spAutoFit/>
          </a:bodyPr>
          <a:lstStyle/>
          <a:p>
            <a:pPr algn="l"/>
            <a:r>
              <a:rPr sz="1200" b="0" i="0">
                <a:solidFill>
                  <a:srgbClr val="94A3B8"/>
                </a:solidFill>
                <a:latin typeface="Calibri"/>
              </a:rPr>
              <a:t>CSS selector syntax – returns FIRST match</a:t>
            </a:r>
          </a:p>
        </p:txBody>
      </p:sp>
      <p:sp>
        <p:nvSpPr>
          <p:cNvPr id="16" name="TextBox 15"/>
          <p:cNvSpPr txBox="1"/>
          <p:nvPr/>
        </p:nvSpPr>
        <p:spPr>
          <a:xfrm>
            <a:off x="6126480" y="3566160"/>
            <a:ext cx="5577840" cy="457200"/>
          </a:xfrm>
          <a:prstGeom prst="rect">
            <a:avLst/>
          </a:prstGeom>
          <a:noFill/>
        </p:spPr>
        <p:txBody>
          <a:bodyPr wrap="square">
            <a:spAutoFit/>
          </a:bodyPr>
          <a:lstStyle/>
          <a:p>
            <a:pPr algn="l"/>
            <a:r>
              <a:rPr sz="1100" b="0" i="0">
                <a:solidFill>
                  <a:srgbClr val="FFFFFF"/>
                </a:solidFill>
                <a:latin typeface="Consolas"/>
              </a:rPr>
              <a:t>const h1  = document.querySelector("h1");</a:t>
            </a:r>
          </a:p>
        </p:txBody>
      </p:sp>
      <p:sp>
        <p:nvSpPr>
          <p:cNvPr id="17" name="Rectangle 16"/>
          <p:cNvSpPr/>
          <p:nvPr/>
        </p:nvSpPr>
        <p:spPr>
          <a:xfrm>
            <a:off x="320040" y="4800600"/>
            <a:ext cx="11521440" cy="141732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4800600"/>
            <a:ext cx="73152" cy="141732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4892040"/>
            <a:ext cx="4572000" cy="384048"/>
          </a:xfrm>
          <a:prstGeom prst="rect">
            <a:avLst/>
          </a:prstGeom>
          <a:noFill/>
        </p:spPr>
        <p:txBody>
          <a:bodyPr wrap="square">
            <a:spAutoFit/>
          </a:bodyPr>
          <a:lstStyle/>
          <a:p>
            <a:pPr algn="l"/>
            <a:r>
              <a:rPr sz="1500" b="1" i="0">
                <a:solidFill>
                  <a:srgbClr val="4ADE80"/>
                </a:solidFill>
                <a:latin typeface="Consolas"/>
              </a:rPr>
              <a:t>querySelectorAll()</a:t>
            </a:r>
          </a:p>
        </p:txBody>
      </p:sp>
      <p:sp>
        <p:nvSpPr>
          <p:cNvPr id="20" name="TextBox 19"/>
          <p:cNvSpPr txBox="1"/>
          <p:nvPr/>
        </p:nvSpPr>
        <p:spPr>
          <a:xfrm>
            <a:off x="502920" y="5276088"/>
            <a:ext cx="5486400" cy="347472"/>
          </a:xfrm>
          <a:prstGeom prst="rect">
            <a:avLst/>
          </a:prstGeom>
          <a:noFill/>
        </p:spPr>
        <p:txBody>
          <a:bodyPr wrap="square">
            <a:spAutoFit/>
          </a:bodyPr>
          <a:lstStyle/>
          <a:p>
            <a:pPr algn="l"/>
            <a:r>
              <a:rPr sz="1200" b="0" i="0">
                <a:solidFill>
                  <a:srgbClr val="94A3B8"/>
                </a:solidFill>
                <a:latin typeface="Calibri"/>
              </a:rPr>
              <a:t>Returns ALL matches as a NodeList</a:t>
            </a:r>
          </a:p>
        </p:txBody>
      </p:sp>
      <p:sp>
        <p:nvSpPr>
          <p:cNvPr id="21" name="TextBox 20"/>
          <p:cNvSpPr txBox="1"/>
          <p:nvPr/>
        </p:nvSpPr>
        <p:spPr>
          <a:xfrm>
            <a:off x="6126480" y="5120640"/>
            <a:ext cx="5577840" cy="457200"/>
          </a:xfrm>
          <a:prstGeom prst="rect">
            <a:avLst/>
          </a:prstGeom>
          <a:noFill/>
        </p:spPr>
        <p:txBody>
          <a:bodyPr wrap="square">
            <a:spAutoFit/>
          </a:bodyPr>
          <a:lstStyle/>
          <a:p>
            <a:pPr algn="l"/>
            <a:r>
              <a:rPr sz="1100" b="0" i="0">
                <a:solidFill>
                  <a:srgbClr val="FFFFFF"/>
                </a:solidFill>
                <a:latin typeface="Consolas"/>
              </a:rPr>
              <a:t>const lis = document.querySelectorAll("ul li");</a:t>
            </a:r>
          </a:p>
        </p:txBody>
      </p:sp>
      <p:sp>
        <p:nvSpPr>
          <p:cNvPr id="22" name="TextBox 21"/>
          <p:cNvSpPr txBox="1"/>
          <p:nvPr/>
        </p:nvSpPr>
        <p:spPr>
          <a:xfrm>
            <a:off x="320040" y="6400800"/>
            <a:ext cx="11521440" cy="384048"/>
          </a:xfrm>
          <a:prstGeom prst="rect">
            <a:avLst/>
          </a:prstGeom>
          <a:noFill/>
        </p:spPr>
        <p:txBody>
          <a:bodyPr wrap="square">
            <a:spAutoFit/>
          </a:bodyPr>
          <a:lstStyle/>
          <a:p>
            <a:pPr algn="l"/>
            <a:r>
              <a:rPr sz="1100" b="0" i="0">
                <a:solidFill>
                  <a:srgbClr val="4ADE80"/>
                </a:solidFill>
                <a:latin typeface="Calibri"/>
              </a:rPr>
              <a:t>Pro tip: querySelector() uses the same selectors as CSS — if you know CSS selectors, you already know how to select DOM nodes!</a:t>
            </a:r>
          </a:p>
        </p:txBody>
      </p:sp>
      <p:sp>
        <p:nvSpPr>
          <p:cNvPr id="23" name="TextBox 22"/>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7/27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Selector Cheat-Sheet (Visual)</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300" b="0" i="0">
                <a:solidFill>
                  <a:srgbClr val="94A3B8"/>
                </a:solidFill>
                <a:latin typeface="Calibri"/>
              </a:rPr>
              <a:t>Same CSS selector rules work inside querySelector()</a:t>
            </a:r>
          </a:p>
        </p:txBody>
      </p:sp>
      <p:sp>
        <p:nvSpPr>
          <p:cNvPr id="7" name="Rectangle 6"/>
          <p:cNvSpPr/>
          <p:nvPr/>
        </p:nvSpPr>
        <p:spPr>
          <a:xfrm>
            <a:off x="320040" y="1600200"/>
            <a:ext cx="580644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00200"/>
            <a:ext cx="64008" cy="13716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4632" y="1691640"/>
            <a:ext cx="2743200" cy="411480"/>
          </a:xfrm>
          <a:prstGeom prst="rect">
            <a:avLst/>
          </a:prstGeom>
          <a:noFill/>
        </p:spPr>
        <p:txBody>
          <a:bodyPr wrap="square">
            <a:spAutoFit/>
          </a:bodyPr>
          <a:lstStyle/>
          <a:p>
            <a:pPr algn="l"/>
            <a:r>
              <a:rPr sz="1600" b="1" i="0">
                <a:solidFill>
                  <a:srgbClr val="F7DF1E"/>
                </a:solidFill>
                <a:latin typeface="Consolas"/>
              </a:rPr>
              <a:t>#myId</a:t>
            </a:r>
          </a:p>
        </p:txBody>
      </p:sp>
      <p:sp>
        <p:nvSpPr>
          <p:cNvPr id="10" name="TextBox 9"/>
          <p:cNvSpPr txBox="1"/>
          <p:nvPr/>
        </p:nvSpPr>
        <p:spPr>
          <a:xfrm>
            <a:off x="484632" y="2075688"/>
            <a:ext cx="5394960" cy="347472"/>
          </a:xfrm>
          <a:prstGeom prst="rect">
            <a:avLst/>
          </a:prstGeom>
          <a:noFill/>
        </p:spPr>
        <p:txBody>
          <a:bodyPr wrap="square">
            <a:spAutoFit/>
          </a:bodyPr>
          <a:lstStyle/>
          <a:p>
            <a:pPr algn="l"/>
            <a:r>
              <a:rPr sz="1100" b="0" i="0">
                <a:solidFill>
                  <a:srgbClr val="94A3B8"/>
                </a:solidFill>
                <a:latin typeface="Calibri"/>
              </a:rPr>
              <a:t>Select by ID</a:t>
            </a:r>
          </a:p>
        </p:txBody>
      </p:sp>
      <p:sp>
        <p:nvSpPr>
          <p:cNvPr id="11" name="TextBox 10"/>
          <p:cNvSpPr txBox="1"/>
          <p:nvPr/>
        </p:nvSpPr>
        <p:spPr>
          <a:xfrm>
            <a:off x="484632" y="2423160"/>
            <a:ext cx="5394960" cy="457200"/>
          </a:xfrm>
          <a:prstGeom prst="rect">
            <a:avLst/>
          </a:prstGeom>
          <a:noFill/>
        </p:spPr>
        <p:txBody>
          <a:bodyPr wrap="square">
            <a:spAutoFit/>
          </a:bodyPr>
          <a:lstStyle/>
          <a:p>
            <a:pPr algn="l"/>
            <a:r>
              <a:rPr sz="1000" b="0" i="0">
                <a:solidFill>
                  <a:srgbClr val="38BDF8"/>
                </a:solidFill>
                <a:latin typeface="Consolas"/>
              </a:rPr>
              <a:t>document.querySelector('#myId')</a:t>
            </a:r>
          </a:p>
        </p:txBody>
      </p:sp>
      <p:sp>
        <p:nvSpPr>
          <p:cNvPr id="12" name="Rectangle 11"/>
          <p:cNvSpPr/>
          <p:nvPr/>
        </p:nvSpPr>
        <p:spPr>
          <a:xfrm>
            <a:off x="6309360" y="1600200"/>
            <a:ext cx="580644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1600200"/>
            <a:ext cx="64008" cy="13716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691640"/>
            <a:ext cx="2743200" cy="411480"/>
          </a:xfrm>
          <a:prstGeom prst="rect">
            <a:avLst/>
          </a:prstGeom>
          <a:noFill/>
        </p:spPr>
        <p:txBody>
          <a:bodyPr wrap="square">
            <a:spAutoFit/>
          </a:bodyPr>
          <a:lstStyle/>
          <a:p>
            <a:pPr algn="l"/>
            <a:r>
              <a:rPr sz="1600" b="1" i="0">
                <a:solidFill>
                  <a:srgbClr val="F7DF1E"/>
                </a:solidFill>
                <a:latin typeface="Consolas"/>
              </a:rPr>
              <a:t>.myClass</a:t>
            </a:r>
          </a:p>
        </p:txBody>
      </p:sp>
      <p:sp>
        <p:nvSpPr>
          <p:cNvPr id="15" name="TextBox 14"/>
          <p:cNvSpPr txBox="1"/>
          <p:nvPr/>
        </p:nvSpPr>
        <p:spPr>
          <a:xfrm>
            <a:off x="6473952" y="2075688"/>
            <a:ext cx="5394960" cy="347472"/>
          </a:xfrm>
          <a:prstGeom prst="rect">
            <a:avLst/>
          </a:prstGeom>
          <a:noFill/>
        </p:spPr>
        <p:txBody>
          <a:bodyPr wrap="square">
            <a:spAutoFit/>
          </a:bodyPr>
          <a:lstStyle/>
          <a:p>
            <a:pPr algn="l"/>
            <a:r>
              <a:rPr sz="1100" b="0" i="0">
                <a:solidFill>
                  <a:srgbClr val="94A3B8"/>
                </a:solidFill>
                <a:latin typeface="Calibri"/>
              </a:rPr>
              <a:t>Select by class</a:t>
            </a:r>
          </a:p>
        </p:txBody>
      </p:sp>
      <p:sp>
        <p:nvSpPr>
          <p:cNvPr id="16" name="TextBox 15"/>
          <p:cNvSpPr txBox="1"/>
          <p:nvPr/>
        </p:nvSpPr>
        <p:spPr>
          <a:xfrm>
            <a:off x="6473952" y="2423160"/>
            <a:ext cx="5394960" cy="457200"/>
          </a:xfrm>
          <a:prstGeom prst="rect">
            <a:avLst/>
          </a:prstGeom>
          <a:noFill/>
        </p:spPr>
        <p:txBody>
          <a:bodyPr wrap="square">
            <a:spAutoFit/>
          </a:bodyPr>
          <a:lstStyle/>
          <a:p>
            <a:pPr algn="l"/>
            <a:r>
              <a:rPr sz="1000" b="0" i="0">
                <a:solidFill>
                  <a:srgbClr val="38BDF8"/>
                </a:solidFill>
                <a:latin typeface="Consolas"/>
              </a:rPr>
              <a:t>document.querySelector('.myClass')</a:t>
            </a:r>
          </a:p>
        </p:txBody>
      </p:sp>
      <p:sp>
        <p:nvSpPr>
          <p:cNvPr id="17" name="Rectangle 16"/>
          <p:cNvSpPr/>
          <p:nvPr/>
        </p:nvSpPr>
        <p:spPr>
          <a:xfrm>
            <a:off x="320040" y="3108960"/>
            <a:ext cx="580644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3108960"/>
            <a:ext cx="64008" cy="13716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4632" y="3200400"/>
            <a:ext cx="2743200" cy="411480"/>
          </a:xfrm>
          <a:prstGeom prst="rect">
            <a:avLst/>
          </a:prstGeom>
          <a:noFill/>
        </p:spPr>
        <p:txBody>
          <a:bodyPr wrap="square">
            <a:spAutoFit/>
          </a:bodyPr>
          <a:lstStyle/>
          <a:p>
            <a:pPr algn="l"/>
            <a:r>
              <a:rPr sz="1600" b="1" i="0">
                <a:solidFill>
                  <a:srgbClr val="F7DF1E"/>
                </a:solidFill>
                <a:latin typeface="Consolas"/>
              </a:rPr>
              <a:t>div</a:t>
            </a:r>
          </a:p>
        </p:txBody>
      </p:sp>
      <p:sp>
        <p:nvSpPr>
          <p:cNvPr id="20" name="TextBox 19"/>
          <p:cNvSpPr txBox="1"/>
          <p:nvPr/>
        </p:nvSpPr>
        <p:spPr>
          <a:xfrm>
            <a:off x="484632" y="3584448"/>
            <a:ext cx="5394960" cy="347472"/>
          </a:xfrm>
          <a:prstGeom prst="rect">
            <a:avLst/>
          </a:prstGeom>
          <a:noFill/>
        </p:spPr>
        <p:txBody>
          <a:bodyPr wrap="square">
            <a:spAutoFit/>
          </a:bodyPr>
          <a:lstStyle/>
          <a:p>
            <a:pPr algn="l"/>
            <a:r>
              <a:rPr sz="1100" b="0" i="0">
                <a:solidFill>
                  <a:srgbClr val="94A3B8"/>
                </a:solidFill>
                <a:latin typeface="Calibri"/>
              </a:rPr>
              <a:t>Select by tag name</a:t>
            </a:r>
          </a:p>
        </p:txBody>
      </p:sp>
      <p:sp>
        <p:nvSpPr>
          <p:cNvPr id="21" name="TextBox 20"/>
          <p:cNvSpPr txBox="1"/>
          <p:nvPr/>
        </p:nvSpPr>
        <p:spPr>
          <a:xfrm>
            <a:off x="484632" y="3931920"/>
            <a:ext cx="5394960" cy="457200"/>
          </a:xfrm>
          <a:prstGeom prst="rect">
            <a:avLst/>
          </a:prstGeom>
          <a:noFill/>
        </p:spPr>
        <p:txBody>
          <a:bodyPr wrap="square">
            <a:spAutoFit/>
          </a:bodyPr>
          <a:lstStyle/>
          <a:p>
            <a:pPr algn="l"/>
            <a:r>
              <a:rPr sz="1000" b="0" i="0">
                <a:solidFill>
                  <a:srgbClr val="38BDF8"/>
                </a:solidFill>
                <a:latin typeface="Consolas"/>
              </a:rPr>
              <a:t>document.querySelectorAll('div')</a:t>
            </a:r>
          </a:p>
        </p:txBody>
      </p:sp>
      <p:sp>
        <p:nvSpPr>
          <p:cNvPr id="22" name="Rectangle 21"/>
          <p:cNvSpPr/>
          <p:nvPr/>
        </p:nvSpPr>
        <p:spPr>
          <a:xfrm>
            <a:off x="6309360" y="3108960"/>
            <a:ext cx="580644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309360" y="3108960"/>
            <a:ext cx="64008" cy="13716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73952" y="3200400"/>
            <a:ext cx="2743200" cy="411480"/>
          </a:xfrm>
          <a:prstGeom prst="rect">
            <a:avLst/>
          </a:prstGeom>
          <a:noFill/>
        </p:spPr>
        <p:txBody>
          <a:bodyPr wrap="square">
            <a:spAutoFit/>
          </a:bodyPr>
          <a:lstStyle/>
          <a:p>
            <a:pPr algn="l"/>
            <a:r>
              <a:rPr sz="1600" b="1" i="0">
                <a:solidFill>
                  <a:srgbClr val="F7DF1E"/>
                </a:solidFill>
                <a:latin typeface="Consolas"/>
              </a:rPr>
              <a:t>div &gt; p</a:t>
            </a:r>
          </a:p>
        </p:txBody>
      </p:sp>
      <p:sp>
        <p:nvSpPr>
          <p:cNvPr id="25" name="TextBox 24"/>
          <p:cNvSpPr txBox="1"/>
          <p:nvPr/>
        </p:nvSpPr>
        <p:spPr>
          <a:xfrm>
            <a:off x="6473952" y="3584448"/>
            <a:ext cx="5394960" cy="347472"/>
          </a:xfrm>
          <a:prstGeom prst="rect">
            <a:avLst/>
          </a:prstGeom>
          <a:noFill/>
        </p:spPr>
        <p:txBody>
          <a:bodyPr wrap="square">
            <a:spAutoFit/>
          </a:bodyPr>
          <a:lstStyle/>
          <a:p>
            <a:pPr algn="l"/>
            <a:r>
              <a:rPr sz="1100" b="0" i="0">
                <a:solidFill>
                  <a:srgbClr val="94A3B8"/>
                </a:solidFill>
                <a:latin typeface="Calibri"/>
              </a:rPr>
              <a:t>Direct child</a:t>
            </a:r>
          </a:p>
        </p:txBody>
      </p:sp>
      <p:sp>
        <p:nvSpPr>
          <p:cNvPr id="26" name="TextBox 25"/>
          <p:cNvSpPr txBox="1"/>
          <p:nvPr/>
        </p:nvSpPr>
        <p:spPr>
          <a:xfrm>
            <a:off x="6473952" y="3931920"/>
            <a:ext cx="5394960" cy="457200"/>
          </a:xfrm>
          <a:prstGeom prst="rect">
            <a:avLst/>
          </a:prstGeom>
          <a:noFill/>
        </p:spPr>
        <p:txBody>
          <a:bodyPr wrap="square">
            <a:spAutoFit/>
          </a:bodyPr>
          <a:lstStyle/>
          <a:p>
            <a:pPr algn="l"/>
            <a:r>
              <a:rPr sz="1000" b="0" i="0">
                <a:solidFill>
                  <a:srgbClr val="38BDF8"/>
                </a:solidFill>
                <a:latin typeface="Consolas"/>
              </a:rPr>
              <a:t>document.querySelectorAll('div &gt; p')</a:t>
            </a:r>
          </a:p>
        </p:txBody>
      </p:sp>
      <p:sp>
        <p:nvSpPr>
          <p:cNvPr id="27" name="Rectangle 26"/>
          <p:cNvSpPr/>
          <p:nvPr/>
        </p:nvSpPr>
        <p:spPr>
          <a:xfrm>
            <a:off x="320040" y="4617720"/>
            <a:ext cx="580644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4617720"/>
            <a:ext cx="64008" cy="13716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4632" y="4709160"/>
            <a:ext cx="2743200" cy="411480"/>
          </a:xfrm>
          <a:prstGeom prst="rect">
            <a:avLst/>
          </a:prstGeom>
          <a:noFill/>
        </p:spPr>
        <p:txBody>
          <a:bodyPr wrap="square">
            <a:spAutoFit/>
          </a:bodyPr>
          <a:lstStyle/>
          <a:p>
            <a:pPr algn="l"/>
            <a:r>
              <a:rPr sz="1600" b="1" i="0">
                <a:solidFill>
                  <a:srgbClr val="F7DF1E"/>
                </a:solidFill>
                <a:latin typeface="Consolas"/>
              </a:rPr>
              <a:t>[type=text]</a:t>
            </a:r>
          </a:p>
        </p:txBody>
      </p:sp>
      <p:sp>
        <p:nvSpPr>
          <p:cNvPr id="30" name="TextBox 29"/>
          <p:cNvSpPr txBox="1"/>
          <p:nvPr/>
        </p:nvSpPr>
        <p:spPr>
          <a:xfrm>
            <a:off x="484632" y="5093208"/>
            <a:ext cx="5394960" cy="347472"/>
          </a:xfrm>
          <a:prstGeom prst="rect">
            <a:avLst/>
          </a:prstGeom>
          <a:noFill/>
        </p:spPr>
        <p:txBody>
          <a:bodyPr wrap="square">
            <a:spAutoFit/>
          </a:bodyPr>
          <a:lstStyle/>
          <a:p>
            <a:pPr algn="l"/>
            <a:r>
              <a:rPr sz="1100" b="0" i="0">
                <a:solidFill>
                  <a:srgbClr val="94A3B8"/>
                </a:solidFill>
                <a:latin typeface="Calibri"/>
              </a:rPr>
              <a:t>Select by attribute</a:t>
            </a:r>
          </a:p>
        </p:txBody>
      </p:sp>
      <p:sp>
        <p:nvSpPr>
          <p:cNvPr id="31" name="TextBox 30"/>
          <p:cNvSpPr txBox="1"/>
          <p:nvPr/>
        </p:nvSpPr>
        <p:spPr>
          <a:xfrm>
            <a:off x="484632" y="5440680"/>
            <a:ext cx="5394960" cy="457200"/>
          </a:xfrm>
          <a:prstGeom prst="rect">
            <a:avLst/>
          </a:prstGeom>
          <a:noFill/>
        </p:spPr>
        <p:txBody>
          <a:bodyPr wrap="square">
            <a:spAutoFit/>
          </a:bodyPr>
          <a:lstStyle/>
          <a:p>
            <a:pPr algn="l"/>
            <a:r>
              <a:rPr sz="1000" b="0" i="0">
                <a:solidFill>
                  <a:srgbClr val="38BDF8"/>
                </a:solidFill>
                <a:latin typeface="Consolas"/>
              </a:rPr>
              <a:t>document.querySelector('[type=text]')</a:t>
            </a:r>
          </a:p>
        </p:txBody>
      </p:sp>
      <p:sp>
        <p:nvSpPr>
          <p:cNvPr id="32" name="Rectangle 31"/>
          <p:cNvSpPr/>
          <p:nvPr/>
        </p:nvSpPr>
        <p:spPr>
          <a:xfrm>
            <a:off x="6309360" y="4617720"/>
            <a:ext cx="580644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309360" y="4617720"/>
            <a:ext cx="64008" cy="13716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73952" y="4709160"/>
            <a:ext cx="2743200" cy="411480"/>
          </a:xfrm>
          <a:prstGeom prst="rect">
            <a:avLst/>
          </a:prstGeom>
          <a:noFill/>
        </p:spPr>
        <p:txBody>
          <a:bodyPr wrap="square">
            <a:spAutoFit/>
          </a:bodyPr>
          <a:lstStyle/>
          <a:p>
            <a:pPr algn="l"/>
            <a:r>
              <a:rPr sz="1600" b="1" i="0">
                <a:solidFill>
                  <a:srgbClr val="F7DF1E"/>
                </a:solidFill>
                <a:latin typeface="Consolas"/>
              </a:rPr>
              <a:t>:first-child</a:t>
            </a:r>
          </a:p>
        </p:txBody>
      </p:sp>
      <p:sp>
        <p:nvSpPr>
          <p:cNvPr id="35" name="TextBox 34"/>
          <p:cNvSpPr txBox="1"/>
          <p:nvPr/>
        </p:nvSpPr>
        <p:spPr>
          <a:xfrm>
            <a:off x="6473952" y="5093208"/>
            <a:ext cx="5394960" cy="347472"/>
          </a:xfrm>
          <a:prstGeom prst="rect">
            <a:avLst/>
          </a:prstGeom>
          <a:noFill/>
        </p:spPr>
        <p:txBody>
          <a:bodyPr wrap="square">
            <a:spAutoFit/>
          </a:bodyPr>
          <a:lstStyle/>
          <a:p>
            <a:pPr algn="l"/>
            <a:r>
              <a:rPr sz="1100" b="0" i="0">
                <a:solidFill>
                  <a:srgbClr val="94A3B8"/>
                </a:solidFill>
                <a:latin typeface="Calibri"/>
              </a:rPr>
              <a:t>First child</a:t>
            </a:r>
          </a:p>
        </p:txBody>
      </p:sp>
      <p:sp>
        <p:nvSpPr>
          <p:cNvPr id="36" name="TextBox 35"/>
          <p:cNvSpPr txBox="1"/>
          <p:nvPr/>
        </p:nvSpPr>
        <p:spPr>
          <a:xfrm>
            <a:off x="6473952" y="5440680"/>
            <a:ext cx="5394960" cy="457200"/>
          </a:xfrm>
          <a:prstGeom prst="rect">
            <a:avLst/>
          </a:prstGeom>
          <a:noFill/>
        </p:spPr>
        <p:txBody>
          <a:bodyPr wrap="square">
            <a:spAutoFit/>
          </a:bodyPr>
          <a:lstStyle/>
          <a:p>
            <a:pPr algn="l"/>
            <a:r>
              <a:rPr sz="1000" b="0" i="0">
                <a:solidFill>
                  <a:srgbClr val="38BDF8"/>
                </a:solidFill>
                <a:latin typeface="Consolas"/>
              </a:rPr>
              <a:t>document.querySelector('li:first-child')</a:t>
            </a:r>
          </a:p>
        </p:txBody>
      </p:sp>
      <p:sp>
        <p:nvSpPr>
          <p:cNvPr id="37" name="TextBox 36"/>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8/27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Quick Check – Selecting Elements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3657600" cy="411480"/>
          </a:xfrm>
          <a:prstGeom prst="rect">
            <a:avLst/>
          </a:prstGeom>
          <a:noFill/>
        </p:spPr>
        <p:txBody>
          <a:bodyPr wrap="square">
            <a:spAutoFit/>
          </a:bodyPr>
          <a:lstStyle/>
          <a:p>
            <a:pPr algn="l"/>
            <a:r>
              <a:rPr sz="1100" b="1" i="0">
                <a:solidFill>
                  <a:srgbClr val="F7DF1E"/>
                </a:solidFill>
                <a:latin typeface="Calibri"/>
              </a:rPr>
              <a:t>QUICK CHECK</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Which method returns ALL elements that match a CSS selector?</a:t>
            </a:r>
          </a:p>
        </p:txBody>
      </p:sp>
      <p:sp>
        <p:nvSpPr>
          <p:cNvPr id="9" name="Rectangle 8"/>
          <p:cNvSpPr/>
          <p:nvPr/>
        </p:nvSpPr>
        <p:spPr>
          <a:xfrm>
            <a:off x="502920" y="224028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FFFFFF"/>
                </a:solidFill>
                <a:latin typeface="Calibri"/>
              </a:rPr>
              <a:t>document.getElementById()</a:t>
            </a:r>
          </a:p>
        </p:txBody>
      </p:sp>
      <p:sp>
        <p:nvSpPr>
          <p:cNvPr id="12" name="Rectangle 11"/>
          <p:cNvSpPr/>
          <p:nvPr/>
        </p:nvSpPr>
        <p:spPr>
          <a:xfrm>
            <a:off x="502920" y="310896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94A3B8"/>
                </a:solidFill>
                <a:latin typeface="Calibri"/>
              </a:rPr>
              <a:t>B</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FFFFFF"/>
                </a:solidFill>
                <a:latin typeface="Calibri"/>
              </a:rPr>
              <a:t>document.querySelector()</a:t>
            </a:r>
          </a:p>
        </p:txBody>
      </p:sp>
      <p:sp>
        <p:nvSpPr>
          <p:cNvPr id="15" name="Rectangle 14"/>
          <p:cNvSpPr/>
          <p:nvPr/>
        </p:nvSpPr>
        <p:spPr>
          <a:xfrm>
            <a:off x="502920" y="3977639"/>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94A3B8"/>
                </a:solidFill>
                <a:latin typeface="Calibri"/>
              </a:rPr>
              <a:t>C</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FFFFFF"/>
                </a:solidFill>
                <a:latin typeface="Calibri"/>
              </a:rPr>
              <a:t>document.querySelectorAll()</a:t>
            </a:r>
          </a:p>
        </p:txBody>
      </p:sp>
      <p:sp>
        <p:nvSpPr>
          <p:cNvPr id="18" name="Rectangle 17"/>
          <p:cNvSpPr/>
          <p:nvPr/>
        </p:nvSpPr>
        <p:spPr>
          <a:xfrm>
            <a:off x="502920" y="484632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FFFFFF"/>
                </a:solidFill>
                <a:latin typeface="Calibri"/>
              </a:rPr>
              <a:t>document.getElement()</a:t>
            </a:r>
          </a:p>
        </p:txBody>
      </p:sp>
      <p:sp>
        <p:nvSpPr>
          <p:cNvPr id="21" name="TextBox 20"/>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9/27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Answer – Selecting Elements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4572000" cy="411480"/>
          </a:xfrm>
          <a:prstGeom prst="rect">
            <a:avLst/>
          </a:prstGeom>
          <a:noFill/>
        </p:spPr>
        <p:txBody>
          <a:bodyPr wrap="square">
            <a:spAutoFit/>
          </a:bodyPr>
          <a:lstStyle/>
          <a:p>
            <a:pPr algn="l"/>
            <a:r>
              <a:rPr sz="1100" b="1" i="0">
                <a:solidFill>
                  <a:srgbClr val="4ADE80"/>
                </a:solidFill>
                <a:latin typeface="Calibri"/>
              </a:rPr>
              <a:t>ANSWER REVEALED</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Which method returns ALL elements that match a CSS selector?</a:t>
            </a:r>
          </a:p>
        </p:txBody>
      </p:sp>
      <p:sp>
        <p:nvSpPr>
          <p:cNvPr id="9" name="Rectangle 8"/>
          <p:cNvSpPr/>
          <p:nvPr/>
        </p:nvSpPr>
        <p:spPr>
          <a:xfrm>
            <a:off x="502920" y="224028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94A3B8"/>
                </a:solidFill>
                <a:latin typeface="Calibri"/>
              </a:rPr>
              <a:t>document.getElementById()</a:t>
            </a:r>
          </a:p>
        </p:txBody>
      </p:sp>
      <p:sp>
        <p:nvSpPr>
          <p:cNvPr id="12" name="Rectangle 11"/>
          <p:cNvSpPr/>
          <p:nvPr/>
        </p:nvSpPr>
        <p:spPr>
          <a:xfrm>
            <a:off x="502920" y="310896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94A3B8"/>
                </a:solidFill>
                <a:latin typeface="Calibri"/>
              </a:rPr>
              <a:t>B</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94A3B8"/>
                </a:solidFill>
                <a:latin typeface="Calibri"/>
              </a:rPr>
              <a:t>document.querySelector()</a:t>
            </a:r>
          </a:p>
        </p:txBody>
      </p:sp>
      <p:sp>
        <p:nvSpPr>
          <p:cNvPr id="15" name="Rectangle 14"/>
          <p:cNvSpPr/>
          <p:nvPr/>
        </p:nvSpPr>
        <p:spPr>
          <a:xfrm>
            <a:off x="502920" y="3977639"/>
            <a:ext cx="10789920" cy="713232"/>
          </a:xfrm>
          <a:prstGeom prst="rect">
            <a:avLst/>
          </a:prstGeom>
          <a:solidFill>
            <a:srgbClr val="054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4ADE80"/>
                </a:solidFill>
                <a:latin typeface="Calibri"/>
              </a:rPr>
              <a:t>✓</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4ADE80"/>
                </a:solidFill>
                <a:latin typeface="Calibri"/>
              </a:rPr>
              <a:t>document.querySelectorAll()</a:t>
            </a:r>
          </a:p>
        </p:txBody>
      </p:sp>
      <p:sp>
        <p:nvSpPr>
          <p:cNvPr id="18" name="Rectangle 17"/>
          <p:cNvSpPr/>
          <p:nvPr/>
        </p:nvSpPr>
        <p:spPr>
          <a:xfrm>
            <a:off x="502920" y="484632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94A3B8"/>
                </a:solidFill>
                <a:latin typeface="Calibri"/>
              </a:rPr>
              <a:t>document.getElement()</a:t>
            </a:r>
          </a:p>
        </p:txBody>
      </p:sp>
      <p:sp>
        <p:nvSpPr>
          <p:cNvPr id="21" name="Rectangle 20"/>
          <p:cNvSpPr/>
          <p:nvPr/>
        </p:nvSpPr>
        <p:spPr>
          <a:xfrm>
            <a:off x="502920" y="5669280"/>
            <a:ext cx="10789920" cy="82296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5715000"/>
            <a:ext cx="2286000" cy="347472"/>
          </a:xfrm>
          <a:prstGeom prst="rect">
            <a:avLst/>
          </a:prstGeom>
          <a:noFill/>
        </p:spPr>
        <p:txBody>
          <a:bodyPr wrap="square">
            <a:spAutoFit/>
          </a:bodyPr>
          <a:lstStyle/>
          <a:p>
            <a:pPr algn="l"/>
            <a:r>
              <a:rPr sz="1000" b="1" i="0">
                <a:solidFill>
                  <a:srgbClr val="F7DF1E"/>
                </a:solidFill>
                <a:latin typeface="Calibri"/>
              </a:rPr>
              <a:t>Explanation:</a:t>
            </a:r>
          </a:p>
        </p:txBody>
      </p:sp>
      <p:sp>
        <p:nvSpPr>
          <p:cNvPr id="23" name="TextBox 22"/>
          <p:cNvSpPr txBox="1"/>
          <p:nvPr/>
        </p:nvSpPr>
        <p:spPr>
          <a:xfrm>
            <a:off x="658368" y="5989320"/>
            <a:ext cx="10424160" cy="457200"/>
          </a:xfrm>
          <a:prstGeom prst="rect">
            <a:avLst/>
          </a:prstGeom>
          <a:noFill/>
        </p:spPr>
        <p:txBody>
          <a:bodyPr wrap="square">
            <a:spAutoFit/>
          </a:bodyPr>
          <a:lstStyle/>
          <a:p>
            <a:pPr algn="l"/>
            <a:r>
              <a:rPr sz="1100" b="0" i="0">
                <a:solidFill>
                  <a:srgbClr val="FFFFFF"/>
                </a:solidFill>
                <a:latin typeface="Calibri"/>
              </a:rPr>
              <a:t>querySelectorAll() returns a NodeList — like an array — of every element matching the selector. querySelector() returns only the FIRST match. getElement() doesn't exist.</a:t>
            </a:r>
          </a:p>
        </p:txBody>
      </p:sp>
      <p:sp>
        <p:nvSpPr>
          <p:cNvPr id="24" name="TextBox 23"/>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10/27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Changing Content &amp; Style</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400" b="0" i="0">
                <a:solidFill>
                  <a:srgbClr val="94A3B8"/>
                </a:solidFill>
                <a:latin typeface="Calibri"/>
              </a:rPr>
              <a:t>Once selected, you can READ or WRITE any property</a:t>
            </a:r>
          </a:p>
        </p:txBody>
      </p:sp>
      <p:sp>
        <p:nvSpPr>
          <p:cNvPr id="7" name="Rectangle 6"/>
          <p:cNvSpPr/>
          <p:nvPr/>
        </p:nvSpPr>
        <p:spPr>
          <a:xfrm>
            <a:off x="320040" y="1600200"/>
            <a:ext cx="11521440" cy="146304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00200"/>
            <a:ext cx="73152" cy="1463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691640"/>
            <a:ext cx="3200400" cy="384048"/>
          </a:xfrm>
          <a:prstGeom prst="rect">
            <a:avLst/>
          </a:prstGeom>
          <a:noFill/>
        </p:spPr>
        <p:txBody>
          <a:bodyPr wrap="square">
            <a:spAutoFit/>
          </a:bodyPr>
          <a:lstStyle/>
          <a:p>
            <a:pPr algn="l"/>
            <a:r>
              <a:rPr sz="1600" b="1" i="0">
                <a:solidFill>
                  <a:srgbClr val="F7DF1E"/>
                </a:solidFill>
                <a:latin typeface="Consolas"/>
              </a:rPr>
              <a:t>.textContent</a:t>
            </a:r>
          </a:p>
        </p:txBody>
      </p:sp>
      <p:sp>
        <p:nvSpPr>
          <p:cNvPr id="10" name="TextBox 9"/>
          <p:cNvSpPr txBox="1"/>
          <p:nvPr/>
        </p:nvSpPr>
        <p:spPr>
          <a:xfrm>
            <a:off x="502920" y="2075688"/>
            <a:ext cx="4754880" cy="347472"/>
          </a:xfrm>
          <a:prstGeom prst="rect">
            <a:avLst/>
          </a:prstGeom>
          <a:noFill/>
        </p:spPr>
        <p:txBody>
          <a:bodyPr wrap="square">
            <a:spAutoFit/>
          </a:bodyPr>
          <a:lstStyle/>
          <a:p>
            <a:pPr algn="l"/>
            <a:r>
              <a:rPr sz="1100" b="0" i="0">
                <a:solidFill>
                  <a:srgbClr val="94A3B8"/>
                </a:solidFill>
                <a:latin typeface="Calibri"/>
              </a:rPr>
              <a:t>Plain text only — safe (ignores HTML tags)</a:t>
            </a:r>
          </a:p>
        </p:txBody>
      </p:sp>
      <p:sp>
        <p:nvSpPr>
          <p:cNvPr id="11" name="TextBox 10"/>
          <p:cNvSpPr txBox="1"/>
          <p:nvPr/>
        </p:nvSpPr>
        <p:spPr>
          <a:xfrm>
            <a:off x="5486400" y="1737360"/>
            <a:ext cx="6126480" cy="1188720"/>
          </a:xfrm>
          <a:prstGeom prst="rect">
            <a:avLst/>
          </a:prstGeom>
          <a:noFill/>
        </p:spPr>
        <p:txBody>
          <a:bodyPr wrap="none">
            <a:spAutoFit/>
          </a:bodyPr>
          <a:lstStyle/>
          <a:p>
            <a:r>
              <a:rPr sz="1000">
                <a:solidFill>
                  <a:srgbClr val="FFFFFF"/>
                </a:solidFill>
                <a:latin typeface="Consolas"/>
              </a:rPr>
              <a:t>el.textContent = "Hello World";</a:t>
            </a:r>
          </a:p>
          <a:p>
            <a:r>
              <a:rPr sz="1000">
                <a:solidFill>
                  <a:srgbClr val="FFFFFF"/>
                </a:solidFill>
                <a:latin typeface="Consolas"/>
              </a:rPr>
              <a:t>console.log(el.textContent); // Hello World</a:t>
            </a:r>
          </a:p>
        </p:txBody>
      </p:sp>
      <p:sp>
        <p:nvSpPr>
          <p:cNvPr id="12" name="Rectangle 11"/>
          <p:cNvSpPr/>
          <p:nvPr/>
        </p:nvSpPr>
        <p:spPr>
          <a:xfrm>
            <a:off x="320040" y="3200400"/>
            <a:ext cx="11521440" cy="146304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3200400"/>
            <a:ext cx="73152" cy="146304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291840"/>
            <a:ext cx="3200400" cy="384048"/>
          </a:xfrm>
          <a:prstGeom prst="rect">
            <a:avLst/>
          </a:prstGeom>
          <a:noFill/>
        </p:spPr>
        <p:txBody>
          <a:bodyPr wrap="square">
            <a:spAutoFit/>
          </a:bodyPr>
          <a:lstStyle/>
          <a:p>
            <a:pPr algn="l"/>
            <a:r>
              <a:rPr sz="1600" b="1" i="0">
                <a:solidFill>
                  <a:srgbClr val="FB923C"/>
                </a:solidFill>
                <a:latin typeface="Consolas"/>
              </a:rPr>
              <a:t>.innerHTML</a:t>
            </a:r>
          </a:p>
        </p:txBody>
      </p:sp>
      <p:sp>
        <p:nvSpPr>
          <p:cNvPr id="15" name="TextBox 14"/>
          <p:cNvSpPr txBox="1"/>
          <p:nvPr/>
        </p:nvSpPr>
        <p:spPr>
          <a:xfrm>
            <a:off x="502920" y="3675888"/>
            <a:ext cx="4754880" cy="347472"/>
          </a:xfrm>
          <a:prstGeom prst="rect">
            <a:avLst/>
          </a:prstGeom>
          <a:noFill/>
        </p:spPr>
        <p:txBody>
          <a:bodyPr wrap="square">
            <a:spAutoFit/>
          </a:bodyPr>
          <a:lstStyle/>
          <a:p>
            <a:pPr algn="l"/>
            <a:r>
              <a:rPr sz="1100" b="0" i="0">
                <a:solidFill>
                  <a:srgbClr val="94A3B8"/>
                </a:solidFill>
                <a:latin typeface="Calibri"/>
              </a:rPr>
              <a:t>HTML markup — powerful but be careful with user input!</a:t>
            </a:r>
          </a:p>
        </p:txBody>
      </p:sp>
      <p:sp>
        <p:nvSpPr>
          <p:cNvPr id="16" name="TextBox 15"/>
          <p:cNvSpPr txBox="1"/>
          <p:nvPr/>
        </p:nvSpPr>
        <p:spPr>
          <a:xfrm>
            <a:off x="5486400" y="3337560"/>
            <a:ext cx="6126480" cy="1188720"/>
          </a:xfrm>
          <a:prstGeom prst="rect">
            <a:avLst/>
          </a:prstGeom>
          <a:noFill/>
        </p:spPr>
        <p:txBody>
          <a:bodyPr wrap="none">
            <a:spAutoFit/>
          </a:bodyPr>
          <a:lstStyle/>
          <a:p>
            <a:r>
              <a:rPr sz="1000">
                <a:solidFill>
                  <a:srgbClr val="FFFFFF"/>
                </a:solidFill>
                <a:latin typeface="Consolas"/>
              </a:rPr>
              <a:t>el.innerHTML = "&lt;strong&gt;Bold text&lt;/strong&gt;";</a:t>
            </a:r>
          </a:p>
          <a:p>
            <a:r>
              <a:rPr sz="1000">
                <a:solidFill>
                  <a:srgbClr val="FFFFFF"/>
                </a:solidFill>
                <a:latin typeface="Consolas"/>
              </a:rPr>
              <a:t>el.innerHTML += "&lt;li&gt;New item&lt;/li&gt;";</a:t>
            </a:r>
          </a:p>
        </p:txBody>
      </p:sp>
      <p:sp>
        <p:nvSpPr>
          <p:cNvPr id="17" name="Rectangle 16"/>
          <p:cNvSpPr/>
          <p:nvPr/>
        </p:nvSpPr>
        <p:spPr>
          <a:xfrm>
            <a:off x="320040" y="4800600"/>
            <a:ext cx="11521440" cy="146304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4800600"/>
            <a:ext cx="73152" cy="1463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4892040"/>
            <a:ext cx="3200400" cy="384048"/>
          </a:xfrm>
          <a:prstGeom prst="rect">
            <a:avLst/>
          </a:prstGeom>
          <a:noFill/>
        </p:spPr>
        <p:txBody>
          <a:bodyPr wrap="square">
            <a:spAutoFit/>
          </a:bodyPr>
          <a:lstStyle/>
          <a:p>
            <a:pPr algn="l"/>
            <a:r>
              <a:rPr sz="1600" b="1" i="0">
                <a:solidFill>
                  <a:srgbClr val="38BDF8"/>
                </a:solidFill>
                <a:latin typeface="Consolas"/>
              </a:rPr>
              <a:t>.style</a:t>
            </a:r>
          </a:p>
        </p:txBody>
      </p:sp>
      <p:sp>
        <p:nvSpPr>
          <p:cNvPr id="20" name="TextBox 19"/>
          <p:cNvSpPr txBox="1"/>
          <p:nvPr/>
        </p:nvSpPr>
        <p:spPr>
          <a:xfrm>
            <a:off x="502920" y="5276088"/>
            <a:ext cx="4754880" cy="347472"/>
          </a:xfrm>
          <a:prstGeom prst="rect">
            <a:avLst/>
          </a:prstGeom>
          <a:noFill/>
        </p:spPr>
        <p:txBody>
          <a:bodyPr wrap="square">
            <a:spAutoFit/>
          </a:bodyPr>
          <a:lstStyle/>
          <a:p>
            <a:pPr algn="l"/>
            <a:r>
              <a:rPr sz="1100" b="0" i="0">
                <a:solidFill>
                  <a:srgbClr val="94A3B8"/>
                </a:solidFill>
                <a:latin typeface="Calibri"/>
              </a:rPr>
              <a:t>Inline CSS via JavaScript — camelCase property names</a:t>
            </a:r>
          </a:p>
        </p:txBody>
      </p:sp>
      <p:sp>
        <p:nvSpPr>
          <p:cNvPr id="21" name="TextBox 20"/>
          <p:cNvSpPr txBox="1"/>
          <p:nvPr/>
        </p:nvSpPr>
        <p:spPr>
          <a:xfrm>
            <a:off x="5486400" y="4937760"/>
            <a:ext cx="6126480" cy="1188720"/>
          </a:xfrm>
          <a:prstGeom prst="rect">
            <a:avLst/>
          </a:prstGeom>
          <a:noFill/>
        </p:spPr>
        <p:txBody>
          <a:bodyPr wrap="none">
            <a:spAutoFit/>
          </a:bodyPr>
          <a:lstStyle/>
          <a:p>
            <a:r>
              <a:rPr sz="1000">
                <a:solidFill>
                  <a:srgbClr val="FFFFFF"/>
                </a:solidFill>
                <a:latin typeface="Consolas"/>
              </a:rPr>
              <a:t>el.style.color      = "red";</a:t>
            </a:r>
          </a:p>
          <a:p>
            <a:r>
              <a:rPr sz="1000">
                <a:solidFill>
                  <a:srgbClr val="FFFFFF"/>
                </a:solidFill>
                <a:latin typeface="Consolas"/>
              </a:rPr>
              <a:t>el.style.fontSize   = "24px";</a:t>
            </a:r>
          </a:p>
          <a:p>
            <a:r>
              <a:rPr sz="1000">
                <a:solidFill>
                  <a:srgbClr val="FFFFFF"/>
                </a:solidFill>
                <a:latin typeface="Consolas"/>
              </a:rPr>
              <a:t>el.style.display    = "none";</a:t>
            </a:r>
          </a:p>
        </p:txBody>
      </p:sp>
      <p:sp>
        <p:nvSpPr>
          <p:cNvPr id="22" name="TextBox 21"/>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11/27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Changing Classes with classList</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400" b="0" i="0">
                <a:solidFill>
                  <a:srgbClr val="94A3B8"/>
                </a:solidFill>
                <a:latin typeface="Calibri"/>
              </a:rPr>
              <a:t>Better than .style — add/remove CSS classes instead of inline styles</a:t>
            </a:r>
          </a:p>
        </p:txBody>
      </p:sp>
      <p:sp>
        <p:nvSpPr>
          <p:cNvPr id="7" name="Rectangle 6"/>
          <p:cNvSpPr/>
          <p:nvPr/>
        </p:nvSpPr>
        <p:spPr>
          <a:xfrm>
            <a:off x="365760" y="1691640"/>
            <a:ext cx="7498079"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691640"/>
            <a:ext cx="64008" cy="41148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 y="1746504"/>
            <a:ext cx="7498079" cy="274320"/>
          </a:xfrm>
          <a:prstGeom prst="rect">
            <a:avLst/>
          </a:prstGeom>
          <a:noFill/>
        </p:spPr>
        <p:txBody>
          <a:bodyPr wrap="square">
            <a:spAutoFit/>
          </a:bodyPr>
          <a:lstStyle/>
          <a:p>
            <a:pPr algn="l"/>
            <a:r>
              <a:rPr sz="900" b="0" i="0">
                <a:solidFill>
                  <a:srgbClr val="94A3B8"/>
                </a:solidFill>
                <a:latin typeface="Consolas"/>
              </a:rPr>
              <a:t>JS</a:t>
            </a:r>
          </a:p>
        </p:txBody>
      </p:sp>
      <p:sp>
        <p:nvSpPr>
          <p:cNvPr id="10" name="TextBox 9"/>
          <p:cNvSpPr txBox="1"/>
          <p:nvPr/>
        </p:nvSpPr>
        <p:spPr>
          <a:xfrm>
            <a:off x="493776" y="2002536"/>
            <a:ext cx="7242047" cy="3712464"/>
          </a:xfrm>
          <a:prstGeom prst="rect">
            <a:avLst/>
          </a:prstGeom>
          <a:noFill/>
        </p:spPr>
        <p:txBody>
          <a:bodyPr wrap="none">
            <a:spAutoFit/>
          </a:bodyPr>
          <a:lstStyle/>
          <a:p>
            <a:r>
              <a:rPr sz="1200">
                <a:solidFill>
                  <a:srgbClr val="38BDF8"/>
                </a:solidFill>
                <a:latin typeface="Consolas"/>
              </a:rPr>
              <a:t>const card = document.querySelector('.card');</a:t>
            </a:r>
          </a:p>
          <a:p>
            <a:endParaRPr sz="1200">
              <a:solidFill>
                <a:srgbClr val="38BDF8"/>
              </a:solidFill>
              <a:latin typeface="Consolas"/>
            </a:endParaRPr>
          </a:p>
          <a:p>
            <a:r>
              <a:rPr sz="1200">
                <a:solidFill>
                  <a:srgbClr val="38BDF8"/>
                </a:solidFill>
                <a:latin typeface="Consolas"/>
              </a:rPr>
              <a:t>card.classList.add('highlight');       // add a class</a:t>
            </a:r>
          </a:p>
          <a:p>
            <a:r>
              <a:rPr sz="1200">
                <a:solidFill>
                  <a:srgbClr val="38BDF8"/>
                </a:solidFill>
                <a:latin typeface="Consolas"/>
              </a:rPr>
              <a:t>card.classList.remove('hidden');       // remove a class</a:t>
            </a:r>
          </a:p>
          <a:p>
            <a:r>
              <a:rPr sz="1200">
                <a:solidFill>
                  <a:srgbClr val="38BDF8"/>
                </a:solidFill>
                <a:latin typeface="Consolas"/>
              </a:rPr>
              <a:t>card.classList.toggle('active');       // add if absent, remove if present</a:t>
            </a:r>
          </a:p>
          <a:p>
            <a:r>
              <a:rPr sz="1200">
                <a:solidFill>
                  <a:srgbClr val="38BDF8"/>
                </a:solidFill>
                <a:latin typeface="Consolas"/>
              </a:rPr>
              <a:t>card.classList.contains('active');     // → true or false</a:t>
            </a:r>
          </a:p>
          <a:p>
            <a:endParaRPr sz="1200">
              <a:solidFill>
                <a:srgbClr val="38BDF8"/>
              </a:solidFill>
              <a:latin typeface="Consolas"/>
            </a:endParaRPr>
          </a:p>
          <a:p>
            <a:r>
              <a:rPr sz="1200">
                <a:solidFill>
                  <a:srgbClr val="38BDF8"/>
                </a:solidFill>
                <a:latin typeface="Consolas"/>
              </a:rPr>
              <a:t>// Example: dark-mode toggle button</a:t>
            </a:r>
          </a:p>
          <a:p>
            <a:r>
              <a:rPr sz="1200">
                <a:solidFill>
                  <a:srgbClr val="38BDF8"/>
                </a:solidFill>
                <a:latin typeface="Consolas"/>
              </a:rPr>
              <a:t>document.body.classList.toggle('dark-mode');</a:t>
            </a:r>
          </a:p>
        </p:txBody>
      </p:sp>
      <p:sp>
        <p:nvSpPr>
          <p:cNvPr id="11" name="Rectangle 10"/>
          <p:cNvSpPr/>
          <p:nvPr/>
        </p:nvSpPr>
        <p:spPr>
          <a:xfrm>
            <a:off x="8092440" y="1691640"/>
            <a:ext cx="3749039" cy="411480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92440" y="1691640"/>
            <a:ext cx="54864" cy="41148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0456" y="1764792"/>
            <a:ext cx="3566159" cy="365760"/>
          </a:xfrm>
          <a:prstGeom prst="rect">
            <a:avLst/>
          </a:prstGeom>
          <a:noFill/>
        </p:spPr>
        <p:txBody>
          <a:bodyPr wrap="square">
            <a:spAutoFit/>
          </a:bodyPr>
          <a:lstStyle/>
          <a:p>
            <a:pPr algn="l"/>
            <a:r>
              <a:rPr sz="1300" b="1" i="0">
                <a:solidFill>
                  <a:srgbClr val="F7DF1E"/>
                </a:solidFill>
                <a:latin typeface="Calibri"/>
              </a:rPr>
              <a:t>Why classList?</a:t>
            </a:r>
          </a:p>
        </p:txBody>
      </p:sp>
      <p:sp>
        <p:nvSpPr>
          <p:cNvPr id="14" name="TextBox 13"/>
          <p:cNvSpPr txBox="1"/>
          <p:nvPr/>
        </p:nvSpPr>
        <p:spPr>
          <a:xfrm>
            <a:off x="8220456" y="2112264"/>
            <a:ext cx="3529583" cy="3602736"/>
          </a:xfrm>
          <a:prstGeom prst="rect">
            <a:avLst/>
          </a:prstGeom>
          <a:noFill/>
        </p:spPr>
        <p:txBody>
          <a:bodyPr wrap="square">
            <a:spAutoFit/>
          </a:bodyPr>
          <a:lstStyle/>
          <a:p>
            <a:r>
              <a:rPr sz="1150">
                <a:solidFill>
                  <a:srgbClr val="FFFFFF"/>
                </a:solidFill>
                <a:latin typeface="Calibri"/>
              </a:rPr>
              <a:t>Separates JS behaviour from CSS appearance</a:t>
            </a:r>
          </a:p>
          <a:p>
            <a:endParaRPr sz="1150">
              <a:solidFill>
                <a:srgbClr val="FFFFFF"/>
              </a:solidFill>
              <a:latin typeface="Calibri"/>
            </a:endParaRPr>
          </a:p>
          <a:p>
            <a:r>
              <a:rPr sz="1150">
                <a:solidFill>
                  <a:srgbClr val="FFFFFF"/>
                </a:solidFill>
                <a:latin typeface="Calibri"/>
              </a:rPr>
              <a:t>Your CSS file controls .highlight, .dark-mode etc.</a:t>
            </a:r>
          </a:p>
          <a:p>
            <a:endParaRPr sz="1150">
              <a:solidFill>
                <a:srgbClr val="FFFFFF"/>
              </a:solidFill>
              <a:latin typeface="Calibri"/>
            </a:endParaRPr>
          </a:p>
          <a:p>
            <a:r>
              <a:rPr sz="1150">
                <a:solidFill>
                  <a:srgbClr val="FFFFFF"/>
                </a:solidFill>
                <a:latin typeface="Calibri"/>
              </a:rPr>
              <a:t>JS only switches class names</a:t>
            </a:r>
          </a:p>
          <a:p>
            <a:endParaRPr sz="1150">
              <a:solidFill>
                <a:srgbClr val="FFFFFF"/>
              </a:solidFill>
              <a:latin typeface="Calibri"/>
            </a:endParaRPr>
          </a:p>
          <a:p>
            <a:r>
              <a:rPr sz="1150">
                <a:solidFill>
                  <a:srgbClr val="FFFFFF"/>
                </a:solidFill>
                <a:latin typeface="Calibri"/>
              </a:rPr>
              <a:t>This is the professional pattern used in every modern framework</a:t>
            </a:r>
          </a:p>
        </p:txBody>
      </p:sp>
      <p:sp>
        <p:nvSpPr>
          <p:cNvPr id="15" name="TextBox 14"/>
          <p:cNvSpPr txBox="1"/>
          <p:nvPr/>
        </p:nvSpPr>
        <p:spPr>
          <a:xfrm>
            <a:off x="365760" y="5989320"/>
            <a:ext cx="11430000" cy="502920"/>
          </a:xfrm>
          <a:prstGeom prst="rect">
            <a:avLst/>
          </a:prstGeom>
          <a:noFill/>
        </p:spPr>
        <p:txBody>
          <a:bodyPr wrap="square">
            <a:spAutoFit/>
          </a:bodyPr>
          <a:lstStyle/>
          <a:p>
            <a:pPr algn="l"/>
            <a:r>
              <a:rPr sz="1200" b="1" i="0">
                <a:solidFill>
                  <a:srgbClr val="4ADE80"/>
                </a:solidFill>
                <a:latin typeface="Calibri"/>
              </a:rPr>
              <a:t>Career tip: React, Vue, Angular all use classList patterns internally. Learn it once, use it everywhere.</a:t>
            </a:r>
          </a:p>
        </p:txBody>
      </p:sp>
      <p:sp>
        <p:nvSpPr>
          <p:cNvPr id="16" name="TextBox 15"/>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12/27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Quick Check – Content &amp; Style</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3657600" cy="411480"/>
          </a:xfrm>
          <a:prstGeom prst="rect">
            <a:avLst/>
          </a:prstGeom>
          <a:noFill/>
        </p:spPr>
        <p:txBody>
          <a:bodyPr wrap="square">
            <a:spAutoFit/>
          </a:bodyPr>
          <a:lstStyle/>
          <a:p>
            <a:pPr algn="l"/>
            <a:r>
              <a:rPr sz="1100" b="1" i="0">
                <a:solidFill>
                  <a:srgbClr val="F7DF1E"/>
                </a:solidFill>
                <a:latin typeface="Calibri"/>
              </a:rPr>
              <a:t>QUICK CHECK</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A student wrote: el.innerHTML = userInput;  Why is this dangerous?</a:t>
            </a:r>
          </a:p>
        </p:txBody>
      </p:sp>
      <p:sp>
        <p:nvSpPr>
          <p:cNvPr id="9" name="Rectangle 8"/>
          <p:cNvSpPr/>
          <p:nvPr/>
        </p:nvSpPr>
        <p:spPr>
          <a:xfrm>
            <a:off x="502920" y="224028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FFFFFF"/>
                </a:solidFill>
                <a:latin typeface="Calibri"/>
              </a:rPr>
              <a:t>innerHTML is too slow for user input</a:t>
            </a:r>
          </a:p>
        </p:txBody>
      </p:sp>
      <p:sp>
        <p:nvSpPr>
          <p:cNvPr id="12" name="Rectangle 11"/>
          <p:cNvSpPr/>
          <p:nvPr/>
        </p:nvSpPr>
        <p:spPr>
          <a:xfrm>
            <a:off x="502920" y="310896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94A3B8"/>
                </a:solidFill>
                <a:latin typeface="Calibri"/>
              </a:rPr>
              <a:t>B</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FFFFFF"/>
                </a:solidFill>
                <a:latin typeface="Calibri"/>
              </a:rPr>
              <a:t>User input could contain HTML/JS that executes (XSS attack)</a:t>
            </a:r>
          </a:p>
        </p:txBody>
      </p:sp>
      <p:sp>
        <p:nvSpPr>
          <p:cNvPr id="15" name="Rectangle 14"/>
          <p:cNvSpPr/>
          <p:nvPr/>
        </p:nvSpPr>
        <p:spPr>
          <a:xfrm>
            <a:off x="502920" y="3977639"/>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94A3B8"/>
                </a:solidFill>
                <a:latin typeface="Calibri"/>
              </a:rPr>
              <a:t>C</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FFFFFF"/>
                </a:solidFill>
                <a:latin typeface="Calibri"/>
              </a:rPr>
              <a:t>innerHTML only works with numbers</a:t>
            </a:r>
          </a:p>
        </p:txBody>
      </p:sp>
      <p:sp>
        <p:nvSpPr>
          <p:cNvPr id="18" name="Rectangle 17"/>
          <p:cNvSpPr/>
          <p:nvPr/>
        </p:nvSpPr>
        <p:spPr>
          <a:xfrm>
            <a:off x="502920" y="484632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FFFFFF"/>
                </a:solidFill>
                <a:latin typeface="Calibri"/>
              </a:rPr>
              <a:t>el.innerHTML does not exist — use el.text instead</a:t>
            </a:r>
          </a:p>
        </p:txBody>
      </p:sp>
      <p:sp>
        <p:nvSpPr>
          <p:cNvPr id="21" name="TextBox 20"/>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13/27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Answer – Content &amp; Style</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4572000" cy="411480"/>
          </a:xfrm>
          <a:prstGeom prst="rect">
            <a:avLst/>
          </a:prstGeom>
          <a:noFill/>
        </p:spPr>
        <p:txBody>
          <a:bodyPr wrap="square">
            <a:spAutoFit/>
          </a:bodyPr>
          <a:lstStyle/>
          <a:p>
            <a:pPr algn="l"/>
            <a:r>
              <a:rPr sz="1100" b="1" i="0">
                <a:solidFill>
                  <a:srgbClr val="4ADE80"/>
                </a:solidFill>
                <a:latin typeface="Calibri"/>
              </a:rPr>
              <a:t>ANSWER REVEALED</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A student wrote: el.innerHTML = userInput;  Why is this dangerous?</a:t>
            </a:r>
          </a:p>
        </p:txBody>
      </p:sp>
      <p:sp>
        <p:nvSpPr>
          <p:cNvPr id="9" name="Rectangle 8"/>
          <p:cNvSpPr/>
          <p:nvPr/>
        </p:nvSpPr>
        <p:spPr>
          <a:xfrm>
            <a:off x="502920" y="224028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94A3B8"/>
                </a:solidFill>
                <a:latin typeface="Calibri"/>
              </a:rPr>
              <a:t>innerHTML is too slow for user input</a:t>
            </a:r>
          </a:p>
        </p:txBody>
      </p:sp>
      <p:sp>
        <p:nvSpPr>
          <p:cNvPr id="12" name="Rectangle 11"/>
          <p:cNvSpPr/>
          <p:nvPr/>
        </p:nvSpPr>
        <p:spPr>
          <a:xfrm>
            <a:off x="502920" y="3108960"/>
            <a:ext cx="10789920" cy="713232"/>
          </a:xfrm>
          <a:prstGeom prst="rect">
            <a:avLst/>
          </a:prstGeom>
          <a:solidFill>
            <a:srgbClr val="054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4ADE80"/>
                </a:solidFill>
                <a:latin typeface="Calibri"/>
              </a:rPr>
              <a:t>✓</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4ADE80"/>
                </a:solidFill>
                <a:latin typeface="Calibri"/>
              </a:rPr>
              <a:t>User input could contain HTML/JS that executes (XSS attack)</a:t>
            </a:r>
          </a:p>
        </p:txBody>
      </p:sp>
      <p:sp>
        <p:nvSpPr>
          <p:cNvPr id="15" name="Rectangle 14"/>
          <p:cNvSpPr/>
          <p:nvPr/>
        </p:nvSpPr>
        <p:spPr>
          <a:xfrm>
            <a:off x="502920" y="3977639"/>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94A3B8"/>
                </a:solidFill>
                <a:latin typeface="Calibri"/>
              </a:rPr>
              <a:t>C</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94A3B8"/>
                </a:solidFill>
                <a:latin typeface="Calibri"/>
              </a:rPr>
              <a:t>innerHTML only works with numbers</a:t>
            </a:r>
          </a:p>
        </p:txBody>
      </p:sp>
      <p:sp>
        <p:nvSpPr>
          <p:cNvPr id="18" name="Rectangle 17"/>
          <p:cNvSpPr/>
          <p:nvPr/>
        </p:nvSpPr>
        <p:spPr>
          <a:xfrm>
            <a:off x="502920" y="484632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94A3B8"/>
                </a:solidFill>
                <a:latin typeface="Calibri"/>
              </a:rPr>
              <a:t>el.innerHTML does not exist — use el.text instead</a:t>
            </a:r>
          </a:p>
        </p:txBody>
      </p:sp>
      <p:sp>
        <p:nvSpPr>
          <p:cNvPr id="21" name="Rectangle 20"/>
          <p:cNvSpPr/>
          <p:nvPr/>
        </p:nvSpPr>
        <p:spPr>
          <a:xfrm>
            <a:off x="502920" y="5669280"/>
            <a:ext cx="10789920" cy="82296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5715000"/>
            <a:ext cx="2286000" cy="347472"/>
          </a:xfrm>
          <a:prstGeom prst="rect">
            <a:avLst/>
          </a:prstGeom>
          <a:noFill/>
        </p:spPr>
        <p:txBody>
          <a:bodyPr wrap="square">
            <a:spAutoFit/>
          </a:bodyPr>
          <a:lstStyle/>
          <a:p>
            <a:pPr algn="l"/>
            <a:r>
              <a:rPr sz="1000" b="1" i="0">
                <a:solidFill>
                  <a:srgbClr val="F7DF1E"/>
                </a:solidFill>
                <a:latin typeface="Calibri"/>
              </a:rPr>
              <a:t>Explanation:</a:t>
            </a:r>
          </a:p>
        </p:txBody>
      </p:sp>
      <p:sp>
        <p:nvSpPr>
          <p:cNvPr id="23" name="TextBox 22"/>
          <p:cNvSpPr txBox="1"/>
          <p:nvPr/>
        </p:nvSpPr>
        <p:spPr>
          <a:xfrm>
            <a:off x="658368" y="5989320"/>
            <a:ext cx="10424160" cy="457200"/>
          </a:xfrm>
          <a:prstGeom prst="rect">
            <a:avLst/>
          </a:prstGeom>
          <a:noFill/>
        </p:spPr>
        <p:txBody>
          <a:bodyPr wrap="square">
            <a:spAutoFit/>
          </a:bodyPr>
          <a:lstStyle/>
          <a:p>
            <a:pPr algn="l"/>
            <a:r>
              <a:rPr sz="1100" b="0" i="0">
                <a:solidFill>
                  <a:srgbClr val="FFFFFF"/>
                </a:solidFill>
                <a:latin typeface="Calibri"/>
              </a:rPr>
              <a:t>XSS (Cross-Site Scripting): if userInput contains &lt;script&gt;stealCookies()&lt;/script&gt;, innerHTML runs it. Use textContent for any user-provided text — it treats the input as plain text, not markup.</a:t>
            </a:r>
          </a:p>
        </p:txBody>
      </p:sp>
      <p:sp>
        <p:nvSpPr>
          <p:cNvPr id="24" name="TextBox 23"/>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14/27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Event Listeners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400" b="0" i="0">
                <a:solidFill>
                  <a:srgbClr val="94A3B8"/>
                </a:solidFill>
                <a:latin typeface="Calibri"/>
              </a:rPr>
              <a:t>Events = things that happen in the browser (click, keypress, form submit...)</a:t>
            </a:r>
          </a:p>
        </p:txBody>
      </p:sp>
      <p:sp>
        <p:nvSpPr>
          <p:cNvPr id="7" name="Rectangle 6"/>
          <p:cNvSpPr/>
          <p:nvPr/>
        </p:nvSpPr>
        <p:spPr>
          <a:xfrm>
            <a:off x="320040" y="1600200"/>
            <a:ext cx="7315200" cy="4846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00200"/>
            <a:ext cx="64008" cy="48463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 y="1655064"/>
            <a:ext cx="7315200" cy="274320"/>
          </a:xfrm>
          <a:prstGeom prst="rect">
            <a:avLst/>
          </a:prstGeom>
          <a:noFill/>
        </p:spPr>
        <p:txBody>
          <a:bodyPr wrap="square">
            <a:spAutoFit/>
          </a:bodyPr>
          <a:lstStyle/>
          <a:p>
            <a:pPr algn="l"/>
            <a:r>
              <a:rPr sz="900" b="0" i="0">
                <a:solidFill>
                  <a:srgbClr val="94A3B8"/>
                </a:solidFill>
                <a:latin typeface="Consolas"/>
              </a:rPr>
              <a:t>JS</a:t>
            </a:r>
          </a:p>
        </p:txBody>
      </p:sp>
      <p:sp>
        <p:nvSpPr>
          <p:cNvPr id="10" name="TextBox 9"/>
          <p:cNvSpPr txBox="1"/>
          <p:nvPr/>
        </p:nvSpPr>
        <p:spPr>
          <a:xfrm>
            <a:off x="448056" y="1911096"/>
            <a:ext cx="7059168" cy="4443984"/>
          </a:xfrm>
          <a:prstGeom prst="rect">
            <a:avLst/>
          </a:prstGeom>
          <a:noFill/>
        </p:spPr>
        <p:txBody>
          <a:bodyPr wrap="none">
            <a:spAutoFit/>
          </a:bodyPr>
          <a:lstStyle/>
          <a:p>
            <a:r>
              <a:rPr sz="1200">
                <a:solidFill>
                  <a:srgbClr val="38BDF8"/>
                </a:solidFill>
                <a:latin typeface="Consolas"/>
              </a:rPr>
              <a:t>// Syntax:</a:t>
            </a:r>
          </a:p>
          <a:p>
            <a:r>
              <a:rPr sz="1200">
                <a:solidFill>
                  <a:srgbClr val="38BDF8"/>
                </a:solidFill>
                <a:latin typeface="Consolas"/>
              </a:rPr>
              <a:t>element.addEventListener(eventType, callbackFunction);</a:t>
            </a:r>
          </a:p>
          <a:p>
            <a:endParaRPr sz="1200">
              <a:solidFill>
                <a:srgbClr val="38BDF8"/>
              </a:solidFill>
              <a:latin typeface="Consolas"/>
            </a:endParaRPr>
          </a:p>
          <a:p>
            <a:r>
              <a:rPr sz="1200">
                <a:solidFill>
                  <a:srgbClr val="38BDF8"/>
                </a:solidFill>
                <a:latin typeface="Consolas"/>
              </a:rPr>
              <a:t>// Example 1 – click button to change text</a:t>
            </a:r>
          </a:p>
          <a:p>
            <a:r>
              <a:rPr sz="1200">
                <a:solidFill>
                  <a:srgbClr val="38BDF8"/>
                </a:solidFill>
                <a:latin typeface="Consolas"/>
              </a:rPr>
              <a:t>const btn = document.querySelector('#myBtn');</a:t>
            </a:r>
          </a:p>
          <a:p>
            <a:r>
              <a:rPr sz="1200">
                <a:solidFill>
                  <a:srgbClr val="38BDF8"/>
                </a:solidFill>
                <a:latin typeface="Consolas"/>
              </a:rPr>
              <a:t>btn.addEventListener('click', function() {</a:t>
            </a:r>
          </a:p>
          <a:p>
            <a:r>
              <a:rPr sz="1200">
                <a:solidFill>
                  <a:srgbClr val="38BDF8"/>
                </a:solidFill>
                <a:latin typeface="Consolas"/>
              </a:rPr>
              <a:t>    document.querySelector('h1').textContent = 'Button clicked!';</a:t>
            </a:r>
          </a:p>
          <a:p>
            <a:r>
              <a:rPr sz="1200">
                <a:solidFill>
                  <a:srgbClr val="38BDF8"/>
                </a:solidFill>
                <a:latin typeface="Consolas"/>
              </a:rPr>
              <a:t>});</a:t>
            </a:r>
          </a:p>
          <a:p>
            <a:endParaRPr sz="1200">
              <a:solidFill>
                <a:srgbClr val="38BDF8"/>
              </a:solidFill>
              <a:latin typeface="Consolas"/>
            </a:endParaRPr>
          </a:p>
          <a:p>
            <a:r>
              <a:rPr sz="1200">
                <a:solidFill>
                  <a:srgbClr val="38BDF8"/>
                </a:solidFill>
                <a:latin typeface="Consolas"/>
              </a:rPr>
              <a:t>// Example 2 – arrow function (modern style)</a:t>
            </a:r>
          </a:p>
          <a:p>
            <a:r>
              <a:rPr sz="1200">
                <a:solidFill>
                  <a:srgbClr val="38BDF8"/>
                </a:solidFill>
                <a:latin typeface="Consolas"/>
              </a:rPr>
              <a:t>btn.addEventListener('click', () =&gt; {</a:t>
            </a:r>
          </a:p>
          <a:p>
            <a:r>
              <a:rPr sz="1200">
                <a:solidFill>
                  <a:srgbClr val="38BDF8"/>
                </a:solidFill>
                <a:latin typeface="Consolas"/>
              </a:rPr>
              <a:t>    btn.classList.toggle('active');</a:t>
            </a:r>
          </a:p>
          <a:p>
            <a:r>
              <a:rPr sz="1200">
                <a:solidFill>
                  <a:srgbClr val="38BDF8"/>
                </a:solidFill>
                <a:latin typeface="Consolas"/>
              </a:rPr>
              <a:t>});</a:t>
            </a:r>
          </a:p>
        </p:txBody>
      </p:sp>
      <p:sp>
        <p:nvSpPr>
          <p:cNvPr id="11" name="Rectangle 10"/>
          <p:cNvSpPr/>
          <p:nvPr/>
        </p:nvSpPr>
        <p:spPr>
          <a:xfrm>
            <a:off x="7818120" y="1600200"/>
            <a:ext cx="4023360" cy="484632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1691640"/>
            <a:ext cx="3749039" cy="365760"/>
          </a:xfrm>
          <a:prstGeom prst="rect">
            <a:avLst/>
          </a:prstGeom>
          <a:noFill/>
        </p:spPr>
        <p:txBody>
          <a:bodyPr wrap="square">
            <a:spAutoFit/>
          </a:bodyPr>
          <a:lstStyle/>
          <a:p>
            <a:pPr algn="l"/>
            <a:r>
              <a:rPr sz="1200" b="1" i="0">
                <a:solidFill>
                  <a:srgbClr val="F7DF1E"/>
                </a:solidFill>
                <a:latin typeface="Calibri"/>
              </a:rPr>
              <a:t>Common Events</a:t>
            </a:r>
          </a:p>
        </p:txBody>
      </p:sp>
      <p:sp>
        <p:nvSpPr>
          <p:cNvPr id="13" name="TextBox 12"/>
          <p:cNvSpPr txBox="1"/>
          <p:nvPr/>
        </p:nvSpPr>
        <p:spPr>
          <a:xfrm>
            <a:off x="7955279" y="2194560"/>
            <a:ext cx="1554480" cy="411480"/>
          </a:xfrm>
          <a:prstGeom prst="rect">
            <a:avLst/>
          </a:prstGeom>
          <a:noFill/>
        </p:spPr>
        <p:txBody>
          <a:bodyPr wrap="square">
            <a:spAutoFit/>
          </a:bodyPr>
          <a:lstStyle/>
          <a:p>
            <a:pPr algn="l"/>
            <a:r>
              <a:rPr sz="1000" b="0" i="0">
                <a:solidFill>
                  <a:srgbClr val="38BDF8"/>
                </a:solidFill>
                <a:latin typeface="Consolas"/>
              </a:rPr>
              <a:t>click</a:t>
            </a:r>
          </a:p>
        </p:txBody>
      </p:sp>
      <p:sp>
        <p:nvSpPr>
          <p:cNvPr id="14" name="TextBox 13"/>
          <p:cNvSpPr txBox="1"/>
          <p:nvPr/>
        </p:nvSpPr>
        <p:spPr>
          <a:xfrm>
            <a:off x="9509760" y="2194560"/>
            <a:ext cx="2194560" cy="411480"/>
          </a:xfrm>
          <a:prstGeom prst="rect">
            <a:avLst/>
          </a:prstGeom>
          <a:noFill/>
        </p:spPr>
        <p:txBody>
          <a:bodyPr wrap="square">
            <a:spAutoFit/>
          </a:bodyPr>
          <a:lstStyle/>
          <a:p>
            <a:pPr algn="l"/>
            <a:r>
              <a:rPr sz="1000" b="0" i="0">
                <a:solidFill>
                  <a:srgbClr val="94A3B8"/>
                </a:solidFill>
                <a:latin typeface="Calibri"/>
              </a:rPr>
              <a:t>Mouse button pressed and released</a:t>
            </a:r>
          </a:p>
        </p:txBody>
      </p:sp>
      <p:sp>
        <p:nvSpPr>
          <p:cNvPr id="15" name="TextBox 14"/>
          <p:cNvSpPr txBox="1"/>
          <p:nvPr/>
        </p:nvSpPr>
        <p:spPr>
          <a:xfrm>
            <a:off x="7955279" y="2697480"/>
            <a:ext cx="1554480" cy="411480"/>
          </a:xfrm>
          <a:prstGeom prst="rect">
            <a:avLst/>
          </a:prstGeom>
          <a:noFill/>
        </p:spPr>
        <p:txBody>
          <a:bodyPr wrap="square">
            <a:spAutoFit/>
          </a:bodyPr>
          <a:lstStyle/>
          <a:p>
            <a:pPr algn="l"/>
            <a:r>
              <a:rPr sz="1000" b="0" i="0">
                <a:solidFill>
                  <a:srgbClr val="38BDF8"/>
                </a:solidFill>
                <a:latin typeface="Consolas"/>
              </a:rPr>
              <a:t>dblclick</a:t>
            </a:r>
          </a:p>
        </p:txBody>
      </p:sp>
      <p:sp>
        <p:nvSpPr>
          <p:cNvPr id="16" name="TextBox 15"/>
          <p:cNvSpPr txBox="1"/>
          <p:nvPr/>
        </p:nvSpPr>
        <p:spPr>
          <a:xfrm>
            <a:off x="9509760" y="2697480"/>
            <a:ext cx="2194560" cy="411480"/>
          </a:xfrm>
          <a:prstGeom prst="rect">
            <a:avLst/>
          </a:prstGeom>
          <a:noFill/>
        </p:spPr>
        <p:txBody>
          <a:bodyPr wrap="square">
            <a:spAutoFit/>
          </a:bodyPr>
          <a:lstStyle/>
          <a:p>
            <a:pPr algn="l"/>
            <a:r>
              <a:rPr sz="1000" b="0" i="0">
                <a:solidFill>
                  <a:srgbClr val="94A3B8"/>
                </a:solidFill>
                <a:latin typeface="Calibri"/>
              </a:rPr>
              <a:t>Double-click</a:t>
            </a:r>
          </a:p>
        </p:txBody>
      </p:sp>
      <p:sp>
        <p:nvSpPr>
          <p:cNvPr id="17" name="TextBox 16"/>
          <p:cNvSpPr txBox="1"/>
          <p:nvPr/>
        </p:nvSpPr>
        <p:spPr>
          <a:xfrm>
            <a:off x="7955279" y="3200400"/>
            <a:ext cx="1554480" cy="411480"/>
          </a:xfrm>
          <a:prstGeom prst="rect">
            <a:avLst/>
          </a:prstGeom>
          <a:noFill/>
        </p:spPr>
        <p:txBody>
          <a:bodyPr wrap="square">
            <a:spAutoFit/>
          </a:bodyPr>
          <a:lstStyle/>
          <a:p>
            <a:pPr algn="l"/>
            <a:r>
              <a:rPr sz="1000" b="0" i="0">
                <a:solidFill>
                  <a:srgbClr val="38BDF8"/>
                </a:solidFill>
                <a:latin typeface="Consolas"/>
              </a:rPr>
              <a:t>mouseover</a:t>
            </a:r>
          </a:p>
        </p:txBody>
      </p:sp>
      <p:sp>
        <p:nvSpPr>
          <p:cNvPr id="18" name="TextBox 17"/>
          <p:cNvSpPr txBox="1"/>
          <p:nvPr/>
        </p:nvSpPr>
        <p:spPr>
          <a:xfrm>
            <a:off x="9509760" y="3200400"/>
            <a:ext cx="2194560" cy="411480"/>
          </a:xfrm>
          <a:prstGeom prst="rect">
            <a:avLst/>
          </a:prstGeom>
          <a:noFill/>
        </p:spPr>
        <p:txBody>
          <a:bodyPr wrap="square">
            <a:spAutoFit/>
          </a:bodyPr>
          <a:lstStyle/>
          <a:p>
            <a:pPr algn="l"/>
            <a:r>
              <a:rPr sz="1000" b="0" i="0">
                <a:solidFill>
                  <a:srgbClr val="94A3B8"/>
                </a:solidFill>
                <a:latin typeface="Calibri"/>
              </a:rPr>
              <a:t>Cursor enters element</a:t>
            </a:r>
          </a:p>
        </p:txBody>
      </p:sp>
      <p:sp>
        <p:nvSpPr>
          <p:cNvPr id="19" name="TextBox 18"/>
          <p:cNvSpPr txBox="1"/>
          <p:nvPr/>
        </p:nvSpPr>
        <p:spPr>
          <a:xfrm>
            <a:off x="7955279" y="3703320"/>
            <a:ext cx="1554480" cy="411480"/>
          </a:xfrm>
          <a:prstGeom prst="rect">
            <a:avLst/>
          </a:prstGeom>
          <a:noFill/>
        </p:spPr>
        <p:txBody>
          <a:bodyPr wrap="square">
            <a:spAutoFit/>
          </a:bodyPr>
          <a:lstStyle/>
          <a:p>
            <a:pPr algn="l"/>
            <a:r>
              <a:rPr sz="1000" b="0" i="0">
                <a:solidFill>
                  <a:srgbClr val="38BDF8"/>
                </a:solidFill>
                <a:latin typeface="Consolas"/>
              </a:rPr>
              <a:t>keydown</a:t>
            </a:r>
          </a:p>
        </p:txBody>
      </p:sp>
      <p:sp>
        <p:nvSpPr>
          <p:cNvPr id="20" name="TextBox 19"/>
          <p:cNvSpPr txBox="1"/>
          <p:nvPr/>
        </p:nvSpPr>
        <p:spPr>
          <a:xfrm>
            <a:off x="9509760" y="3703320"/>
            <a:ext cx="2194560" cy="411480"/>
          </a:xfrm>
          <a:prstGeom prst="rect">
            <a:avLst/>
          </a:prstGeom>
          <a:noFill/>
        </p:spPr>
        <p:txBody>
          <a:bodyPr wrap="square">
            <a:spAutoFit/>
          </a:bodyPr>
          <a:lstStyle/>
          <a:p>
            <a:pPr algn="l"/>
            <a:r>
              <a:rPr sz="1000" b="0" i="0">
                <a:solidFill>
                  <a:srgbClr val="94A3B8"/>
                </a:solidFill>
                <a:latin typeface="Calibri"/>
              </a:rPr>
              <a:t>Keyboard key pressed</a:t>
            </a:r>
          </a:p>
        </p:txBody>
      </p:sp>
      <p:sp>
        <p:nvSpPr>
          <p:cNvPr id="21" name="TextBox 20"/>
          <p:cNvSpPr txBox="1"/>
          <p:nvPr/>
        </p:nvSpPr>
        <p:spPr>
          <a:xfrm>
            <a:off x="7955279" y="4206240"/>
            <a:ext cx="1554480" cy="411480"/>
          </a:xfrm>
          <a:prstGeom prst="rect">
            <a:avLst/>
          </a:prstGeom>
          <a:noFill/>
        </p:spPr>
        <p:txBody>
          <a:bodyPr wrap="square">
            <a:spAutoFit/>
          </a:bodyPr>
          <a:lstStyle/>
          <a:p>
            <a:pPr algn="l"/>
            <a:r>
              <a:rPr sz="1000" b="0" i="0">
                <a:solidFill>
                  <a:srgbClr val="38BDF8"/>
                </a:solidFill>
                <a:latin typeface="Consolas"/>
              </a:rPr>
              <a:t>input</a:t>
            </a:r>
          </a:p>
        </p:txBody>
      </p:sp>
      <p:sp>
        <p:nvSpPr>
          <p:cNvPr id="22" name="TextBox 21"/>
          <p:cNvSpPr txBox="1"/>
          <p:nvPr/>
        </p:nvSpPr>
        <p:spPr>
          <a:xfrm>
            <a:off x="9509760" y="4206240"/>
            <a:ext cx="2194560" cy="411480"/>
          </a:xfrm>
          <a:prstGeom prst="rect">
            <a:avLst/>
          </a:prstGeom>
          <a:noFill/>
        </p:spPr>
        <p:txBody>
          <a:bodyPr wrap="square">
            <a:spAutoFit/>
          </a:bodyPr>
          <a:lstStyle/>
          <a:p>
            <a:pPr algn="l"/>
            <a:r>
              <a:rPr sz="1000" b="0" i="0">
                <a:solidFill>
                  <a:srgbClr val="94A3B8"/>
                </a:solidFill>
                <a:latin typeface="Calibri"/>
              </a:rPr>
              <a:t>Value changes in input field</a:t>
            </a:r>
          </a:p>
        </p:txBody>
      </p:sp>
      <p:sp>
        <p:nvSpPr>
          <p:cNvPr id="23" name="TextBox 22"/>
          <p:cNvSpPr txBox="1"/>
          <p:nvPr/>
        </p:nvSpPr>
        <p:spPr>
          <a:xfrm>
            <a:off x="7955279" y="4709160"/>
            <a:ext cx="1554480" cy="411480"/>
          </a:xfrm>
          <a:prstGeom prst="rect">
            <a:avLst/>
          </a:prstGeom>
          <a:noFill/>
        </p:spPr>
        <p:txBody>
          <a:bodyPr wrap="square">
            <a:spAutoFit/>
          </a:bodyPr>
          <a:lstStyle/>
          <a:p>
            <a:pPr algn="l"/>
            <a:r>
              <a:rPr sz="1000" b="0" i="0">
                <a:solidFill>
                  <a:srgbClr val="38BDF8"/>
                </a:solidFill>
                <a:latin typeface="Consolas"/>
              </a:rPr>
              <a:t>submit</a:t>
            </a:r>
          </a:p>
        </p:txBody>
      </p:sp>
      <p:sp>
        <p:nvSpPr>
          <p:cNvPr id="24" name="TextBox 23"/>
          <p:cNvSpPr txBox="1"/>
          <p:nvPr/>
        </p:nvSpPr>
        <p:spPr>
          <a:xfrm>
            <a:off x="9509760" y="4709160"/>
            <a:ext cx="2194560" cy="411480"/>
          </a:xfrm>
          <a:prstGeom prst="rect">
            <a:avLst/>
          </a:prstGeom>
          <a:noFill/>
        </p:spPr>
        <p:txBody>
          <a:bodyPr wrap="square">
            <a:spAutoFit/>
          </a:bodyPr>
          <a:lstStyle/>
          <a:p>
            <a:pPr algn="l"/>
            <a:r>
              <a:rPr sz="1000" b="0" i="0">
                <a:solidFill>
                  <a:srgbClr val="94A3B8"/>
                </a:solidFill>
                <a:latin typeface="Calibri"/>
              </a:rPr>
              <a:t>Form submitted</a:t>
            </a:r>
          </a:p>
        </p:txBody>
      </p:sp>
      <p:sp>
        <p:nvSpPr>
          <p:cNvPr id="25" name="TextBox 24"/>
          <p:cNvSpPr txBox="1"/>
          <p:nvPr/>
        </p:nvSpPr>
        <p:spPr>
          <a:xfrm>
            <a:off x="7955279" y="5212080"/>
            <a:ext cx="1554480" cy="411480"/>
          </a:xfrm>
          <a:prstGeom prst="rect">
            <a:avLst/>
          </a:prstGeom>
          <a:noFill/>
        </p:spPr>
        <p:txBody>
          <a:bodyPr wrap="square">
            <a:spAutoFit/>
          </a:bodyPr>
          <a:lstStyle/>
          <a:p>
            <a:pPr algn="l"/>
            <a:r>
              <a:rPr sz="1000" b="0" i="0">
                <a:solidFill>
                  <a:srgbClr val="38BDF8"/>
                </a:solidFill>
                <a:latin typeface="Consolas"/>
              </a:rPr>
              <a:t>load</a:t>
            </a:r>
          </a:p>
        </p:txBody>
      </p:sp>
      <p:sp>
        <p:nvSpPr>
          <p:cNvPr id="26" name="TextBox 25"/>
          <p:cNvSpPr txBox="1"/>
          <p:nvPr/>
        </p:nvSpPr>
        <p:spPr>
          <a:xfrm>
            <a:off x="9509760" y="5212080"/>
            <a:ext cx="2194560" cy="411480"/>
          </a:xfrm>
          <a:prstGeom prst="rect">
            <a:avLst/>
          </a:prstGeom>
          <a:noFill/>
        </p:spPr>
        <p:txBody>
          <a:bodyPr wrap="square">
            <a:spAutoFit/>
          </a:bodyPr>
          <a:lstStyle/>
          <a:p>
            <a:pPr algn="l"/>
            <a:r>
              <a:rPr sz="1000" b="0" i="0">
                <a:solidFill>
                  <a:srgbClr val="94A3B8"/>
                </a:solidFill>
                <a:latin typeface="Calibri"/>
              </a:rPr>
              <a:t>Page fully loaded</a:t>
            </a:r>
          </a:p>
        </p:txBody>
      </p:sp>
      <p:sp>
        <p:nvSpPr>
          <p:cNvPr id="27" name="TextBox 26"/>
          <p:cNvSpPr txBox="1"/>
          <p:nvPr/>
        </p:nvSpPr>
        <p:spPr>
          <a:xfrm>
            <a:off x="7955279" y="5715000"/>
            <a:ext cx="1554480" cy="411480"/>
          </a:xfrm>
          <a:prstGeom prst="rect">
            <a:avLst/>
          </a:prstGeom>
          <a:noFill/>
        </p:spPr>
        <p:txBody>
          <a:bodyPr wrap="square">
            <a:spAutoFit/>
          </a:bodyPr>
          <a:lstStyle/>
          <a:p>
            <a:pPr algn="l"/>
            <a:r>
              <a:rPr sz="1000" b="0" i="0">
                <a:solidFill>
                  <a:srgbClr val="38BDF8"/>
                </a:solidFill>
                <a:latin typeface="Consolas"/>
              </a:rPr>
              <a:t>DOMContentLoaded</a:t>
            </a:r>
          </a:p>
        </p:txBody>
      </p:sp>
      <p:sp>
        <p:nvSpPr>
          <p:cNvPr id="28" name="TextBox 27"/>
          <p:cNvSpPr txBox="1"/>
          <p:nvPr/>
        </p:nvSpPr>
        <p:spPr>
          <a:xfrm>
            <a:off x="9509760" y="5715000"/>
            <a:ext cx="2194560" cy="411480"/>
          </a:xfrm>
          <a:prstGeom prst="rect">
            <a:avLst/>
          </a:prstGeom>
          <a:noFill/>
        </p:spPr>
        <p:txBody>
          <a:bodyPr wrap="square">
            <a:spAutoFit/>
          </a:bodyPr>
          <a:lstStyle/>
          <a:p>
            <a:pPr algn="l"/>
            <a:r>
              <a:rPr sz="1000" b="0" i="0">
                <a:solidFill>
                  <a:srgbClr val="94A3B8"/>
                </a:solidFill>
                <a:latin typeface="Calibri"/>
              </a:rPr>
              <a:t>HTML parsed (faster than load)</a:t>
            </a:r>
          </a:p>
        </p:txBody>
      </p:sp>
      <p:sp>
        <p:nvSpPr>
          <p:cNvPr id="29" name="TextBox 28"/>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15/27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The Event Object</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400" b="0" i="0">
                <a:solidFill>
                  <a:srgbClr val="94A3B8"/>
                </a:solidFill>
                <a:latin typeface="Calibri"/>
              </a:rPr>
              <a:t>Every listener receives an event object — packed with useful information</a:t>
            </a:r>
          </a:p>
        </p:txBody>
      </p:sp>
      <p:sp>
        <p:nvSpPr>
          <p:cNvPr id="7" name="Rectangle 6"/>
          <p:cNvSpPr/>
          <p:nvPr/>
        </p:nvSpPr>
        <p:spPr>
          <a:xfrm>
            <a:off x="320040" y="1600200"/>
            <a:ext cx="7498079" cy="4892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00200"/>
            <a:ext cx="64008" cy="4892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 y="1655064"/>
            <a:ext cx="7498079" cy="274320"/>
          </a:xfrm>
          <a:prstGeom prst="rect">
            <a:avLst/>
          </a:prstGeom>
          <a:noFill/>
        </p:spPr>
        <p:txBody>
          <a:bodyPr wrap="square">
            <a:spAutoFit/>
          </a:bodyPr>
          <a:lstStyle/>
          <a:p>
            <a:pPr algn="l"/>
            <a:r>
              <a:rPr sz="900" b="0" i="0">
                <a:solidFill>
                  <a:srgbClr val="94A3B8"/>
                </a:solidFill>
                <a:latin typeface="Consolas"/>
              </a:rPr>
              <a:t>JS</a:t>
            </a:r>
          </a:p>
        </p:txBody>
      </p:sp>
      <p:sp>
        <p:nvSpPr>
          <p:cNvPr id="10" name="TextBox 9"/>
          <p:cNvSpPr txBox="1"/>
          <p:nvPr/>
        </p:nvSpPr>
        <p:spPr>
          <a:xfrm>
            <a:off x="448056" y="1911096"/>
            <a:ext cx="7242047" cy="4489704"/>
          </a:xfrm>
          <a:prstGeom prst="rect">
            <a:avLst/>
          </a:prstGeom>
          <a:noFill/>
        </p:spPr>
        <p:txBody>
          <a:bodyPr wrap="none">
            <a:spAutoFit/>
          </a:bodyPr>
          <a:lstStyle/>
          <a:p>
            <a:r>
              <a:rPr sz="1200" dirty="0">
                <a:solidFill>
                  <a:srgbClr val="38BDF8"/>
                </a:solidFill>
                <a:latin typeface="Consolas"/>
              </a:rPr>
              <a:t>// The callback receives an event object (usually named 'e' or 'event')</a:t>
            </a:r>
          </a:p>
          <a:p>
            <a:r>
              <a:rPr sz="1200" dirty="0" err="1">
                <a:solidFill>
                  <a:srgbClr val="38BDF8"/>
                </a:solidFill>
                <a:latin typeface="Consolas"/>
              </a:rPr>
              <a:t>btn.addEventListener</a:t>
            </a:r>
            <a:r>
              <a:rPr sz="1200" dirty="0">
                <a:solidFill>
                  <a:srgbClr val="38BDF8"/>
                </a:solidFill>
                <a:latin typeface="Consolas"/>
              </a:rPr>
              <a:t>('click', (e) =&gt; {</a:t>
            </a:r>
          </a:p>
          <a:p>
            <a:r>
              <a:rPr sz="1200" dirty="0">
                <a:solidFill>
                  <a:srgbClr val="38BDF8"/>
                </a:solidFill>
                <a:latin typeface="Consolas"/>
              </a:rPr>
              <a:t>    console.log(</a:t>
            </a:r>
            <a:r>
              <a:rPr sz="1200" dirty="0" err="1">
                <a:solidFill>
                  <a:srgbClr val="38BDF8"/>
                </a:solidFill>
                <a:latin typeface="Consolas"/>
              </a:rPr>
              <a:t>e.type</a:t>
            </a:r>
            <a:r>
              <a:rPr sz="1200" dirty="0">
                <a:solidFill>
                  <a:srgbClr val="38BDF8"/>
                </a:solidFill>
                <a:latin typeface="Consolas"/>
              </a:rPr>
              <a:t>);          // 'click'</a:t>
            </a:r>
          </a:p>
          <a:p>
            <a:r>
              <a:rPr sz="1200" dirty="0">
                <a:solidFill>
                  <a:srgbClr val="38BDF8"/>
                </a:solidFill>
                <a:latin typeface="Consolas"/>
              </a:rPr>
              <a:t>    console.log(</a:t>
            </a:r>
            <a:r>
              <a:rPr sz="1200" dirty="0" err="1">
                <a:solidFill>
                  <a:srgbClr val="38BDF8"/>
                </a:solidFill>
                <a:latin typeface="Consolas"/>
              </a:rPr>
              <a:t>e.target</a:t>
            </a:r>
            <a:r>
              <a:rPr sz="1200" dirty="0">
                <a:solidFill>
                  <a:srgbClr val="38BDF8"/>
                </a:solidFill>
                <a:latin typeface="Consolas"/>
              </a:rPr>
              <a:t>);        // the element that was clicked</a:t>
            </a:r>
          </a:p>
          <a:p>
            <a:r>
              <a:rPr sz="1200" dirty="0">
                <a:solidFill>
                  <a:srgbClr val="38BDF8"/>
                </a:solidFill>
                <a:latin typeface="Consolas"/>
              </a:rPr>
              <a:t>    console.log(e.target.id);     // its id attribute</a:t>
            </a:r>
          </a:p>
          <a:p>
            <a:r>
              <a:rPr sz="1200" dirty="0">
                <a:solidFill>
                  <a:srgbClr val="38BDF8"/>
                </a:solidFill>
                <a:latin typeface="Consolas"/>
              </a:rPr>
              <a:t>});</a:t>
            </a:r>
          </a:p>
          <a:p>
            <a:endParaRPr sz="1200" dirty="0">
              <a:solidFill>
                <a:srgbClr val="38BDF8"/>
              </a:solidFill>
              <a:latin typeface="Consolas"/>
            </a:endParaRPr>
          </a:p>
          <a:p>
            <a:r>
              <a:rPr sz="1200" dirty="0">
                <a:solidFill>
                  <a:srgbClr val="38BDF8"/>
                </a:solidFill>
                <a:latin typeface="Consolas"/>
              </a:rPr>
              <a:t>// Keyboard events</a:t>
            </a:r>
          </a:p>
          <a:p>
            <a:r>
              <a:rPr sz="1200" dirty="0" err="1">
                <a:solidFill>
                  <a:srgbClr val="38BDF8"/>
                </a:solidFill>
                <a:latin typeface="Consolas"/>
              </a:rPr>
              <a:t>document.addEventListener</a:t>
            </a:r>
            <a:r>
              <a:rPr sz="1200" dirty="0">
                <a:solidFill>
                  <a:srgbClr val="38BDF8"/>
                </a:solidFill>
                <a:latin typeface="Consolas"/>
              </a:rPr>
              <a:t>('</a:t>
            </a:r>
            <a:r>
              <a:rPr sz="1200" dirty="0" err="1">
                <a:solidFill>
                  <a:srgbClr val="38BDF8"/>
                </a:solidFill>
                <a:latin typeface="Consolas"/>
              </a:rPr>
              <a:t>keydown</a:t>
            </a:r>
            <a:r>
              <a:rPr sz="1200" dirty="0">
                <a:solidFill>
                  <a:srgbClr val="38BDF8"/>
                </a:solidFill>
                <a:latin typeface="Consolas"/>
              </a:rPr>
              <a:t>', (e) =&gt; {</a:t>
            </a:r>
          </a:p>
          <a:p>
            <a:r>
              <a:rPr sz="1200" dirty="0">
                <a:solidFill>
                  <a:srgbClr val="38BDF8"/>
                </a:solidFill>
                <a:latin typeface="Consolas"/>
              </a:rPr>
              <a:t>    console.log(</a:t>
            </a:r>
            <a:r>
              <a:rPr sz="1200" dirty="0" err="1">
                <a:solidFill>
                  <a:srgbClr val="38BDF8"/>
                </a:solidFill>
                <a:latin typeface="Consolas"/>
              </a:rPr>
              <a:t>e.key</a:t>
            </a:r>
            <a:r>
              <a:rPr sz="1200" dirty="0">
                <a:solidFill>
                  <a:srgbClr val="38BDF8"/>
                </a:solidFill>
                <a:latin typeface="Consolas"/>
              </a:rPr>
              <a:t>);           // 'Enter', 'a', '</a:t>
            </a:r>
            <a:r>
              <a:rPr sz="1200" dirty="0" err="1">
                <a:solidFill>
                  <a:srgbClr val="38BDF8"/>
                </a:solidFill>
                <a:latin typeface="Consolas"/>
              </a:rPr>
              <a:t>ArrowUp</a:t>
            </a:r>
            <a:r>
              <a:rPr sz="1200" dirty="0">
                <a:solidFill>
                  <a:srgbClr val="38BDF8"/>
                </a:solidFill>
                <a:latin typeface="Consolas"/>
              </a:rPr>
              <a:t>' ...</a:t>
            </a:r>
          </a:p>
          <a:p>
            <a:r>
              <a:rPr sz="1200" dirty="0">
                <a:solidFill>
                  <a:srgbClr val="38BDF8"/>
                </a:solidFill>
                <a:latin typeface="Consolas"/>
              </a:rPr>
              <a:t>    if (</a:t>
            </a:r>
            <a:r>
              <a:rPr sz="1200" dirty="0" err="1">
                <a:solidFill>
                  <a:srgbClr val="38BDF8"/>
                </a:solidFill>
                <a:latin typeface="Consolas"/>
              </a:rPr>
              <a:t>e.key</a:t>
            </a:r>
            <a:r>
              <a:rPr sz="1200" dirty="0">
                <a:solidFill>
                  <a:srgbClr val="38BDF8"/>
                </a:solidFill>
                <a:latin typeface="Consolas"/>
              </a:rPr>
              <a:t> === 'Enter') </a:t>
            </a:r>
            <a:r>
              <a:rPr sz="1200" dirty="0" err="1">
                <a:solidFill>
                  <a:srgbClr val="38BDF8"/>
                </a:solidFill>
                <a:latin typeface="Consolas"/>
              </a:rPr>
              <a:t>sendMessage</a:t>
            </a:r>
            <a:r>
              <a:rPr sz="1200" dirty="0">
                <a:solidFill>
                  <a:srgbClr val="38BDF8"/>
                </a:solidFill>
                <a:latin typeface="Consolas"/>
              </a:rPr>
              <a:t>();</a:t>
            </a:r>
          </a:p>
          <a:p>
            <a:r>
              <a:rPr sz="1200" dirty="0">
                <a:solidFill>
                  <a:srgbClr val="38BDF8"/>
                </a:solidFill>
                <a:latin typeface="Consolas"/>
              </a:rPr>
              <a:t>});</a:t>
            </a:r>
          </a:p>
          <a:p>
            <a:endParaRPr sz="1200" dirty="0">
              <a:solidFill>
                <a:srgbClr val="38BDF8"/>
              </a:solidFill>
              <a:latin typeface="Consolas"/>
            </a:endParaRPr>
          </a:p>
          <a:p>
            <a:r>
              <a:rPr sz="1200" dirty="0">
                <a:solidFill>
                  <a:srgbClr val="38BDF8"/>
                </a:solidFill>
                <a:latin typeface="Consolas"/>
              </a:rPr>
              <a:t>// Prevent default browser action (e.g. stop form reload)</a:t>
            </a:r>
          </a:p>
          <a:p>
            <a:r>
              <a:rPr sz="1200" dirty="0" err="1">
                <a:solidFill>
                  <a:srgbClr val="38BDF8"/>
                </a:solidFill>
                <a:latin typeface="Consolas"/>
              </a:rPr>
              <a:t>form.addEventListener</a:t>
            </a:r>
            <a:r>
              <a:rPr sz="1200" dirty="0">
                <a:solidFill>
                  <a:srgbClr val="38BDF8"/>
                </a:solidFill>
                <a:latin typeface="Consolas"/>
              </a:rPr>
              <a:t>('submit', (e) =&gt; {</a:t>
            </a:r>
          </a:p>
          <a:p>
            <a:r>
              <a:rPr sz="1200" dirty="0">
                <a:solidFill>
                  <a:srgbClr val="38BDF8"/>
                </a:solidFill>
                <a:latin typeface="Consolas"/>
              </a:rPr>
              <a:t>    </a:t>
            </a:r>
            <a:r>
              <a:rPr sz="1200" dirty="0" err="1">
                <a:solidFill>
                  <a:srgbClr val="38BDF8"/>
                </a:solidFill>
                <a:latin typeface="Consolas"/>
              </a:rPr>
              <a:t>e.preventDefault</a:t>
            </a:r>
            <a:r>
              <a:rPr sz="1200" dirty="0">
                <a:solidFill>
                  <a:srgbClr val="38BDF8"/>
                </a:solidFill>
                <a:latin typeface="Consolas"/>
              </a:rPr>
              <a:t>();</a:t>
            </a:r>
          </a:p>
          <a:p>
            <a:r>
              <a:rPr sz="1200" dirty="0">
                <a:solidFill>
                  <a:srgbClr val="38BDF8"/>
                </a:solidFill>
                <a:latin typeface="Consolas"/>
              </a:rPr>
              <a:t>    </a:t>
            </a:r>
            <a:r>
              <a:rPr sz="1200" dirty="0" err="1">
                <a:solidFill>
                  <a:srgbClr val="38BDF8"/>
                </a:solidFill>
                <a:latin typeface="Consolas"/>
              </a:rPr>
              <a:t>validateForm</a:t>
            </a:r>
            <a:r>
              <a:rPr sz="1200" dirty="0">
                <a:solidFill>
                  <a:srgbClr val="38BDF8"/>
                </a:solidFill>
                <a:latin typeface="Consolas"/>
              </a:rPr>
              <a:t>();</a:t>
            </a:r>
          </a:p>
          <a:p>
            <a:r>
              <a:rPr sz="1200" dirty="0">
                <a:solidFill>
                  <a:srgbClr val="38BDF8"/>
                </a:solidFill>
                <a:latin typeface="Consolas"/>
              </a:rPr>
              <a:t>});</a:t>
            </a:r>
          </a:p>
        </p:txBody>
      </p:sp>
      <p:sp>
        <p:nvSpPr>
          <p:cNvPr id="11" name="Rectangle 10"/>
          <p:cNvSpPr/>
          <p:nvPr/>
        </p:nvSpPr>
        <p:spPr>
          <a:xfrm>
            <a:off x="7818120" y="1600200"/>
            <a:ext cx="4023360" cy="489204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1691640"/>
            <a:ext cx="3749039" cy="365760"/>
          </a:xfrm>
          <a:prstGeom prst="rect">
            <a:avLst/>
          </a:prstGeom>
          <a:noFill/>
        </p:spPr>
        <p:txBody>
          <a:bodyPr wrap="square">
            <a:spAutoFit/>
          </a:bodyPr>
          <a:lstStyle/>
          <a:p>
            <a:pPr algn="l"/>
            <a:r>
              <a:rPr sz="1200" b="1" i="0">
                <a:solidFill>
                  <a:srgbClr val="F7DF1E"/>
                </a:solidFill>
                <a:latin typeface="Calibri"/>
              </a:rPr>
              <a:t>Key Properties</a:t>
            </a:r>
          </a:p>
        </p:txBody>
      </p:sp>
      <p:sp>
        <p:nvSpPr>
          <p:cNvPr id="13" name="TextBox 12"/>
          <p:cNvSpPr txBox="1"/>
          <p:nvPr/>
        </p:nvSpPr>
        <p:spPr>
          <a:xfrm>
            <a:off x="7955279" y="2240280"/>
            <a:ext cx="3749039" cy="347472"/>
          </a:xfrm>
          <a:prstGeom prst="rect">
            <a:avLst/>
          </a:prstGeom>
          <a:noFill/>
        </p:spPr>
        <p:txBody>
          <a:bodyPr wrap="square">
            <a:spAutoFit/>
          </a:bodyPr>
          <a:lstStyle/>
          <a:p>
            <a:pPr algn="l"/>
            <a:r>
              <a:rPr sz="1000" b="1" i="0">
                <a:solidFill>
                  <a:srgbClr val="38BDF8"/>
                </a:solidFill>
                <a:latin typeface="Consolas"/>
              </a:rPr>
              <a:t>e.type</a:t>
            </a:r>
          </a:p>
        </p:txBody>
      </p:sp>
      <p:sp>
        <p:nvSpPr>
          <p:cNvPr id="14" name="TextBox 13"/>
          <p:cNvSpPr txBox="1"/>
          <p:nvPr/>
        </p:nvSpPr>
        <p:spPr>
          <a:xfrm>
            <a:off x="7955279" y="2587752"/>
            <a:ext cx="3749039" cy="438912"/>
          </a:xfrm>
          <a:prstGeom prst="rect">
            <a:avLst/>
          </a:prstGeom>
          <a:noFill/>
        </p:spPr>
        <p:txBody>
          <a:bodyPr wrap="square">
            <a:spAutoFit/>
          </a:bodyPr>
          <a:lstStyle/>
          <a:p>
            <a:pPr algn="l"/>
            <a:r>
              <a:rPr sz="1000" b="0" i="0">
                <a:solidFill>
                  <a:srgbClr val="94A3B8"/>
                </a:solidFill>
                <a:latin typeface="Calibri"/>
              </a:rPr>
              <a:t>Event name ('click', 'keydown'...)</a:t>
            </a:r>
          </a:p>
        </p:txBody>
      </p:sp>
      <p:sp>
        <p:nvSpPr>
          <p:cNvPr id="15" name="TextBox 14"/>
          <p:cNvSpPr txBox="1"/>
          <p:nvPr/>
        </p:nvSpPr>
        <p:spPr>
          <a:xfrm>
            <a:off x="7955279" y="3081528"/>
            <a:ext cx="3749039" cy="347472"/>
          </a:xfrm>
          <a:prstGeom prst="rect">
            <a:avLst/>
          </a:prstGeom>
          <a:noFill/>
        </p:spPr>
        <p:txBody>
          <a:bodyPr wrap="square">
            <a:spAutoFit/>
          </a:bodyPr>
          <a:lstStyle/>
          <a:p>
            <a:pPr algn="l"/>
            <a:r>
              <a:rPr sz="1000" b="1" i="0">
                <a:solidFill>
                  <a:srgbClr val="38BDF8"/>
                </a:solidFill>
                <a:latin typeface="Consolas"/>
              </a:rPr>
              <a:t>e.target</a:t>
            </a:r>
          </a:p>
        </p:txBody>
      </p:sp>
      <p:sp>
        <p:nvSpPr>
          <p:cNvPr id="16" name="TextBox 15"/>
          <p:cNvSpPr txBox="1"/>
          <p:nvPr/>
        </p:nvSpPr>
        <p:spPr>
          <a:xfrm>
            <a:off x="7955279" y="3429000"/>
            <a:ext cx="3749039" cy="438912"/>
          </a:xfrm>
          <a:prstGeom prst="rect">
            <a:avLst/>
          </a:prstGeom>
          <a:noFill/>
        </p:spPr>
        <p:txBody>
          <a:bodyPr wrap="square">
            <a:spAutoFit/>
          </a:bodyPr>
          <a:lstStyle/>
          <a:p>
            <a:pPr algn="l"/>
            <a:r>
              <a:rPr sz="1000" b="0" i="0">
                <a:solidFill>
                  <a:srgbClr val="94A3B8"/>
                </a:solidFill>
                <a:latin typeface="Calibri"/>
              </a:rPr>
              <a:t>Element that triggered the event</a:t>
            </a:r>
          </a:p>
        </p:txBody>
      </p:sp>
      <p:sp>
        <p:nvSpPr>
          <p:cNvPr id="17" name="TextBox 16"/>
          <p:cNvSpPr txBox="1"/>
          <p:nvPr/>
        </p:nvSpPr>
        <p:spPr>
          <a:xfrm>
            <a:off x="7955279" y="3922776"/>
            <a:ext cx="3749039" cy="347472"/>
          </a:xfrm>
          <a:prstGeom prst="rect">
            <a:avLst/>
          </a:prstGeom>
          <a:noFill/>
        </p:spPr>
        <p:txBody>
          <a:bodyPr wrap="square">
            <a:spAutoFit/>
          </a:bodyPr>
          <a:lstStyle/>
          <a:p>
            <a:pPr algn="l"/>
            <a:r>
              <a:rPr sz="1000" b="1" i="0">
                <a:solidFill>
                  <a:srgbClr val="38BDF8"/>
                </a:solidFill>
                <a:latin typeface="Consolas"/>
              </a:rPr>
              <a:t>e.key</a:t>
            </a:r>
          </a:p>
        </p:txBody>
      </p:sp>
      <p:sp>
        <p:nvSpPr>
          <p:cNvPr id="18" name="TextBox 17"/>
          <p:cNvSpPr txBox="1"/>
          <p:nvPr/>
        </p:nvSpPr>
        <p:spPr>
          <a:xfrm>
            <a:off x="7955279" y="4270248"/>
            <a:ext cx="3749039" cy="438912"/>
          </a:xfrm>
          <a:prstGeom prst="rect">
            <a:avLst/>
          </a:prstGeom>
          <a:noFill/>
        </p:spPr>
        <p:txBody>
          <a:bodyPr wrap="square">
            <a:spAutoFit/>
          </a:bodyPr>
          <a:lstStyle/>
          <a:p>
            <a:pPr algn="l"/>
            <a:r>
              <a:rPr sz="1000" b="0" i="0">
                <a:solidFill>
                  <a:srgbClr val="94A3B8"/>
                </a:solidFill>
                <a:latin typeface="Calibri"/>
              </a:rPr>
              <a:t>Key name for keyboard events</a:t>
            </a:r>
          </a:p>
        </p:txBody>
      </p:sp>
      <p:sp>
        <p:nvSpPr>
          <p:cNvPr id="19" name="TextBox 18"/>
          <p:cNvSpPr txBox="1"/>
          <p:nvPr/>
        </p:nvSpPr>
        <p:spPr>
          <a:xfrm>
            <a:off x="7955279" y="4764024"/>
            <a:ext cx="3749039" cy="347472"/>
          </a:xfrm>
          <a:prstGeom prst="rect">
            <a:avLst/>
          </a:prstGeom>
          <a:noFill/>
        </p:spPr>
        <p:txBody>
          <a:bodyPr wrap="square">
            <a:spAutoFit/>
          </a:bodyPr>
          <a:lstStyle/>
          <a:p>
            <a:pPr algn="l"/>
            <a:r>
              <a:rPr sz="1000" b="1" i="0">
                <a:solidFill>
                  <a:srgbClr val="38BDF8"/>
                </a:solidFill>
                <a:latin typeface="Consolas"/>
              </a:rPr>
              <a:t>e.preventDefault()</a:t>
            </a:r>
          </a:p>
        </p:txBody>
      </p:sp>
      <p:sp>
        <p:nvSpPr>
          <p:cNvPr id="20" name="TextBox 19"/>
          <p:cNvSpPr txBox="1"/>
          <p:nvPr/>
        </p:nvSpPr>
        <p:spPr>
          <a:xfrm>
            <a:off x="7955279" y="5111496"/>
            <a:ext cx="3749039" cy="438912"/>
          </a:xfrm>
          <a:prstGeom prst="rect">
            <a:avLst/>
          </a:prstGeom>
          <a:noFill/>
        </p:spPr>
        <p:txBody>
          <a:bodyPr wrap="square">
            <a:spAutoFit/>
          </a:bodyPr>
          <a:lstStyle/>
          <a:p>
            <a:pPr algn="l"/>
            <a:r>
              <a:rPr sz="1000" b="0" i="0">
                <a:solidFill>
                  <a:srgbClr val="94A3B8"/>
                </a:solidFill>
                <a:latin typeface="Calibri"/>
              </a:rPr>
              <a:t>Stop the default browser behaviour</a:t>
            </a:r>
          </a:p>
        </p:txBody>
      </p:sp>
      <p:sp>
        <p:nvSpPr>
          <p:cNvPr id="21" name="TextBox 20"/>
          <p:cNvSpPr txBox="1"/>
          <p:nvPr/>
        </p:nvSpPr>
        <p:spPr>
          <a:xfrm>
            <a:off x="7955279" y="5605272"/>
            <a:ext cx="3749039" cy="347472"/>
          </a:xfrm>
          <a:prstGeom prst="rect">
            <a:avLst/>
          </a:prstGeom>
          <a:noFill/>
        </p:spPr>
        <p:txBody>
          <a:bodyPr wrap="square">
            <a:spAutoFit/>
          </a:bodyPr>
          <a:lstStyle/>
          <a:p>
            <a:pPr algn="l"/>
            <a:r>
              <a:rPr sz="1000" b="1" i="0">
                <a:solidFill>
                  <a:srgbClr val="38BDF8"/>
                </a:solidFill>
                <a:latin typeface="Consolas"/>
              </a:rPr>
              <a:t>e.stopPropagation()</a:t>
            </a:r>
          </a:p>
        </p:txBody>
      </p:sp>
      <p:sp>
        <p:nvSpPr>
          <p:cNvPr id="22" name="TextBox 21"/>
          <p:cNvSpPr txBox="1"/>
          <p:nvPr/>
        </p:nvSpPr>
        <p:spPr>
          <a:xfrm>
            <a:off x="7955279" y="5952744"/>
            <a:ext cx="3749039" cy="438912"/>
          </a:xfrm>
          <a:prstGeom prst="rect">
            <a:avLst/>
          </a:prstGeom>
          <a:noFill/>
        </p:spPr>
        <p:txBody>
          <a:bodyPr wrap="square">
            <a:spAutoFit/>
          </a:bodyPr>
          <a:lstStyle/>
          <a:p>
            <a:pPr algn="l"/>
            <a:r>
              <a:rPr sz="1000" b="0" i="0">
                <a:solidFill>
                  <a:srgbClr val="94A3B8"/>
                </a:solidFill>
                <a:latin typeface="Calibri"/>
              </a:rPr>
              <a:t>Stop event from bubbling up</a:t>
            </a:r>
          </a:p>
        </p:txBody>
      </p:sp>
      <p:sp>
        <p:nvSpPr>
          <p:cNvPr id="23" name="TextBox 22"/>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16/27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How Events Flow (Visual)</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300" b="0" i="0">
                <a:solidFill>
                  <a:srgbClr val="94A3B8"/>
                </a:solidFill>
                <a:latin typeface="Calibri"/>
              </a:rPr>
              <a:t>Event Bubbling: events travel from the target up to the document root</a:t>
            </a:r>
          </a:p>
        </p:txBody>
      </p:sp>
      <p:sp>
        <p:nvSpPr>
          <p:cNvPr id="7" name="Rectangle 6"/>
          <p:cNvSpPr/>
          <p:nvPr/>
        </p:nvSpPr>
        <p:spPr>
          <a:xfrm>
            <a:off x="5029200" y="1691640"/>
            <a:ext cx="2103120" cy="50292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0" y="1783080"/>
            <a:ext cx="2103120" cy="347472"/>
          </a:xfrm>
          <a:prstGeom prst="rect">
            <a:avLst/>
          </a:prstGeom>
          <a:noFill/>
        </p:spPr>
        <p:txBody>
          <a:bodyPr wrap="square">
            <a:spAutoFit/>
          </a:bodyPr>
          <a:lstStyle/>
          <a:p>
            <a:pPr algn="ctr"/>
            <a:r>
              <a:rPr sz="1300" b="1" i="0">
                <a:solidFill>
                  <a:srgbClr val="FFFFFF"/>
                </a:solidFill>
                <a:latin typeface="Calibri"/>
              </a:rPr>
              <a:t>document</a:t>
            </a:r>
          </a:p>
        </p:txBody>
      </p:sp>
      <p:sp>
        <p:nvSpPr>
          <p:cNvPr id="9" name="Rectangle 8"/>
          <p:cNvSpPr/>
          <p:nvPr/>
        </p:nvSpPr>
        <p:spPr>
          <a:xfrm>
            <a:off x="5029200" y="2423160"/>
            <a:ext cx="210312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0" y="2514600"/>
            <a:ext cx="2103120" cy="347472"/>
          </a:xfrm>
          <a:prstGeom prst="rect">
            <a:avLst/>
          </a:prstGeom>
          <a:noFill/>
        </p:spPr>
        <p:txBody>
          <a:bodyPr wrap="square">
            <a:spAutoFit/>
          </a:bodyPr>
          <a:lstStyle/>
          <a:p>
            <a:pPr algn="ctr"/>
            <a:r>
              <a:rPr sz="1300" b="1" i="0">
                <a:solidFill>
                  <a:srgbClr val="FFFFFF"/>
                </a:solidFill>
                <a:latin typeface="Calibri"/>
              </a:rPr>
              <a:t>&lt;body&gt;</a:t>
            </a:r>
          </a:p>
        </p:txBody>
      </p:sp>
      <p:sp>
        <p:nvSpPr>
          <p:cNvPr id="11" name="Rectangle 10"/>
          <p:cNvSpPr/>
          <p:nvPr/>
        </p:nvSpPr>
        <p:spPr>
          <a:xfrm>
            <a:off x="5029200" y="3154680"/>
            <a:ext cx="2103120" cy="50292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0" y="3246120"/>
            <a:ext cx="2103120" cy="347472"/>
          </a:xfrm>
          <a:prstGeom prst="rect">
            <a:avLst/>
          </a:prstGeom>
          <a:noFill/>
        </p:spPr>
        <p:txBody>
          <a:bodyPr wrap="square">
            <a:spAutoFit/>
          </a:bodyPr>
          <a:lstStyle/>
          <a:p>
            <a:pPr algn="ctr"/>
            <a:r>
              <a:rPr sz="1300" b="1" i="0">
                <a:solidFill>
                  <a:srgbClr val="FFFFFF"/>
                </a:solidFill>
                <a:latin typeface="Calibri"/>
              </a:rPr>
              <a:t>&lt;div&gt;</a:t>
            </a:r>
          </a:p>
        </p:txBody>
      </p:sp>
      <p:sp>
        <p:nvSpPr>
          <p:cNvPr id="13" name="Rectangle 12"/>
          <p:cNvSpPr/>
          <p:nvPr/>
        </p:nvSpPr>
        <p:spPr>
          <a:xfrm>
            <a:off x="5029200" y="3886200"/>
            <a:ext cx="210312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0" y="3977640"/>
            <a:ext cx="2103120" cy="347472"/>
          </a:xfrm>
          <a:prstGeom prst="rect">
            <a:avLst/>
          </a:prstGeom>
          <a:noFill/>
        </p:spPr>
        <p:txBody>
          <a:bodyPr wrap="square">
            <a:spAutoFit/>
          </a:bodyPr>
          <a:lstStyle/>
          <a:p>
            <a:pPr algn="ctr"/>
            <a:r>
              <a:rPr sz="1300" b="1" i="0">
                <a:solidFill>
                  <a:srgbClr val="FFFFFF"/>
                </a:solidFill>
                <a:latin typeface="Calibri"/>
              </a:rPr>
              <a:t>&lt;button&gt;</a:t>
            </a:r>
          </a:p>
        </p:txBody>
      </p:sp>
      <p:sp>
        <p:nvSpPr>
          <p:cNvPr id="15" name="TextBox 14"/>
          <p:cNvSpPr txBox="1"/>
          <p:nvPr/>
        </p:nvSpPr>
        <p:spPr>
          <a:xfrm>
            <a:off x="7269480" y="3977640"/>
            <a:ext cx="1371600" cy="365760"/>
          </a:xfrm>
          <a:prstGeom prst="rect">
            <a:avLst/>
          </a:prstGeom>
          <a:noFill/>
        </p:spPr>
        <p:txBody>
          <a:bodyPr wrap="square">
            <a:spAutoFit/>
          </a:bodyPr>
          <a:lstStyle/>
          <a:p>
            <a:pPr algn="l"/>
            <a:r>
              <a:rPr sz="1100" b="0" i="0">
                <a:solidFill>
                  <a:srgbClr val="F7DF1E"/>
                </a:solidFill>
                <a:latin typeface="Calibri"/>
              </a:rPr>
              <a:t>↑ bubble</a:t>
            </a:r>
          </a:p>
        </p:txBody>
      </p:sp>
      <p:sp>
        <p:nvSpPr>
          <p:cNvPr id="16" name="TextBox 15"/>
          <p:cNvSpPr txBox="1"/>
          <p:nvPr/>
        </p:nvSpPr>
        <p:spPr>
          <a:xfrm>
            <a:off x="7269480" y="3246120"/>
            <a:ext cx="1371600" cy="365760"/>
          </a:xfrm>
          <a:prstGeom prst="rect">
            <a:avLst/>
          </a:prstGeom>
          <a:noFill/>
        </p:spPr>
        <p:txBody>
          <a:bodyPr wrap="square">
            <a:spAutoFit/>
          </a:bodyPr>
          <a:lstStyle/>
          <a:p>
            <a:pPr algn="l"/>
            <a:r>
              <a:rPr sz="1100" b="0" i="0">
                <a:solidFill>
                  <a:srgbClr val="F7DF1E"/>
                </a:solidFill>
                <a:latin typeface="Calibri"/>
              </a:rPr>
              <a:t>↑ bubble</a:t>
            </a:r>
          </a:p>
        </p:txBody>
      </p:sp>
      <p:sp>
        <p:nvSpPr>
          <p:cNvPr id="17" name="TextBox 16"/>
          <p:cNvSpPr txBox="1"/>
          <p:nvPr/>
        </p:nvSpPr>
        <p:spPr>
          <a:xfrm>
            <a:off x="7269480" y="2514600"/>
            <a:ext cx="1371600" cy="365760"/>
          </a:xfrm>
          <a:prstGeom prst="rect">
            <a:avLst/>
          </a:prstGeom>
          <a:noFill/>
        </p:spPr>
        <p:txBody>
          <a:bodyPr wrap="square">
            <a:spAutoFit/>
          </a:bodyPr>
          <a:lstStyle/>
          <a:p>
            <a:pPr algn="l"/>
            <a:r>
              <a:rPr sz="1100" b="0" i="0">
                <a:solidFill>
                  <a:srgbClr val="F7DF1E"/>
                </a:solidFill>
                <a:latin typeface="Calibri"/>
              </a:rPr>
              <a:t>↑ bubble</a:t>
            </a:r>
          </a:p>
        </p:txBody>
      </p:sp>
      <p:sp>
        <p:nvSpPr>
          <p:cNvPr id="18" name="TextBox 17"/>
          <p:cNvSpPr txBox="1"/>
          <p:nvPr/>
        </p:nvSpPr>
        <p:spPr>
          <a:xfrm>
            <a:off x="3200400" y="3950208"/>
            <a:ext cx="1691640" cy="347472"/>
          </a:xfrm>
          <a:prstGeom prst="rect">
            <a:avLst/>
          </a:prstGeom>
          <a:noFill/>
        </p:spPr>
        <p:txBody>
          <a:bodyPr wrap="square">
            <a:spAutoFit/>
          </a:bodyPr>
          <a:lstStyle/>
          <a:p>
            <a:pPr algn="l"/>
            <a:r>
              <a:rPr sz="1000" b="1" i="0">
                <a:solidFill>
                  <a:srgbClr val="4ADE80"/>
                </a:solidFill>
                <a:latin typeface="Calibri"/>
              </a:rPr>
              <a:t>USER CLICKS HERE</a:t>
            </a:r>
          </a:p>
        </p:txBody>
      </p:sp>
      <p:sp>
        <p:nvSpPr>
          <p:cNvPr id="19" name="Rectangle 18"/>
          <p:cNvSpPr/>
          <p:nvPr/>
        </p:nvSpPr>
        <p:spPr>
          <a:xfrm>
            <a:off x="320040" y="1828800"/>
            <a:ext cx="4389120" cy="256032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1828800"/>
            <a:ext cx="54864" cy="25603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8056" y="1901952"/>
            <a:ext cx="4206240" cy="365760"/>
          </a:xfrm>
          <a:prstGeom prst="rect">
            <a:avLst/>
          </a:prstGeom>
          <a:noFill/>
        </p:spPr>
        <p:txBody>
          <a:bodyPr wrap="square">
            <a:spAutoFit/>
          </a:bodyPr>
          <a:lstStyle/>
          <a:p>
            <a:pPr algn="l"/>
            <a:r>
              <a:rPr sz="1300" b="1" i="0">
                <a:solidFill>
                  <a:srgbClr val="F7DF1E"/>
                </a:solidFill>
                <a:latin typeface="Calibri"/>
              </a:rPr>
              <a:t>Bubbling (default)</a:t>
            </a:r>
          </a:p>
        </p:txBody>
      </p:sp>
      <p:sp>
        <p:nvSpPr>
          <p:cNvPr id="22" name="TextBox 21"/>
          <p:cNvSpPr txBox="1"/>
          <p:nvPr/>
        </p:nvSpPr>
        <p:spPr>
          <a:xfrm>
            <a:off x="448056" y="2249424"/>
            <a:ext cx="4169664" cy="2048256"/>
          </a:xfrm>
          <a:prstGeom prst="rect">
            <a:avLst/>
          </a:prstGeom>
          <a:noFill/>
        </p:spPr>
        <p:txBody>
          <a:bodyPr wrap="square">
            <a:spAutoFit/>
          </a:bodyPr>
          <a:lstStyle/>
          <a:p>
            <a:r>
              <a:rPr sz="1150">
                <a:solidFill>
                  <a:srgbClr val="FFFFFF"/>
                </a:solidFill>
                <a:latin typeface="Calibri"/>
              </a:rPr>
              <a:t>Event fires on &lt;button&gt;</a:t>
            </a:r>
          </a:p>
          <a:p>
            <a:r>
              <a:rPr sz="1150">
                <a:solidFill>
                  <a:srgbClr val="FFFFFF"/>
                </a:solidFill>
                <a:latin typeface="Calibri"/>
              </a:rPr>
              <a:t>then bubbles up to &lt;div&gt;</a:t>
            </a:r>
          </a:p>
          <a:p>
            <a:r>
              <a:rPr sz="1150">
                <a:solidFill>
                  <a:srgbClr val="FFFFFF"/>
                </a:solidFill>
                <a:latin typeface="Calibri"/>
              </a:rPr>
              <a:t>then to &lt;body&gt;</a:t>
            </a:r>
          </a:p>
          <a:p>
            <a:r>
              <a:rPr sz="1150">
                <a:solidFill>
                  <a:srgbClr val="FFFFFF"/>
                </a:solidFill>
                <a:latin typeface="Calibri"/>
              </a:rPr>
              <a:t>then to document</a:t>
            </a:r>
          </a:p>
          <a:p>
            <a:r>
              <a:rPr sz="1150">
                <a:solidFill>
                  <a:srgbClr val="FFFFFF"/>
                </a:solidFill>
                <a:latin typeface="Calibri"/>
              </a:rPr>
              <a:t>Use e.stopPropagation() to stop</a:t>
            </a:r>
          </a:p>
        </p:txBody>
      </p:sp>
      <p:sp>
        <p:nvSpPr>
          <p:cNvPr id="23" name="Rectangle 22"/>
          <p:cNvSpPr/>
          <p:nvPr/>
        </p:nvSpPr>
        <p:spPr>
          <a:xfrm>
            <a:off x="8961120" y="1828800"/>
            <a:ext cx="2834640" cy="256032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61120" y="1828800"/>
            <a:ext cx="54864" cy="25603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89136" y="1901952"/>
            <a:ext cx="2651760" cy="365760"/>
          </a:xfrm>
          <a:prstGeom prst="rect">
            <a:avLst/>
          </a:prstGeom>
          <a:noFill/>
        </p:spPr>
        <p:txBody>
          <a:bodyPr wrap="square">
            <a:spAutoFit/>
          </a:bodyPr>
          <a:lstStyle/>
          <a:p>
            <a:pPr algn="l"/>
            <a:r>
              <a:rPr sz="1300" b="1" i="0">
                <a:solidFill>
                  <a:srgbClr val="F7DF1E"/>
                </a:solidFill>
                <a:latin typeface="Calibri"/>
              </a:rPr>
              <a:t>Capture phase</a:t>
            </a:r>
          </a:p>
        </p:txBody>
      </p:sp>
      <p:sp>
        <p:nvSpPr>
          <p:cNvPr id="26" name="TextBox 25"/>
          <p:cNvSpPr txBox="1"/>
          <p:nvPr/>
        </p:nvSpPr>
        <p:spPr>
          <a:xfrm>
            <a:off x="9089136" y="2249424"/>
            <a:ext cx="2615184" cy="2048256"/>
          </a:xfrm>
          <a:prstGeom prst="rect">
            <a:avLst/>
          </a:prstGeom>
          <a:noFill/>
        </p:spPr>
        <p:txBody>
          <a:bodyPr wrap="square">
            <a:spAutoFit/>
          </a:bodyPr>
          <a:lstStyle/>
          <a:p>
            <a:r>
              <a:rPr sz="1150">
                <a:solidFill>
                  <a:srgbClr val="FFFFFF"/>
                </a:solidFill>
                <a:latin typeface="Calibri"/>
              </a:rPr>
              <a:t>Optional — event</a:t>
            </a:r>
          </a:p>
          <a:p>
            <a:r>
              <a:rPr sz="1150">
                <a:solidFill>
                  <a:srgbClr val="FFFFFF"/>
                </a:solidFill>
                <a:latin typeface="Calibri"/>
              </a:rPr>
              <a:t>travels DOWN first</a:t>
            </a:r>
          </a:p>
          <a:p>
            <a:r>
              <a:rPr sz="1150">
                <a:solidFill>
                  <a:srgbClr val="FFFFFF"/>
                </a:solidFill>
                <a:latin typeface="Calibri"/>
              </a:rPr>
              <a:t>Pass {capture:true}</a:t>
            </a:r>
          </a:p>
          <a:p>
            <a:r>
              <a:rPr sz="1150">
                <a:solidFill>
                  <a:srgbClr val="FFFFFF"/>
                </a:solidFill>
                <a:latin typeface="Calibri"/>
              </a:rPr>
              <a:t>as 3rd argument to</a:t>
            </a:r>
          </a:p>
          <a:p>
            <a:r>
              <a:rPr sz="1150">
                <a:solidFill>
                  <a:srgbClr val="FFFFFF"/>
                </a:solidFill>
                <a:latin typeface="Calibri"/>
              </a:rPr>
              <a:t>addEventListener()</a:t>
            </a:r>
          </a:p>
        </p:txBody>
      </p:sp>
      <p:sp>
        <p:nvSpPr>
          <p:cNvPr id="27" name="Rectangle 26"/>
          <p:cNvSpPr/>
          <p:nvPr/>
        </p:nvSpPr>
        <p:spPr>
          <a:xfrm>
            <a:off x="320040" y="4663440"/>
            <a:ext cx="1152144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4663440"/>
            <a:ext cx="64008" cy="182880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056" y="4718304"/>
            <a:ext cx="11521440" cy="274320"/>
          </a:xfrm>
          <a:prstGeom prst="rect">
            <a:avLst/>
          </a:prstGeom>
          <a:noFill/>
        </p:spPr>
        <p:txBody>
          <a:bodyPr wrap="square">
            <a:spAutoFit/>
          </a:bodyPr>
          <a:lstStyle/>
          <a:p>
            <a:pPr algn="l"/>
            <a:r>
              <a:rPr sz="900" b="0" i="0">
                <a:solidFill>
                  <a:srgbClr val="94A3B8"/>
                </a:solidFill>
                <a:latin typeface="Consolas"/>
              </a:rPr>
              <a:t>JS</a:t>
            </a:r>
          </a:p>
        </p:txBody>
      </p:sp>
      <p:sp>
        <p:nvSpPr>
          <p:cNvPr id="30" name="TextBox 29"/>
          <p:cNvSpPr txBox="1"/>
          <p:nvPr/>
        </p:nvSpPr>
        <p:spPr>
          <a:xfrm>
            <a:off x="448056" y="4974336"/>
            <a:ext cx="11265408" cy="1426464"/>
          </a:xfrm>
          <a:prstGeom prst="rect">
            <a:avLst/>
          </a:prstGeom>
          <a:noFill/>
        </p:spPr>
        <p:txBody>
          <a:bodyPr wrap="none">
            <a:spAutoFit/>
          </a:bodyPr>
          <a:lstStyle/>
          <a:p>
            <a:r>
              <a:rPr sz="1200">
                <a:solidFill>
                  <a:srgbClr val="38BDF8"/>
                </a:solidFill>
                <a:latin typeface="Consolas"/>
              </a:rPr>
              <a:t>// Listen on parent for ALL child clicks</a:t>
            </a:r>
          </a:p>
          <a:p>
            <a:r>
              <a:rPr sz="1200">
                <a:solidFill>
                  <a:srgbClr val="38BDF8"/>
                </a:solidFill>
                <a:latin typeface="Consolas"/>
              </a:rPr>
              <a:t>ul.addEventListener('click', (e) =&gt; {</a:t>
            </a:r>
          </a:p>
          <a:p>
            <a:r>
              <a:rPr sz="1200">
                <a:solidFill>
                  <a:srgbClr val="38BDF8"/>
                </a:solidFill>
                <a:latin typeface="Consolas"/>
              </a:rPr>
              <a:t>    if (e.target.tagName === 'LI') {</a:t>
            </a:r>
          </a:p>
          <a:p>
            <a:r>
              <a:rPr sz="1200">
                <a:solidFill>
                  <a:srgbClr val="38BDF8"/>
                </a:solidFill>
                <a:latin typeface="Consolas"/>
              </a:rPr>
              <a:t>        e.target.classList.toggle('done');</a:t>
            </a:r>
          </a:p>
          <a:p>
            <a:r>
              <a:rPr sz="1200">
                <a:solidFill>
                  <a:srgbClr val="38BDF8"/>
                </a:solidFill>
                <a:latin typeface="Consolas"/>
              </a:rPr>
              <a:t>    }</a:t>
            </a:r>
          </a:p>
          <a:p>
            <a:r>
              <a:rPr sz="1200">
                <a:solidFill>
                  <a:srgbClr val="38BDF8"/>
                </a:solidFill>
                <a:latin typeface="Consolas"/>
              </a:rPr>
              <a:t>});</a:t>
            </a:r>
          </a:p>
          <a:p>
            <a:r>
              <a:rPr sz="1200">
                <a:solidFill>
                  <a:srgbClr val="38BDF8"/>
                </a:solidFill>
                <a:latin typeface="Consolas"/>
              </a:rPr>
              <a:t>// ↑ Event Delegation pattern</a:t>
            </a:r>
          </a:p>
        </p:txBody>
      </p:sp>
      <p:sp>
        <p:nvSpPr>
          <p:cNvPr id="31" name="TextBox 30"/>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17/27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Quick Check – Event Listeners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3657600" cy="411480"/>
          </a:xfrm>
          <a:prstGeom prst="rect">
            <a:avLst/>
          </a:prstGeom>
          <a:noFill/>
        </p:spPr>
        <p:txBody>
          <a:bodyPr wrap="square">
            <a:spAutoFit/>
          </a:bodyPr>
          <a:lstStyle/>
          <a:p>
            <a:pPr algn="l"/>
            <a:r>
              <a:rPr sz="1100" b="1" i="0">
                <a:solidFill>
                  <a:srgbClr val="F7DF1E"/>
                </a:solidFill>
                <a:latin typeface="Calibri"/>
              </a:rPr>
              <a:t>QUICK CHECK</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You have a form. When the user clicks Submit, the page reloads and you lose the data. Which line fixes this?</a:t>
            </a:r>
          </a:p>
        </p:txBody>
      </p:sp>
      <p:sp>
        <p:nvSpPr>
          <p:cNvPr id="9" name="Rectangle 8"/>
          <p:cNvSpPr/>
          <p:nvPr/>
        </p:nvSpPr>
        <p:spPr>
          <a:xfrm>
            <a:off x="502920" y="224028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FFFFFF"/>
                </a:solidFill>
                <a:latin typeface="Calibri"/>
              </a:rPr>
              <a:t>form.removeEventListener('submit');</a:t>
            </a:r>
          </a:p>
        </p:txBody>
      </p:sp>
      <p:sp>
        <p:nvSpPr>
          <p:cNvPr id="12" name="Rectangle 11"/>
          <p:cNvSpPr/>
          <p:nvPr/>
        </p:nvSpPr>
        <p:spPr>
          <a:xfrm>
            <a:off x="502920" y="310896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94A3B8"/>
                </a:solidFill>
                <a:latin typeface="Calibri"/>
              </a:rPr>
              <a:t>B</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FFFFFF"/>
                </a:solidFill>
                <a:latin typeface="Calibri"/>
              </a:rPr>
              <a:t>e.stopPropagation();</a:t>
            </a:r>
          </a:p>
        </p:txBody>
      </p:sp>
      <p:sp>
        <p:nvSpPr>
          <p:cNvPr id="15" name="Rectangle 14"/>
          <p:cNvSpPr/>
          <p:nvPr/>
        </p:nvSpPr>
        <p:spPr>
          <a:xfrm>
            <a:off x="502920" y="3977639"/>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94A3B8"/>
                </a:solidFill>
                <a:latin typeface="Calibri"/>
              </a:rPr>
              <a:t>C</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FFFFFF"/>
                </a:solidFill>
                <a:latin typeface="Calibri"/>
              </a:rPr>
              <a:t>e.preventDefault();</a:t>
            </a:r>
          </a:p>
        </p:txBody>
      </p:sp>
      <p:sp>
        <p:nvSpPr>
          <p:cNvPr id="18" name="Rectangle 17"/>
          <p:cNvSpPr/>
          <p:nvPr/>
        </p:nvSpPr>
        <p:spPr>
          <a:xfrm>
            <a:off x="502920" y="484632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FFFFFF"/>
                </a:solidFill>
                <a:latin typeface="Calibri"/>
              </a:rPr>
              <a:t>form.addEventListener('cancel', handler);</a:t>
            </a:r>
          </a:p>
        </p:txBody>
      </p:sp>
      <p:sp>
        <p:nvSpPr>
          <p:cNvPr id="21" name="TextBox 20"/>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18/27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Answer – Event Listeners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4572000" cy="411480"/>
          </a:xfrm>
          <a:prstGeom prst="rect">
            <a:avLst/>
          </a:prstGeom>
          <a:noFill/>
        </p:spPr>
        <p:txBody>
          <a:bodyPr wrap="square">
            <a:spAutoFit/>
          </a:bodyPr>
          <a:lstStyle/>
          <a:p>
            <a:pPr algn="l"/>
            <a:r>
              <a:rPr sz="1100" b="1" i="0">
                <a:solidFill>
                  <a:srgbClr val="4ADE80"/>
                </a:solidFill>
                <a:latin typeface="Calibri"/>
              </a:rPr>
              <a:t>ANSWER REVEALED</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You have a form. When the user clicks Submit, the page reloads and you lose the data. Which line fixes this?</a:t>
            </a:r>
          </a:p>
        </p:txBody>
      </p:sp>
      <p:sp>
        <p:nvSpPr>
          <p:cNvPr id="9" name="Rectangle 8"/>
          <p:cNvSpPr/>
          <p:nvPr/>
        </p:nvSpPr>
        <p:spPr>
          <a:xfrm>
            <a:off x="502920" y="224028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94A3B8"/>
                </a:solidFill>
                <a:latin typeface="Calibri"/>
              </a:rPr>
              <a:t>form.removeEventListener('submit');</a:t>
            </a:r>
          </a:p>
        </p:txBody>
      </p:sp>
      <p:sp>
        <p:nvSpPr>
          <p:cNvPr id="12" name="Rectangle 11"/>
          <p:cNvSpPr/>
          <p:nvPr/>
        </p:nvSpPr>
        <p:spPr>
          <a:xfrm>
            <a:off x="502920" y="310896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94A3B8"/>
                </a:solidFill>
                <a:latin typeface="Calibri"/>
              </a:rPr>
              <a:t>B</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94A3B8"/>
                </a:solidFill>
                <a:latin typeface="Calibri"/>
              </a:rPr>
              <a:t>e.stopPropagation();</a:t>
            </a:r>
          </a:p>
        </p:txBody>
      </p:sp>
      <p:sp>
        <p:nvSpPr>
          <p:cNvPr id="15" name="Rectangle 14"/>
          <p:cNvSpPr/>
          <p:nvPr/>
        </p:nvSpPr>
        <p:spPr>
          <a:xfrm>
            <a:off x="502920" y="3977639"/>
            <a:ext cx="10789920" cy="713232"/>
          </a:xfrm>
          <a:prstGeom prst="rect">
            <a:avLst/>
          </a:prstGeom>
          <a:solidFill>
            <a:srgbClr val="054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4ADE80"/>
                </a:solidFill>
                <a:latin typeface="Calibri"/>
              </a:rPr>
              <a:t>✓</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4ADE80"/>
                </a:solidFill>
                <a:latin typeface="Calibri"/>
              </a:rPr>
              <a:t>e.preventDefault();</a:t>
            </a:r>
          </a:p>
        </p:txBody>
      </p:sp>
      <p:sp>
        <p:nvSpPr>
          <p:cNvPr id="18" name="Rectangle 17"/>
          <p:cNvSpPr/>
          <p:nvPr/>
        </p:nvSpPr>
        <p:spPr>
          <a:xfrm>
            <a:off x="502920" y="484632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94A3B8"/>
                </a:solidFill>
                <a:latin typeface="Calibri"/>
              </a:rPr>
              <a:t>form.addEventListener('cancel', handler);</a:t>
            </a:r>
          </a:p>
        </p:txBody>
      </p:sp>
      <p:sp>
        <p:nvSpPr>
          <p:cNvPr id="21" name="Rectangle 20"/>
          <p:cNvSpPr/>
          <p:nvPr/>
        </p:nvSpPr>
        <p:spPr>
          <a:xfrm>
            <a:off x="502920" y="5669280"/>
            <a:ext cx="10789920" cy="82296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5715000"/>
            <a:ext cx="2286000" cy="347472"/>
          </a:xfrm>
          <a:prstGeom prst="rect">
            <a:avLst/>
          </a:prstGeom>
          <a:noFill/>
        </p:spPr>
        <p:txBody>
          <a:bodyPr wrap="square">
            <a:spAutoFit/>
          </a:bodyPr>
          <a:lstStyle/>
          <a:p>
            <a:pPr algn="l"/>
            <a:r>
              <a:rPr sz="1000" b="1" i="0">
                <a:solidFill>
                  <a:srgbClr val="F7DF1E"/>
                </a:solidFill>
                <a:latin typeface="Calibri"/>
              </a:rPr>
              <a:t>Explanation:</a:t>
            </a:r>
          </a:p>
        </p:txBody>
      </p:sp>
      <p:sp>
        <p:nvSpPr>
          <p:cNvPr id="23" name="TextBox 22"/>
          <p:cNvSpPr txBox="1"/>
          <p:nvPr/>
        </p:nvSpPr>
        <p:spPr>
          <a:xfrm>
            <a:off x="658368" y="5989320"/>
            <a:ext cx="10424160" cy="457200"/>
          </a:xfrm>
          <a:prstGeom prst="rect">
            <a:avLst/>
          </a:prstGeom>
          <a:noFill/>
        </p:spPr>
        <p:txBody>
          <a:bodyPr wrap="square">
            <a:spAutoFit/>
          </a:bodyPr>
          <a:lstStyle/>
          <a:p>
            <a:pPr algn="l"/>
            <a:r>
              <a:rPr sz="1100" b="0" i="0">
                <a:solidFill>
                  <a:srgbClr val="FFFFFF"/>
                </a:solidFill>
                <a:latin typeface="Calibri"/>
              </a:rPr>
              <a:t>e.preventDefault() cancels the browser's default action. For a form, that default is to submit (causing a page reload). After calling it, your JavaScript handles the data instead.</a:t>
            </a:r>
          </a:p>
        </p:txBody>
      </p:sp>
      <p:sp>
        <p:nvSpPr>
          <p:cNvPr id="24" name="TextBox 23"/>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19/27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Creating &amp; Removing Elements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400" b="0" i="0">
                <a:solidFill>
                  <a:srgbClr val="94A3B8"/>
                </a:solidFill>
                <a:latin typeface="Calibri"/>
              </a:rPr>
              <a:t>JavaScript can build and destroy DOM nodes at runtime</a:t>
            </a:r>
          </a:p>
        </p:txBody>
      </p:sp>
      <p:sp>
        <p:nvSpPr>
          <p:cNvPr id="7" name="Rectangle 6"/>
          <p:cNvSpPr/>
          <p:nvPr/>
        </p:nvSpPr>
        <p:spPr>
          <a:xfrm>
            <a:off x="320040" y="1600200"/>
            <a:ext cx="7498079" cy="4892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00200"/>
            <a:ext cx="64008" cy="4892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 y="1655064"/>
            <a:ext cx="7498079" cy="274320"/>
          </a:xfrm>
          <a:prstGeom prst="rect">
            <a:avLst/>
          </a:prstGeom>
          <a:noFill/>
        </p:spPr>
        <p:txBody>
          <a:bodyPr wrap="square">
            <a:spAutoFit/>
          </a:bodyPr>
          <a:lstStyle/>
          <a:p>
            <a:pPr algn="l"/>
            <a:r>
              <a:rPr sz="900" b="0" i="0">
                <a:solidFill>
                  <a:srgbClr val="94A3B8"/>
                </a:solidFill>
                <a:latin typeface="Consolas"/>
              </a:rPr>
              <a:t>JS</a:t>
            </a:r>
          </a:p>
        </p:txBody>
      </p:sp>
      <p:sp>
        <p:nvSpPr>
          <p:cNvPr id="10" name="TextBox 9"/>
          <p:cNvSpPr txBox="1"/>
          <p:nvPr/>
        </p:nvSpPr>
        <p:spPr>
          <a:xfrm>
            <a:off x="448056" y="1911096"/>
            <a:ext cx="7242047" cy="4489704"/>
          </a:xfrm>
          <a:prstGeom prst="rect">
            <a:avLst/>
          </a:prstGeom>
          <a:noFill/>
        </p:spPr>
        <p:txBody>
          <a:bodyPr wrap="none">
            <a:spAutoFit/>
          </a:bodyPr>
          <a:lstStyle/>
          <a:p>
            <a:r>
              <a:rPr sz="1200">
                <a:solidFill>
                  <a:srgbClr val="38BDF8"/>
                </a:solidFill>
                <a:latin typeface="Consolas"/>
              </a:rPr>
              <a:t>// ── CREATE ──────────────────────────────────</a:t>
            </a:r>
          </a:p>
          <a:p>
            <a:r>
              <a:rPr sz="1200">
                <a:solidFill>
                  <a:srgbClr val="38BDF8"/>
                </a:solidFill>
                <a:latin typeface="Consolas"/>
              </a:rPr>
              <a:t>const li = document.createElement('li');  // new &lt;li&gt; node</a:t>
            </a:r>
          </a:p>
          <a:p>
            <a:r>
              <a:rPr sz="1200">
                <a:solidFill>
                  <a:srgbClr val="38BDF8"/>
                </a:solidFill>
                <a:latin typeface="Consolas"/>
              </a:rPr>
              <a:t>li.textContent = 'Buy groceries';          // set its text</a:t>
            </a:r>
          </a:p>
          <a:p>
            <a:r>
              <a:rPr sz="1200">
                <a:solidFill>
                  <a:srgbClr val="38BDF8"/>
                </a:solidFill>
                <a:latin typeface="Consolas"/>
              </a:rPr>
              <a:t>li.classList.add('todo-item');             // add a class</a:t>
            </a:r>
          </a:p>
          <a:p>
            <a:endParaRPr sz="1200">
              <a:solidFill>
                <a:srgbClr val="38BDF8"/>
              </a:solidFill>
              <a:latin typeface="Consolas"/>
            </a:endParaRPr>
          </a:p>
          <a:p>
            <a:r>
              <a:rPr sz="1200">
                <a:solidFill>
                  <a:srgbClr val="38BDF8"/>
                </a:solidFill>
                <a:latin typeface="Consolas"/>
              </a:rPr>
              <a:t>const ul = document.querySelector('#todo-list');</a:t>
            </a:r>
          </a:p>
          <a:p>
            <a:r>
              <a:rPr sz="1200">
                <a:solidFill>
                  <a:srgbClr val="38BDF8"/>
                </a:solidFill>
                <a:latin typeface="Consolas"/>
              </a:rPr>
              <a:t>ul.appendChild(li);                        // add to the page</a:t>
            </a:r>
          </a:p>
          <a:p>
            <a:endParaRPr sz="1200">
              <a:solidFill>
                <a:srgbClr val="38BDF8"/>
              </a:solidFill>
              <a:latin typeface="Consolas"/>
            </a:endParaRPr>
          </a:p>
          <a:p>
            <a:r>
              <a:rPr sz="1200">
                <a:solidFill>
                  <a:srgbClr val="38BDF8"/>
                </a:solidFill>
                <a:latin typeface="Consolas"/>
              </a:rPr>
              <a:t>// ── INSERT AT SPECIFIC POSITION ──────────────</a:t>
            </a:r>
          </a:p>
          <a:p>
            <a:r>
              <a:rPr sz="1200">
                <a:solidFill>
                  <a:srgbClr val="38BDF8"/>
                </a:solidFill>
                <a:latin typeface="Consolas"/>
              </a:rPr>
              <a:t>ul.insertBefore(li, ul.firstChild);        // prepend</a:t>
            </a:r>
          </a:p>
          <a:p>
            <a:r>
              <a:rPr sz="1200">
                <a:solidFill>
                  <a:srgbClr val="38BDF8"/>
                </a:solidFill>
                <a:latin typeface="Consolas"/>
              </a:rPr>
              <a:t>ul.insertAdjacentHTML('beforeend','&lt;li&gt;More&lt;/li&gt;');</a:t>
            </a:r>
          </a:p>
          <a:p>
            <a:endParaRPr sz="1200">
              <a:solidFill>
                <a:srgbClr val="38BDF8"/>
              </a:solidFill>
              <a:latin typeface="Consolas"/>
            </a:endParaRPr>
          </a:p>
          <a:p>
            <a:r>
              <a:rPr sz="1200">
                <a:solidFill>
                  <a:srgbClr val="38BDF8"/>
                </a:solidFill>
                <a:latin typeface="Consolas"/>
              </a:rPr>
              <a:t>// ── REMOVE ──────────────────────────────────</a:t>
            </a:r>
          </a:p>
          <a:p>
            <a:r>
              <a:rPr sz="1200">
                <a:solidFill>
                  <a:srgbClr val="38BDF8"/>
                </a:solidFill>
                <a:latin typeface="Consolas"/>
              </a:rPr>
              <a:t>li.remove();                               // remove itself</a:t>
            </a:r>
          </a:p>
          <a:p>
            <a:r>
              <a:rPr sz="1200">
                <a:solidFill>
                  <a:srgbClr val="38BDF8"/>
                </a:solidFill>
                <a:latin typeface="Consolas"/>
              </a:rPr>
              <a:t>ul.removeChild(li);                        // parent removes child</a:t>
            </a:r>
          </a:p>
        </p:txBody>
      </p:sp>
      <p:sp>
        <p:nvSpPr>
          <p:cNvPr id="11" name="Rectangle 10"/>
          <p:cNvSpPr/>
          <p:nvPr/>
        </p:nvSpPr>
        <p:spPr>
          <a:xfrm>
            <a:off x="7818120" y="1600200"/>
            <a:ext cx="4023360" cy="489204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1691640"/>
            <a:ext cx="3749039" cy="365760"/>
          </a:xfrm>
          <a:prstGeom prst="rect">
            <a:avLst/>
          </a:prstGeom>
          <a:noFill/>
        </p:spPr>
        <p:txBody>
          <a:bodyPr wrap="square">
            <a:spAutoFit/>
          </a:bodyPr>
          <a:lstStyle/>
          <a:p>
            <a:pPr algn="l"/>
            <a:r>
              <a:rPr sz="1200" b="1" i="0">
                <a:solidFill>
                  <a:srgbClr val="F7DF1E"/>
                </a:solidFill>
                <a:latin typeface="Calibri"/>
              </a:rPr>
              <a:t>The 3-Step Pattern</a:t>
            </a:r>
          </a:p>
        </p:txBody>
      </p:sp>
      <p:sp>
        <p:nvSpPr>
          <p:cNvPr id="13" name="Rectangle 12"/>
          <p:cNvSpPr/>
          <p:nvPr/>
        </p:nvSpPr>
        <p:spPr>
          <a:xfrm>
            <a:off x="7955279" y="2240280"/>
            <a:ext cx="3657600"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2313432"/>
            <a:ext cx="3474720" cy="320040"/>
          </a:xfrm>
          <a:prstGeom prst="rect">
            <a:avLst/>
          </a:prstGeom>
          <a:noFill/>
        </p:spPr>
        <p:txBody>
          <a:bodyPr wrap="square">
            <a:spAutoFit/>
          </a:bodyPr>
          <a:lstStyle/>
          <a:p>
            <a:pPr algn="l"/>
            <a:r>
              <a:rPr sz="900" b="1" i="0">
                <a:solidFill>
                  <a:srgbClr val="F7DF1E"/>
                </a:solidFill>
                <a:latin typeface="Calibri"/>
              </a:rPr>
              <a:t>Step 1</a:t>
            </a:r>
          </a:p>
        </p:txBody>
      </p:sp>
      <p:sp>
        <p:nvSpPr>
          <p:cNvPr id="15" name="TextBox 14"/>
          <p:cNvSpPr txBox="1"/>
          <p:nvPr/>
        </p:nvSpPr>
        <p:spPr>
          <a:xfrm>
            <a:off x="8092440" y="2587752"/>
            <a:ext cx="3474720" cy="320040"/>
          </a:xfrm>
          <a:prstGeom prst="rect">
            <a:avLst/>
          </a:prstGeom>
          <a:noFill/>
        </p:spPr>
        <p:txBody>
          <a:bodyPr wrap="square">
            <a:spAutoFit/>
          </a:bodyPr>
          <a:lstStyle/>
          <a:p>
            <a:pPr algn="l"/>
            <a:r>
              <a:rPr sz="1200" b="1" i="0">
                <a:solidFill>
                  <a:srgbClr val="38BDF8"/>
                </a:solidFill>
                <a:latin typeface="Consolas"/>
              </a:rPr>
              <a:t>createElement(tag)</a:t>
            </a:r>
          </a:p>
        </p:txBody>
      </p:sp>
      <p:sp>
        <p:nvSpPr>
          <p:cNvPr id="16" name="TextBox 15"/>
          <p:cNvSpPr txBox="1"/>
          <p:nvPr/>
        </p:nvSpPr>
        <p:spPr>
          <a:xfrm>
            <a:off x="8092440" y="2898648"/>
            <a:ext cx="3474720" cy="365760"/>
          </a:xfrm>
          <a:prstGeom prst="rect">
            <a:avLst/>
          </a:prstGeom>
          <a:noFill/>
        </p:spPr>
        <p:txBody>
          <a:bodyPr wrap="square">
            <a:spAutoFit/>
          </a:bodyPr>
          <a:lstStyle/>
          <a:p>
            <a:pPr algn="l"/>
            <a:r>
              <a:rPr sz="1000" b="0" i="0">
                <a:solidFill>
                  <a:srgbClr val="94A3B8"/>
                </a:solidFill>
                <a:latin typeface="Calibri"/>
              </a:rPr>
              <a:t>Create a new node in memory</a:t>
            </a:r>
          </a:p>
        </p:txBody>
      </p:sp>
      <p:sp>
        <p:nvSpPr>
          <p:cNvPr id="17" name="Rectangle 16"/>
          <p:cNvSpPr/>
          <p:nvPr/>
        </p:nvSpPr>
        <p:spPr>
          <a:xfrm>
            <a:off x="7955279" y="3520440"/>
            <a:ext cx="3657600"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92440" y="3593592"/>
            <a:ext cx="3474720" cy="320040"/>
          </a:xfrm>
          <a:prstGeom prst="rect">
            <a:avLst/>
          </a:prstGeom>
          <a:noFill/>
        </p:spPr>
        <p:txBody>
          <a:bodyPr wrap="square">
            <a:spAutoFit/>
          </a:bodyPr>
          <a:lstStyle/>
          <a:p>
            <a:pPr algn="l"/>
            <a:r>
              <a:rPr sz="900" b="1" i="0">
                <a:solidFill>
                  <a:srgbClr val="F7DF1E"/>
                </a:solidFill>
                <a:latin typeface="Calibri"/>
              </a:rPr>
              <a:t>Step 2</a:t>
            </a:r>
          </a:p>
        </p:txBody>
      </p:sp>
      <p:sp>
        <p:nvSpPr>
          <p:cNvPr id="19" name="TextBox 18"/>
          <p:cNvSpPr txBox="1"/>
          <p:nvPr/>
        </p:nvSpPr>
        <p:spPr>
          <a:xfrm>
            <a:off x="8092440" y="3867912"/>
            <a:ext cx="3474720" cy="320040"/>
          </a:xfrm>
          <a:prstGeom prst="rect">
            <a:avLst/>
          </a:prstGeom>
          <a:noFill/>
        </p:spPr>
        <p:txBody>
          <a:bodyPr wrap="square">
            <a:spAutoFit/>
          </a:bodyPr>
          <a:lstStyle/>
          <a:p>
            <a:pPr algn="l"/>
            <a:r>
              <a:rPr sz="1200" b="1" i="0">
                <a:solidFill>
                  <a:srgbClr val="38BDF8"/>
                </a:solidFill>
                <a:latin typeface="Consolas"/>
              </a:rPr>
              <a:t>Set properties</a:t>
            </a:r>
          </a:p>
        </p:txBody>
      </p:sp>
      <p:sp>
        <p:nvSpPr>
          <p:cNvPr id="20" name="TextBox 19"/>
          <p:cNvSpPr txBox="1"/>
          <p:nvPr/>
        </p:nvSpPr>
        <p:spPr>
          <a:xfrm>
            <a:off x="8092440" y="4178808"/>
            <a:ext cx="3474720" cy="365760"/>
          </a:xfrm>
          <a:prstGeom prst="rect">
            <a:avLst/>
          </a:prstGeom>
          <a:noFill/>
        </p:spPr>
        <p:txBody>
          <a:bodyPr wrap="square">
            <a:spAutoFit/>
          </a:bodyPr>
          <a:lstStyle/>
          <a:p>
            <a:pPr algn="l"/>
            <a:r>
              <a:rPr sz="1000" b="0" i="0">
                <a:solidFill>
                  <a:srgbClr val="94A3B8"/>
                </a:solidFill>
                <a:latin typeface="Calibri"/>
              </a:rPr>
              <a:t>textContent, classList, id...</a:t>
            </a:r>
          </a:p>
        </p:txBody>
      </p:sp>
      <p:sp>
        <p:nvSpPr>
          <p:cNvPr id="21" name="Rectangle 20"/>
          <p:cNvSpPr/>
          <p:nvPr/>
        </p:nvSpPr>
        <p:spPr>
          <a:xfrm>
            <a:off x="7955279" y="4800600"/>
            <a:ext cx="3657600"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92440" y="4873752"/>
            <a:ext cx="3474720" cy="320040"/>
          </a:xfrm>
          <a:prstGeom prst="rect">
            <a:avLst/>
          </a:prstGeom>
          <a:noFill/>
        </p:spPr>
        <p:txBody>
          <a:bodyPr wrap="square">
            <a:spAutoFit/>
          </a:bodyPr>
          <a:lstStyle/>
          <a:p>
            <a:pPr algn="l"/>
            <a:r>
              <a:rPr sz="900" b="1" i="0">
                <a:solidFill>
                  <a:srgbClr val="F7DF1E"/>
                </a:solidFill>
                <a:latin typeface="Calibri"/>
              </a:rPr>
              <a:t>Step 3</a:t>
            </a:r>
          </a:p>
        </p:txBody>
      </p:sp>
      <p:sp>
        <p:nvSpPr>
          <p:cNvPr id="23" name="TextBox 22"/>
          <p:cNvSpPr txBox="1"/>
          <p:nvPr/>
        </p:nvSpPr>
        <p:spPr>
          <a:xfrm>
            <a:off x="8092440" y="5148072"/>
            <a:ext cx="3474720" cy="320040"/>
          </a:xfrm>
          <a:prstGeom prst="rect">
            <a:avLst/>
          </a:prstGeom>
          <a:noFill/>
        </p:spPr>
        <p:txBody>
          <a:bodyPr wrap="square">
            <a:spAutoFit/>
          </a:bodyPr>
          <a:lstStyle/>
          <a:p>
            <a:pPr algn="l"/>
            <a:r>
              <a:rPr sz="1200" b="1" i="0">
                <a:solidFill>
                  <a:srgbClr val="38BDF8"/>
                </a:solidFill>
                <a:latin typeface="Consolas"/>
              </a:rPr>
              <a:t>appendChild()</a:t>
            </a:r>
          </a:p>
        </p:txBody>
      </p:sp>
      <p:sp>
        <p:nvSpPr>
          <p:cNvPr id="24" name="TextBox 23"/>
          <p:cNvSpPr txBox="1"/>
          <p:nvPr/>
        </p:nvSpPr>
        <p:spPr>
          <a:xfrm>
            <a:off x="8092440" y="5458968"/>
            <a:ext cx="3474720" cy="365760"/>
          </a:xfrm>
          <a:prstGeom prst="rect">
            <a:avLst/>
          </a:prstGeom>
          <a:noFill/>
        </p:spPr>
        <p:txBody>
          <a:bodyPr wrap="square">
            <a:spAutoFit/>
          </a:bodyPr>
          <a:lstStyle/>
          <a:p>
            <a:pPr algn="l"/>
            <a:r>
              <a:rPr sz="1000" b="0" i="0">
                <a:solidFill>
                  <a:srgbClr val="94A3B8"/>
                </a:solidFill>
                <a:latin typeface="Calibri"/>
              </a:rPr>
              <a:t>Attach it to the live DOM</a:t>
            </a:r>
          </a:p>
        </p:txBody>
      </p:sp>
      <p:sp>
        <p:nvSpPr>
          <p:cNvPr id="25" name="TextBox 24"/>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20/27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Mini Project: Todo List</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300" b="0" i="0">
                <a:solidFill>
                  <a:srgbClr val="94A3B8"/>
                </a:solidFill>
                <a:latin typeface="Calibri"/>
              </a:rPr>
              <a:t>Combining everything: select → listen → create → remove</a:t>
            </a:r>
          </a:p>
        </p:txBody>
      </p:sp>
      <p:sp>
        <p:nvSpPr>
          <p:cNvPr id="7" name="Rectangle 6"/>
          <p:cNvSpPr/>
          <p:nvPr/>
        </p:nvSpPr>
        <p:spPr>
          <a:xfrm>
            <a:off x="320040" y="1600200"/>
            <a:ext cx="8046720" cy="4892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p>
        </p:txBody>
      </p:sp>
      <p:sp>
        <p:nvSpPr>
          <p:cNvPr id="8" name="Rectangle 7"/>
          <p:cNvSpPr/>
          <p:nvPr/>
        </p:nvSpPr>
        <p:spPr>
          <a:xfrm>
            <a:off x="320040" y="1600200"/>
            <a:ext cx="64008" cy="4892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 y="1655064"/>
            <a:ext cx="8046720" cy="274320"/>
          </a:xfrm>
          <a:prstGeom prst="rect">
            <a:avLst/>
          </a:prstGeom>
          <a:noFill/>
        </p:spPr>
        <p:txBody>
          <a:bodyPr wrap="square">
            <a:spAutoFit/>
          </a:bodyPr>
          <a:lstStyle/>
          <a:p>
            <a:pPr algn="l"/>
            <a:r>
              <a:rPr sz="900" b="0" i="0">
                <a:solidFill>
                  <a:srgbClr val="94A3B8"/>
                </a:solidFill>
                <a:latin typeface="Consolas"/>
              </a:rPr>
              <a:t>JS</a:t>
            </a:r>
          </a:p>
        </p:txBody>
      </p:sp>
      <p:sp>
        <p:nvSpPr>
          <p:cNvPr id="10" name="TextBox 9"/>
          <p:cNvSpPr txBox="1"/>
          <p:nvPr/>
        </p:nvSpPr>
        <p:spPr>
          <a:xfrm>
            <a:off x="448056" y="1911096"/>
            <a:ext cx="7790688" cy="4489704"/>
          </a:xfrm>
          <a:prstGeom prst="rect">
            <a:avLst/>
          </a:prstGeom>
          <a:noFill/>
        </p:spPr>
        <p:txBody>
          <a:bodyPr wrap="none">
            <a:spAutoFit/>
          </a:bodyPr>
          <a:lstStyle/>
          <a:p>
            <a:r>
              <a:rPr sz="1200" dirty="0">
                <a:solidFill>
                  <a:srgbClr val="38BDF8"/>
                </a:solidFill>
                <a:latin typeface="Consolas"/>
              </a:rPr>
              <a:t>&lt;!DOCTYPE html&gt;</a:t>
            </a:r>
          </a:p>
          <a:p>
            <a:r>
              <a:rPr sz="1200" dirty="0">
                <a:solidFill>
                  <a:srgbClr val="38BDF8"/>
                </a:solidFill>
                <a:latin typeface="Consolas"/>
              </a:rPr>
              <a:t>&lt;body&gt;</a:t>
            </a:r>
          </a:p>
          <a:p>
            <a:r>
              <a:rPr sz="1200" dirty="0">
                <a:solidFill>
                  <a:srgbClr val="38BDF8"/>
                </a:solidFill>
                <a:latin typeface="Consolas"/>
              </a:rPr>
              <a:t>  &lt;input id='</a:t>
            </a:r>
            <a:r>
              <a:rPr sz="1200" dirty="0" err="1">
                <a:solidFill>
                  <a:srgbClr val="38BDF8"/>
                </a:solidFill>
                <a:latin typeface="Consolas"/>
              </a:rPr>
              <a:t>inp</a:t>
            </a:r>
            <a:r>
              <a:rPr sz="1200" dirty="0">
                <a:solidFill>
                  <a:srgbClr val="38BDF8"/>
                </a:solidFill>
                <a:latin typeface="Consolas"/>
              </a:rPr>
              <a:t>' placeholder='New task...'/&gt;</a:t>
            </a:r>
          </a:p>
          <a:p>
            <a:r>
              <a:rPr sz="1200" dirty="0">
                <a:solidFill>
                  <a:srgbClr val="38BDF8"/>
                </a:solidFill>
                <a:latin typeface="Consolas"/>
              </a:rPr>
              <a:t>  &lt;button id='</a:t>
            </a:r>
            <a:r>
              <a:rPr sz="1200" dirty="0" err="1">
                <a:solidFill>
                  <a:srgbClr val="38BDF8"/>
                </a:solidFill>
                <a:latin typeface="Consolas"/>
              </a:rPr>
              <a:t>addBtn</a:t>
            </a:r>
            <a:r>
              <a:rPr sz="1200" dirty="0">
                <a:solidFill>
                  <a:srgbClr val="38BDF8"/>
                </a:solidFill>
                <a:latin typeface="Consolas"/>
              </a:rPr>
              <a:t>'&gt;Add&lt;/button&gt;</a:t>
            </a:r>
          </a:p>
          <a:p>
            <a:r>
              <a:rPr sz="1200" dirty="0">
                <a:solidFill>
                  <a:srgbClr val="38BDF8"/>
                </a:solidFill>
                <a:latin typeface="Consolas"/>
              </a:rPr>
              <a:t>  &lt;</a:t>
            </a:r>
            <a:r>
              <a:rPr sz="1200" dirty="0" err="1">
                <a:solidFill>
                  <a:srgbClr val="38BDF8"/>
                </a:solidFill>
                <a:latin typeface="Consolas"/>
              </a:rPr>
              <a:t>ul</a:t>
            </a:r>
            <a:r>
              <a:rPr sz="1200" dirty="0">
                <a:solidFill>
                  <a:srgbClr val="38BDF8"/>
                </a:solidFill>
                <a:latin typeface="Consolas"/>
              </a:rPr>
              <a:t> id='list'&gt;&lt;/</a:t>
            </a:r>
            <a:r>
              <a:rPr sz="1200" dirty="0" err="1">
                <a:solidFill>
                  <a:srgbClr val="38BDF8"/>
                </a:solidFill>
                <a:latin typeface="Consolas"/>
              </a:rPr>
              <a:t>ul</a:t>
            </a:r>
            <a:r>
              <a:rPr sz="1200" dirty="0">
                <a:solidFill>
                  <a:srgbClr val="38BDF8"/>
                </a:solidFill>
                <a:latin typeface="Consolas"/>
              </a:rPr>
              <a:t>&gt;</a:t>
            </a:r>
          </a:p>
          <a:p>
            <a:endParaRPr sz="1200" dirty="0">
              <a:solidFill>
                <a:srgbClr val="38BDF8"/>
              </a:solidFill>
              <a:latin typeface="Consolas"/>
            </a:endParaRPr>
          </a:p>
          <a:p>
            <a:r>
              <a:rPr sz="1200" dirty="0">
                <a:solidFill>
                  <a:srgbClr val="38BDF8"/>
                </a:solidFill>
                <a:latin typeface="Consolas"/>
              </a:rPr>
              <a:t>  &lt;script&gt;</a:t>
            </a:r>
          </a:p>
          <a:p>
            <a:r>
              <a:rPr sz="1200" dirty="0">
                <a:solidFill>
                  <a:srgbClr val="38BDF8"/>
                </a:solidFill>
                <a:latin typeface="Consolas"/>
              </a:rPr>
              <a:t>    const </a:t>
            </a:r>
            <a:r>
              <a:rPr sz="1200" dirty="0" err="1">
                <a:solidFill>
                  <a:srgbClr val="38BDF8"/>
                </a:solidFill>
                <a:latin typeface="Consolas"/>
              </a:rPr>
              <a:t>btn</a:t>
            </a:r>
            <a:r>
              <a:rPr sz="1200" dirty="0">
                <a:solidFill>
                  <a:srgbClr val="38BDF8"/>
                </a:solidFill>
                <a:latin typeface="Consolas"/>
              </a:rPr>
              <a:t>  = </a:t>
            </a:r>
            <a:r>
              <a:rPr sz="1200" dirty="0" err="1">
                <a:solidFill>
                  <a:srgbClr val="38BDF8"/>
                </a:solidFill>
                <a:latin typeface="Consolas"/>
              </a:rPr>
              <a:t>document.querySelector</a:t>
            </a:r>
            <a:r>
              <a:rPr sz="1200" dirty="0">
                <a:solidFill>
                  <a:srgbClr val="38BDF8"/>
                </a:solidFill>
                <a:latin typeface="Consolas"/>
              </a:rPr>
              <a:t>('#</a:t>
            </a:r>
            <a:r>
              <a:rPr sz="1200" dirty="0" err="1">
                <a:solidFill>
                  <a:srgbClr val="38BDF8"/>
                </a:solidFill>
                <a:latin typeface="Consolas"/>
              </a:rPr>
              <a:t>addBtn</a:t>
            </a:r>
            <a:r>
              <a:rPr sz="1200" dirty="0">
                <a:solidFill>
                  <a:srgbClr val="38BDF8"/>
                </a:solidFill>
                <a:latin typeface="Consolas"/>
              </a:rPr>
              <a:t>');</a:t>
            </a:r>
          </a:p>
          <a:p>
            <a:r>
              <a:rPr sz="1200" dirty="0">
                <a:solidFill>
                  <a:srgbClr val="38BDF8"/>
                </a:solidFill>
                <a:latin typeface="Consolas"/>
              </a:rPr>
              <a:t>    const </a:t>
            </a:r>
            <a:r>
              <a:rPr sz="1200" dirty="0" err="1">
                <a:solidFill>
                  <a:srgbClr val="38BDF8"/>
                </a:solidFill>
                <a:latin typeface="Consolas"/>
              </a:rPr>
              <a:t>inp</a:t>
            </a:r>
            <a:r>
              <a:rPr sz="1200" dirty="0">
                <a:solidFill>
                  <a:srgbClr val="38BDF8"/>
                </a:solidFill>
                <a:latin typeface="Consolas"/>
              </a:rPr>
              <a:t>  = </a:t>
            </a:r>
            <a:r>
              <a:rPr sz="1200" dirty="0" err="1">
                <a:solidFill>
                  <a:srgbClr val="38BDF8"/>
                </a:solidFill>
                <a:latin typeface="Consolas"/>
              </a:rPr>
              <a:t>document.querySelector</a:t>
            </a:r>
            <a:r>
              <a:rPr sz="1200" dirty="0">
                <a:solidFill>
                  <a:srgbClr val="38BDF8"/>
                </a:solidFill>
                <a:latin typeface="Consolas"/>
              </a:rPr>
              <a:t>('#</a:t>
            </a:r>
            <a:r>
              <a:rPr sz="1200" dirty="0" err="1">
                <a:solidFill>
                  <a:srgbClr val="38BDF8"/>
                </a:solidFill>
                <a:latin typeface="Consolas"/>
              </a:rPr>
              <a:t>inp</a:t>
            </a:r>
            <a:r>
              <a:rPr sz="1200" dirty="0">
                <a:solidFill>
                  <a:srgbClr val="38BDF8"/>
                </a:solidFill>
                <a:latin typeface="Consolas"/>
              </a:rPr>
              <a:t>');</a:t>
            </a:r>
          </a:p>
          <a:p>
            <a:r>
              <a:rPr sz="1200" dirty="0">
                <a:solidFill>
                  <a:srgbClr val="38BDF8"/>
                </a:solidFill>
                <a:latin typeface="Consolas"/>
              </a:rPr>
              <a:t>    const list = </a:t>
            </a:r>
            <a:r>
              <a:rPr sz="1200" dirty="0" err="1">
                <a:solidFill>
                  <a:srgbClr val="38BDF8"/>
                </a:solidFill>
                <a:latin typeface="Consolas"/>
              </a:rPr>
              <a:t>document.querySelector</a:t>
            </a:r>
            <a:r>
              <a:rPr sz="1200" dirty="0">
                <a:solidFill>
                  <a:srgbClr val="38BDF8"/>
                </a:solidFill>
                <a:latin typeface="Consolas"/>
              </a:rPr>
              <a:t>('#list');</a:t>
            </a:r>
          </a:p>
          <a:p>
            <a:endParaRPr sz="1200" dirty="0">
              <a:solidFill>
                <a:srgbClr val="38BDF8"/>
              </a:solidFill>
              <a:latin typeface="Consolas"/>
            </a:endParaRPr>
          </a:p>
          <a:p>
            <a:r>
              <a:rPr sz="1200" dirty="0">
                <a:solidFill>
                  <a:srgbClr val="38BDF8"/>
                </a:solidFill>
                <a:latin typeface="Consolas"/>
              </a:rPr>
              <a:t>    </a:t>
            </a:r>
            <a:r>
              <a:rPr sz="1200" dirty="0" err="1">
                <a:solidFill>
                  <a:srgbClr val="38BDF8"/>
                </a:solidFill>
                <a:latin typeface="Consolas"/>
              </a:rPr>
              <a:t>btn.addEventListener</a:t>
            </a:r>
            <a:r>
              <a:rPr sz="1200" dirty="0">
                <a:solidFill>
                  <a:srgbClr val="38BDF8"/>
                </a:solidFill>
                <a:latin typeface="Consolas"/>
              </a:rPr>
              <a:t>('click', () =&gt; {</a:t>
            </a:r>
          </a:p>
          <a:p>
            <a:r>
              <a:rPr sz="1200" dirty="0">
                <a:solidFill>
                  <a:srgbClr val="38BDF8"/>
                </a:solidFill>
                <a:latin typeface="Consolas"/>
              </a:rPr>
              <a:t>      if (!</a:t>
            </a:r>
            <a:r>
              <a:rPr sz="1200" dirty="0" err="1">
                <a:solidFill>
                  <a:srgbClr val="38BDF8"/>
                </a:solidFill>
                <a:latin typeface="Consolas"/>
              </a:rPr>
              <a:t>inp.value.trim</a:t>
            </a:r>
            <a:r>
              <a:rPr sz="1200" dirty="0">
                <a:solidFill>
                  <a:srgbClr val="38BDF8"/>
                </a:solidFill>
                <a:latin typeface="Consolas"/>
              </a:rPr>
              <a:t>()) return;     // guard empty</a:t>
            </a:r>
          </a:p>
          <a:p>
            <a:r>
              <a:rPr sz="1200" dirty="0">
                <a:solidFill>
                  <a:srgbClr val="38BDF8"/>
                </a:solidFill>
                <a:latin typeface="Consolas"/>
              </a:rPr>
              <a:t>      const li = </a:t>
            </a:r>
            <a:r>
              <a:rPr sz="1200" dirty="0" err="1">
                <a:solidFill>
                  <a:srgbClr val="38BDF8"/>
                </a:solidFill>
                <a:latin typeface="Consolas"/>
              </a:rPr>
              <a:t>document.createElement</a:t>
            </a:r>
            <a:r>
              <a:rPr sz="1200" dirty="0">
                <a:solidFill>
                  <a:srgbClr val="38BDF8"/>
                </a:solidFill>
                <a:latin typeface="Consolas"/>
              </a:rPr>
              <a:t>('li');</a:t>
            </a:r>
          </a:p>
          <a:p>
            <a:r>
              <a:rPr sz="1200" dirty="0">
                <a:solidFill>
                  <a:srgbClr val="38BDF8"/>
                </a:solidFill>
                <a:latin typeface="Consolas"/>
              </a:rPr>
              <a:t>      </a:t>
            </a:r>
            <a:r>
              <a:rPr sz="1200" dirty="0" err="1">
                <a:solidFill>
                  <a:srgbClr val="38BDF8"/>
                </a:solidFill>
                <a:latin typeface="Consolas"/>
              </a:rPr>
              <a:t>li.textContent</a:t>
            </a:r>
            <a:r>
              <a:rPr sz="1200" dirty="0">
                <a:solidFill>
                  <a:srgbClr val="38BDF8"/>
                </a:solidFill>
                <a:latin typeface="Consolas"/>
              </a:rPr>
              <a:t> = </a:t>
            </a:r>
            <a:r>
              <a:rPr sz="1200" dirty="0" err="1">
                <a:solidFill>
                  <a:srgbClr val="38BDF8"/>
                </a:solidFill>
                <a:latin typeface="Consolas"/>
              </a:rPr>
              <a:t>inp.value</a:t>
            </a:r>
            <a:r>
              <a:rPr sz="1200" dirty="0">
                <a:solidFill>
                  <a:srgbClr val="38BDF8"/>
                </a:solidFill>
                <a:latin typeface="Consolas"/>
              </a:rPr>
              <a:t>;</a:t>
            </a:r>
          </a:p>
          <a:p>
            <a:r>
              <a:rPr sz="1200" dirty="0">
                <a:solidFill>
                  <a:srgbClr val="38BDF8"/>
                </a:solidFill>
                <a:latin typeface="Consolas"/>
              </a:rPr>
              <a:t>      </a:t>
            </a:r>
            <a:r>
              <a:rPr sz="1200" dirty="0" err="1">
                <a:solidFill>
                  <a:srgbClr val="38BDF8"/>
                </a:solidFill>
                <a:latin typeface="Consolas"/>
              </a:rPr>
              <a:t>li.addEventListener</a:t>
            </a:r>
            <a:r>
              <a:rPr sz="1200" dirty="0">
                <a:solidFill>
                  <a:srgbClr val="38BDF8"/>
                </a:solidFill>
                <a:latin typeface="Consolas"/>
              </a:rPr>
              <a:t>('click', () =&gt; </a:t>
            </a:r>
            <a:r>
              <a:rPr sz="1200" dirty="0" err="1">
                <a:solidFill>
                  <a:srgbClr val="38BDF8"/>
                </a:solidFill>
                <a:latin typeface="Consolas"/>
              </a:rPr>
              <a:t>li.remove</a:t>
            </a:r>
            <a:r>
              <a:rPr sz="1200" dirty="0">
                <a:solidFill>
                  <a:srgbClr val="38BDF8"/>
                </a:solidFill>
                <a:latin typeface="Consolas"/>
              </a:rPr>
              <a:t>()); // click to delete</a:t>
            </a:r>
          </a:p>
          <a:p>
            <a:r>
              <a:rPr sz="1200" dirty="0">
                <a:solidFill>
                  <a:srgbClr val="38BDF8"/>
                </a:solidFill>
                <a:latin typeface="Consolas"/>
              </a:rPr>
              <a:t>      </a:t>
            </a:r>
            <a:r>
              <a:rPr sz="1200" dirty="0" err="1">
                <a:solidFill>
                  <a:srgbClr val="38BDF8"/>
                </a:solidFill>
                <a:latin typeface="Consolas"/>
              </a:rPr>
              <a:t>list.appendChild</a:t>
            </a:r>
            <a:r>
              <a:rPr sz="1200" dirty="0">
                <a:solidFill>
                  <a:srgbClr val="38BDF8"/>
                </a:solidFill>
                <a:latin typeface="Consolas"/>
              </a:rPr>
              <a:t>(li);</a:t>
            </a:r>
          </a:p>
          <a:p>
            <a:r>
              <a:rPr sz="1200" dirty="0">
                <a:solidFill>
                  <a:srgbClr val="38BDF8"/>
                </a:solidFill>
                <a:latin typeface="Consolas"/>
              </a:rPr>
              <a:t>      </a:t>
            </a:r>
            <a:r>
              <a:rPr sz="1200" dirty="0" err="1">
                <a:solidFill>
                  <a:srgbClr val="38BDF8"/>
                </a:solidFill>
                <a:latin typeface="Consolas"/>
              </a:rPr>
              <a:t>inp.value</a:t>
            </a:r>
            <a:r>
              <a:rPr sz="1200" dirty="0">
                <a:solidFill>
                  <a:srgbClr val="38BDF8"/>
                </a:solidFill>
                <a:latin typeface="Consolas"/>
              </a:rPr>
              <a:t> = '';                    // clear input</a:t>
            </a:r>
          </a:p>
          <a:p>
            <a:r>
              <a:rPr sz="1200" dirty="0">
                <a:solidFill>
                  <a:srgbClr val="38BDF8"/>
                </a:solidFill>
                <a:latin typeface="Consolas"/>
              </a:rPr>
              <a:t>    });</a:t>
            </a:r>
          </a:p>
          <a:p>
            <a:r>
              <a:rPr sz="1200" dirty="0">
                <a:solidFill>
                  <a:srgbClr val="38BDF8"/>
                </a:solidFill>
                <a:latin typeface="Consolas"/>
              </a:rPr>
              <a:t>  &lt;/script&gt;</a:t>
            </a:r>
          </a:p>
          <a:p>
            <a:r>
              <a:rPr sz="1200" dirty="0">
                <a:solidFill>
                  <a:srgbClr val="38BDF8"/>
                </a:solidFill>
                <a:latin typeface="Consolas"/>
              </a:rPr>
              <a:t>&lt;/body&gt;</a:t>
            </a:r>
          </a:p>
        </p:txBody>
      </p:sp>
      <p:sp>
        <p:nvSpPr>
          <p:cNvPr id="11" name="Rectangle 10"/>
          <p:cNvSpPr/>
          <p:nvPr/>
        </p:nvSpPr>
        <p:spPr>
          <a:xfrm>
            <a:off x="8503920" y="1600200"/>
            <a:ext cx="3337560" cy="489204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1080" y="1737360"/>
            <a:ext cx="3108960" cy="347472"/>
          </a:xfrm>
          <a:prstGeom prst="rect">
            <a:avLst/>
          </a:prstGeom>
          <a:noFill/>
        </p:spPr>
        <p:txBody>
          <a:bodyPr wrap="square">
            <a:spAutoFit/>
          </a:bodyPr>
          <a:lstStyle/>
          <a:p>
            <a:pPr algn="l"/>
            <a:r>
              <a:rPr sz="1100" b="1" i="0">
                <a:solidFill>
                  <a:srgbClr val="F7DF1E"/>
                </a:solidFill>
                <a:latin typeface="Calibri"/>
              </a:rPr>
              <a:t>Skills used:</a:t>
            </a:r>
          </a:p>
        </p:txBody>
      </p:sp>
      <p:sp>
        <p:nvSpPr>
          <p:cNvPr id="13" name="TextBox 12"/>
          <p:cNvSpPr txBox="1"/>
          <p:nvPr/>
        </p:nvSpPr>
        <p:spPr>
          <a:xfrm>
            <a:off x="8641080" y="2176272"/>
            <a:ext cx="3017520" cy="438912"/>
          </a:xfrm>
          <a:prstGeom prst="rect">
            <a:avLst/>
          </a:prstGeom>
          <a:noFill/>
        </p:spPr>
        <p:txBody>
          <a:bodyPr wrap="square">
            <a:spAutoFit/>
          </a:bodyPr>
          <a:lstStyle/>
          <a:p>
            <a:pPr algn="l"/>
            <a:r>
              <a:rPr sz="1100" b="0" i="0">
                <a:solidFill>
                  <a:srgbClr val="FFFFFF"/>
                </a:solidFill>
                <a:latin typeface="Calibri"/>
              </a:rPr>
              <a:t>• querySelector x3</a:t>
            </a:r>
          </a:p>
        </p:txBody>
      </p:sp>
      <p:sp>
        <p:nvSpPr>
          <p:cNvPr id="14" name="TextBox 13"/>
          <p:cNvSpPr txBox="1"/>
          <p:nvPr/>
        </p:nvSpPr>
        <p:spPr>
          <a:xfrm>
            <a:off x="8641080" y="2679192"/>
            <a:ext cx="3017520" cy="438912"/>
          </a:xfrm>
          <a:prstGeom prst="rect">
            <a:avLst/>
          </a:prstGeom>
          <a:noFill/>
        </p:spPr>
        <p:txBody>
          <a:bodyPr wrap="square">
            <a:spAutoFit/>
          </a:bodyPr>
          <a:lstStyle/>
          <a:p>
            <a:pPr algn="l"/>
            <a:r>
              <a:rPr sz="1100" b="0" i="0">
                <a:solidFill>
                  <a:srgbClr val="FFFFFF"/>
                </a:solidFill>
                <a:latin typeface="Calibri"/>
              </a:rPr>
              <a:t>• addEventListener x2</a:t>
            </a:r>
          </a:p>
        </p:txBody>
      </p:sp>
      <p:sp>
        <p:nvSpPr>
          <p:cNvPr id="15" name="TextBox 14"/>
          <p:cNvSpPr txBox="1"/>
          <p:nvPr/>
        </p:nvSpPr>
        <p:spPr>
          <a:xfrm>
            <a:off x="8641080" y="3182112"/>
            <a:ext cx="3017520" cy="438912"/>
          </a:xfrm>
          <a:prstGeom prst="rect">
            <a:avLst/>
          </a:prstGeom>
          <a:noFill/>
        </p:spPr>
        <p:txBody>
          <a:bodyPr wrap="square">
            <a:spAutoFit/>
          </a:bodyPr>
          <a:lstStyle/>
          <a:p>
            <a:pPr algn="l"/>
            <a:r>
              <a:rPr sz="1100" b="0" i="0">
                <a:solidFill>
                  <a:srgbClr val="FFFFFF"/>
                </a:solidFill>
                <a:latin typeface="Calibri"/>
              </a:rPr>
              <a:t>• createElement</a:t>
            </a:r>
          </a:p>
        </p:txBody>
      </p:sp>
      <p:sp>
        <p:nvSpPr>
          <p:cNvPr id="16" name="TextBox 15"/>
          <p:cNvSpPr txBox="1"/>
          <p:nvPr/>
        </p:nvSpPr>
        <p:spPr>
          <a:xfrm>
            <a:off x="8641080" y="3685032"/>
            <a:ext cx="3017520" cy="438912"/>
          </a:xfrm>
          <a:prstGeom prst="rect">
            <a:avLst/>
          </a:prstGeom>
          <a:noFill/>
        </p:spPr>
        <p:txBody>
          <a:bodyPr wrap="square">
            <a:spAutoFit/>
          </a:bodyPr>
          <a:lstStyle/>
          <a:p>
            <a:pPr algn="l"/>
            <a:r>
              <a:rPr sz="1100" b="0" i="0">
                <a:solidFill>
                  <a:srgbClr val="FFFFFF"/>
                </a:solidFill>
                <a:latin typeface="Calibri"/>
              </a:rPr>
              <a:t>• textContent</a:t>
            </a:r>
          </a:p>
        </p:txBody>
      </p:sp>
      <p:sp>
        <p:nvSpPr>
          <p:cNvPr id="17" name="TextBox 16"/>
          <p:cNvSpPr txBox="1"/>
          <p:nvPr/>
        </p:nvSpPr>
        <p:spPr>
          <a:xfrm>
            <a:off x="8641080" y="4187952"/>
            <a:ext cx="3017520" cy="438912"/>
          </a:xfrm>
          <a:prstGeom prst="rect">
            <a:avLst/>
          </a:prstGeom>
          <a:noFill/>
        </p:spPr>
        <p:txBody>
          <a:bodyPr wrap="square">
            <a:spAutoFit/>
          </a:bodyPr>
          <a:lstStyle/>
          <a:p>
            <a:pPr algn="l"/>
            <a:r>
              <a:rPr sz="1100" b="0" i="0">
                <a:solidFill>
                  <a:srgbClr val="FFFFFF"/>
                </a:solidFill>
                <a:latin typeface="Calibri"/>
              </a:rPr>
              <a:t>• appendChild</a:t>
            </a:r>
          </a:p>
        </p:txBody>
      </p:sp>
      <p:sp>
        <p:nvSpPr>
          <p:cNvPr id="18" name="TextBox 17"/>
          <p:cNvSpPr txBox="1"/>
          <p:nvPr/>
        </p:nvSpPr>
        <p:spPr>
          <a:xfrm>
            <a:off x="8641080" y="4690872"/>
            <a:ext cx="3017520" cy="438912"/>
          </a:xfrm>
          <a:prstGeom prst="rect">
            <a:avLst/>
          </a:prstGeom>
          <a:noFill/>
        </p:spPr>
        <p:txBody>
          <a:bodyPr wrap="square">
            <a:spAutoFit/>
          </a:bodyPr>
          <a:lstStyle/>
          <a:p>
            <a:pPr algn="l"/>
            <a:r>
              <a:rPr sz="1100" b="0" i="0">
                <a:solidFill>
                  <a:srgbClr val="FFFFFF"/>
                </a:solidFill>
                <a:latin typeface="Calibri"/>
              </a:rPr>
              <a:t>• remove()</a:t>
            </a:r>
          </a:p>
        </p:txBody>
      </p:sp>
      <p:sp>
        <p:nvSpPr>
          <p:cNvPr id="19" name="TextBox 18"/>
          <p:cNvSpPr txBox="1"/>
          <p:nvPr/>
        </p:nvSpPr>
        <p:spPr>
          <a:xfrm>
            <a:off x="8641080" y="5193792"/>
            <a:ext cx="3017520" cy="438912"/>
          </a:xfrm>
          <a:prstGeom prst="rect">
            <a:avLst/>
          </a:prstGeom>
          <a:noFill/>
        </p:spPr>
        <p:txBody>
          <a:bodyPr wrap="square">
            <a:spAutoFit/>
          </a:bodyPr>
          <a:lstStyle/>
          <a:p>
            <a:pPr algn="l"/>
            <a:r>
              <a:rPr sz="1100" b="0" i="0">
                <a:solidFill>
                  <a:srgbClr val="FFFFFF"/>
                </a:solidFill>
                <a:latin typeface="Calibri"/>
              </a:rPr>
              <a:t>• Guard clause (if !value)</a:t>
            </a:r>
          </a:p>
        </p:txBody>
      </p:sp>
      <p:sp>
        <p:nvSpPr>
          <p:cNvPr id="20" name="TextBox 19"/>
          <p:cNvSpPr txBox="1"/>
          <p:nvPr/>
        </p:nvSpPr>
        <p:spPr>
          <a:xfrm>
            <a:off x="8641080" y="5696712"/>
            <a:ext cx="3017520" cy="438912"/>
          </a:xfrm>
          <a:prstGeom prst="rect">
            <a:avLst/>
          </a:prstGeom>
          <a:noFill/>
        </p:spPr>
        <p:txBody>
          <a:bodyPr wrap="square">
            <a:spAutoFit/>
          </a:bodyPr>
          <a:lstStyle/>
          <a:p>
            <a:pPr algn="l"/>
            <a:r>
              <a:rPr sz="1100" b="0" i="0">
                <a:solidFill>
                  <a:srgbClr val="FFFFFF"/>
                </a:solidFill>
                <a:latin typeface="Calibri"/>
              </a:rPr>
              <a:t>• Inline event on new node</a:t>
            </a:r>
          </a:p>
        </p:txBody>
      </p:sp>
      <p:sp>
        <p:nvSpPr>
          <p:cNvPr id="21" name="TextBox 20"/>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21/27</a:t>
            </a:r>
          </a:p>
        </p:txBody>
      </p:sp>
      <p:pic>
        <p:nvPicPr>
          <p:cNvPr id="25" name="Picture 24">
            <a:extLst>
              <a:ext uri="{FF2B5EF4-FFF2-40B4-BE49-F238E27FC236}">
                <a16:creationId xmlns:a16="http://schemas.microsoft.com/office/drawing/2014/main" id="{1FBE38E0-DA03-DA15-696F-9C1B39069E24}"/>
              </a:ext>
            </a:extLst>
          </p:cNvPr>
          <p:cNvPicPr>
            <a:picLocks noChangeAspect="1"/>
          </p:cNvPicPr>
          <p:nvPr/>
        </p:nvPicPr>
        <p:blipFill>
          <a:blip r:embed="rId3"/>
          <a:stretch>
            <a:fillRect/>
          </a:stretch>
        </p:blipFill>
        <p:spPr>
          <a:xfrm>
            <a:off x="6048186" y="1524648"/>
            <a:ext cx="2267266" cy="676369"/>
          </a:xfrm>
          <a:prstGeom prst="rect">
            <a:avLst/>
          </a:prstGeom>
        </p:spPr>
      </p:pic>
      <p:pic>
        <p:nvPicPr>
          <p:cNvPr id="27" name="Picture 26">
            <a:extLst>
              <a:ext uri="{FF2B5EF4-FFF2-40B4-BE49-F238E27FC236}">
                <a16:creationId xmlns:a16="http://schemas.microsoft.com/office/drawing/2014/main" id="{FDD551EB-7CEF-2B1D-6BC4-283F41FFA620}"/>
              </a:ext>
            </a:extLst>
          </p:cNvPr>
          <p:cNvPicPr>
            <a:picLocks noChangeAspect="1"/>
          </p:cNvPicPr>
          <p:nvPr/>
        </p:nvPicPr>
        <p:blipFill>
          <a:blip r:embed="rId4"/>
          <a:srcRect t="32611" r="52665"/>
          <a:stretch/>
        </p:blipFill>
        <p:spPr>
          <a:xfrm>
            <a:off x="6042442" y="2236700"/>
            <a:ext cx="2340320" cy="738264"/>
          </a:xfrm>
          <a:prstGeom prst="rect">
            <a:avLst/>
          </a:prstGeom>
        </p:spPr>
      </p:pic>
      <p:pic>
        <p:nvPicPr>
          <p:cNvPr id="29" name="Picture 28">
            <a:extLst>
              <a:ext uri="{FF2B5EF4-FFF2-40B4-BE49-F238E27FC236}">
                <a16:creationId xmlns:a16="http://schemas.microsoft.com/office/drawing/2014/main" id="{13D8B6FF-74A6-9245-580E-07D2C04D3153}"/>
              </a:ext>
            </a:extLst>
          </p:cNvPr>
          <p:cNvPicPr>
            <a:picLocks noChangeAspect="1"/>
          </p:cNvPicPr>
          <p:nvPr/>
        </p:nvPicPr>
        <p:blipFill>
          <a:blip r:embed="rId5"/>
          <a:srcRect r="1984"/>
          <a:stretch/>
        </p:blipFill>
        <p:spPr>
          <a:xfrm>
            <a:off x="6004730" y="2991912"/>
            <a:ext cx="2371682" cy="771633"/>
          </a:xfrm>
          <a:prstGeom prst="rect">
            <a:avLst/>
          </a:prstGeom>
        </p:spPr>
      </p:pic>
      <p:pic>
        <p:nvPicPr>
          <p:cNvPr id="31" name="Picture 30">
            <a:extLst>
              <a:ext uri="{FF2B5EF4-FFF2-40B4-BE49-F238E27FC236}">
                <a16:creationId xmlns:a16="http://schemas.microsoft.com/office/drawing/2014/main" id="{02299C92-F665-0CBF-C8C4-137F6373E17B}"/>
              </a:ext>
            </a:extLst>
          </p:cNvPr>
          <p:cNvPicPr>
            <a:picLocks noChangeAspect="1"/>
          </p:cNvPicPr>
          <p:nvPr/>
        </p:nvPicPr>
        <p:blipFill>
          <a:blip r:embed="rId6"/>
          <a:srcRect t="3443" b="13369"/>
          <a:stretch/>
        </p:blipFill>
        <p:spPr>
          <a:xfrm>
            <a:off x="6010784" y="3794759"/>
            <a:ext cx="2333951" cy="832105"/>
          </a:xfrm>
          <a:prstGeom prst="rect">
            <a:avLst/>
          </a:prstGeom>
        </p:spPr>
      </p:pic>
      <p:pic>
        <p:nvPicPr>
          <p:cNvPr id="33" name="Picture 32">
            <a:extLst>
              <a:ext uri="{FF2B5EF4-FFF2-40B4-BE49-F238E27FC236}">
                <a16:creationId xmlns:a16="http://schemas.microsoft.com/office/drawing/2014/main" id="{70BC0332-7919-BA6E-8680-3A9B43CF65B3}"/>
              </a:ext>
            </a:extLst>
          </p:cNvPr>
          <p:cNvPicPr>
            <a:picLocks noChangeAspect="1"/>
          </p:cNvPicPr>
          <p:nvPr/>
        </p:nvPicPr>
        <p:blipFill>
          <a:blip r:embed="rId7"/>
          <a:stretch>
            <a:fillRect/>
          </a:stretch>
        </p:blipFill>
        <p:spPr>
          <a:xfrm>
            <a:off x="6029837" y="4910328"/>
            <a:ext cx="2314898" cy="11431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Quick Check – Creating Elements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3657600" cy="411480"/>
          </a:xfrm>
          <a:prstGeom prst="rect">
            <a:avLst/>
          </a:prstGeom>
          <a:noFill/>
        </p:spPr>
        <p:txBody>
          <a:bodyPr wrap="square">
            <a:spAutoFit/>
          </a:bodyPr>
          <a:lstStyle/>
          <a:p>
            <a:pPr algn="l"/>
            <a:r>
              <a:rPr sz="1100" b="1" i="0">
                <a:solidFill>
                  <a:srgbClr val="F7DF1E"/>
                </a:solidFill>
                <a:latin typeface="Calibri"/>
              </a:rPr>
              <a:t>QUICK CHECK</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What is the correct order to add a new &lt;li&gt; to a &lt;ul&gt;?</a:t>
            </a:r>
          </a:p>
        </p:txBody>
      </p:sp>
      <p:sp>
        <p:nvSpPr>
          <p:cNvPr id="9" name="Rectangle 8"/>
          <p:cNvSpPr/>
          <p:nvPr/>
        </p:nvSpPr>
        <p:spPr>
          <a:xfrm>
            <a:off x="502920" y="224028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FFFFFF"/>
                </a:solidFill>
                <a:latin typeface="Calibri"/>
              </a:rPr>
              <a:t>appendChild first, then createElement, then textContent</a:t>
            </a:r>
          </a:p>
        </p:txBody>
      </p:sp>
      <p:sp>
        <p:nvSpPr>
          <p:cNvPr id="12" name="Rectangle 11"/>
          <p:cNvSpPr/>
          <p:nvPr/>
        </p:nvSpPr>
        <p:spPr>
          <a:xfrm>
            <a:off x="502920" y="310896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94A3B8"/>
                </a:solidFill>
                <a:latin typeface="Calibri"/>
              </a:rPr>
              <a:t>B</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FFFFFF"/>
                </a:solidFill>
                <a:latin typeface="Calibri"/>
              </a:rPr>
              <a:t>createElement → set textContent → appendChild</a:t>
            </a:r>
          </a:p>
        </p:txBody>
      </p:sp>
      <p:sp>
        <p:nvSpPr>
          <p:cNvPr id="15" name="Rectangle 14"/>
          <p:cNvSpPr/>
          <p:nvPr/>
        </p:nvSpPr>
        <p:spPr>
          <a:xfrm>
            <a:off x="502920" y="3977639"/>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94A3B8"/>
                </a:solidFill>
                <a:latin typeface="Calibri"/>
              </a:rPr>
              <a:t>C</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FFFFFF"/>
                </a:solidFill>
                <a:latin typeface="Calibri"/>
              </a:rPr>
              <a:t>innerHTML → createElement → remove</a:t>
            </a:r>
          </a:p>
        </p:txBody>
      </p:sp>
      <p:sp>
        <p:nvSpPr>
          <p:cNvPr id="18" name="Rectangle 17"/>
          <p:cNvSpPr/>
          <p:nvPr/>
        </p:nvSpPr>
        <p:spPr>
          <a:xfrm>
            <a:off x="502920" y="4846320"/>
            <a:ext cx="1078992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FFFFFF"/>
                </a:solidFill>
                <a:latin typeface="Calibri"/>
              </a:rPr>
              <a:t>getElementById → createElement → insertBefore</a:t>
            </a:r>
          </a:p>
        </p:txBody>
      </p:sp>
      <p:sp>
        <p:nvSpPr>
          <p:cNvPr id="21" name="TextBox 20"/>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22/27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Answer – Creating Elements</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365760" y="1143000"/>
            <a:ext cx="11457432" cy="91440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170432"/>
            <a:ext cx="4572000" cy="411480"/>
          </a:xfrm>
          <a:prstGeom prst="rect">
            <a:avLst/>
          </a:prstGeom>
          <a:noFill/>
        </p:spPr>
        <p:txBody>
          <a:bodyPr wrap="square">
            <a:spAutoFit/>
          </a:bodyPr>
          <a:lstStyle/>
          <a:p>
            <a:pPr algn="l"/>
            <a:r>
              <a:rPr sz="1100" b="1" i="0">
                <a:solidFill>
                  <a:srgbClr val="4ADE80"/>
                </a:solidFill>
                <a:latin typeface="Calibri"/>
              </a:rPr>
              <a:t>ANSWER REVEALED</a:t>
            </a:r>
          </a:p>
        </p:txBody>
      </p:sp>
      <p:sp>
        <p:nvSpPr>
          <p:cNvPr id="8" name="TextBox 7"/>
          <p:cNvSpPr txBox="1"/>
          <p:nvPr/>
        </p:nvSpPr>
        <p:spPr>
          <a:xfrm>
            <a:off x="502920" y="1463040"/>
            <a:ext cx="11064240" cy="548640"/>
          </a:xfrm>
          <a:prstGeom prst="rect">
            <a:avLst/>
          </a:prstGeom>
          <a:noFill/>
        </p:spPr>
        <p:txBody>
          <a:bodyPr wrap="square">
            <a:spAutoFit/>
          </a:bodyPr>
          <a:lstStyle/>
          <a:p>
            <a:pPr algn="l"/>
            <a:r>
              <a:rPr sz="1600" b="1" i="0">
                <a:solidFill>
                  <a:srgbClr val="FFFFFF"/>
                </a:solidFill>
                <a:latin typeface="Calibri"/>
              </a:rPr>
              <a:t>What is the correct order to add a new &lt;li&gt; to a &lt;ul&gt;?</a:t>
            </a:r>
          </a:p>
        </p:txBody>
      </p:sp>
      <p:sp>
        <p:nvSpPr>
          <p:cNvPr id="9" name="Rectangle 8"/>
          <p:cNvSpPr/>
          <p:nvPr/>
        </p:nvSpPr>
        <p:spPr>
          <a:xfrm>
            <a:off x="502920" y="224028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404872"/>
            <a:ext cx="365760" cy="411480"/>
          </a:xfrm>
          <a:prstGeom prst="rect">
            <a:avLst/>
          </a:prstGeom>
          <a:noFill/>
        </p:spPr>
        <p:txBody>
          <a:bodyPr wrap="square">
            <a:spAutoFit/>
          </a:bodyPr>
          <a:lstStyle/>
          <a:p>
            <a:pPr algn="l"/>
            <a:r>
              <a:rPr sz="1400" b="1" i="0">
                <a:solidFill>
                  <a:srgbClr val="94A3B8"/>
                </a:solidFill>
                <a:latin typeface="Calibri"/>
              </a:rPr>
              <a:t>A</a:t>
            </a:r>
          </a:p>
        </p:txBody>
      </p:sp>
      <p:sp>
        <p:nvSpPr>
          <p:cNvPr id="11" name="TextBox 10"/>
          <p:cNvSpPr txBox="1"/>
          <p:nvPr/>
        </p:nvSpPr>
        <p:spPr>
          <a:xfrm>
            <a:off x="1097280" y="2377440"/>
            <a:ext cx="9875520" cy="475488"/>
          </a:xfrm>
          <a:prstGeom prst="rect">
            <a:avLst/>
          </a:prstGeom>
          <a:noFill/>
        </p:spPr>
        <p:txBody>
          <a:bodyPr wrap="square">
            <a:spAutoFit/>
          </a:bodyPr>
          <a:lstStyle/>
          <a:p>
            <a:pPr algn="l"/>
            <a:r>
              <a:rPr sz="1300" b="0" i="0">
                <a:solidFill>
                  <a:srgbClr val="94A3B8"/>
                </a:solidFill>
                <a:latin typeface="Calibri"/>
              </a:rPr>
              <a:t>appendChild first, then createElement, then textContent</a:t>
            </a:r>
          </a:p>
        </p:txBody>
      </p:sp>
      <p:sp>
        <p:nvSpPr>
          <p:cNvPr id="12" name="Rectangle 11"/>
          <p:cNvSpPr/>
          <p:nvPr/>
        </p:nvSpPr>
        <p:spPr>
          <a:xfrm>
            <a:off x="502920" y="3108960"/>
            <a:ext cx="10789920" cy="713232"/>
          </a:xfrm>
          <a:prstGeom prst="rect">
            <a:avLst/>
          </a:prstGeom>
          <a:solidFill>
            <a:srgbClr val="054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73552"/>
            <a:ext cx="365760" cy="411480"/>
          </a:xfrm>
          <a:prstGeom prst="rect">
            <a:avLst/>
          </a:prstGeom>
          <a:noFill/>
        </p:spPr>
        <p:txBody>
          <a:bodyPr wrap="square">
            <a:spAutoFit/>
          </a:bodyPr>
          <a:lstStyle/>
          <a:p>
            <a:pPr algn="l"/>
            <a:r>
              <a:rPr sz="1400" b="1" i="0">
                <a:solidFill>
                  <a:srgbClr val="4ADE80"/>
                </a:solidFill>
                <a:latin typeface="Calibri"/>
              </a:rPr>
              <a:t>✓</a:t>
            </a:r>
          </a:p>
        </p:txBody>
      </p:sp>
      <p:sp>
        <p:nvSpPr>
          <p:cNvPr id="14" name="TextBox 13"/>
          <p:cNvSpPr txBox="1"/>
          <p:nvPr/>
        </p:nvSpPr>
        <p:spPr>
          <a:xfrm>
            <a:off x="1097280" y="3246120"/>
            <a:ext cx="9875520" cy="475488"/>
          </a:xfrm>
          <a:prstGeom prst="rect">
            <a:avLst/>
          </a:prstGeom>
          <a:noFill/>
        </p:spPr>
        <p:txBody>
          <a:bodyPr wrap="square">
            <a:spAutoFit/>
          </a:bodyPr>
          <a:lstStyle/>
          <a:p>
            <a:pPr algn="l"/>
            <a:r>
              <a:rPr sz="1300" b="0" i="0">
                <a:solidFill>
                  <a:srgbClr val="4ADE80"/>
                </a:solidFill>
                <a:latin typeface="Calibri"/>
              </a:rPr>
              <a:t>createElement → set textContent → appendChild</a:t>
            </a:r>
          </a:p>
        </p:txBody>
      </p:sp>
      <p:sp>
        <p:nvSpPr>
          <p:cNvPr id="15" name="Rectangle 14"/>
          <p:cNvSpPr/>
          <p:nvPr/>
        </p:nvSpPr>
        <p:spPr>
          <a:xfrm>
            <a:off x="502920" y="3977639"/>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42231"/>
            <a:ext cx="365760" cy="411480"/>
          </a:xfrm>
          <a:prstGeom prst="rect">
            <a:avLst/>
          </a:prstGeom>
          <a:noFill/>
        </p:spPr>
        <p:txBody>
          <a:bodyPr wrap="square">
            <a:spAutoFit/>
          </a:bodyPr>
          <a:lstStyle/>
          <a:p>
            <a:pPr algn="l"/>
            <a:r>
              <a:rPr sz="1400" b="1" i="0">
                <a:solidFill>
                  <a:srgbClr val="94A3B8"/>
                </a:solidFill>
                <a:latin typeface="Calibri"/>
              </a:rPr>
              <a:t>C</a:t>
            </a:r>
          </a:p>
        </p:txBody>
      </p:sp>
      <p:sp>
        <p:nvSpPr>
          <p:cNvPr id="17" name="TextBox 16"/>
          <p:cNvSpPr txBox="1"/>
          <p:nvPr/>
        </p:nvSpPr>
        <p:spPr>
          <a:xfrm>
            <a:off x="1097280" y="4114799"/>
            <a:ext cx="9875520" cy="475488"/>
          </a:xfrm>
          <a:prstGeom prst="rect">
            <a:avLst/>
          </a:prstGeom>
          <a:noFill/>
        </p:spPr>
        <p:txBody>
          <a:bodyPr wrap="square">
            <a:spAutoFit/>
          </a:bodyPr>
          <a:lstStyle/>
          <a:p>
            <a:pPr algn="l"/>
            <a:r>
              <a:rPr sz="1300" b="0" i="0">
                <a:solidFill>
                  <a:srgbClr val="94A3B8"/>
                </a:solidFill>
                <a:latin typeface="Calibri"/>
              </a:rPr>
              <a:t>innerHTML → createElement → remove</a:t>
            </a:r>
          </a:p>
        </p:txBody>
      </p:sp>
      <p:sp>
        <p:nvSpPr>
          <p:cNvPr id="18" name="Rectangle 17"/>
          <p:cNvSpPr/>
          <p:nvPr/>
        </p:nvSpPr>
        <p:spPr>
          <a:xfrm>
            <a:off x="502920" y="4846320"/>
            <a:ext cx="10789920" cy="713232"/>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010912"/>
            <a:ext cx="365760" cy="411480"/>
          </a:xfrm>
          <a:prstGeom prst="rect">
            <a:avLst/>
          </a:prstGeom>
          <a:noFill/>
        </p:spPr>
        <p:txBody>
          <a:bodyPr wrap="square">
            <a:spAutoFit/>
          </a:bodyPr>
          <a:lstStyle/>
          <a:p>
            <a:pPr algn="l"/>
            <a:r>
              <a:rPr sz="1400" b="1" i="0">
                <a:solidFill>
                  <a:srgbClr val="94A3B8"/>
                </a:solidFill>
                <a:latin typeface="Calibri"/>
              </a:rPr>
              <a:t>D</a:t>
            </a:r>
          </a:p>
        </p:txBody>
      </p:sp>
      <p:sp>
        <p:nvSpPr>
          <p:cNvPr id="20" name="TextBox 19"/>
          <p:cNvSpPr txBox="1"/>
          <p:nvPr/>
        </p:nvSpPr>
        <p:spPr>
          <a:xfrm>
            <a:off x="1097280" y="4983480"/>
            <a:ext cx="9875520" cy="475488"/>
          </a:xfrm>
          <a:prstGeom prst="rect">
            <a:avLst/>
          </a:prstGeom>
          <a:noFill/>
        </p:spPr>
        <p:txBody>
          <a:bodyPr wrap="square">
            <a:spAutoFit/>
          </a:bodyPr>
          <a:lstStyle/>
          <a:p>
            <a:pPr algn="l"/>
            <a:r>
              <a:rPr sz="1300" b="0" i="0">
                <a:solidFill>
                  <a:srgbClr val="94A3B8"/>
                </a:solidFill>
                <a:latin typeface="Calibri"/>
              </a:rPr>
              <a:t>getElementById → createElement → insertBefore</a:t>
            </a:r>
          </a:p>
        </p:txBody>
      </p:sp>
      <p:sp>
        <p:nvSpPr>
          <p:cNvPr id="21" name="Rectangle 20"/>
          <p:cNvSpPr/>
          <p:nvPr/>
        </p:nvSpPr>
        <p:spPr>
          <a:xfrm>
            <a:off x="502920" y="5669280"/>
            <a:ext cx="10789920" cy="82296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5715000"/>
            <a:ext cx="2286000" cy="347472"/>
          </a:xfrm>
          <a:prstGeom prst="rect">
            <a:avLst/>
          </a:prstGeom>
          <a:noFill/>
        </p:spPr>
        <p:txBody>
          <a:bodyPr wrap="square">
            <a:spAutoFit/>
          </a:bodyPr>
          <a:lstStyle/>
          <a:p>
            <a:pPr algn="l"/>
            <a:r>
              <a:rPr sz="1000" b="1" i="0">
                <a:solidFill>
                  <a:srgbClr val="F7DF1E"/>
                </a:solidFill>
                <a:latin typeface="Calibri"/>
              </a:rPr>
              <a:t>Explanation:</a:t>
            </a:r>
          </a:p>
        </p:txBody>
      </p:sp>
      <p:sp>
        <p:nvSpPr>
          <p:cNvPr id="23" name="TextBox 22"/>
          <p:cNvSpPr txBox="1"/>
          <p:nvPr/>
        </p:nvSpPr>
        <p:spPr>
          <a:xfrm>
            <a:off x="658368" y="5989320"/>
            <a:ext cx="10424160" cy="457200"/>
          </a:xfrm>
          <a:prstGeom prst="rect">
            <a:avLst/>
          </a:prstGeom>
          <a:noFill/>
        </p:spPr>
        <p:txBody>
          <a:bodyPr wrap="square">
            <a:spAutoFit/>
          </a:bodyPr>
          <a:lstStyle/>
          <a:p>
            <a:pPr algn="l"/>
            <a:r>
              <a:rPr sz="1100" b="0" i="0">
                <a:solidFill>
                  <a:srgbClr val="FFFFFF"/>
                </a:solidFill>
                <a:latin typeface="Calibri"/>
              </a:rPr>
              <a:t>Always: (1) Create the node in memory, (2) Configure it (text, classes, events), (3) Append it to the DOM. Appending first then setting properties also works, but attaching an empty or misconfigured node can cause a visible flash.</a:t>
            </a:r>
          </a:p>
        </p:txBody>
      </p:sp>
      <p:sp>
        <p:nvSpPr>
          <p:cNvPr id="24" name="TextBox 23"/>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23/27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Sneak Preview: DOM + Fetch API</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300" b="0" i="0">
                <a:solidFill>
                  <a:srgbClr val="94A3B8"/>
                </a:solidFill>
                <a:latin typeface="Calibri"/>
              </a:rPr>
              <a:t>Next week: loading REAL data from the internet and injecting it into the DOM</a:t>
            </a:r>
          </a:p>
        </p:txBody>
      </p:sp>
      <p:sp>
        <p:nvSpPr>
          <p:cNvPr id="7" name="Rectangle 6"/>
          <p:cNvSpPr/>
          <p:nvPr/>
        </p:nvSpPr>
        <p:spPr>
          <a:xfrm>
            <a:off x="320040" y="1600200"/>
            <a:ext cx="7498079" cy="38404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00200"/>
            <a:ext cx="64008" cy="384048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 y="1655064"/>
            <a:ext cx="7498079" cy="274320"/>
          </a:xfrm>
          <a:prstGeom prst="rect">
            <a:avLst/>
          </a:prstGeom>
          <a:noFill/>
        </p:spPr>
        <p:txBody>
          <a:bodyPr wrap="square">
            <a:spAutoFit/>
          </a:bodyPr>
          <a:lstStyle/>
          <a:p>
            <a:pPr algn="l"/>
            <a:r>
              <a:rPr sz="900" b="0" i="0">
                <a:solidFill>
                  <a:srgbClr val="94A3B8"/>
                </a:solidFill>
                <a:latin typeface="Consolas"/>
              </a:rPr>
              <a:t>JS</a:t>
            </a:r>
          </a:p>
        </p:txBody>
      </p:sp>
      <p:sp>
        <p:nvSpPr>
          <p:cNvPr id="10" name="TextBox 9"/>
          <p:cNvSpPr txBox="1"/>
          <p:nvPr/>
        </p:nvSpPr>
        <p:spPr>
          <a:xfrm>
            <a:off x="448056" y="1911096"/>
            <a:ext cx="7242047" cy="3438144"/>
          </a:xfrm>
          <a:prstGeom prst="rect">
            <a:avLst/>
          </a:prstGeom>
          <a:noFill/>
        </p:spPr>
        <p:txBody>
          <a:bodyPr wrap="none">
            <a:spAutoFit/>
          </a:bodyPr>
          <a:lstStyle/>
          <a:p>
            <a:r>
              <a:rPr sz="1200">
                <a:solidFill>
                  <a:srgbClr val="38BDF8"/>
                </a:solidFill>
                <a:latin typeface="Consolas"/>
              </a:rPr>
              <a:t>// Fetch data from an API, then show it in the DOM</a:t>
            </a:r>
          </a:p>
          <a:p>
            <a:r>
              <a:rPr sz="1200">
                <a:solidFill>
                  <a:srgbClr val="38BDF8"/>
                </a:solidFill>
                <a:latin typeface="Consolas"/>
              </a:rPr>
              <a:t>fetch('https://jsonplaceholder.typicode.com/posts/1')</a:t>
            </a:r>
          </a:p>
          <a:p>
            <a:r>
              <a:rPr sz="1200">
                <a:solidFill>
                  <a:srgbClr val="38BDF8"/>
                </a:solidFill>
                <a:latin typeface="Consolas"/>
              </a:rPr>
              <a:t>  .then(res =&gt; res.json())</a:t>
            </a:r>
          </a:p>
          <a:p>
            <a:r>
              <a:rPr sz="1200">
                <a:solidFill>
                  <a:srgbClr val="38BDF8"/>
                </a:solidFill>
                <a:latin typeface="Consolas"/>
              </a:rPr>
              <a:t>  .then(data =&gt; {</a:t>
            </a:r>
          </a:p>
          <a:p>
            <a:r>
              <a:rPr sz="1200">
                <a:solidFill>
                  <a:srgbClr val="38BDF8"/>
                </a:solidFill>
                <a:latin typeface="Consolas"/>
              </a:rPr>
              <a:t>    document.querySelector('#title').textContent = data.title;</a:t>
            </a:r>
          </a:p>
          <a:p>
            <a:r>
              <a:rPr sz="1200">
                <a:solidFill>
                  <a:srgbClr val="38BDF8"/>
                </a:solidFill>
                <a:latin typeface="Consolas"/>
              </a:rPr>
              <a:t>    document.querySelector('#body').textContent  = data.body;</a:t>
            </a:r>
          </a:p>
          <a:p>
            <a:r>
              <a:rPr sz="1200">
                <a:solidFill>
                  <a:srgbClr val="38BDF8"/>
                </a:solidFill>
                <a:latin typeface="Consolas"/>
              </a:rPr>
              <a:t>  })</a:t>
            </a:r>
          </a:p>
          <a:p>
            <a:r>
              <a:rPr sz="1200">
                <a:solidFill>
                  <a:srgbClr val="38BDF8"/>
                </a:solidFill>
                <a:latin typeface="Consolas"/>
              </a:rPr>
              <a:t>  .catch(err =&gt; console.error('Error:', err));</a:t>
            </a:r>
          </a:p>
          <a:p>
            <a:endParaRPr sz="1200">
              <a:solidFill>
                <a:srgbClr val="38BDF8"/>
              </a:solidFill>
              <a:latin typeface="Consolas"/>
            </a:endParaRPr>
          </a:p>
          <a:p>
            <a:r>
              <a:rPr sz="1200">
                <a:solidFill>
                  <a:srgbClr val="38BDF8"/>
                </a:solidFill>
                <a:latin typeface="Consolas"/>
              </a:rPr>
              <a:t>// Everything you learned today is used here:</a:t>
            </a:r>
          </a:p>
          <a:p>
            <a:r>
              <a:rPr sz="1200">
                <a:solidFill>
                  <a:srgbClr val="38BDF8"/>
                </a:solidFill>
                <a:latin typeface="Consolas"/>
              </a:rPr>
              <a:t>// querySelector → textContent → dynamic update</a:t>
            </a:r>
          </a:p>
        </p:txBody>
      </p:sp>
      <p:sp>
        <p:nvSpPr>
          <p:cNvPr id="11" name="Rectangle 10"/>
          <p:cNvSpPr/>
          <p:nvPr/>
        </p:nvSpPr>
        <p:spPr>
          <a:xfrm>
            <a:off x="7955279" y="1600200"/>
            <a:ext cx="3886200" cy="384048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955279" y="1600200"/>
            <a:ext cx="54864" cy="384048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83295" y="1673352"/>
            <a:ext cx="3703320" cy="365760"/>
          </a:xfrm>
          <a:prstGeom prst="rect">
            <a:avLst/>
          </a:prstGeom>
          <a:noFill/>
        </p:spPr>
        <p:txBody>
          <a:bodyPr wrap="square">
            <a:spAutoFit/>
          </a:bodyPr>
          <a:lstStyle/>
          <a:p>
            <a:pPr algn="l"/>
            <a:r>
              <a:rPr sz="1300" b="1" i="0">
                <a:solidFill>
                  <a:srgbClr val="F7DF1E"/>
                </a:solidFill>
                <a:latin typeface="Calibri"/>
              </a:rPr>
              <a:t>What this unlocks</a:t>
            </a:r>
          </a:p>
        </p:txBody>
      </p:sp>
      <p:sp>
        <p:nvSpPr>
          <p:cNvPr id="14" name="TextBox 13"/>
          <p:cNvSpPr txBox="1"/>
          <p:nvPr/>
        </p:nvSpPr>
        <p:spPr>
          <a:xfrm>
            <a:off x="8083295" y="2020824"/>
            <a:ext cx="3666744" cy="3328416"/>
          </a:xfrm>
          <a:prstGeom prst="rect">
            <a:avLst/>
          </a:prstGeom>
          <a:noFill/>
        </p:spPr>
        <p:txBody>
          <a:bodyPr wrap="square">
            <a:spAutoFit/>
          </a:bodyPr>
          <a:lstStyle/>
          <a:p>
            <a:r>
              <a:rPr sz="1150">
                <a:solidFill>
                  <a:srgbClr val="FFFFFF"/>
                </a:solidFill>
                <a:latin typeface="Calibri"/>
              </a:rPr>
              <a:t>Display weather data</a:t>
            </a:r>
          </a:p>
          <a:p>
            <a:r>
              <a:rPr sz="1150">
                <a:solidFill>
                  <a:srgbClr val="FFFFFF"/>
                </a:solidFill>
                <a:latin typeface="Calibri"/>
              </a:rPr>
              <a:t>Show product listings</a:t>
            </a:r>
          </a:p>
          <a:p>
            <a:r>
              <a:rPr sz="1150">
                <a:solidFill>
                  <a:srgbClr val="FFFFFF"/>
                </a:solidFill>
                <a:latin typeface="Calibri"/>
              </a:rPr>
              <a:t>Live search results</a:t>
            </a:r>
          </a:p>
          <a:p>
            <a:r>
              <a:rPr sz="1150">
                <a:solidFill>
                  <a:srgbClr val="FFFFFF"/>
                </a:solidFill>
                <a:latin typeface="Calibri"/>
              </a:rPr>
              <a:t>Social media feeds</a:t>
            </a:r>
          </a:p>
          <a:p>
            <a:r>
              <a:rPr sz="1150">
                <a:solidFill>
                  <a:srgbClr val="FFFFFF"/>
                </a:solidFill>
                <a:latin typeface="Calibri"/>
              </a:rPr>
              <a:t>Game leaderboards</a:t>
            </a:r>
          </a:p>
          <a:p>
            <a:r>
              <a:rPr sz="1150">
                <a:solidFill>
                  <a:srgbClr val="FFFFFF"/>
                </a:solidFill>
                <a:latin typeface="Calibri"/>
              </a:rPr>
              <a:t>ALL use DOM + Fetch</a:t>
            </a:r>
          </a:p>
        </p:txBody>
      </p:sp>
      <p:sp>
        <p:nvSpPr>
          <p:cNvPr id="15" name="TextBox 14"/>
          <p:cNvSpPr txBox="1"/>
          <p:nvPr/>
        </p:nvSpPr>
        <p:spPr>
          <a:xfrm>
            <a:off x="320040" y="5669280"/>
            <a:ext cx="11521440" cy="502920"/>
          </a:xfrm>
          <a:prstGeom prst="rect">
            <a:avLst/>
          </a:prstGeom>
          <a:noFill/>
        </p:spPr>
        <p:txBody>
          <a:bodyPr wrap="square">
            <a:spAutoFit/>
          </a:bodyPr>
          <a:lstStyle/>
          <a:p>
            <a:pPr algn="l"/>
            <a:r>
              <a:rPr sz="1200" b="1" i="0">
                <a:solidFill>
                  <a:srgbClr val="4ADE80"/>
                </a:solidFill>
                <a:latin typeface="Calibri"/>
              </a:rPr>
              <a:t>This is the pattern behind every modern web application. Master today's DOM skills and Fetch is just one more line.</a:t>
            </a:r>
          </a:p>
        </p:txBody>
      </p:sp>
      <p:sp>
        <p:nvSpPr>
          <p:cNvPr id="16" name="TextBox 15"/>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24/27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Career Corner: DOM in the Real World</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0" y="1005840"/>
            <a:ext cx="12188952" cy="576072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43000"/>
            <a:ext cx="10972800" cy="457200"/>
          </a:xfrm>
          <a:prstGeom prst="rect">
            <a:avLst/>
          </a:prstGeom>
          <a:noFill/>
        </p:spPr>
        <p:txBody>
          <a:bodyPr wrap="square">
            <a:spAutoFit/>
          </a:bodyPr>
          <a:lstStyle/>
          <a:p>
            <a:pPr algn="l"/>
            <a:r>
              <a:rPr sz="2000" b="1" i="0">
                <a:solidFill>
                  <a:srgbClr val="F7DF1E"/>
                </a:solidFill>
                <a:latin typeface="Calibri"/>
              </a:rPr>
              <a:t>Every front-end interview asks about the DOM</a:t>
            </a:r>
          </a:p>
        </p:txBody>
      </p:sp>
      <p:sp>
        <p:nvSpPr>
          <p:cNvPr id="8" name="Rectangle 7"/>
          <p:cNvSpPr/>
          <p:nvPr/>
        </p:nvSpPr>
        <p:spPr>
          <a:xfrm>
            <a:off x="365760" y="1783080"/>
            <a:ext cx="3749039" cy="146304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783080"/>
            <a:ext cx="64008" cy="1463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1892808"/>
            <a:ext cx="3474720" cy="384048"/>
          </a:xfrm>
          <a:prstGeom prst="rect">
            <a:avLst/>
          </a:prstGeom>
          <a:noFill/>
        </p:spPr>
        <p:txBody>
          <a:bodyPr wrap="square">
            <a:spAutoFit/>
          </a:bodyPr>
          <a:lstStyle/>
          <a:p>
            <a:pPr algn="l"/>
            <a:r>
              <a:rPr sz="1400" b="1" i="0">
                <a:solidFill>
                  <a:srgbClr val="F7DF1E"/>
                </a:solidFill>
                <a:latin typeface="Calibri"/>
              </a:rPr>
              <a:t>Kakao</a:t>
            </a:r>
          </a:p>
        </p:txBody>
      </p:sp>
      <p:sp>
        <p:nvSpPr>
          <p:cNvPr id="11" name="TextBox 10"/>
          <p:cNvSpPr txBox="1"/>
          <p:nvPr/>
        </p:nvSpPr>
        <p:spPr>
          <a:xfrm>
            <a:off x="530352" y="2286000"/>
            <a:ext cx="3474720" cy="777240"/>
          </a:xfrm>
          <a:prstGeom prst="rect">
            <a:avLst/>
          </a:prstGeom>
          <a:noFill/>
        </p:spPr>
        <p:txBody>
          <a:bodyPr wrap="square">
            <a:spAutoFit/>
          </a:bodyPr>
          <a:lstStyle/>
          <a:p>
            <a:pPr algn="l"/>
            <a:r>
              <a:rPr sz="1050" b="0" i="0">
                <a:solidFill>
                  <a:srgbClr val="94A3B8"/>
                </a:solidFill>
                <a:latin typeface="Calibri"/>
              </a:rPr>
              <a:t>Virtual DOM, Event delegation, SPA routing</a:t>
            </a:r>
          </a:p>
        </p:txBody>
      </p:sp>
      <p:sp>
        <p:nvSpPr>
          <p:cNvPr id="12" name="Rectangle 11"/>
          <p:cNvSpPr/>
          <p:nvPr/>
        </p:nvSpPr>
        <p:spPr>
          <a:xfrm>
            <a:off x="4297680" y="1783080"/>
            <a:ext cx="3749039" cy="146304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80" y="1783080"/>
            <a:ext cx="64008" cy="1463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1892808"/>
            <a:ext cx="3474720" cy="384048"/>
          </a:xfrm>
          <a:prstGeom prst="rect">
            <a:avLst/>
          </a:prstGeom>
          <a:noFill/>
        </p:spPr>
        <p:txBody>
          <a:bodyPr wrap="square">
            <a:spAutoFit/>
          </a:bodyPr>
          <a:lstStyle/>
          <a:p>
            <a:pPr algn="l"/>
            <a:r>
              <a:rPr sz="1400" b="1" i="0">
                <a:solidFill>
                  <a:srgbClr val="F7DF1E"/>
                </a:solidFill>
                <a:latin typeface="Calibri"/>
              </a:rPr>
              <a:t>Naver</a:t>
            </a:r>
          </a:p>
        </p:txBody>
      </p:sp>
      <p:sp>
        <p:nvSpPr>
          <p:cNvPr id="15" name="TextBox 14"/>
          <p:cNvSpPr txBox="1"/>
          <p:nvPr/>
        </p:nvSpPr>
        <p:spPr>
          <a:xfrm>
            <a:off x="4462272" y="2286000"/>
            <a:ext cx="3474720" cy="777240"/>
          </a:xfrm>
          <a:prstGeom prst="rect">
            <a:avLst/>
          </a:prstGeom>
          <a:noFill/>
        </p:spPr>
        <p:txBody>
          <a:bodyPr wrap="square">
            <a:spAutoFit/>
          </a:bodyPr>
          <a:lstStyle/>
          <a:p>
            <a:pPr algn="l"/>
            <a:r>
              <a:rPr sz="1050" b="0" i="0">
                <a:solidFill>
                  <a:srgbClr val="94A3B8"/>
                </a:solidFill>
                <a:latin typeface="Calibri"/>
              </a:rPr>
              <a:t>Search autocomplete, Live news feeds</a:t>
            </a:r>
          </a:p>
        </p:txBody>
      </p:sp>
      <p:sp>
        <p:nvSpPr>
          <p:cNvPr id="16" name="Rectangle 15"/>
          <p:cNvSpPr/>
          <p:nvPr/>
        </p:nvSpPr>
        <p:spPr>
          <a:xfrm>
            <a:off x="8229600" y="1783080"/>
            <a:ext cx="3749039" cy="146304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1783080"/>
            <a:ext cx="64008" cy="1463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94192" y="1892808"/>
            <a:ext cx="3474720" cy="384048"/>
          </a:xfrm>
          <a:prstGeom prst="rect">
            <a:avLst/>
          </a:prstGeom>
          <a:noFill/>
        </p:spPr>
        <p:txBody>
          <a:bodyPr wrap="square">
            <a:spAutoFit/>
          </a:bodyPr>
          <a:lstStyle/>
          <a:p>
            <a:pPr algn="l"/>
            <a:r>
              <a:rPr sz="1400" b="1" i="0">
                <a:solidFill>
                  <a:srgbClr val="F7DF1E"/>
                </a:solidFill>
                <a:latin typeface="Calibri"/>
              </a:rPr>
              <a:t>Samsung</a:t>
            </a:r>
          </a:p>
        </p:txBody>
      </p:sp>
      <p:sp>
        <p:nvSpPr>
          <p:cNvPr id="19" name="TextBox 18"/>
          <p:cNvSpPr txBox="1"/>
          <p:nvPr/>
        </p:nvSpPr>
        <p:spPr>
          <a:xfrm>
            <a:off x="8394192" y="2286000"/>
            <a:ext cx="3474720" cy="777240"/>
          </a:xfrm>
          <a:prstGeom prst="rect">
            <a:avLst/>
          </a:prstGeom>
          <a:noFill/>
        </p:spPr>
        <p:txBody>
          <a:bodyPr wrap="square">
            <a:spAutoFit/>
          </a:bodyPr>
          <a:lstStyle/>
          <a:p>
            <a:pPr algn="l"/>
            <a:r>
              <a:rPr sz="1050" b="0" i="0">
                <a:solidFill>
                  <a:srgbClr val="94A3B8"/>
                </a:solidFill>
                <a:latin typeface="Calibri"/>
              </a:rPr>
              <a:t>SmartTV UI – pure DOM manipulation</a:t>
            </a:r>
          </a:p>
        </p:txBody>
      </p:sp>
      <p:sp>
        <p:nvSpPr>
          <p:cNvPr id="20" name="Rectangle 19"/>
          <p:cNvSpPr/>
          <p:nvPr/>
        </p:nvSpPr>
        <p:spPr>
          <a:xfrm>
            <a:off x="365760" y="3429000"/>
            <a:ext cx="3749039" cy="146304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3429000"/>
            <a:ext cx="64008" cy="1463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0352" y="3538728"/>
            <a:ext cx="3474720" cy="384048"/>
          </a:xfrm>
          <a:prstGeom prst="rect">
            <a:avLst/>
          </a:prstGeom>
          <a:noFill/>
        </p:spPr>
        <p:txBody>
          <a:bodyPr wrap="square">
            <a:spAutoFit/>
          </a:bodyPr>
          <a:lstStyle/>
          <a:p>
            <a:pPr algn="l"/>
            <a:r>
              <a:rPr sz="1400" b="1" i="0">
                <a:solidFill>
                  <a:srgbClr val="F7DF1E"/>
                </a:solidFill>
                <a:latin typeface="Calibri"/>
              </a:rPr>
              <a:t>Coupang</a:t>
            </a:r>
          </a:p>
        </p:txBody>
      </p:sp>
      <p:sp>
        <p:nvSpPr>
          <p:cNvPr id="23" name="TextBox 22"/>
          <p:cNvSpPr txBox="1"/>
          <p:nvPr/>
        </p:nvSpPr>
        <p:spPr>
          <a:xfrm>
            <a:off x="530352" y="3931920"/>
            <a:ext cx="3474720" cy="777240"/>
          </a:xfrm>
          <a:prstGeom prst="rect">
            <a:avLst/>
          </a:prstGeom>
          <a:noFill/>
        </p:spPr>
        <p:txBody>
          <a:bodyPr wrap="square">
            <a:spAutoFit/>
          </a:bodyPr>
          <a:lstStyle/>
          <a:p>
            <a:pPr algn="l"/>
            <a:r>
              <a:rPr sz="1050" b="0" i="0">
                <a:solidFill>
                  <a:srgbClr val="94A3B8"/>
                </a:solidFill>
                <a:latin typeface="Calibri"/>
              </a:rPr>
              <a:t>Product listing filters, cart updates</a:t>
            </a:r>
          </a:p>
        </p:txBody>
      </p:sp>
      <p:sp>
        <p:nvSpPr>
          <p:cNvPr id="24" name="Rectangle 23"/>
          <p:cNvSpPr/>
          <p:nvPr/>
        </p:nvSpPr>
        <p:spPr>
          <a:xfrm>
            <a:off x="4297680" y="3429000"/>
            <a:ext cx="3749039" cy="146304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297680" y="3429000"/>
            <a:ext cx="64008" cy="146304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62272" y="3538728"/>
            <a:ext cx="3474720" cy="384048"/>
          </a:xfrm>
          <a:prstGeom prst="rect">
            <a:avLst/>
          </a:prstGeom>
          <a:noFill/>
        </p:spPr>
        <p:txBody>
          <a:bodyPr wrap="square">
            <a:spAutoFit/>
          </a:bodyPr>
          <a:lstStyle/>
          <a:p>
            <a:pPr algn="l"/>
            <a:r>
              <a:rPr sz="1400" b="1" i="0">
                <a:solidFill>
                  <a:srgbClr val="F7DF1E"/>
                </a:solidFill>
                <a:latin typeface="Calibri"/>
              </a:rPr>
              <a:t>Krafton</a:t>
            </a:r>
          </a:p>
        </p:txBody>
      </p:sp>
      <p:sp>
        <p:nvSpPr>
          <p:cNvPr id="27" name="TextBox 26"/>
          <p:cNvSpPr txBox="1"/>
          <p:nvPr/>
        </p:nvSpPr>
        <p:spPr>
          <a:xfrm>
            <a:off x="4462272" y="3931920"/>
            <a:ext cx="3474720" cy="777240"/>
          </a:xfrm>
          <a:prstGeom prst="rect">
            <a:avLst/>
          </a:prstGeom>
          <a:noFill/>
        </p:spPr>
        <p:txBody>
          <a:bodyPr wrap="square">
            <a:spAutoFit/>
          </a:bodyPr>
          <a:lstStyle/>
          <a:p>
            <a:pPr algn="l"/>
            <a:r>
              <a:rPr sz="1050" b="0" i="0">
                <a:solidFill>
                  <a:srgbClr val="94A3B8"/>
                </a:solidFill>
                <a:latin typeface="Calibri"/>
              </a:rPr>
              <a:t>PUBG Web – game lobby, matchmaking UI</a:t>
            </a:r>
          </a:p>
        </p:txBody>
      </p:sp>
      <p:sp>
        <p:nvSpPr>
          <p:cNvPr id="28" name="Rectangle 27"/>
          <p:cNvSpPr/>
          <p:nvPr/>
        </p:nvSpPr>
        <p:spPr>
          <a:xfrm>
            <a:off x="365760" y="5212080"/>
            <a:ext cx="11430000" cy="128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5285232"/>
            <a:ext cx="10972800" cy="347472"/>
          </a:xfrm>
          <a:prstGeom prst="rect">
            <a:avLst/>
          </a:prstGeom>
          <a:noFill/>
        </p:spPr>
        <p:txBody>
          <a:bodyPr wrap="square">
            <a:spAutoFit/>
          </a:bodyPr>
          <a:lstStyle/>
          <a:p>
            <a:pPr algn="l"/>
            <a:r>
              <a:rPr sz="1100" b="1" i="0">
                <a:solidFill>
                  <a:srgbClr val="F7DF1E"/>
                </a:solidFill>
                <a:latin typeface="Calibri"/>
              </a:rPr>
              <a:t>Common Interview Questions</a:t>
            </a:r>
          </a:p>
        </p:txBody>
      </p:sp>
      <p:sp>
        <p:nvSpPr>
          <p:cNvPr id="30" name="TextBox 29"/>
          <p:cNvSpPr txBox="1"/>
          <p:nvPr/>
        </p:nvSpPr>
        <p:spPr>
          <a:xfrm>
            <a:off x="548640" y="5650992"/>
            <a:ext cx="5486400" cy="365760"/>
          </a:xfrm>
          <a:prstGeom prst="rect">
            <a:avLst/>
          </a:prstGeom>
          <a:noFill/>
        </p:spPr>
        <p:txBody>
          <a:bodyPr wrap="square">
            <a:spAutoFit/>
          </a:bodyPr>
          <a:lstStyle/>
          <a:p>
            <a:pPr algn="l"/>
            <a:r>
              <a:rPr sz="1000" b="0" i="0">
                <a:solidFill>
                  <a:srgbClr val="FFFFFF"/>
                </a:solidFill>
                <a:latin typeface="Calibri"/>
              </a:rPr>
              <a:t>• How would you implement event delegation?</a:t>
            </a:r>
          </a:p>
        </p:txBody>
      </p:sp>
      <p:sp>
        <p:nvSpPr>
          <p:cNvPr id="31" name="TextBox 30"/>
          <p:cNvSpPr txBox="1"/>
          <p:nvPr/>
        </p:nvSpPr>
        <p:spPr>
          <a:xfrm>
            <a:off x="6309360" y="5650992"/>
            <a:ext cx="5486400" cy="365760"/>
          </a:xfrm>
          <a:prstGeom prst="rect">
            <a:avLst/>
          </a:prstGeom>
          <a:noFill/>
        </p:spPr>
        <p:txBody>
          <a:bodyPr wrap="square">
            <a:spAutoFit/>
          </a:bodyPr>
          <a:lstStyle/>
          <a:p>
            <a:pPr algn="l"/>
            <a:r>
              <a:rPr sz="1000" b="0" i="0">
                <a:solidFill>
                  <a:srgbClr val="FFFFFF"/>
                </a:solidFill>
                <a:latin typeface="Calibri"/>
              </a:rPr>
              <a:t>• What is the difference between innerHTML and textContent?</a:t>
            </a:r>
          </a:p>
        </p:txBody>
      </p:sp>
      <p:sp>
        <p:nvSpPr>
          <p:cNvPr id="32" name="TextBox 31"/>
          <p:cNvSpPr txBox="1"/>
          <p:nvPr/>
        </p:nvSpPr>
        <p:spPr>
          <a:xfrm>
            <a:off x="548640" y="6035040"/>
            <a:ext cx="5486400" cy="365760"/>
          </a:xfrm>
          <a:prstGeom prst="rect">
            <a:avLst/>
          </a:prstGeom>
          <a:noFill/>
        </p:spPr>
        <p:txBody>
          <a:bodyPr wrap="square">
            <a:spAutoFit/>
          </a:bodyPr>
          <a:lstStyle/>
          <a:p>
            <a:pPr algn="l"/>
            <a:r>
              <a:rPr sz="1000" b="0" i="0">
                <a:solidFill>
                  <a:srgbClr val="FFFFFF"/>
                </a:solidFill>
                <a:latin typeface="Calibri"/>
              </a:rPr>
              <a:t>• How do you prevent a form from reloading the page?</a:t>
            </a:r>
          </a:p>
        </p:txBody>
      </p:sp>
      <p:sp>
        <p:nvSpPr>
          <p:cNvPr id="33" name="TextBox 32"/>
          <p:cNvSpPr txBox="1"/>
          <p:nvPr/>
        </p:nvSpPr>
        <p:spPr>
          <a:xfrm>
            <a:off x="6309360" y="6035040"/>
            <a:ext cx="5486400" cy="365760"/>
          </a:xfrm>
          <a:prstGeom prst="rect">
            <a:avLst/>
          </a:prstGeom>
          <a:noFill/>
        </p:spPr>
        <p:txBody>
          <a:bodyPr wrap="square">
            <a:spAutoFit/>
          </a:bodyPr>
          <a:lstStyle/>
          <a:p>
            <a:pPr algn="l"/>
            <a:r>
              <a:rPr sz="1000" b="0" i="0">
                <a:solidFill>
                  <a:srgbClr val="FFFFFF"/>
                </a:solidFill>
                <a:latin typeface="Calibri"/>
              </a:rPr>
              <a:t>• Explain event bubbling and capturing.</a:t>
            </a:r>
          </a:p>
        </p:txBody>
      </p:sp>
      <p:sp>
        <p:nvSpPr>
          <p:cNvPr id="34" name="TextBox 33"/>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25/27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Practice Assignment</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0" y="1005840"/>
            <a:ext cx="12188952" cy="576072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43000"/>
            <a:ext cx="10972800" cy="457200"/>
          </a:xfrm>
          <a:prstGeom prst="rect">
            <a:avLst/>
          </a:prstGeom>
          <a:noFill/>
        </p:spPr>
        <p:txBody>
          <a:bodyPr wrap="square">
            <a:spAutoFit/>
          </a:bodyPr>
          <a:lstStyle/>
          <a:p>
            <a:pPr algn="l"/>
            <a:r>
              <a:rPr sz="2200" b="1" i="0">
                <a:solidFill>
                  <a:srgbClr val="F7DF1E"/>
                </a:solidFill>
                <a:latin typeface="Calibri"/>
              </a:rPr>
              <a:t>Homework: Interactive Color Palette</a:t>
            </a:r>
          </a:p>
        </p:txBody>
      </p:sp>
      <p:sp>
        <p:nvSpPr>
          <p:cNvPr id="8" name="Rectangle 7"/>
          <p:cNvSpPr/>
          <p:nvPr/>
        </p:nvSpPr>
        <p:spPr>
          <a:xfrm>
            <a:off x="320040" y="1783080"/>
            <a:ext cx="3794760" cy="411480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783080"/>
            <a:ext cx="3794760" cy="43891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9768" y="1819656"/>
            <a:ext cx="3611880" cy="365760"/>
          </a:xfrm>
          <a:prstGeom prst="rect">
            <a:avLst/>
          </a:prstGeom>
          <a:noFill/>
        </p:spPr>
        <p:txBody>
          <a:bodyPr wrap="square">
            <a:spAutoFit/>
          </a:bodyPr>
          <a:lstStyle/>
          <a:p>
            <a:pPr algn="l"/>
            <a:r>
              <a:rPr sz="1100" b="1" i="0">
                <a:solidFill>
                  <a:srgbClr val="0D111A"/>
                </a:solidFill>
                <a:latin typeface="Calibri"/>
              </a:rPr>
              <a:t>Required (Grade 7/10)</a:t>
            </a:r>
          </a:p>
        </p:txBody>
      </p:sp>
      <p:sp>
        <p:nvSpPr>
          <p:cNvPr id="11" name="TextBox 10"/>
          <p:cNvSpPr txBox="1"/>
          <p:nvPr/>
        </p:nvSpPr>
        <p:spPr>
          <a:xfrm>
            <a:off x="448056" y="2359152"/>
            <a:ext cx="3566160" cy="548640"/>
          </a:xfrm>
          <a:prstGeom prst="rect">
            <a:avLst/>
          </a:prstGeom>
          <a:noFill/>
        </p:spPr>
        <p:txBody>
          <a:bodyPr wrap="square">
            <a:spAutoFit/>
          </a:bodyPr>
          <a:lstStyle/>
          <a:p>
            <a:pPr algn="l"/>
            <a:r>
              <a:rPr sz="1100" b="0" i="0">
                <a:solidFill>
                  <a:srgbClr val="FFFFFF"/>
                </a:solidFill>
                <a:latin typeface="Calibri"/>
              </a:rPr>
              <a:t>• Create 6 colored div boxes</a:t>
            </a:r>
          </a:p>
        </p:txBody>
      </p:sp>
      <p:sp>
        <p:nvSpPr>
          <p:cNvPr id="12" name="TextBox 11"/>
          <p:cNvSpPr txBox="1"/>
          <p:nvPr/>
        </p:nvSpPr>
        <p:spPr>
          <a:xfrm>
            <a:off x="448056" y="2953512"/>
            <a:ext cx="3566160" cy="548640"/>
          </a:xfrm>
          <a:prstGeom prst="rect">
            <a:avLst/>
          </a:prstGeom>
          <a:noFill/>
        </p:spPr>
        <p:txBody>
          <a:bodyPr wrap="square">
            <a:spAutoFit/>
          </a:bodyPr>
          <a:lstStyle/>
          <a:p>
            <a:pPr algn="l"/>
            <a:r>
              <a:rPr sz="1100" b="0" i="0">
                <a:solidFill>
                  <a:srgbClr val="FFFFFF"/>
                </a:solidFill>
                <a:latin typeface="Calibri"/>
              </a:rPr>
              <a:t>• Click a box → it expands (classList.toggle + CSS transition)</a:t>
            </a:r>
          </a:p>
        </p:txBody>
      </p:sp>
      <p:sp>
        <p:nvSpPr>
          <p:cNvPr id="13" name="TextBox 12"/>
          <p:cNvSpPr txBox="1"/>
          <p:nvPr/>
        </p:nvSpPr>
        <p:spPr>
          <a:xfrm>
            <a:off x="448056" y="3547872"/>
            <a:ext cx="3566160" cy="548640"/>
          </a:xfrm>
          <a:prstGeom prst="rect">
            <a:avLst/>
          </a:prstGeom>
          <a:noFill/>
        </p:spPr>
        <p:txBody>
          <a:bodyPr wrap="square">
            <a:spAutoFit/>
          </a:bodyPr>
          <a:lstStyle/>
          <a:p>
            <a:pPr algn="l"/>
            <a:r>
              <a:rPr sz="1100" b="0" i="0">
                <a:solidFill>
                  <a:srgbClr val="FFFFFF"/>
                </a:solidFill>
                <a:latin typeface="Calibri"/>
              </a:rPr>
              <a:t>• Show the hex color code when expanded (textContent)</a:t>
            </a:r>
          </a:p>
        </p:txBody>
      </p:sp>
      <p:sp>
        <p:nvSpPr>
          <p:cNvPr id="14" name="Rectangle 13"/>
          <p:cNvSpPr/>
          <p:nvPr/>
        </p:nvSpPr>
        <p:spPr>
          <a:xfrm>
            <a:off x="4297679" y="1783080"/>
            <a:ext cx="3794760" cy="411480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97679" y="1783080"/>
            <a:ext cx="3794760" cy="43891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07407" y="1819656"/>
            <a:ext cx="3611880" cy="365760"/>
          </a:xfrm>
          <a:prstGeom prst="rect">
            <a:avLst/>
          </a:prstGeom>
          <a:noFill/>
        </p:spPr>
        <p:txBody>
          <a:bodyPr wrap="square">
            <a:spAutoFit/>
          </a:bodyPr>
          <a:lstStyle/>
          <a:p>
            <a:pPr algn="l"/>
            <a:r>
              <a:rPr sz="1100" b="1" i="0">
                <a:solidFill>
                  <a:srgbClr val="0D111A"/>
                </a:solidFill>
                <a:latin typeface="Calibri"/>
              </a:rPr>
              <a:t>Challenge (Grade 9/10)</a:t>
            </a:r>
          </a:p>
        </p:txBody>
      </p:sp>
      <p:sp>
        <p:nvSpPr>
          <p:cNvPr id="17" name="TextBox 16"/>
          <p:cNvSpPr txBox="1"/>
          <p:nvPr/>
        </p:nvSpPr>
        <p:spPr>
          <a:xfrm>
            <a:off x="4425695" y="2359152"/>
            <a:ext cx="3566160" cy="548640"/>
          </a:xfrm>
          <a:prstGeom prst="rect">
            <a:avLst/>
          </a:prstGeom>
          <a:noFill/>
        </p:spPr>
        <p:txBody>
          <a:bodyPr wrap="square">
            <a:spAutoFit/>
          </a:bodyPr>
          <a:lstStyle/>
          <a:p>
            <a:pPr algn="l"/>
            <a:r>
              <a:rPr sz="1100" b="0" i="0">
                <a:solidFill>
                  <a:srgbClr val="FFFFFF"/>
                </a:solidFill>
                <a:latin typeface="Calibri"/>
              </a:rPr>
              <a:t>• Add an 'Add Color' button + text input</a:t>
            </a:r>
          </a:p>
        </p:txBody>
      </p:sp>
      <p:sp>
        <p:nvSpPr>
          <p:cNvPr id="18" name="TextBox 17"/>
          <p:cNvSpPr txBox="1"/>
          <p:nvPr/>
        </p:nvSpPr>
        <p:spPr>
          <a:xfrm>
            <a:off x="4425695" y="2953512"/>
            <a:ext cx="3566160" cy="548640"/>
          </a:xfrm>
          <a:prstGeom prst="rect">
            <a:avLst/>
          </a:prstGeom>
          <a:noFill/>
        </p:spPr>
        <p:txBody>
          <a:bodyPr wrap="square">
            <a:spAutoFit/>
          </a:bodyPr>
          <a:lstStyle/>
          <a:p>
            <a:pPr algn="l"/>
            <a:r>
              <a:rPr sz="1100" b="0" i="0">
                <a:solidFill>
                  <a:srgbClr val="FFFFFF"/>
                </a:solidFill>
                <a:latin typeface="Calibri"/>
              </a:rPr>
              <a:t>• User enters a hex color, new box appears</a:t>
            </a:r>
          </a:p>
        </p:txBody>
      </p:sp>
      <p:sp>
        <p:nvSpPr>
          <p:cNvPr id="19" name="TextBox 18"/>
          <p:cNvSpPr txBox="1"/>
          <p:nvPr/>
        </p:nvSpPr>
        <p:spPr>
          <a:xfrm>
            <a:off x="4425695" y="3547872"/>
            <a:ext cx="3566160" cy="548640"/>
          </a:xfrm>
          <a:prstGeom prst="rect">
            <a:avLst/>
          </a:prstGeom>
          <a:noFill/>
        </p:spPr>
        <p:txBody>
          <a:bodyPr wrap="square">
            <a:spAutoFit/>
          </a:bodyPr>
          <a:lstStyle/>
          <a:p>
            <a:pPr algn="l"/>
            <a:r>
              <a:rPr sz="1100" b="0" i="0">
                <a:solidFill>
                  <a:srgbClr val="FFFFFF"/>
                </a:solidFill>
                <a:latin typeface="Calibri"/>
              </a:rPr>
              <a:t>• Double-click any box to remove it (dblclick event)</a:t>
            </a:r>
          </a:p>
        </p:txBody>
      </p:sp>
      <p:sp>
        <p:nvSpPr>
          <p:cNvPr id="20" name="Rectangle 19"/>
          <p:cNvSpPr/>
          <p:nvPr/>
        </p:nvSpPr>
        <p:spPr>
          <a:xfrm>
            <a:off x="8275318" y="1783080"/>
            <a:ext cx="3794760" cy="4114800"/>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75318" y="1783080"/>
            <a:ext cx="3794760" cy="438912"/>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85046" y="1819656"/>
            <a:ext cx="3611880" cy="365760"/>
          </a:xfrm>
          <a:prstGeom prst="rect">
            <a:avLst/>
          </a:prstGeom>
          <a:noFill/>
        </p:spPr>
        <p:txBody>
          <a:bodyPr wrap="square">
            <a:spAutoFit/>
          </a:bodyPr>
          <a:lstStyle/>
          <a:p>
            <a:pPr algn="l"/>
            <a:r>
              <a:rPr sz="1100" b="1" i="0">
                <a:solidFill>
                  <a:srgbClr val="0D111A"/>
                </a:solidFill>
                <a:latin typeface="Calibri"/>
              </a:rPr>
              <a:t>Extra Credit (10/10)</a:t>
            </a:r>
          </a:p>
        </p:txBody>
      </p:sp>
      <p:sp>
        <p:nvSpPr>
          <p:cNvPr id="23" name="TextBox 22"/>
          <p:cNvSpPr txBox="1"/>
          <p:nvPr/>
        </p:nvSpPr>
        <p:spPr>
          <a:xfrm>
            <a:off x="8403334" y="2359152"/>
            <a:ext cx="3566160" cy="548640"/>
          </a:xfrm>
          <a:prstGeom prst="rect">
            <a:avLst/>
          </a:prstGeom>
          <a:noFill/>
        </p:spPr>
        <p:txBody>
          <a:bodyPr wrap="square">
            <a:spAutoFit/>
          </a:bodyPr>
          <a:lstStyle/>
          <a:p>
            <a:pPr algn="l"/>
            <a:r>
              <a:rPr sz="1100" b="0" i="0">
                <a:solidFill>
                  <a:srgbClr val="FFFFFF"/>
                </a:solidFill>
                <a:latin typeface="Calibri"/>
              </a:rPr>
              <a:t>• Save the color list to localStorage</a:t>
            </a:r>
          </a:p>
        </p:txBody>
      </p:sp>
      <p:sp>
        <p:nvSpPr>
          <p:cNvPr id="24" name="TextBox 23"/>
          <p:cNvSpPr txBox="1"/>
          <p:nvPr/>
        </p:nvSpPr>
        <p:spPr>
          <a:xfrm>
            <a:off x="8403334" y="2953512"/>
            <a:ext cx="3566160" cy="548640"/>
          </a:xfrm>
          <a:prstGeom prst="rect">
            <a:avLst/>
          </a:prstGeom>
          <a:noFill/>
        </p:spPr>
        <p:txBody>
          <a:bodyPr wrap="square">
            <a:spAutoFit/>
          </a:bodyPr>
          <a:lstStyle/>
          <a:p>
            <a:pPr algn="l"/>
            <a:r>
              <a:rPr sz="1100" b="0" i="0">
                <a:solidFill>
                  <a:srgbClr val="FFFFFF"/>
                </a:solidFill>
                <a:latin typeface="Calibri"/>
              </a:rPr>
              <a:t>• Restore boxes on page reload</a:t>
            </a:r>
          </a:p>
        </p:txBody>
      </p:sp>
      <p:sp>
        <p:nvSpPr>
          <p:cNvPr id="25" name="TextBox 24"/>
          <p:cNvSpPr txBox="1"/>
          <p:nvPr/>
        </p:nvSpPr>
        <p:spPr>
          <a:xfrm>
            <a:off x="8403334" y="3547872"/>
            <a:ext cx="3566160" cy="548640"/>
          </a:xfrm>
          <a:prstGeom prst="rect">
            <a:avLst/>
          </a:prstGeom>
          <a:noFill/>
        </p:spPr>
        <p:txBody>
          <a:bodyPr wrap="square">
            <a:spAutoFit/>
          </a:bodyPr>
          <a:lstStyle/>
          <a:p>
            <a:pPr algn="l"/>
            <a:r>
              <a:rPr sz="1100" b="0" i="0">
                <a:solidFill>
                  <a:srgbClr val="FFFFFF"/>
                </a:solidFill>
                <a:latin typeface="Calibri"/>
              </a:rPr>
              <a:t>• Export palette as a PNG (Bonus – research on your own)</a:t>
            </a:r>
          </a:p>
        </p:txBody>
      </p:sp>
      <p:sp>
        <p:nvSpPr>
          <p:cNvPr id="26" name="TextBox 25"/>
          <p:cNvSpPr txBox="1"/>
          <p:nvPr/>
        </p:nvSpPr>
        <p:spPr>
          <a:xfrm>
            <a:off x="320040" y="6080760"/>
            <a:ext cx="11521440" cy="548640"/>
          </a:xfrm>
          <a:prstGeom prst="rect">
            <a:avLst/>
          </a:prstGeom>
          <a:noFill/>
        </p:spPr>
        <p:txBody>
          <a:bodyPr wrap="square">
            <a:spAutoFit/>
          </a:bodyPr>
          <a:lstStyle/>
          <a:p>
            <a:pPr algn="l"/>
            <a:r>
              <a:rPr sz="1100" b="0" i="0">
                <a:solidFill>
                  <a:srgbClr val="4ADE80"/>
                </a:solidFill>
                <a:latin typeface="Calibri"/>
              </a:rPr>
              <a:t>Submit GitHub Pages link via the Homework Submission Form  (Week 4 Friday, Assignment Type: DOM Practice)</a:t>
            </a:r>
          </a:p>
        </p:txBody>
      </p:sp>
      <p:sp>
        <p:nvSpPr>
          <p:cNvPr id="27" name="TextBox 26"/>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26/27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1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960120"/>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137160"/>
            <a:ext cx="9144000" cy="685800"/>
          </a:xfrm>
          <a:prstGeom prst="rect">
            <a:avLst/>
          </a:prstGeom>
          <a:noFill/>
        </p:spPr>
        <p:txBody>
          <a:bodyPr wrap="square">
            <a:spAutoFit/>
          </a:bodyPr>
          <a:lstStyle/>
          <a:p>
            <a:pPr algn="l"/>
            <a:r>
              <a:rPr sz="2800" b="1" i="0">
                <a:solidFill>
                  <a:srgbClr val="FFFFFF"/>
                </a:solidFill>
                <a:latin typeface="Calibri"/>
              </a:rPr>
              <a:t>Today in Review</a:t>
            </a:r>
          </a:p>
        </p:txBody>
      </p:sp>
      <p:sp>
        <p:nvSpPr>
          <p:cNvPr id="5" name="TextBox 4"/>
          <p:cNvSpPr txBox="1"/>
          <p:nvPr/>
        </p:nvSpPr>
        <p:spPr>
          <a:xfrm>
            <a:off x="9875520" y="274320"/>
            <a:ext cx="2103120" cy="457200"/>
          </a:xfrm>
          <a:prstGeom prst="rect">
            <a:avLst/>
          </a:prstGeom>
          <a:noFill/>
        </p:spPr>
        <p:txBody>
          <a:bodyPr wrap="square">
            <a:spAutoFit/>
          </a:bodyPr>
          <a:lstStyle/>
          <a:p>
            <a:pPr algn="r"/>
            <a:r>
              <a:rPr sz="1100" b="1" i="0">
                <a:solidFill>
                  <a:srgbClr val="F7DF1E"/>
                </a:solidFill>
                <a:latin typeface="Calibri"/>
              </a:rPr>
              <a:t>WEEK 4 · FRIDAY</a:t>
            </a:r>
          </a:p>
        </p:txBody>
      </p:sp>
      <p:sp>
        <p:nvSpPr>
          <p:cNvPr id="6" name="Rectangle 5"/>
          <p:cNvSpPr/>
          <p:nvPr/>
        </p:nvSpPr>
        <p:spPr>
          <a:xfrm>
            <a:off x="0" y="1005840"/>
            <a:ext cx="12188952" cy="5760720"/>
          </a:xfrm>
          <a:prstGeom prst="rect">
            <a:avLst/>
          </a:prstGeom>
          <a:solidFill>
            <a:srgbClr val="0F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188720"/>
            <a:ext cx="11521440" cy="658368"/>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188720"/>
            <a:ext cx="64008" cy="658368"/>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98448"/>
            <a:ext cx="2286000" cy="438912"/>
          </a:xfrm>
          <a:prstGeom prst="rect">
            <a:avLst/>
          </a:prstGeom>
          <a:noFill/>
        </p:spPr>
        <p:txBody>
          <a:bodyPr wrap="square">
            <a:spAutoFit/>
          </a:bodyPr>
          <a:lstStyle/>
          <a:p>
            <a:pPr algn="l"/>
            <a:r>
              <a:rPr sz="1300" b="1" i="0">
                <a:solidFill>
                  <a:srgbClr val="F7DF1E"/>
                </a:solidFill>
                <a:latin typeface="Calibri"/>
              </a:rPr>
              <a:t>DOM</a:t>
            </a:r>
          </a:p>
        </p:txBody>
      </p:sp>
      <p:sp>
        <p:nvSpPr>
          <p:cNvPr id="10" name="TextBox 9"/>
          <p:cNvSpPr txBox="1"/>
          <p:nvPr/>
        </p:nvSpPr>
        <p:spPr>
          <a:xfrm>
            <a:off x="2926080" y="1316736"/>
            <a:ext cx="8686800" cy="438912"/>
          </a:xfrm>
          <a:prstGeom prst="rect">
            <a:avLst/>
          </a:prstGeom>
          <a:noFill/>
        </p:spPr>
        <p:txBody>
          <a:bodyPr wrap="square">
            <a:spAutoFit/>
          </a:bodyPr>
          <a:lstStyle/>
          <a:p>
            <a:pPr algn="l"/>
            <a:r>
              <a:rPr sz="1300" b="0" i="0">
                <a:solidFill>
                  <a:srgbClr val="FFFFFF"/>
                </a:solidFill>
                <a:latin typeface="Calibri"/>
              </a:rPr>
              <a:t>Browser converts HTML into a tree of objects JS can touch</a:t>
            </a:r>
          </a:p>
        </p:txBody>
      </p:sp>
      <p:sp>
        <p:nvSpPr>
          <p:cNvPr id="11" name="Rectangle 10"/>
          <p:cNvSpPr/>
          <p:nvPr/>
        </p:nvSpPr>
        <p:spPr>
          <a:xfrm>
            <a:off x="320040" y="1938528"/>
            <a:ext cx="11521440" cy="658368"/>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 y="1938528"/>
            <a:ext cx="64008" cy="658368"/>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048256"/>
            <a:ext cx="2286000" cy="438912"/>
          </a:xfrm>
          <a:prstGeom prst="rect">
            <a:avLst/>
          </a:prstGeom>
          <a:noFill/>
        </p:spPr>
        <p:txBody>
          <a:bodyPr wrap="square">
            <a:spAutoFit/>
          </a:bodyPr>
          <a:lstStyle/>
          <a:p>
            <a:pPr algn="l"/>
            <a:r>
              <a:rPr sz="1300" b="1" i="0">
                <a:solidFill>
                  <a:srgbClr val="F7DF1E"/>
                </a:solidFill>
                <a:latin typeface="Calibri"/>
              </a:rPr>
              <a:t>Select</a:t>
            </a:r>
          </a:p>
        </p:txBody>
      </p:sp>
      <p:sp>
        <p:nvSpPr>
          <p:cNvPr id="14" name="TextBox 13"/>
          <p:cNvSpPr txBox="1"/>
          <p:nvPr/>
        </p:nvSpPr>
        <p:spPr>
          <a:xfrm>
            <a:off x="2926080" y="2066544"/>
            <a:ext cx="8686800" cy="438912"/>
          </a:xfrm>
          <a:prstGeom prst="rect">
            <a:avLst/>
          </a:prstGeom>
          <a:noFill/>
        </p:spPr>
        <p:txBody>
          <a:bodyPr wrap="square">
            <a:spAutoFit/>
          </a:bodyPr>
          <a:lstStyle/>
          <a:p>
            <a:pPr algn="l"/>
            <a:r>
              <a:rPr sz="1300" b="0" i="0">
                <a:solidFill>
                  <a:srgbClr val="FFFFFF"/>
                </a:solidFill>
                <a:latin typeface="Calibri"/>
              </a:rPr>
              <a:t>querySelector / querySelectorAll — CSS selectors work!</a:t>
            </a:r>
          </a:p>
        </p:txBody>
      </p:sp>
      <p:sp>
        <p:nvSpPr>
          <p:cNvPr id="15" name="Rectangle 14"/>
          <p:cNvSpPr/>
          <p:nvPr/>
        </p:nvSpPr>
        <p:spPr>
          <a:xfrm>
            <a:off x="320040" y="2688336"/>
            <a:ext cx="11521440" cy="658368"/>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0040" y="2688336"/>
            <a:ext cx="64008" cy="658368"/>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2798064"/>
            <a:ext cx="2286000" cy="438912"/>
          </a:xfrm>
          <a:prstGeom prst="rect">
            <a:avLst/>
          </a:prstGeom>
          <a:noFill/>
        </p:spPr>
        <p:txBody>
          <a:bodyPr wrap="square">
            <a:spAutoFit/>
          </a:bodyPr>
          <a:lstStyle/>
          <a:p>
            <a:pPr algn="l"/>
            <a:r>
              <a:rPr sz="1300" b="1" i="0">
                <a:solidFill>
                  <a:srgbClr val="F7DF1E"/>
                </a:solidFill>
                <a:latin typeface="Calibri"/>
              </a:rPr>
              <a:t>Read &amp; Write</a:t>
            </a:r>
          </a:p>
        </p:txBody>
      </p:sp>
      <p:sp>
        <p:nvSpPr>
          <p:cNvPr id="18" name="TextBox 17"/>
          <p:cNvSpPr txBox="1"/>
          <p:nvPr/>
        </p:nvSpPr>
        <p:spPr>
          <a:xfrm>
            <a:off x="2926080" y="2816352"/>
            <a:ext cx="8686800" cy="438912"/>
          </a:xfrm>
          <a:prstGeom prst="rect">
            <a:avLst/>
          </a:prstGeom>
          <a:noFill/>
        </p:spPr>
        <p:txBody>
          <a:bodyPr wrap="square">
            <a:spAutoFit/>
          </a:bodyPr>
          <a:lstStyle/>
          <a:p>
            <a:pPr algn="l"/>
            <a:r>
              <a:rPr sz="1300" b="0" i="0">
                <a:solidFill>
                  <a:srgbClr val="FFFFFF"/>
                </a:solidFill>
                <a:latin typeface="Calibri"/>
              </a:rPr>
              <a:t>textContent (safe), innerHTML (careful), classList (clean)</a:t>
            </a:r>
          </a:p>
        </p:txBody>
      </p:sp>
      <p:sp>
        <p:nvSpPr>
          <p:cNvPr id="19" name="Rectangle 18"/>
          <p:cNvSpPr/>
          <p:nvPr/>
        </p:nvSpPr>
        <p:spPr>
          <a:xfrm>
            <a:off x="320040" y="3438144"/>
            <a:ext cx="11521440" cy="658368"/>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3438144"/>
            <a:ext cx="64008" cy="658368"/>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547872"/>
            <a:ext cx="2286000" cy="438912"/>
          </a:xfrm>
          <a:prstGeom prst="rect">
            <a:avLst/>
          </a:prstGeom>
          <a:noFill/>
        </p:spPr>
        <p:txBody>
          <a:bodyPr wrap="square">
            <a:spAutoFit/>
          </a:bodyPr>
          <a:lstStyle/>
          <a:p>
            <a:pPr algn="l"/>
            <a:r>
              <a:rPr sz="1300" b="1" i="0">
                <a:solidFill>
                  <a:srgbClr val="F7DF1E"/>
                </a:solidFill>
                <a:latin typeface="Calibri"/>
              </a:rPr>
              <a:t>Listen</a:t>
            </a:r>
          </a:p>
        </p:txBody>
      </p:sp>
      <p:sp>
        <p:nvSpPr>
          <p:cNvPr id="22" name="TextBox 21"/>
          <p:cNvSpPr txBox="1"/>
          <p:nvPr/>
        </p:nvSpPr>
        <p:spPr>
          <a:xfrm>
            <a:off x="2926080" y="3566160"/>
            <a:ext cx="8686800" cy="438912"/>
          </a:xfrm>
          <a:prstGeom prst="rect">
            <a:avLst/>
          </a:prstGeom>
          <a:noFill/>
        </p:spPr>
        <p:txBody>
          <a:bodyPr wrap="square">
            <a:spAutoFit/>
          </a:bodyPr>
          <a:lstStyle/>
          <a:p>
            <a:pPr algn="l"/>
            <a:r>
              <a:rPr sz="1300" b="0" i="0">
                <a:solidFill>
                  <a:srgbClr val="FFFFFF"/>
                </a:solidFill>
                <a:latin typeface="Calibri"/>
              </a:rPr>
              <a:t>addEventListener(type, callback) — one method to rule them all</a:t>
            </a:r>
          </a:p>
        </p:txBody>
      </p:sp>
      <p:sp>
        <p:nvSpPr>
          <p:cNvPr id="23" name="Rectangle 22"/>
          <p:cNvSpPr/>
          <p:nvPr/>
        </p:nvSpPr>
        <p:spPr>
          <a:xfrm>
            <a:off x="320040" y="4187952"/>
            <a:ext cx="11521440" cy="658368"/>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20040" y="4187952"/>
            <a:ext cx="64008" cy="658368"/>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4297680"/>
            <a:ext cx="2286000" cy="438912"/>
          </a:xfrm>
          <a:prstGeom prst="rect">
            <a:avLst/>
          </a:prstGeom>
          <a:noFill/>
        </p:spPr>
        <p:txBody>
          <a:bodyPr wrap="square">
            <a:spAutoFit/>
          </a:bodyPr>
          <a:lstStyle/>
          <a:p>
            <a:pPr algn="l"/>
            <a:r>
              <a:rPr sz="1300" b="1" i="0">
                <a:solidFill>
                  <a:srgbClr val="F7DF1E"/>
                </a:solidFill>
                <a:latin typeface="Calibri"/>
              </a:rPr>
              <a:t>Event Object</a:t>
            </a:r>
          </a:p>
        </p:txBody>
      </p:sp>
      <p:sp>
        <p:nvSpPr>
          <p:cNvPr id="26" name="TextBox 25"/>
          <p:cNvSpPr txBox="1"/>
          <p:nvPr/>
        </p:nvSpPr>
        <p:spPr>
          <a:xfrm>
            <a:off x="2926080" y="4315968"/>
            <a:ext cx="8686800" cy="438912"/>
          </a:xfrm>
          <a:prstGeom prst="rect">
            <a:avLst/>
          </a:prstGeom>
          <a:noFill/>
        </p:spPr>
        <p:txBody>
          <a:bodyPr wrap="square">
            <a:spAutoFit/>
          </a:bodyPr>
          <a:lstStyle/>
          <a:p>
            <a:pPr algn="l"/>
            <a:r>
              <a:rPr sz="1300" b="0" i="0">
                <a:solidFill>
                  <a:srgbClr val="FFFFFF"/>
                </a:solidFill>
                <a:latin typeface="Calibri"/>
              </a:rPr>
              <a:t>e.target, e.key, e.preventDefault() — data inside every event</a:t>
            </a:r>
          </a:p>
        </p:txBody>
      </p:sp>
      <p:sp>
        <p:nvSpPr>
          <p:cNvPr id="27" name="Rectangle 26"/>
          <p:cNvSpPr/>
          <p:nvPr/>
        </p:nvSpPr>
        <p:spPr>
          <a:xfrm>
            <a:off x="320040" y="4937760"/>
            <a:ext cx="11521440" cy="658368"/>
          </a:xfrm>
          <a:prstGeom prst="rect">
            <a:avLst/>
          </a:prstGeom>
          <a:solidFill>
            <a:srgbClr val="2A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4937760"/>
            <a:ext cx="64008" cy="658368"/>
          </a:xfrm>
          <a:prstGeom prst="rect">
            <a:avLst/>
          </a:prstGeom>
          <a:solidFill>
            <a:srgbClr val="F7D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5047488"/>
            <a:ext cx="2286000" cy="438912"/>
          </a:xfrm>
          <a:prstGeom prst="rect">
            <a:avLst/>
          </a:prstGeom>
          <a:noFill/>
        </p:spPr>
        <p:txBody>
          <a:bodyPr wrap="square">
            <a:spAutoFit/>
          </a:bodyPr>
          <a:lstStyle/>
          <a:p>
            <a:pPr algn="l"/>
            <a:r>
              <a:rPr sz="1300" b="1" i="0">
                <a:solidFill>
                  <a:srgbClr val="F7DF1E"/>
                </a:solidFill>
                <a:latin typeface="Calibri"/>
              </a:rPr>
              <a:t>Create / Remove</a:t>
            </a:r>
          </a:p>
        </p:txBody>
      </p:sp>
      <p:sp>
        <p:nvSpPr>
          <p:cNvPr id="30" name="TextBox 29"/>
          <p:cNvSpPr txBox="1"/>
          <p:nvPr/>
        </p:nvSpPr>
        <p:spPr>
          <a:xfrm>
            <a:off x="2926080" y="5065776"/>
            <a:ext cx="8686800" cy="438912"/>
          </a:xfrm>
          <a:prstGeom prst="rect">
            <a:avLst/>
          </a:prstGeom>
          <a:noFill/>
        </p:spPr>
        <p:txBody>
          <a:bodyPr wrap="square">
            <a:spAutoFit/>
          </a:bodyPr>
          <a:lstStyle/>
          <a:p>
            <a:pPr algn="l"/>
            <a:r>
              <a:rPr sz="1300" b="0" i="0">
                <a:solidFill>
                  <a:srgbClr val="FFFFFF"/>
                </a:solidFill>
                <a:latin typeface="Calibri"/>
              </a:rPr>
              <a:t>createElement → configure → appendChild; .remove() to delete</a:t>
            </a:r>
          </a:p>
        </p:txBody>
      </p:sp>
      <p:sp>
        <p:nvSpPr>
          <p:cNvPr id="31" name="TextBox 30"/>
          <p:cNvSpPr txBox="1"/>
          <p:nvPr/>
        </p:nvSpPr>
        <p:spPr>
          <a:xfrm>
            <a:off x="320040" y="6035040"/>
            <a:ext cx="11521440" cy="502920"/>
          </a:xfrm>
          <a:prstGeom prst="rect">
            <a:avLst/>
          </a:prstGeom>
          <a:noFill/>
        </p:spPr>
        <p:txBody>
          <a:bodyPr wrap="square">
            <a:spAutoFit/>
          </a:bodyPr>
          <a:lstStyle/>
          <a:p>
            <a:pPr algn="l"/>
            <a:r>
              <a:rPr sz="1300" b="1" i="0">
                <a:solidFill>
                  <a:srgbClr val="4ADE80"/>
                </a:solidFill>
                <a:latin typeface="Calibri"/>
              </a:rPr>
              <a:t>Next week: Fetch API — load real data, combine with DOM manipulation to build live web apps.</a:t>
            </a:r>
          </a:p>
        </p:txBody>
      </p:sp>
      <p:sp>
        <p:nvSpPr>
          <p:cNvPr id="32" name="TextBox 31"/>
          <p:cNvSpPr txBox="1"/>
          <p:nvPr/>
        </p:nvSpPr>
        <p:spPr>
          <a:xfrm>
            <a:off x="274320" y="6492240"/>
            <a:ext cx="10972800" cy="320040"/>
          </a:xfrm>
          <a:prstGeom prst="rect">
            <a:avLst/>
          </a:prstGeom>
          <a:noFill/>
        </p:spPr>
        <p:txBody>
          <a:bodyPr wrap="square">
            <a:spAutoFit/>
          </a:bodyPr>
          <a:lstStyle/>
          <a:p>
            <a:pPr algn="ctr"/>
            <a:r>
              <a:rPr sz="900" b="0" i="0">
                <a:solidFill>
                  <a:srgbClr val="94A3B8"/>
                </a:solidFill>
                <a:latin typeface="Calibri"/>
              </a:rPr>
              <a:t>WebPro  ·  Week 4 Friday  ·  JS DOM &amp; Events  ·  27/27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1521</TotalTime>
  <Words>4044</Words>
  <Application>Microsoft Office PowerPoint</Application>
  <PresentationFormat>Custom</PresentationFormat>
  <Paragraphs>546</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Mukhiddin Toshpulatov</cp:lastModifiedBy>
  <cp:revision>6</cp:revision>
  <dcterms:created xsi:type="dcterms:W3CDTF">2013-01-27T09:14:16Z</dcterms:created>
  <dcterms:modified xsi:type="dcterms:W3CDTF">2026-09-25T07:02:27Z</dcterms:modified>
  <cp:category/>
</cp:coreProperties>
</file>