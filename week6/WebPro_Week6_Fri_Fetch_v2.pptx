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-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914400"/>
          </a:xfrm>
          <a:prstGeom prst="line">
            <a:avLst/>
          </a:prstGeom>
          <a:noFill/>
          <a:ln w="12700">
            <a:solidFill>
              <a:srgbClr val="C8D4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28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371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&amp;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5727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  --  Web Programming  --  Gachon University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2148840"/>
            <a:ext cx="9144000" cy="5669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21488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 you will load real internet data into your own webpage.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004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3736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3736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5468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.then()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2907792"/>
            <a:ext cx="1261872" cy="64008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290779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try/catch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618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225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first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276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live demo BEFORE any explanation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618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30952" y="1225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fetch?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330952" y="16276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 + the journey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286000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377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23408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27432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fetch() actually returns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377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23408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330952" y="27432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magic keywords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401568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4930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3456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res.ok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3858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404 really does to fetch()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401568"/>
            <a:ext cx="4160520" cy="987552"/>
          </a:xfrm>
          <a:prstGeom prst="roundRect">
            <a:avLst>
              <a:gd name="adj" fmla="val 6481"/>
            </a:avLst>
          </a:prstGeom>
          <a:solidFill>
            <a:srgbClr val="F0F4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49300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330952" y="3456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yourself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330952" y="3858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joke app + assignment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see what you will build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5303520" cy="3520440"/>
          </a:xfrm>
          <a:prstGeom prst="roundRect">
            <a:avLst>
              <a:gd name="adj" fmla="val 1818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5303520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137160" cy="137160"/>
          </a:xfrm>
          <a:prstGeom prst="roundRect">
            <a:avLst>
              <a:gd name="adj" fmla="val 66667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34440"/>
            <a:ext cx="137160" cy="137160"/>
          </a:xfrm>
          <a:prstGeom prst="roundRect">
            <a:avLst>
              <a:gd name="adj" fmla="val 66667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234440"/>
            <a:ext cx="137160" cy="137160"/>
          </a:xfrm>
          <a:prstGeom prst="roundRect">
            <a:avLst>
              <a:gd name="adj" fmla="val 66667"/>
            </a:avLst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216152"/>
            <a:ext cx="347472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15568" y="1216152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official-joke-api.appspot.com/random_joke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59105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Joke Fetcher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2011680"/>
            <a:ext cx="1691640" cy="365760"/>
          </a:xfrm>
          <a:prstGeom prst="roundRect">
            <a:avLst>
              <a:gd name="adj" fmla="val 17500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Joke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487168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1A254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5420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programmers prefer dark mode?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07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light attracts bugs! :)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97880" y="1170432"/>
            <a:ext cx="2926080" cy="3520440"/>
          </a:xfrm>
          <a:prstGeom prst="rect">
            <a:avLst/>
          </a:prstGeom>
          <a:solidFill>
            <a:srgbClr val="F0F4FF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171907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8932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36792" y="1737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clicked a button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22128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sent fetch() to the internet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2670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8932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26883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returned a joke as data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314553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8932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336792" y="31638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put it on the page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3621024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A56DB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89320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36792" y="36393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never reloaded!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3/27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fetch() solves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31920" cy="3520440"/>
          </a:xfrm>
          <a:prstGeom prst="roundRect">
            <a:avLst>
              <a:gd name="adj" fmla="val 1818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61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fetch()  --  Old Way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190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"Load more"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5798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HTML page reloads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968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screen flash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358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 state is lost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747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waits 1-3 seconds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136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position resets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251960" cy="3520440"/>
          </a:xfrm>
          <a:prstGeom prst="roundRect">
            <a:avLst>
              <a:gd name="adj" fmla="val 181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261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fetch()  --  New Way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1719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"Load more"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21579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sends fetch() in background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81728" y="25968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stays alive, no flash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30358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position kept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81728" y="3474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in &lt; 1 second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81728" y="39136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list updates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4/27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call fetch()?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828800" cy="1097280"/>
          </a:xfrm>
          <a:prstGeom prst="roundRect">
            <a:avLst>
              <a:gd name="adj" fmla="val 5833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19202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fetch()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21992" y="1883664"/>
            <a:ext cx="502920" cy="7315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7752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24912" y="1371600"/>
            <a:ext cx="1828800" cy="1097280"/>
          </a:xfrm>
          <a:prstGeom prst="roundRect">
            <a:avLst>
              <a:gd name="adj" fmla="val 5833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19202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travels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18304" y="1883664"/>
            <a:ext cx="502920" cy="7315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4064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21224" y="1371600"/>
            <a:ext cx="1828800" cy="1097280"/>
          </a:xfrm>
          <a:prstGeom prst="roundRect">
            <a:avLst>
              <a:gd name="adj" fmla="val 583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21224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21224" y="19202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 the 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14616" y="1883664"/>
            <a:ext cx="502920" cy="73152"/>
          </a:xfrm>
          <a:prstGeom prst="rect">
            <a:avLst/>
          </a:prstGeom>
          <a:solidFill>
            <a:srgbClr val="5A6A8A"/>
          </a:solidFill>
          <a:ln w="12700">
            <a:solidFill>
              <a:srgbClr val="5A6A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0376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17536" y="1371600"/>
            <a:ext cx="1828800" cy="1097280"/>
          </a:xfrm>
          <a:prstGeom prst="roundRect">
            <a:avLst>
              <a:gd name="adj" fmla="val 5833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17536" y="14264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PAGE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17536" y="19202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 updates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221992" y="2578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fetch(url)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718304" y="2578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travels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214616" y="2578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JSON back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8056" y="2926080"/>
            <a:ext cx="8247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request is travelling (steps 2-3), your page keeps working normally. Animations run, buttons work, the user can scroll. This is what "asynchronous" means.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730752"/>
            <a:ext cx="45720" cy="6858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730752"/>
            <a:ext cx="8458200" cy="685800"/>
          </a:xfrm>
          <a:prstGeom prst="roundRect">
            <a:avLst>
              <a:gd name="adj" fmla="val 9333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" y="3730752"/>
            <a:ext cx="8275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ordering food at a restaurant: you place your order and go back to talking. You do not stand frozen at the counter. The waiter brings food when it is ready.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5/27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fetch(url) return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when you call it?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data from the server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(a ticket for future data)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 element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6/27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data from the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(a ticket for future data)</a:t>
            </a:r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 element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9601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B? </a:t>
            </a:r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does not have the data yet -- it just started the request. It immediately returns a Promise: an object that says "I promise to give you the data when it arrives." The data itself comes later.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73552"/>
            <a:ext cx="8503920" cy="141732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2735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" y="3529584"/>
            <a:ext cx="83576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promise = fetch('https://api.example.com/data');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promise is returned IMMEDIATELY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HTTP request is still in progress in the background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7/27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= a cafe ticket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ORDER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700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fetch()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212848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123444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TICKET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1700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returned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1572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58384" y="1234440"/>
            <a:ext cx="1828800" cy="1143000"/>
          </a:xfrm>
          <a:prstGeom prst="roundRect">
            <a:avLst>
              <a:gd name="adj" fmla="val 5600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58384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358384" y="1700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"Pending"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1051560"/>
            <a:ext cx="1508760" cy="658368"/>
          </a:xfrm>
          <a:prstGeom prst="roundRect">
            <a:avLst>
              <a:gd name="adj" fmla="val 972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111556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ready!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1234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1810512"/>
            <a:ext cx="1508760" cy="658368"/>
          </a:xfrm>
          <a:prstGeom prst="roundRect">
            <a:avLst>
              <a:gd name="adj" fmla="val 9722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187452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oat milk!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1993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852928"/>
            <a:ext cx="8503920" cy="18288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28529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93192" y="3108960"/>
            <a:ext cx="83576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promise FULFILLS (coffee ready): .then() runs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fetch(url).then(res =&gt; res.json()).then(data =&gt; show(data));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promise REJECTS (out of oat milk): .catch() runs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fetch(url).catch(err =&gt; console.error('Failed:', err));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8/27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has exactly 3 states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2103120"/>
          </a:xfrm>
          <a:prstGeom prst="roundRect">
            <a:avLst>
              <a:gd name="adj" fmla="val 3043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353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[?]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901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23042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is in progress. JavaScript is waiting for the server to answer.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2103120"/>
          </a:xfrm>
          <a:prstGeom prst="roundRect">
            <a:avLst>
              <a:gd name="adj" fmla="val 3043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353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901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23042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Success! Data arrived. Your .then() callback (or await line) runs next.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2651760" cy="2103120"/>
          </a:xfrm>
          <a:prstGeom prst="roundRect">
            <a:avLst>
              <a:gd name="adj" fmla="val 3043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353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9019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81928" y="23042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failed: no internet, server crashed. Your .catch() or try/catch runs.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" y="3456432"/>
            <a:ext cx="8247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can only move forward: Pending -&gt; Fulfilled OR Pending -&gt; Rejected. It can never go back to Pending once it resolves.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42062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.then()  handles Fulfilled     |     .catch()  handles Rejected     |     .finally()  runs ALWAYS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9/27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has 3 states.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NOT one of them?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10/27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91440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B? </a:t>
            </a:r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"Running" is not a Promise state. The three states are: Pending (waiting), Fulfilled (success), and Rejected (failed). There is no "Running" state -- while the request is in progress, the Promise is simply Pending.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73552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328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3694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 progress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27832" y="3273552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19272" y="3328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19272" y="3694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arrived, .then() runs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35624" y="3273552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27064" y="3328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27064" y="36941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Failed, .catch() runs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11/27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fetch() -- just 3 things to await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24688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426464"/>
            <a:ext cx="83576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loadJoke() {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 = await fetch('https://official-joke-api.appspot.com/random_joke');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document.getElementById('joke').textContent = data.punchline;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767328"/>
            <a:ext cx="2743200" cy="411480"/>
          </a:xfrm>
          <a:prstGeom prst="roundRect">
            <a:avLst>
              <a:gd name="adj" fmla="val 15556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767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send the request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3767328"/>
            <a:ext cx="2743200" cy="411480"/>
          </a:xfrm>
          <a:prstGeom prst="roundRect">
            <a:avLst>
              <a:gd name="adj" fmla="val 15556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3767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parse the JSON body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9632" y="3767328"/>
            <a:ext cx="2624328" cy="411480"/>
          </a:xfrm>
          <a:prstGeom prst="roundRect">
            <a:avLst>
              <a:gd name="adj" fmla="val 15556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99632" y="3767328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put it on the page (DOM)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315968"/>
            <a:ext cx="8503920" cy="502920"/>
          </a:xfrm>
          <a:prstGeom prst="roundRect">
            <a:avLst>
              <a:gd name="adj" fmla="val 12727"/>
            </a:avLst>
          </a:prstGeom>
          <a:solidFill>
            <a:srgbClr val="E0EA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" y="4315968"/>
            <a:ext cx="8247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awaits: </a:t>
            </a:r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await TWICE -- once for the network response, once for parsing JSON. Both steps are asynchronous.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12/27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awaits?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1417320"/>
          </a:xfrm>
          <a:prstGeom prst="roundRect">
            <a:avLst>
              <a:gd name="adj" fmla="val 4516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43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#1  --  The response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6093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fetch(url)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9202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the server to send back the HTTP response. The response is like an envelope -- it is here but not opened yet.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1188720"/>
            <a:ext cx="3566160" cy="1417320"/>
          </a:xfrm>
          <a:prstGeom prst="roundRect">
            <a:avLst>
              <a:gd name="adj" fmla="val 4516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1243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#2  --  The data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6093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res.json()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92024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envelope and reads the JSON text, converting it to a JS object. Also async -- so also needs await.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276148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await #2, "data" is a normal JavaScript object: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127248"/>
            <a:ext cx="8503920" cy="155448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312724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" y="3383280"/>
            <a:ext cx="8357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is now a JS object you can read like any other: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data.setup       // --&gt; "Why do programmers prefer dark mode?"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data.punchline   // --&gt; "Because light attracts bugs!"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data.type        // --&gt; "general"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data.id          // --&gt; 42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13/27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use await inside a function.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put the word async?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function, before the first await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function keyword:  async function myFn()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closing brace of the function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async -- await works anywhere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14/27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function, before the first await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function keyword: async function myFn()</a:t>
            </a:r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closing brace of the function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async -- await works anywhere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777240"/>
          </a:xfrm>
          <a:prstGeom prst="roundRect">
            <a:avLst>
              <a:gd name="adj" fmla="val 823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B? </a:t>
            </a:r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async keyword goes BEFORE the function declaration. Without async, using await causes a SyntaxError. Think of async as a label that says "this function is allowed to wait for the internet."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3090672"/>
            <a:ext cx="8503920" cy="16002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0906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" y="3346704"/>
            <a:ext cx="83576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 -- async before the keyword "function"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loadData()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 = await fetch(url);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render(data);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ALSO CORRECT -- async arrow function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loadData = async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fetch(url);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15/27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styles -- identical result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3520440"/>
          </a:xfrm>
          <a:prstGeom prst="roundRect">
            <a:avLst>
              <a:gd name="adj" fmla="val 1818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243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.then() chains  --  old style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822192" cy="29718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627632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1883664"/>
            <a:ext cx="36758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fetch('/api/joke')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res.json();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.then(data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show(data);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error(err);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029200" y="1188720"/>
            <a:ext cx="3794760" cy="3520440"/>
          </a:xfrm>
          <a:prstGeom prst="roundRect">
            <a:avLst>
              <a:gd name="adj" fmla="val 181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124358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 --  modern style  [prefer this]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627632"/>
            <a:ext cx="3593592" cy="29718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627632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1883664"/>
            <a:ext cx="34472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getJoke()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 = await fetch(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'/api/joke');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res.json();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show(data);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error(err);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16/27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502920"/>
          </a:xfrm>
          <a:prstGeom prst="roundRect">
            <a:avLst>
              <a:gd name="adj" fmla="val 12727"/>
            </a:avLst>
          </a:prstGeom>
          <a:solidFill>
            <a:srgbClr val="DC2626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320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--  The most common beginner mistake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does NOT throw an error!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only REJECTS when your internet is completely down.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404, 500, or any server error STILL RESOLVES the Promise.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944368"/>
            <a:ext cx="85039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904" y="294436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666744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fetch() does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01384" y="294436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detect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850392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2A3F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" y="329184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/ DNS fails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329184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REJECTS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329184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catch() runs automatically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703320"/>
            <a:ext cx="850392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2A3F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" y="370332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404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370332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RESOLVES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370332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check res.ok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114800"/>
            <a:ext cx="850392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2A3F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4904" y="411480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500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66744" y="411480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RESOLVES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01384" y="411480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check res.ok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17/27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res.ok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120640" cy="342900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887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444752"/>
            <a:ext cx="497433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loadData(url)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fetch(url);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res.ok is TRUE  for HTTP 200 - 299  (success)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res.ok is FALSE for HTTP 404, 500  (error)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Error('HTTP error: ' + res.status);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data;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50992" y="1188720"/>
            <a:ext cx="3172968" cy="1463040"/>
          </a:xfrm>
          <a:prstGeom prst="roundRect">
            <a:avLst>
              <a:gd name="adj" fmla="val 437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24358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is TRUE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42432" y="1609344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200 to 299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succeeded!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ready.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50992" y="2788920"/>
            <a:ext cx="3172968" cy="1463040"/>
          </a:xfrm>
          <a:prstGeom prst="roundRect">
            <a:avLst>
              <a:gd name="adj" fmla="val 4375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42432" y="284378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is FALSE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42432" y="3209544"/>
            <a:ext cx="2990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400, 404, 500...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went wrong.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throw yourself!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18/27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 / finally -- protect your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435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664208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main code goes here.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ANYTHING inside try throws an error, execution jumps immediately to catch.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188720"/>
            <a:ext cx="2606040" cy="2148840"/>
          </a:xfrm>
          <a:prstGeom prst="roundRect">
            <a:avLst>
              <a:gd name="adj" fmla="val 2979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124358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(err)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664208"/>
            <a:ext cx="2423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when try had an error.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err.message tells you what went wrong.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friendly error to the user here.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1188720"/>
            <a:ext cx="2926080" cy="2148840"/>
          </a:xfrm>
          <a:prstGeom prst="roundRect">
            <a:avLst>
              <a:gd name="adj" fmla="val 2979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12435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664208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OR failure.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hiding spinners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re-enabling buttons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releasing locks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56432"/>
            <a:ext cx="8503920" cy="1261872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4564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" y="3712464"/>
            <a:ext cx="83576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fetch(url);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(!res.ok) throw new Error('HTTP ' + res.status);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render(await res.json());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showError(err.message);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hideSpinner();   // always runs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19/27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pattern -- memorise this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3291840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426464"/>
            <a:ext cx="835761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loadData(url)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showSpinner();              // tell user something is loading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res  = await fetch(url);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(!res.ok) throw new Error('HTTP ' + res.status);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data = await res.json();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render(data);             // everything worked!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showError(err.message);   // something failed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finally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hideSpinner();            // always clean up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553712"/>
            <a:ext cx="2286000" cy="228600"/>
          </a:xfrm>
          <a:prstGeom prst="roundRect">
            <a:avLst>
              <a:gd name="adj" fmla="val 28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4553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loading first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4553712"/>
            <a:ext cx="1828800" cy="228600"/>
          </a:xfrm>
          <a:prstGeom prst="roundRect">
            <a:avLst>
              <a:gd name="adj" fmla="val 28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4553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res.ok check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4553712"/>
            <a:ext cx="2377440" cy="228600"/>
          </a:xfrm>
          <a:prstGeom prst="roundRect">
            <a:avLst>
              <a:gd name="adj" fmla="val 28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4553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handles all errors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23760" y="4553712"/>
            <a:ext cx="1600200" cy="228600"/>
          </a:xfrm>
          <a:prstGeom prst="roundRect">
            <a:avLst>
              <a:gd name="adj" fmla="val 28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455371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= always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20/27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try/catch/finally block.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finally run?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try succeeds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catch runs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try AND after catch -- always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-- it is optional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21/27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try succeeds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catch runs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try AND after catch -- always</a:t>
            </a:r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-- it is optional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841248"/>
          </a:xfrm>
          <a:prstGeom prst="roundRect">
            <a:avLst>
              <a:gd name="adj" fmla="val 7609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C? </a:t>
            </a:r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always runs -- after try OR after catch. This makes it ideal for cleanup: hiding the spinner, re-enabling the "Load" button. If you only put hideSpinner() in try, it won't run when catch handles an error. If you put it in both -- that's code duplication. finally solves this perfectly.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45720" cy="65836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82112"/>
            <a:ext cx="8458200" cy="658368"/>
          </a:xfrm>
          <a:prstGeom prst="roundRect">
            <a:avLst>
              <a:gd name="adj" fmla="val 9722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" y="3182112"/>
            <a:ext cx="8275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closing a restaurant after your shift: whether it was a great night (try) or a disaster (catch), you ALWAYS lock the door before going home (finally).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8503920" cy="1261872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9319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" y="4187952"/>
            <a:ext cx="83576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finally -- buggy!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data = await fetch(url); hideSpinner();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(e) { showError(e); }   // spinner stays forever!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 finally -- correct!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data = await fetch(url); } catch (e) { showError(e);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{ hideSpinner(); }     // always works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22/27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APIs -- no signup, use right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9768" y="12435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Joke API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29768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official-joke-api.appspot.com/random_joke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1828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setup + punchline. Perfect for this week!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12435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jsonplaceholder.typicode.com/posts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828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blog posts, users, todos -- built for practice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40864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" y="24140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" y="2743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api.open-meteo.com/v1/forecast?latitude=37.5&amp;...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29768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Seoul weather, no API key needed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340864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64608" y="24140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User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864608" y="2743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randomuser.me/api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profiles with photos, names, emails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511296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" y="35844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PokéAPI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" y="3913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pokeapi.co/api/v2/pokemon/pikachu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29768" y="4169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Pokemon database -- sprites, stats, types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11296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0F4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35844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Countries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3913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restcountries.com/v3.1/name/korea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864608" y="4169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flags, population, capital -- good table project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23/27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92024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 --  FRIDAY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week: Random Joke Fetcher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1704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18872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button that calls loadJoke() when clicked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1737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175564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"Loading..." while the request runs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" y="23042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32257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setup and punchline in separate elements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871216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E0F2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28712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2889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with a friendly message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438144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FFF8E1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" y="34381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456432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loading spinner animation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0050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" y="40050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02336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Favourite button -- use localStorage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46451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6451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official-joke-api.appspot.com/random_joke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20040" y="47548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GitHub Pages link via the Week 6 homework form.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24/27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24128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 fetch() and the server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HTTP 404. What happens?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rejects -- catch() runs automatically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resolves -- you must check res.ok yourself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returns null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926080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9260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throws a SyntaxError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25/27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566928"/>
            <a:ext cx="1828800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566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rejects -- catch() runs automatically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2412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0241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resolves -- you must check res.ok yourself</a:t>
            </a:r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returns null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572768"/>
            <a:ext cx="3749040" cy="475488"/>
          </a:xfrm>
          <a:prstGeom prst="roundRect">
            <a:avLst>
              <a:gd name="adj" fmla="val 13462"/>
            </a:avLst>
          </a:prstGeom>
          <a:solidFill>
            <a:srgbClr val="F8FAFF"/>
          </a:solidFill>
          <a:ln w="19050">
            <a:solidFill>
              <a:srgbClr val="C8D4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</a:t>
            </a:r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throws a SyntaxError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8503920" cy="841248"/>
          </a:xfrm>
          <a:prstGeom prst="roundRect">
            <a:avLst>
              <a:gd name="adj" fmla="val 7609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B? </a:t>
            </a:r>
            <a:pPr indent="0" marL="0">
              <a:buNone/>
            </a:pPr>
            <a:r>
              <a:rPr lang="en-US" sz="12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only rejects on true network failure (no internet, DNS error). A 404 from the server is still a valid HTTP response -- fetch() receives it successfully. res.ok will be false. You MUST write: if (!res.ok) throw new Error(...).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182112"/>
            <a:ext cx="8503920" cy="1572768"/>
          </a:xfrm>
          <a:prstGeom prst="rect">
            <a:avLst/>
          </a:prstGeom>
          <a:solidFill>
            <a:srgbClr val="1A2540"/>
          </a:solidFill>
          <a:ln w="12700">
            <a:solidFill>
              <a:srgbClr val="2A3F6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18211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" y="3438144"/>
            <a:ext cx="83576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 = await fetch(url);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this check, a 404 would silently pass through!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(!res.ok) throw new Error('HTTP ' + res.status);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data = await res.json();   // now safe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26/27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560320" cy="320040"/>
          </a:xfrm>
          <a:prstGeom prst="roundRect">
            <a:avLst>
              <a:gd name="adj" fmla="val 20000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01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A3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REVIEW -- 6 things to remember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77724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777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8056" y="123444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HTTP GET, returns a Promise immediately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68580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77724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777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123444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THIS function -- not the whole page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0312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" y="256032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response body -- also needs await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10312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res.ok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82896" y="256032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for 404/500 -- check it yourself!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33756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42900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429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" y="388620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use await inside any function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4160520" cy="1207008"/>
          </a:xfrm>
          <a:prstGeom prst="roundRect">
            <a:avLst>
              <a:gd name="adj" fmla="val 5303"/>
            </a:avLst>
          </a:prstGeom>
          <a:solidFill>
            <a:srgbClr val="1E3A5F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429000"/>
            <a:ext cx="1828800" cy="384048"/>
          </a:xfrm>
          <a:prstGeom prst="roundRect">
            <a:avLst>
              <a:gd name="adj" fmla="val 16667"/>
            </a:avLst>
          </a:prstGeom>
          <a:solidFill>
            <a:srgbClr val="F7DF1E"/>
          </a:solidFill>
          <a:ln w="19050">
            <a:solidFill>
              <a:srgbClr val="F7DF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4290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882896" y="388620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 -- use for cleanup (spinners, etc.)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82880" y="490118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WebPro  --  Week 6 Friday  --  Fetch API &amp; Async/Await  --  27/27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737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Pro JS">
  <a:themeElements>
    <a:clrScheme name="WebPro JS">
      <a:dk1>
        <a:srgbClr val="0F172A"/>
      </a:dk1>
      <a:lt1>
        <a:srgbClr val="FFFFFF"/>
      </a:lt1>
      <a:dk2>
        <a:srgbClr val="1E293B"/>
      </a:dk2>
      <a:lt2>
        <a:srgbClr val="F0F4FF"/>
      </a:lt2>
      <a:accent1>
        <a:srgbClr val="F7DF1E"/>
      </a:accent1>
      <a:accent2>
        <a:srgbClr val="1A56DB"/>
      </a:accent2>
      <a:accent3>
        <a:srgbClr val="16A34A"/>
      </a:accent3>
      <a:accent4>
        <a:srgbClr val="DC2626"/>
      </a:accent4>
      <a:accent5>
        <a:srgbClr val="7C3AED"/>
      </a:accent5>
      <a:accent6>
        <a:srgbClr val="0891B2"/>
      </a:accent6>
      <a:hlink>
        <a:srgbClr val="1A56DB"/>
      </a:hlink>
      <a:folHlink>
        <a:srgbClr val="7C3AED"/>
      </a:folHlink>
    </a:clrScheme>
    <a:fontScheme name="WebPro J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2026-10-06T10:26:49Z</dcterms:created>
  <dcterms:modified xsi:type="dcterms:W3CDTF">2026-10-06T10:26:49Z</dcterms:modified>
</cp:coreProperties>
</file>