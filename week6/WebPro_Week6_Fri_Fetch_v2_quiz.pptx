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83" r:id="rId18"/>
    <p:sldId id="284" r:id="rId19"/>
    <p:sldId id="272" r:id="rId20"/>
    <p:sldId id="273" r:id="rId21"/>
    <p:sldId id="285" r:id="rId22"/>
    <p:sldId id="286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-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9819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-title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914400"/>
          </a:xfrm>
          <a:prstGeom prst="line">
            <a:avLst/>
          </a:prstGeom>
          <a:noFill/>
          <a:ln w="12700">
            <a:solidFill>
              <a:srgbClr val="C8D4F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914400" cy="347472"/>
          </a:xfrm>
          <a:prstGeom prst="roundRect">
            <a:avLst>
              <a:gd name="adj" fmla="val 18421"/>
            </a:avLst>
          </a:prstGeom>
          <a:solidFill>
            <a:srgbClr val="F7DF1E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2860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13716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 &amp;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57276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--  Friday  --  Web Programming  --  Gachon University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2148840"/>
            <a:ext cx="9144000" cy="56692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5760" y="214884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class you will load real internet data into your own webpage.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20040" y="2907792"/>
            <a:ext cx="1261872" cy="64008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2907792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fetch()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737360" y="2907792"/>
            <a:ext cx="1261872" cy="64008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737360" y="2907792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154680" y="2907792"/>
            <a:ext cx="1261872" cy="64008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54680" y="2907792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.then()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2907792"/>
            <a:ext cx="1261872" cy="64008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0" y="2907792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89320" y="2907792"/>
            <a:ext cx="1261872" cy="64008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89320" y="2907792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406640" y="2907792"/>
            <a:ext cx="1261872" cy="64008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06640" y="2907792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try/catch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1/27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--  FRIDAY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160520" cy="987552"/>
          </a:xfrm>
          <a:prstGeom prst="roundRect">
            <a:avLst>
              <a:gd name="adj" fmla="val 6481"/>
            </a:avLst>
          </a:prstGeom>
          <a:solidFill>
            <a:srgbClr val="E0F2F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6187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122529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first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162763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live demo BEFORE any explanation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170432"/>
            <a:ext cx="4160520" cy="987552"/>
          </a:xfrm>
          <a:prstGeom prst="roundRect">
            <a:avLst>
              <a:gd name="adj" fmla="val 6481"/>
            </a:avLst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26187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330952" y="122529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fetch?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330952" y="162763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it solves + the journey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286000"/>
            <a:ext cx="4160520" cy="987552"/>
          </a:xfrm>
          <a:prstGeom prst="roundRect">
            <a:avLst>
              <a:gd name="adj" fmla="val 6481"/>
            </a:avLst>
          </a:prstGeom>
          <a:solidFill>
            <a:srgbClr val="FFF8E1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37744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114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23408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274320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fetch() actually returns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286000"/>
            <a:ext cx="4160520" cy="987552"/>
          </a:xfrm>
          <a:prstGeom prst="roundRect">
            <a:avLst>
              <a:gd name="adj" fmla="val 6481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237744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4632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330952" y="23408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/ await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330952" y="274320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magic keywords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401568"/>
            <a:ext cx="4160520" cy="987552"/>
          </a:xfrm>
          <a:prstGeom prst="roundRect">
            <a:avLst>
              <a:gd name="adj" fmla="val 6481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349300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11480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96112" y="34564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&amp; res.ok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896112" y="385876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404 really does to fetch()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401568"/>
            <a:ext cx="4160520" cy="987552"/>
          </a:xfrm>
          <a:prstGeom prst="roundRect">
            <a:avLst>
              <a:gd name="adj" fmla="val 6481"/>
            </a:avLst>
          </a:prstGeom>
          <a:solidFill>
            <a:srgbClr val="F0F4FF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349300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1A56DB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846320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330952" y="34564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 yourself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5330952" y="385876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joke app + assignment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2/27</a:t>
            </a:r>
            <a:endParaRPr lang="en-US" sz="8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--  FRIDAY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First: see what you will build today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5303520" cy="3520440"/>
          </a:xfrm>
          <a:prstGeom prst="roundRect">
            <a:avLst>
              <a:gd name="adj" fmla="val 1818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5303520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C8D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34440"/>
            <a:ext cx="137160" cy="137160"/>
          </a:xfrm>
          <a:prstGeom prst="roundRect">
            <a:avLst>
              <a:gd name="adj" fmla="val 66667"/>
            </a:avLst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234440"/>
            <a:ext cx="137160" cy="137160"/>
          </a:xfrm>
          <a:prstGeom prst="roundRect">
            <a:avLst>
              <a:gd name="adj" fmla="val 66667"/>
            </a:avLst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234440"/>
            <a:ext cx="137160" cy="137160"/>
          </a:xfrm>
          <a:prstGeom prst="roundRect">
            <a:avLst>
              <a:gd name="adj" fmla="val 66667"/>
            </a:avLst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1216152"/>
            <a:ext cx="3474720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C8D4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15568" y="1216152"/>
            <a:ext cx="3438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official-joke-api.appspot.com/random_joke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159105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Joke Fetcher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" y="2011680"/>
            <a:ext cx="1691640" cy="365760"/>
          </a:xfrm>
          <a:prstGeom prst="roundRect">
            <a:avLst>
              <a:gd name="adj" fmla="val 17500"/>
            </a:avLst>
          </a:prstGeom>
          <a:solidFill>
            <a:srgbClr val="1A56DB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20116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 Joke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2487168"/>
            <a:ext cx="4937760" cy="868680"/>
          </a:xfrm>
          <a:prstGeom prst="roundRect">
            <a:avLst>
              <a:gd name="adj" fmla="val 7368"/>
            </a:avLst>
          </a:prstGeom>
          <a:solidFill>
            <a:srgbClr val="1A2540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54203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programmers prefer dark mode?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90779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light attracts bugs! :)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97880" y="1170432"/>
            <a:ext cx="2926080" cy="3520440"/>
          </a:xfrm>
          <a:prstGeom prst="rect">
            <a:avLst/>
          </a:prstGeom>
          <a:solidFill>
            <a:srgbClr val="F0F4FF"/>
          </a:solidFill>
          <a:ln w="12700">
            <a:solidFill>
              <a:srgbClr val="C8D4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89320" y="12618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just happened?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89320" y="1719072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1A56DB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89320" y="1719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336792" y="17373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clicked a button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89320" y="2194560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1A56DB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8932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336792" y="221284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sent fetch() to the internet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989320" y="2670048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1A56DB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89320" y="2670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336792" y="268833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server returned a joke as data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89320" y="3145536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1A56DB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989320" y="3145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336792" y="316382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put it on the page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989320" y="3621024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1A56DB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989320" y="3621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336792" y="363931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never reloaded!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3/27</a:t>
            </a:r>
            <a:endParaRPr lang="en-US" sz="8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--  FRIDAY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fetch() solves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3931920" cy="3520440"/>
          </a:xfrm>
          <a:prstGeom prst="roundRect">
            <a:avLst>
              <a:gd name="adj" fmla="val 1818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2618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fetch()  --  Old Way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1907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"Load more"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157984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HTML page reloads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596896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screen flash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03580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page state is lost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47472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waits 1-3 seconds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91363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position resets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1188720"/>
            <a:ext cx="4251960" cy="3520440"/>
          </a:xfrm>
          <a:prstGeom prst="roundRect">
            <a:avLst>
              <a:gd name="adj" fmla="val 1818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63440" y="12618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fetch()  --  New Way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681728" y="17190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"Load more"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681728" y="215798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sends fetch() in background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681728" y="259689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stays alive, no flash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681728" y="303580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position kept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681728" y="34747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arrives in &lt; 1 second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681728" y="391363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list updates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4/27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--  FRIDAY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you call fetch()?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371600"/>
            <a:ext cx="1828800" cy="1097280"/>
          </a:xfrm>
          <a:prstGeom prst="roundRect">
            <a:avLst>
              <a:gd name="adj" fmla="val 5833"/>
            </a:avLst>
          </a:prstGeom>
          <a:solidFill>
            <a:srgbClr val="E0F2F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8600" y="142646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28600" y="192024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calls fetch()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21992" y="1883664"/>
            <a:ext cx="502920" cy="73152"/>
          </a:xfrm>
          <a:prstGeom prst="rect">
            <a:avLst/>
          </a:prstGeom>
          <a:solidFill>
            <a:srgbClr val="5A6A8A"/>
          </a:solidFill>
          <a:ln w="12700">
            <a:solidFill>
              <a:srgbClr val="5A6A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87752" y="17373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24912" y="1371600"/>
            <a:ext cx="1828800" cy="1097280"/>
          </a:xfrm>
          <a:prstGeom prst="roundRect">
            <a:avLst>
              <a:gd name="adj" fmla="val 5833"/>
            </a:avLst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24912" y="142646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724912" y="192024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 travels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18304" y="1883664"/>
            <a:ext cx="502920" cy="73152"/>
          </a:xfrm>
          <a:prstGeom prst="rect">
            <a:avLst/>
          </a:prstGeom>
          <a:solidFill>
            <a:srgbClr val="5A6A8A"/>
          </a:solidFill>
          <a:ln w="12700">
            <a:solidFill>
              <a:srgbClr val="5A6A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84064" y="17373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221224" y="1371600"/>
            <a:ext cx="1828800" cy="1097280"/>
          </a:xfrm>
          <a:prstGeom prst="roundRect">
            <a:avLst>
              <a:gd name="adj" fmla="val 5833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21224" y="142646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221224" y="192024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finds the data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214616" y="1883664"/>
            <a:ext cx="502920" cy="73152"/>
          </a:xfrm>
          <a:prstGeom prst="rect">
            <a:avLst/>
          </a:prstGeom>
          <a:solidFill>
            <a:srgbClr val="5A6A8A"/>
          </a:solidFill>
          <a:ln w="12700">
            <a:solidFill>
              <a:srgbClr val="5A6A8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80376" y="17373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717536" y="1371600"/>
            <a:ext cx="1828800" cy="1097280"/>
          </a:xfrm>
          <a:prstGeom prst="roundRect">
            <a:avLst>
              <a:gd name="adj" fmla="val 5833"/>
            </a:avLst>
          </a:prstGeom>
          <a:solidFill>
            <a:srgbClr val="FFF8E1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17536" y="142646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PAGE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717536" y="192024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 updates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2221992" y="25786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fetch(url)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4718304" y="25786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travels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7214616" y="25786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JSON back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0040" y="2926080"/>
            <a:ext cx="8503920" cy="685800"/>
          </a:xfrm>
          <a:prstGeom prst="roundRect">
            <a:avLst>
              <a:gd name="adj" fmla="val 9333"/>
            </a:avLst>
          </a:prstGeom>
          <a:solidFill>
            <a:srgbClr val="E0EAFF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48056" y="2926080"/>
            <a:ext cx="8247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</a:t>
            </a: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the request is travelling (steps 2-3), your page keeps working normally. Animations run, buttons work, the user can scroll. This is what "asynchronous" means.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20040" y="3730752"/>
            <a:ext cx="45720" cy="68580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730752"/>
            <a:ext cx="8458200" cy="685800"/>
          </a:xfrm>
          <a:prstGeom prst="roundRect">
            <a:avLst>
              <a:gd name="adj" fmla="val 9333"/>
            </a:avLst>
          </a:prstGeom>
          <a:solidFill>
            <a:srgbClr val="FFF8E1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4632" y="3730752"/>
            <a:ext cx="8275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</a:t>
            </a: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ordering food at a restaurant: you place your order and go back to talking. You do not stand frozen at the counter. The waiter brings food when it is ready.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5/27</a:t>
            </a:r>
            <a:endParaRPr lang="en-US" sz="8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566928"/>
            <a:ext cx="1691640" cy="347472"/>
          </a:xfrm>
          <a:prstGeom prst="roundRect">
            <a:avLst>
              <a:gd name="adj" fmla="val 18421"/>
            </a:avLst>
          </a:prstGeom>
          <a:solidFill>
            <a:srgbClr val="F7DF1E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5669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A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24128"/>
            <a:ext cx="8503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fetch(url) return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when you call it?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2331720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33172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JSON data from the server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2331720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233172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</a:t>
            </a: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Promise (a ticket for future data)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926080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92608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</a:t>
            </a: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DOM element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09160" y="2926080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292608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</a:t>
            </a: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6/27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566928"/>
            <a:ext cx="1828800" cy="347472"/>
          </a:xfrm>
          <a:prstGeom prst="roundRect">
            <a:avLst>
              <a:gd name="adj" fmla="val 18421"/>
            </a:avLst>
          </a:prstGeom>
          <a:solidFill>
            <a:srgbClr val="16A34A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5669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2412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JSON data from the server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09160" y="1024128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02412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</a:t>
            </a: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Promise (a ticket for future data)</a:t>
            </a: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57276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</a:t>
            </a: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DOM element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1572768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57276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</a:t>
            </a: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2212848"/>
            <a:ext cx="8503920" cy="960120"/>
          </a:xfrm>
          <a:prstGeom prst="roundRect">
            <a:avLst>
              <a:gd name="adj" fmla="val 6667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212848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B? </a:t>
            </a: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does not have the data yet -- it just started the request. It immediately returns a Promise: an object that says "I promise to give you the data when it arrives." The data itself comes later.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3273552"/>
            <a:ext cx="8503920" cy="1417320"/>
          </a:xfrm>
          <a:prstGeom prst="rect">
            <a:avLst/>
          </a:prstGeom>
          <a:solidFill>
            <a:srgbClr val="1A2540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1480" y="327355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" y="3529584"/>
            <a:ext cx="83576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promise = fetch('https://api.example.com/data');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promise is returned IMMEDIATELY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HTTP request is still in progress in the background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7/27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--  FRIDAY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Promise = a cafe ticket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828800" cy="1143000"/>
          </a:xfrm>
          <a:prstGeom prst="roundRect">
            <a:avLst>
              <a:gd name="adj" fmla="val 5600"/>
            </a:avLst>
          </a:prstGeom>
          <a:solidFill>
            <a:srgbClr val="E0F2F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0040" y="12984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ORDER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170078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fetch()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212848" y="15727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--&gt;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834640" y="1234440"/>
            <a:ext cx="1828800" cy="1143000"/>
          </a:xfrm>
          <a:prstGeom prst="roundRect">
            <a:avLst>
              <a:gd name="adj" fmla="val 5600"/>
            </a:avLst>
          </a:prstGeom>
          <a:solidFill>
            <a:srgbClr val="FFF8E1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34640" y="12984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TICKET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170078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 returned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736592" y="15727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--&gt;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58384" y="1234440"/>
            <a:ext cx="1828800" cy="1143000"/>
          </a:xfrm>
          <a:prstGeom prst="roundRect">
            <a:avLst>
              <a:gd name="adj" fmla="val 5600"/>
            </a:avLst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58384" y="12984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358384" y="170078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Promise: "Pending"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0" y="1051560"/>
            <a:ext cx="1508760" cy="658368"/>
          </a:xfrm>
          <a:prstGeom prst="roundRect">
            <a:avLst>
              <a:gd name="adj" fmla="val 9722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0" y="1115568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ready!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086600" y="1234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15200" y="1810512"/>
            <a:ext cx="1508760" cy="658368"/>
          </a:xfrm>
          <a:prstGeom prst="roundRect">
            <a:avLst>
              <a:gd name="adj" fmla="val 9722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0" y="1874520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oat milk!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199339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20040" y="25420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code: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2852928"/>
            <a:ext cx="8503920" cy="1828800"/>
          </a:xfrm>
          <a:prstGeom prst="rect">
            <a:avLst/>
          </a:prstGeom>
          <a:solidFill>
            <a:srgbClr val="1A2540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11480" y="28529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393192" y="3108960"/>
            <a:ext cx="835761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When promise FULFILLS (coffee ready): .then() runs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fetch(url).then(res =&gt; res.json()).then(data =&gt; show(data));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When promise REJECTS (out of oat milk): .catch() runs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fetch(url).catch(err =&gt; console.error('Failed:', err));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8/27</a:t>
            </a:r>
            <a:endParaRPr lang="en-US" sz="8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--  FRIDAY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Promise has exactly 3 states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651760" cy="2103120"/>
          </a:xfrm>
          <a:prstGeom prst="roundRect">
            <a:avLst>
              <a:gd name="adj" fmla="val 3043"/>
            </a:avLst>
          </a:prstGeom>
          <a:solidFill>
            <a:srgbClr val="FFF8E1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0040" y="135331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[?]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190195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29768" y="2304288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is in progress. JavaScript is waiting for the server to answer.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651760" cy="2103120"/>
          </a:xfrm>
          <a:prstGeom prst="roundRect">
            <a:avLst>
              <a:gd name="adj" fmla="val 3043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46120" y="135331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[v]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190195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FULFILLED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355848" y="2304288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Success! Data arrived. Your .then() callback (or await line) runs next.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1188720"/>
            <a:ext cx="2651760" cy="2103120"/>
          </a:xfrm>
          <a:prstGeom prst="roundRect">
            <a:avLst>
              <a:gd name="adj" fmla="val 3043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72200" y="135331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[x]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90195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281928" y="2304288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failed: no internet, server crashed. Your .catch() or try/catch runs.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456432"/>
            <a:ext cx="8503920" cy="658368"/>
          </a:xfrm>
          <a:prstGeom prst="roundRect">
            <a:avLst>
              <a:gd name="adj" fmla="val 9722"/>
            </a:avLst>
          </a:prstGeom>
          <a:solidFill>
            <a:srgbClr val="E0EAFF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8056" y="3456432"/>
            <a:ext cx="8247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</a:t>
            </a: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Promise can only move forward: Pending -&gt; Fulfilled OR Pending -&gt; Rejected. It can never go back to Pending once it resolves.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320040" y="420624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.then()  handles Fulfilled     |     .catch()  handles Rejected     |     .finally()  runs ALWAYS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9/27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566928"/>
            <a:ext cx="1691640" cy="347472"/>
          </a:xfrm>
          <a:prstGeom prst="roundRect">
            <a:avLst>
              <a:gd name="adj" fmla="val 18421"/>
            </a:avLst>
          </a:prstGeom>
          <a:solidFill>
            <a:srgbClr val="F7DF1E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5669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A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24128"/>
            <a:ext cx="8503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Promise has 3 states.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these is NOT one of them?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2331720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33172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2331720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233172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</a:t>
            </a: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926080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92608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</a:t>
            </a: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09160" y="2926080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292608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</a:t>
            </a: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10/27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566928"/>
            <a:ext cx="1828800" cy="347472"/>
          </a:xfrm>
          <a:prstGeom prst="roundRect">
            <a:avLst>
              <a:gd name="adj" fmla="val 18421"/>
            </a:avLst>
          </a:prstGeom>
          <a:solidFill>
            <a:srgbClr val="16A34A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5669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2412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09160" y="1024128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02412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</a:t>
            </a: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57276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</a:t>
            </a: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1572768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57276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</a:t>
            </a: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2212848"/>
            <a:ext cx="8503920" cy="914400"/>
          </a:xfrm>
          <a:prstGeom prst="roundRect">
            <a:avLst>
              <a:gd name="adj" fmla="val 7000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21284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B? </a:t>
            </a: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"Running" is not a Promise state. The three states are: Pending (waiting), Fulfilled (success), and Rejected (failed). There is no "Running" state -- while the request is in progress, the Promise is simply Pending.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3273552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FFF8E1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1480" y="332841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" y="369417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in progress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27832" y="3273552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19272" y="332841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FULFILLED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319272" y="369417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arrived, .then() runs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35624" y="3273552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27064" y="332841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227064" y="369417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Failed, .catch() runs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11/27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--  FRIDAY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fetch() -- just 3 things to await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2468880"/>
          </a:xfrm>
          <a:prstGeom prst="rect">
            <a:avLst/>
          </a:prstGeom>
          <a:solidFill>
            <a:srgbClr val="1A2540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17043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93192" y="1426464"/>
            <a:ext cx="835761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loadJoke() {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  = await fetch('https://official-joke-api.appspot.com/random_joke');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data = await res.json();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document.getElementById('joke').textContent = data.punchline;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3767328"/>
            <a:ext cx="2743200" cy="411480"/>
          </a:xfrm>
          <a:prstGeom prst="roundRect">
            <a:avLst>
              <a:gd name="adj" fmla="val 15556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37673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send the request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37560" y="3767328"/>
            <a:ext cx="2743200" cy="411480"/>
          </a:xfrm>
          <a:prstGeom prst="roundRect">
            <a:avLst>
              <a:gd name="adj" fmla="val 15556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37560" y="37673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parse the JSON body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99632" y="3767328"/>
            <a:ext cx="2624328" cy="411480"/>
          </a:xfrm>
          <a:prstGeom prst="roundRect">
            <a:avLst>
              <a:gd name="adj" fmla="val 15556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99632" y="3767328"/>
            <a:ext cx="262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put it on the page (DOM)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4315968"/>
            <a:ext cx="8503920" cy="502920"/>
          </a:xfrm>
          <a:prstGeom prst="roundRect">
            <a:avLst>
              <a:gd name="adj" fmla="val 12727"/>
            </a:avLst>
          </a:prstGeom>
          <a:solidFill>
            <a:srgbClr val="E0EAFF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8056" y="4315968"/>
            <a:ext cx="8247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awaits: </a:t>
            </a: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await TWICE -- once for the network response, once for parsing JSON. Both steps are asynchronous.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12/27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--  FRIDAY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TWO awaits?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114800" cy="1417320"/>
          </a:xfrm>
          <a:prstGeom prst="roundRect">
            <a:avLst>
              <a:gd name="adj" fmla="val 4516"/>
            </a:avLst>
          </a:prstGeom>
          <a:solidFill>
            <a:srgbClr val="E0F2F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2435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#1  --  The response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160934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fetch(url)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192024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for the server to send back the HTTP response. The response is like an envelope -- it is here but not opened yet.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17373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--&gt;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257800" y="1188720"/>
            <a:ext cx="3566160" cy="1417320"/>
          </a:xfrm>
          <a:prstGeom prst="roundRect">
            <a:avLst>
              <a:gd name="adj" fmla="val 4516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49240" y="124358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#2  --  The data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160934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res.json()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349240" y="192024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envelope and reads the JSON text, converting it to a JS object. Also async -- so also needs await.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20040" y="276148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await #2, "data" is a normal JavaScript object: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3127248"/>
            <a:ext cx="8503920" cy="1554480"/>
          </a:xfrm>
          <a:prstGeom prst="rect">
            <a:avLst/>
          </a:prstGeom>
          <a:solidFill>
            <a:srgbClr val="1A2540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1480" y="312724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393192" y="3383280"/>
            <a:ext cx="83576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data is now a JS object you can read like any other: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data.setup       // --&gt; "Why do programmers prefer dark mode?"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data.punchline   // --&gt; "Because light attracts bugs!"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data.type        // --&gt; "general"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data.id          // --&gt; 42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13/27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566928"/>
            <a:ext cx="1691640" cy="347472"/>
          </a:xfrm>
          <a:prstGeom prst="roundRect">
            <a:avLst>
              <a:gd name="adj" fmla="val 18421"/>
            </a:avLst>
          </a:prstGeom>
          <a:solidFill>
            <a:srgbClr val="F7DF1E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5669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A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24128"/>
            <a:ext cx="8503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to use await inside a function.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you put the word async?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2331720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33172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function, before the first await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2331720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233172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</a:t>
            </a: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function keyword:  async function myFn()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926080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92608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</a:t>
            </a: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closing brace of the function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09160" y="2926080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292608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</a:t>
            </a: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need async -- await works anywhere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14/27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566928"/>
            <a:ext cx="1828800" cy="347472"/>
          </a:xfrm>
          <a:prstGeom prst="roundRect">
            <a:avLst>
              <a:gd name="adj" fmla="val 18421"/>
            </a:avLst>
          </a:prstGeom>
          <a:solidFill>
            <a:srgbClr val="16A34A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5669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2412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function, before the first await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09160" y="1024128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02412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</a:t>
            </a: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function keyword: async function myFn()</a:t>
            </a: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57276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</a:t>
            </a: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closing brace of the function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1572768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57276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</a:t>
            </a: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need async -- await works anywhere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2212848"/>
            <a:ext cx="8503920" cy="777240"/>
          </a:xfrm>
          <a:prstGeom prst="roundRect">
            <a:avLst>
              <a:gd name="adj" fmla="val 8235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21284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B? </a:t>
            </a: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async keyword goes BEFORE the function declaration. Without async, using await causes a SyntaxError. Think of async as a label that says "this function is allowed to wait for the internet."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3090672"/>
            <a:ext cx="8503920" cy="1600200"/>
          </a:xfrm>
          <a:prstGeom prst="rect">
            <a:avLst/>
          </a:prstGeom>
          <a:solidFill>
            <a:srgbClr val="1A2540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1480" y="309067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" y="3346704"/>
            <a:ext cx="83576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CORRECT -- async before the keyword "function"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loadData()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  = await fetch(url);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data = await res.json();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render(data);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ALSO CORRECT -- async arrow function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loadData = async () =&gt;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 = await fetch(url);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15/27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--  FRIDAY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styles -- identical result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023360" cy="3520440"/>
          </a:xfrm>
          <a:prstGeom prst="roundRect">
            <a:avLst>
              <a:gd name="adj" fmla="val 1818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24358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.then() chains  --  old style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627632"/>
            <a:ext cx="3822192" cy="2971800"/>
          </a:xfrm>
          <a:prstGeom prst="rect">
            <a:avLst/>
          </a:prstGeom>
          <a:solidFill>
            <a:srgbClr val="1A2540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627632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84632" y="1883664"/>
            <a:ext cx="367588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fetch('/api/joke')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.then(res =&gt;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res.json();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.then(data =&gt;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show(data);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.catch(err =&gt;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error(err);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5029200" y="1188720"/>
            <a:ext cx="3794760" cy="3520440"/>
          </a:xfrm>
          <a:prstGeom prst="roundRect">
            <a:avLst>
              <a:gd name="adj" fmla="val 1818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20640" y="1243584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  --  modern style  [prefer this]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20640" y="1627632"/>
            <a:ext cx="3593592" cy="2971800"/>
          </a:xfrm>
          <a:prstGeom prst="rect">
            <a:avLst/>
          </a:prstGeom>
          <a:solidFill>
            <a:srgbClr val="1A2540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12080" y="1627632"/>
            <a:ext cx="3410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193792" y="1883664"/>
            <a:ext cx="344728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getJoke()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res  = await fetch(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'/api/joke');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data = await res.json();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show(data);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(err)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error(err);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16/27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Quiz Q1 async/await vs .then(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_2"/>
          <p:cNvSpPr/>
          <p:nvPr/>
        </p:nvSpPr>
        <p:spPr>
          <a:xfrm>
            <a:off x="320040" y="566928"/>
            <a:ext cx="1691640" cy="347472"/>
          </a:xfrm>
          <a:prstGeom prst="roundRect">
            <a:avLst>
              <a:gd name="adj" fmla="val 18421"/>
            </a:avLst>
          </a:prstGeom>
          <a:solidFill>
            <a:srgbClr val="F7DF1E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_3"/>
          <p:cNvSpPr txBox="1"/>
          <p:nvPr/>
        </p:nvSpPr>
        <p:spPr>
          <a:xfrm>
            <a:off x="320040" y="5669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A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1000" dirty="0"/>
          </a:p>
        </p:txBody>
      </p:sp>
      <p:sp>
        <p:nvSpPr>
          <p:cNvPr id="4" name="Text_4"/>
          <p:cNvSpPr txBox="1"/>
          <p:nvPr/>
        </p:nvSpPr>
        <p:spPr>
          <a:xfrm>
            <a:off x="320040" y="1024128"/>
            <a:ext cx="8503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 and .then() chains produce identical results.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async/await really?</a:t>
            </a:r>
            <a:endParaRPr lang="en-US" sz="2800" dirty="0"/>
          </a:p>
        </p:txBody>
      </p:sp>
      <p:sp>
        <p:nvSpPr>
          <p:cNvPr id="5" name="Shape_5"/>
          <p:cNvSpPr/>
          <p:nvPr/>
        </p:nvSpPr>
        <p:spPr>
          <a:xfrm>
            <a:off x="320040" y="2331720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6" name="Text_6"/>
          <p:cNvSpPr txBox="1"/>
          <p:nvPr/>
        </p:nvSpPr>
        <p:spPr>
          <a:xfrm>
            <a:off x="457200" y="233172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faster, newer version of Promises</a:t>
            </a:r>
            <a:endParaRPr lang="en-US" sz="1400" dirty="0"/>
          </a:p>
        </p:txBody>
      </p:sp>
      <p:sp>
        <p:nvSpPr>
          <p:cNvPr id="7" name="Shape_7"/>
          <p:cNvSpPr/>
          <p:nvPr/>
        </p:nvSpPr>
        <p:spPr>
          <a:xfrm>
            <a:off x="4709160" y="2331720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8" name="Text_8"/>
          <p:cNvSpPr txBox="1"/>
          <p:nvPr/>
        </p:nvSpPr>
        <p:spPr>
          <a:xfrm>
            <a:off x="4846320" y="233172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</a:t>
            </a: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syntax that still uses Promises under the hood</a:t>
            </a:r>
            <a:endParaRPr lang="en-US" sz="1400" dirty="0"/>
          </a:p>
        </p:txBody>
      </p:sp>
      <p:sp>
        <p:nvSpPr>
          <p:cNvPr id="9" name="Shape_9"/>
          <p:cNvSpPr/>
          <p:nvPr/>
        </p:nvSpPr>
        <p:spPr>
          <a:xfrm>
            <a:off x="320040" y="2926080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0" name="Text_10"/>
          <p:cNvSpPr txBox="1"/>
          <p:nvPr/>
        </p:nvSpPr>
        <p:spPr>
          <a:xfrm>
            <a:off x="457200" y="292608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</a:t>
            </a: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way to run code synchronously, blocking the page</a:t>
            </a:r>
            <a:endParaRPr lang="en-US" sz="1400" dirty="0"/>
          </a:p>
        </p:txBody>
      </p:sp>
      <p:sp>
        <p:nvSpPr>
          <p:cNvPr id="11" name="Shape_11"/>
          <p:cNvSpPr/>
          <p:nvPr/>
        </p:nvSpPr>
        <p:spPr>
          <a:xfrm>
            <a:off x="4709160" y="2926080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2" name="Text_12"/>
          <p:cNvSpPr txBox="1"/>
          <p:nvPr/>
        </p:nvSpPr>
        <p:spPr>
          <a:xfrm>
            <a:off x="4846320" y="292608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</a:t>
            </a: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replacement that does not use Promises at all</a:t>
            </a:r>
            <a:endParaRPr lang="en-US" sz="1400" dirty="0"/>
          </a:p>
        </p:txBody>
      </p:sp>
      <p:sp>
        <p:nvSpPr>
          <p:cNvPr id="13" name="Text_13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17/31</a:t>
            </a:r>
            <a:endParaRPr lang="en-US" sz="800" dirty="0"/>
          </a:p>
        </p:txBody>
      </p:sp>
      <p:sp>
        <p:nvSpPr>
          <p:cNvPr id="25" name="Slide Number Placeholder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nswer Q1 async/await vs .then(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_2"/>
          <p:cNvSpPr/>
          <p:nvPr/>
        </p:nvSpPr>
        <p:spPr>
          <a:xfrm>
            <a:off x="320040" y="566928"/>
            <a:ext cx="1828800" cy="347472"/>
          </a:xfrm>
          <a:prstGeom prst="roundRect">
            <a:avLst>
              <a:gd name="adj" fmla="val 18421"/>
            </a:avLst>
          </a:prstGeom>
          <a:solidFill>
            <a:srgbClr val="16A34A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3" name="Text_3"/>
          <p:cNvSpPr txBox="1"/>
          <p:nvPr/>
        </p:nvSpPr>
        <p:spPr>
          <a:xfrm>
            <a:off x="320040" y="5669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00" dirty="0"/>
          </a:p>
        </p:txBody>
      </p:sp>
      <p:sp>
        <p:nvSpPr>
          <p:cNvPr id="4" name="Shape_4"/>
          <p:cNvSpPr/>
          <p:nvPr/>
        </p:nvSpPr>
        <p:spPr>
          <a:xfrm>
            <a:off x="320040" y="1024128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5" name="Text_5"/>
          <p:cNvSpPr txBox="1"/>
          <p:nvPr/>
        </p:nvSpPr>
        <p:spPr>
          <a:xfrm>
            <a:off x="457200" y="102412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faster, newer version of Promises</a:t>
            </a:r>
            <a:endParaRPr lang="en-US" sz="1400" dirty="0"/>
          </a:p>
        </p:txBody>
      </p:sp>
      <p:sp>
        <p:nvSpPr>
          <p:cNvPr id="6" name="Shape_6"/>
          <p:cNvSpPr/>
          <p:nvPr/>
        </p:nvSpPr>
        <p:spPr>
          <a:xfrm>
            <a:off x="4709160" y="1024128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7" name="Text_7"/>
          <p:cNvSpPr txBox="1"/>
          <p:nvPr/>
        </p:nvSpPr>
        <p:spPr>
          <a:xfrm>
            <a:off x="4846320" y="102412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</a:t>
            </a: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syntax that still uses Promises under the hood</a:t>
            </a:r>
            <a:endParaRPr lang="en-US" sz="1400" dirty="0"/>
          </a:p>
        </p:txBody>
      </p:sp>
      <p:sp>
        <p:nvSpPr>
          <p:cNvPr id="8" name="Shape_8"/>
          <p:cNvSpPr/>
          <p:nvPr/>
        </p:nvSpPr>
        <p:spPr>
          <a:xfrm>
            <a:off x="320040" y="1572768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9" name="Text_9"/>
          <p:cNvSpPr txBox="1"/>
          <p:nvPr/>
        </p:nvSpPr>
        <p:spPr>
          <a:xfrm>
            <a:off x="457200" y="157276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</a:t>
            </a: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way to run code synchronously, blocking the page</a:t>
            </a:r>
            <a:endParaRPr lang="en-US" sz="1400" dirty="0"/>
          </a:p>
        </p:txBody>
      </p:sp>
      <p:sp>
        <p:nvSpPr>
          <p:cNvPr id="10" name="Shape_10"/>
          <p:cNvSpPr/>
          <p:nvPr/>
        </p:nvSpPr>
        <p:spPr>
          <a:xfrm>
            <a:off x="4709160" y="1572768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1" name="Text_11"/>
          <p:cNvSpPr txBox="1"/>
          <p:nvPr/>
        </p:nvSpPr>
        <p:spPr>
          <a:xfrm>
            <a:off x="4846320" y="157276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</a:t>
            </a: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replacement that does not use Promises at all</a:t>
            </a:r>
            <a:endParaRPr lang="en-US" sz="1400" dirty="0"/>
          </a:p>
        </p:txBody>
      </p:sp>
      <p:sp>
        <p:nvSpPr>
          <p:cNvPr id="12" name="Shape_12"/>
          <p:cNvSpPr/>
          <p:nvPr/>
        </p:nvSpPr>
        <p:spPr>
          <a:xfrm>
            <a:off x="320040" y="2212848"/>
            <a:ext cx="8503920" cy="760120"/>
          </a:xfrm>
          <a:prstGeom prst="roundRect">
            <a:avLst>
              <a:gd name="adj" fmla="val 6667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3" name="Text_13"/>
          <p:cNvSpPr txBox="1"/>
          <p:nvPr/>
        </p:nvSpPr>
        <p:spPr>
          <a:xfrm>
            <a:off x="457200" y="2212848"/>
            <a:ext cx="8229600" cy="7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B? </a:t>
            </a: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 is not a new mechanism -- it is syntactic sugar built on top of Promises. Both styles use the same Promise system. An async function always returns a Promise; await pauses the function (not the whole page) until the Promise resolves.</a:t>
            </a:r>
            <a:endParaRPr lang="en-US" sz="1300" dirty="0"/>
          </a:p>
        </p:txBody>
      </p:sp>
      <p:sp>
        <p:nvSpPr>
          <p:cNvPr id="14" name="Shape_14"/>
          <p:cNvSpPr/>
          <p:nvPr/>
        </p:nvSpPr>
        <p:spPr>
          <a:xfrm>
            <a:off x="320040" y="3073552"/>
            <a:ext cx="8503920" cy="1417320"/>
          </a:xfrm>
          <a:prstGeom prst="rect">
            <a:avLst/>
          </a:prstGeom>
          <a:solidFill>
            <a:srgbClr val="1A2540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15" name="Text_15"/>
          <p:cNvSpPr txBox="1"/>
          <p:nvPr/>
        </p:nvSpPr>
        <p:spPr>
          <a:xfrm>
            <a:off x="411480" y="307355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16" name="Text_16"/>
          <p:cNvSpPr txBox="1"/>
          <p:nvPr/>
        </p:nvSpPr>
        <p:spPr>
          <a:xfrm>
            <a:off x="393192" y="3302152"/>
            <a:ext cx="83576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Both of these are IDENTICAL in what they do: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fetch(url).then(res =&gt; res.json()).then(data =&gt; show(data));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async/await version -- same Promises, cleaner to read: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 = await fetch(url);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data = await res.json();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show(data);</a:t>
            </a:r>
            <a:endParaRPr lang="en-US" sz="1050" dirty="0"/>
          </a:p>
        </p:txBody>
      </p:sp>
      <p:sp>
        <p:nvSpPr>
          <p:cNvPr id="17" name="Text_17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18/31</a:t>
            </a:r>
            <a:endParaRPr lang="en-US" sz="800" dirty="0"/>
          </a:p>
        </p:txBody>
      </p:sp>
      <p:sp>
        <p:nvSpPr>
          <p:cNvPr id="25" name="Slide Number Placeholder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8503920" cy="502920"/>
          </a:xfrm>
          <a:prstGeom prst="roundRect">
            <a:avLst>
              <a:gd name="adj" fmla="val 12727"/>
            </a:avLst>
          </a:prstGeom>
          <a:solidFill>
            <a:srgbClr val="DC2626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3200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 --  The most common beginner mistake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0584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 does NOT throw an error!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65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only REJECTS when your internet is completely down.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423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404, 500, or any server error STILL RESOLVES the Promise.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2944368"/>
            <a:ext cx="850392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4904" y="2944368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666744" y="294436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fetch() does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501384" y="2944368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detect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3291840"/>
            <a:ext cx="8503920" cy="411480"/>
          </a:xfrm>
          <a:prstGeom prst="rect">
            <a:avLst/>
          </a:prstGeom>
          <a:solidFill>
            <a:srgbClr val="0F172A"/>
          </a:solidFill>
          <a:ln w="6350">
            <a:solidFill>
              <a:srgbClr val="2A3F6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4904" y="3291840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 / DNS fails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666744" y="329184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REJECTS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501384" y="3291840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catch() runs automatically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703320"/>
            <a:ext cx="850392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2A3F6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74904" y="3703320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returns 404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666744" y="370332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RESOLVES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501384" y="3703320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check res.ok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4114800"/>
            <a:ext cx="8503920" cy="411480"/>
          </a:xfrm>
          <a:prstGeom prst="rect">
            <a:avLst/>
          </a:prstGeom>
          <a:solidFill>
            <a:srgbClr val="0F172A"/>
          </a:solidFill>
          <a:ln w="6350">
            <a:solidFill>
              <a:srgbClr val="2A3F6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74904" y="4114800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returns 500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666744" y="411480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RESOLVES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501384" y="4114800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check res.ok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17/27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--  FRIDAY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res.ok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5120640" cy="3429000"/>
          </a:xfrm>
          <a:prstGeom prst="rect">
            <a:avLst/>
          </a:prstGeom>
          <a:solidFill>
            <a:srgbClr val="1A2540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1887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93192" y="1444752"/>
            <a:ext cx="497433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loadData(url)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 = await fetch(url);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res.ok is TRUE  for HTTP 200 - 299  (success)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res.ok is FALSE for HTTP 404, 500  (error)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(!res.ok)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Error('HTTP error: ' + res.status);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data = await res.json();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data;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50992" y="1188720"/>
            <a:ext cx="3172968" cy="1463040"/>
          </a:xfrm>
          <a:prstGeom prst="roundRect">
            <a:avLst>
              <a:gd name="adj" fmla="val 4375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742432" y="1243584"/>
            <a:ext cx="2990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res.ok is TRUE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742432" y="1609344"/>
            <a:ext cx="2990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status 200 to 299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succeeded!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ready.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50992" y="2788920"/>
            <a:ext cx="3172968" cy="1463040"/>
          </a:xfrm>
          <a:prstGeom prst="roundRect">
            <a:avLst>
              <a:gd name="adj" fmla="val 4375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42432" y="2843784"/>
            <a:ext cx="2990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res.ok is FALSE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742432" y="3209544"/>
            <a:ext cx="2990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status 400, 404, 500...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went wrong.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throw yourself!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18/27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Quiz Q2 res.ok on 4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_2"/>
          <p:cNvSpPr/>
          <p:nvPr/>
        </p:nvSpPr>
        <p:spPr>
          <a:xfrm>
            <a:off x="320040" y="566928"/>
            <a:ext cx="1691640" cy="347472"/>
          </a:xfrm>
          <a:prstGeom prst="roundRect">
            <a:avLst>
              <a:gd name="adj" fmla="val 18421"/>
            </a:avLst>
          </a:prstGeom>
          <a:solidFill>
            <a:srgbClr val="F7DF1E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_3"/>
          <p:cNvSpPr txBox="1"/>
          <p:nvPr/>
        </p:nvSpPr>
        <p:spPr>
          <a:xfrm>
            <a:off x="320040" y="5669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A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1000" dirty="0"/>
          </a:p>
        </p:txBody>
      </p:sp>
      <p:sp>
        <p:nvSpPr>
          <p:cNvPr id="4" name="Text_4"/>
          <p:cNvSpPr txBox="1"/>
          <p:nvPr/>
        </p:nvSpPr>
        <p:spPr>
          <a:xfrm>
            <a:off x="320040" y="1024128"/>
            <a:ext cx="8503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returns HTTP 404. What is the value of res.ok,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does fetch() throw automatically?</a:t>
            </a:r>
            <a:endParaRPr lang="en-US" sz="2800" dirty="0"/>
          </a:p>
        </p:txBody>
      </p:sp>
      <p:sp>
        <p:nvSpPr>
          <p:cNvPr id="5" name="Shape_5"/>
          <p:cNvSpPr/>
          <p:nvPr/>
        </p:nvSpPr>
        <p:spPr>
          <a:xfrm>
            <a:off x="320040" y="2331720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6" name="Text_6"/>
          <p:cNvSpPr txBox="1"/>
          <p:nvPr/>
        </p:nvSpPr>
        <p:spPr>
          <a:xfrm>
            <a:off x="457200" y="233172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res.ok = true -- the server responded, so fetch succeeded</a:t>
            </a:r>
            <a:endParaRPr lang="en-US" sz="1400" dirty="0"/>
          </a:p>
        </p:txBody>
      </p:sp>
      <p:sp>
        <p:nvSpPr>
          <p:cNvPr id="7" name="Shape_7"/>
          <p:cNvSpPr/>
          <p:nvPr/>
        </p:nvSpPr>
        <p:spPr>
          <a:xfrm>
            <a:off x="4709160" y="2331720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8" name="Text_8"/>
          <p:cNvSpPr txBox="1"/>
          <p:nvPr/>
        </p:nvSpPr>
        <p:spPr>
          <a:xfrm>
            <a:off x="4846320" y="233172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</a:t>
            </a: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res.ok = undefined -- there is no response body on a 404</a:t>
            </a:r>
            <a:endParaRPr lang="en-US" sz="1400" dirty="0"/>
          </a:p>
        </p:txBody>
      </p:sp>
      <p:sp>
        <p:nvSpPr>
          <p:cNvPr id="9" name="Shape_9"/>
          <p:cNvSpPr/>
          <p:nvPr/>
        </p:nvSpPr>
        <p:spPr>
          <a:xfrm>
            <a:off x="320040" y="2926080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0" name="Text_10"/>
          <p:cNvSpPr txBox="1"/>
          <p:nvPr/>
        </p:nvSpPr>
        <p:spPr>
          <a:xfrm>
            <a:off x="457200" y="292608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</a:t>
            </a: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res.ok = false -- you must throw an Error yourself</a:t>
            </a:r>
            <a:endParaRPr lang="en-US" sz="1400" dirty="0"/>
          </a:p>
        </p:txBody>
      </p:sp>
      <p:sp>
        <p:nvSpPr>
          <p:cNvPr id="11" name="Shape_11"/>
          <p:cNvSpPr/>
          <p:nvPr/>
        </p:nvSpPr>
        <p:spPr>
          <a:xfrm>
            <a:off x="4709160" y="2926080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2" name="Text_12"/>
          <p:cNvSpPr txBox="1"/>
          <p:nvPr/>
        </p:nvSpPr>
        <p:spPr>
          <a:xfrm>
            <a:off x="4846320" y="292608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</a:t>
            </a: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rejects -- catch() runs automatically</a:t>
            </a:r>
            <a:endParaRPr lang="en-US" sz="1400" dirty="0"/>
          </a:p>
        </p:txBody>
      </p:sp>
      <p:sp>
        <p:nvSpPr>
          <p:cNvPr id="13" name="Text_13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21/31</a:t>
            </a:r>
            <a:endParaRPr lang="en-US" sz="800" dirty="0"/>
          </a:p>
        </p:txBody>
      </p:sp>
      <p:sp>
        <p:nvSpPr>
          <p:cNvPr id="25" name="Slide Number Placeholder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nswer Q2 res.ok on 4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_2"/>
          <p:cNvSpPr/>
          <p:nvPr/>
        </p:nvSpPr>
        <p:spPr>
          <a:xfrm>
            <a:off x="320040" y="566928"/>
            <a:ext cx="1828800" cy="347472"/>
          </a:xfrm>
          <a:prstGeom prst="roundRect">
            <a:avLst>
              <a:gd name="adj" fmla="val 18421"/>
            </a:avLst>
          </a:prstGeom>
          <a:solidFill>
            <a:srgbClr val="16A34A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3" name="Text_3"/>
          <p:cNvSpPr txBox="1"/>
          <p:nvPr/>
        </p:nvSpPr>
        <p:spPr>
          <a:xfrm>
            <a:off x="320040" y="5669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00" dirty="0"/>
          </a:p>
        </p:txBody>
      </p:sp>
      <p:sp>
        <p:nvSpPr>
          <p:cNvPr id="4" name="Shape_4"/>
          <p:cNvSpPr/>
          <p:nvPr/>
        </p:nvSpPr>
        <p:spPr>
          <a:xfrm>
            <a:off x="320040" y="1024128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5" name="Text_5"/>
          <p:cNvSpPr txBox="1"/>
          <p:nvPr/>
        </p:nvSpPr>
        <p:spPr>
          <a:xfrm>
            <a:off x="457200" y="102412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res.ok = true -- the server responded, so fetch succeeded</a:t>
            </a:r>
            <a:endParaRPr lang="en-US" sz="1400" dirty="0"/>
          </a:p>
        </p:txBody>
      </p:sp>
      <p:sp>
        <p:nvSpPr>
          <p:cNvPr id="6" name="Shape_6"/>
          <p:cNvSpPr/>
          <p:nvPr/>
        </p:nvSpPr>
        <p:spPr>
          <a:xfrm>
            <a:off x="4709160" y="1024128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7" name="Text_7"/>
          <p:cNvSpPr txBox="1"/>
          <p:nvPr/>
        </p:nvSpPr>
        <p:spPr>
          <a:xfrm>
            <a:off x="4846320" y="102412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</a:t>
            </a: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res.ok = undefined -- there is no response body on a 404</a:t>
            </a:r>
            <a:endParaRPr lang="en-US" sz="1400" dirty="0"/>
          </a:p>
        </p:txBody>
      </p:sp>
      <p:sp>
        <p:nvSpPr>
          <p:cNvPr id="8" name="Shape_8"/>
          <p:cNvSpPr/>
          <p:nvPr/>
        </p:nvSpPr>
        <p:spPr>
          <a:xfrm>
            <a:off x="320040" y="1572768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9" name="Text_9"/>
          <p:cNvSpPr txBox="1"/>
          <p:nvPr/>
        </p:nvSpPr>
        <p:spPr>
          <a:xfrm>
            <a:off x="457200" y="157276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</a:t>
            </a: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res.ok = false -- you must throw an Error yourself</a:t>
            </a:r>
            <a:endParaRPr lang="en-US" sz="1400" dirty="0"/>
          </a:p>
        </p:txBody>
      </p:sp>
      <p:sp>
        <p:nvSpPr>
          <p:cNvPr id="10" name="Shape_10"/>
          <p:cNvSpPr/>
          <p:nvPr/>
        </p:nvSpPr>
        <p:spPr>
          <a:xfrm>
            <a:off x="4709160" y="1572768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1" name="Text_11"/>
          <p:cNvSpPr txBox="1"/>
          <p:nvPr/>
        </p:nvSpPr>
        <p:spPr>
          <a:xfrm>
            <a:off x="4846320" y="157276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</a:t>
            </a: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rejects -- catch() runs automatically</a:t>
            </a:r>
            <a:endParaRPr lang="en-US" sz="1400" dirty="0"/>
          </a:p>
        </p:txBody>
      </p:sp>
      <p:sp>
        <p:nvSpPr>
          <p:cNvPr id="12" name="Shape_12"/>
          <p:cNvSpPr/>
          <p:nvPr/>
        </p:nvSpPr>
        <p:spPr>
          <a:xfrm>
            <a:off x="320040" y="2212848"/>
            <a:ext cx="8503920" cy="760120"/>
          </a:xfrm>
          <a:prstGeom prst="roundRect">
            <a:avLst>
              <a:gd name="adj" fmla="val 6667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3" name="Text_13"/>
          <p:cNvSpPr txBox="1"/>
          <p:nvPr/>
        </p:nvSpPr>
        <p:spPr>
          <a:xfrm>
            <a:off x="457200" y="2212848"/>
            <a:ext cx="8229600" cy="7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C? </a:t>
            </a: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res.ok is true ONLY for HTTP 200-299. A 404 means res.ok = false. The Promise still RESOLVES (does not throw) -- your catch block does NOT run automatically. You MUST write: if (!res.ok) throw new Error(...) to handle this.</a:t>
            </a:r>
            <a:endParaRPr lang="en-US" sz="1300" dirty="0"/>
          </a:p>
        </p:txBody>
      </p:sp>
      <p:sp>
        <p:nvSpPr>
          <p:cNvPr id="14" name="Shape_14"/>
          <p:cNvSpPr/>
          <p:nvPr/>
        </p:nvSpPr>
        <p:spPr>
          <a:xfrm>
            <a:off x="320040" y="3073552"/>
            <a:ext cx="8503920" cy="1417320"/>
          </a:xfrm>
          <a:prstGeom prst="rect">
            <a:avLst/>
          </a:prstGeom>
          <a:solidFill>
            <a:srgbClr val="1A2540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15" name="Text_15"/>
          <p:cNvSpPr txBox="1"/>
          <p:nvPr/>
        </p:nvSpPr>
        <p:spPr>
          <a:xfrm>
            <a:off x="411480" y="307355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16" name="Text_16"/>
          <p:cNvSpPr txBox="1"/>
          <p:nvPr/>
        </p:nvSpPr>
        <p:spPr>
          <a:xfrm>
            <a:off x="393192" y="3302152"/>
            <a:ext cx="83576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 = await fetch(url);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console.log(res.ok);     // false  (HTTP 404!)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console.log(res.status); // 404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Without this line, your code silently continues with bad data!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(!res.ok) throw new Error('HTTP ' + res.status);</a:t>
            </a:r>
            <a:endParaRPr lang="en-US" sz="1050" dirty="0"/>
          </a:p>
        </p:txBody>
      </p:sp>
      <p:sp>
        <p:nvSpPr>
          <p:cNvPr id="17" name="Text_17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22/31</a:t>
            </a:r>
            <a:endParaRPr lang="en-US" sz="800" dirty="0"/>
          </a:p>
        </p:txBody>
      </p:sp>
      <p:sp>
        <p:nvSpPr>
          <p:cNvPr id="25" name="Slide Number Placeholder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--  FRIDAY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/ catch / finally -- protect your code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606040" cy="2148840"/>
          </a:xfrm>
          <a:prstGeom prst="roundRect">
            <a:avLst>
              <a:gd name="adj" fmla="val 2979"/>
            </a:avLst>
          </a:prstGeom>
          <a:solidFill>
            <a:srgbClr val="E0F2F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0040" y="12435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1664208"/>
            <a:ext cx="2423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main code goes here.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ANYTHING inside try throws an error, execution jumps immediately to catch.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08960" y="1188720"/>
            <a:ext cx="2606040" cy="2148840"/>
          </a:xfrm>
          <a:prstGeom prst="roundRect">
            <a:avLst>
              <a:gd name="adj" fmla="val 2979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08960" y="12435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(err)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200400" y="1664208"/>
            <a:ext cx="2423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only when try had an error.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err.message tells you what went wrong.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friendly error to the user here.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97880" y="1188720"/>
            <a:ext cx="2926080" cy="2148840"/>
          </a:xfrm>
          <a:prstGeom prst="roundRect">
            <a:avLst>
              <a:gd name="adj" fmla="val 2979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97880" y="124358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989320" y="1664208"/>
            <a:ext cx="27432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runs.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OR failure.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hiding spinners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re-enabling buttons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releasing locks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456432"/>
            <a:ext cx="8503920" cy="1261872"/>
          </a:xfrm>
          <a:prstGeom prst="rect">
            <a:avLst/>
          </a:prstGeom>
          <a:solidFill>
            <a:srgbClr val="1A2540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1480" y="345643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" y="3712464"/>
            <a:ext cx="835761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 = await fetch(url);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(!res.ok) throw new Error('HTTP ' + res.status);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render(await res.json());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(err)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showError(err.message);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finally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hideSpinner();   // always runs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19/27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--  FRIDAY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pattern -- memorise this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3291840"/>
          </a:xfrm>
          <a:prstGeom prst="rect">
            <a:avLst/>
          </a:prstGeom>
          <a:solidFill>
            <a:srgbClr val="1A2540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17043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93192" y="1426464"/>
            <a:ext cx="8357616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loadData(url)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showSpinner();              // tell user something is loading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res  = await fetch(url);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(!res.ok) throw new Error('HTTP ' + res.status);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data = await res.json();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render(data);             // everything worked!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(err)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showError(err.message);   // something failed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finally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hideSpinner();            // always clean up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4553712"/>
            <a:ext cx="2286000" cy="228600"/>
          </a:xfrm>
          <a:prstGeom prst="roundRect">
            <a:avLst>
              <a:gd name="adj" fmla="val 28000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45537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loading first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0" y="4553712"/>
            <a:ext cx="1828800" cy="228600"/>
          </a:xfrm>
          <a:prstGeom prst="roundRect">
            <a:avLst>
              <a:gd name="adj" fmla="val 28000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43200" y="45537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res.ok check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4553712"/>
            <a:ext cx="2377440" cy="228600"/>
          </a:xfrm>
          <a:prstGeom prst="roundRect">
            <a:avLst>
              <a:gd name="adj" fmla="val 28000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09160" y="45537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handles all errors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223760" y="4553712"/>
            <a:ext cx="1600200" cy="228600"/>
          </a:xfrm>
          <a:prstGeom prst="roundRect">
            <a:avLst>
              <a:gd name="adj" fmla="val 28000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455371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 = always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20/27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566928"/>
            <a:ext cx="1691640" cy="347472"/>
          </a:xfrm>
          <a:prstGeom prst="roundRect">
            <a:avLst>
              <a:gd name="adj" fmla="val 18421"/>
            </a:avLst>
          </a:prstGeom>
          <a:solidFill>
            <a:srgbClr val="F7DF1E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5669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A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24128"/>
            <a:ext cx="8503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a try/catch/finally block.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finally run?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2331720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33172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try succeeds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2331720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233172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</a:t>
            </a: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catch runs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926080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92608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</a:t>
            </a: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try AND after catch -- always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09160" y="2926080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292608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</a:t>
            </a: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-- it is optional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21/27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566928"/>
            <a:ext cx="1828800" cy="347472"/>
          </a:xfrm>
          <a:prstGeom prst="roundRect">
            <a:avLst>
              <a:gd name="adj" fmla="val 18421"/>
            </a:avLst>
          </a:prstGeom>
          <a:solidFill>
            <a:srgbClr val="16A34A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5669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2412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try succeeds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09160" y="1024128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02412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</a:t>
            </a: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catch runs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57276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</a:t>
            </a: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try AND after catch -- always</a:t>
            </a: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1572768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57276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</a:t>
            </a: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-- it is optional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2212848"/>
            <a:ext cx="8503920" cy="841248"/>
          </a:xfrm>
          <a:prstGeom prst="roundRect">
            <a:avLst>
              <a:gd name="adj" fmla="val 7609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212848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C? </a:t>
            </a: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 always runs -- after try OR after catch. This makes it ideal for cleanup: hiding the spinner, re-enabling the "Load" button. If you only put hideSpinner() in try, it won't run when catch handles an error. If you put it in both -- that's code duplication. finally solves this perfectly.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3182112"/>
            <a:ext cx="45720" cy="658368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182112"/>
            <a:ext cx="8458200" cy="658368"/>
          </a:xfrm>
          <a:prstGeom prst="roundRect">
            <a:avLst>
              <a:gd name="adj" fmla="val 9722"/>
            </a:avLst>
          </a:prstGeom>
          <a:solidFill>
            <a:srgbClr val="FFF8E1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" y="3182112"/>
            <a:ext cx="8275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</a:t>
            </a: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closing a restaurant after your shift: whether it was a great night (try) or a disaster (catch), you ALWAYS lock the door before going home (finally).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931920"/>
            <a:ext cx="8503920" cy="1261872"/>
          </a:xfrm>
          <a:prstGeom prst="rect">
            <a:avLst/>
          </a:prstGeom>
          <a:solidFill>
            <a:srgbClr val="1A2540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1480" y="393192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393192" y="4187952"/>
            <a:ext cx="835761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WITHOUT finally -- buggy!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 data = await fetch(url); hideSpinner();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(e) { showError(e); }   // spinner stays forever!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WITH finally -- correct!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 data = await fetch(url); } catch (e) { showError(e);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finally { hideSpinner(); }     // always works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22/27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--  FRIDAY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APIs -- no signup, use right now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160520" cy="1051560"/>
          </a:xfrm>
          <a:prstGeom prst="roundRect">
            <a:avLst>
              <a:gd name="adj" fmla="val 6087"/>
            </a:avLst>
          </a:prstGeom>
          <a:solidFill>
            <a:srgbClr val="FFF8E1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29768" y="124358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Joke API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29768" y="157276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official-joke-api.appspot.com/random_joke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29768" y="18288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setup + punchline. Perfect for this week!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170432"/>
            <a:ext cx="4160520" cy="1051560"/>
          </a:xfrm>
          <a:prstGeom prst="roundRect">
            <a:avLst>
              <a:gd name="adj" fmla="val 6087"/>
            </a:avLst>
          </a:prstGeom>
          <a:solidFill>
            <a:srgbClr val="E0F2F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4608" y="124358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JSONPlaceholder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864608" y="157276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jsonplaceholder.typicode.com/posts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4864608" y="18288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blog posts, users, todos -- built for practice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340864"/>
            <a:ext cx="4160520" cy="1051560"/>
          </a:xfrm>
          <a:prstGeom prst="roundRect">
            <a:avLst>
              <a:gd name="adj" fmla="val 6087"/>
            </a:avLst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9768" y="241401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29768" y="27432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api.open-meteo.com/v1/forecast?latitude=37.5&amp;...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429768" y="29992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Seoul weather, no API key needed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340864"/>
            <a:ext cx="4160520" cy="1051560"/>
          </a:xfrm>
          <a:prstGeom prst="roundRect">
            <a:avLst>
              <a:gd name="adj" fmla="val 6087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64608" y="241401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User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864608" y="27432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randomuser.me/api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4864608" y="29992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profiles with photos, names, emails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511296"/>
            <a:ext cx="4160520" cy="1051560"/>
          </a:xfrm>
          <a:prstGeom prst="roundRect">
            <a:avLst>
              <a:gd name="adj" fmla="val 6087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29768" y="358444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PokéAPI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29768" y="391363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pokeapi.co/api/v2/pokemon/pikachu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429768" y="416966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Pokemon database -- sprites, stats, types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511296"/>
            <a:ext cx="4160520" cy="1051560"/>
          </a:xfrm>
          <a:prstGeom prst="roundRect">
            <a:avLst>
              <a:gd name="adj" fmla="val 6087"/>
            </a:avLst>
          </a:prstGeom>
          <a:solidFill>
            <a:srgbClr val="F0F4FF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64608" y="358444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Countries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4864608" y="391363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restcountries.com/v3.1/name/korea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4864608" y="416966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flags, population, capital -- good table project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23/27</a:t>
            </a:r>
            <a:endParaRPr lang="en-US" sz="8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--  FRIDAY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week: Random Joke Fetcher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E0F2F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0040" y="117043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188720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button that calls loadJoke() when clicked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737360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E0F2F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17373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1755648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"Loading..." while the request runs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304288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E0F2F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" y="230428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2322576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setup and punchline in separate elements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2871216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E0F2F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0040" y="287121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2889504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with a friendly message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3438144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FFF8E1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0040" y="343814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3456432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loading spinner animation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40050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0040" y="400507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691640" y="4023360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Favourite button -- use localStorage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20040" y="46451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46451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official-joke-api.appspot.com/random_joke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320040" y="475488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GitHub Pages link via the Week 6 homework form.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24/27</a:t>
            </a:r>
            <a:endParaRPr lang="en-US" sz="8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566928"/>
            <a:ext cx="1691640" cy="347472"/>
          </a:xfrm>
          <a:prstGeom prst="roundRect">
            <a:avLst>
              <a:gd name="adj" fmla="val 18421"/>
            </a:avLst>
          </a:prstGeom>
          <a:solidFill>
            <a:srgbClr val="F7DF1E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5669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A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24128"/>
            <a:ext cx="8503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call fetch() and the server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HTTP 404. What happens?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2331720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33172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rejects -- catch() runs automatically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2331720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233172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</a:t>
            </a: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resolves -- you must check res.ok yourself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926080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92608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</a:t>
            </a: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returns null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09160" y="2926080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292608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</a:t>
            </a: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throws a SyntaxError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25/27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566928"/>
            <a:ext cx="1828800" cy="347472"/>
          </a:xfrm>
          <a:prstGeom prst="roundRect">
            <a:avLst>
              <a:gd name="adj" fmla="val 18421"/>
            </a:avLst>
          </a:prstGeom>
          <a:solidFill>
            <a:srgbClr val="16A34A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5669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2412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rejects -- catch() runs automatically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09160" y="1024128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02412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</a:t>
            </a: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resolves -- you must check res.ok yourself</a:t>
            </a: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57276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</a:t>
            </a: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returns null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1572768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57276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</a:t>
            </a: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throws a SyntaxError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2212848"/>
            <a:ext cx="8503920" cy="841248"/>
          </a:xfrm>
          <a:prstGeom prst="roundRect">
            <a:avLst>
              <a:gd name="adj" fmla="val 7609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212848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B? </a:t>
            </a: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only rejects on true network failure (no internet, DNS error). A 404 from the server is still a valid HTTP response -- fetch() receives it successfully. res.ok will be false. You MUST write: if (!res.ok) throw new Error(...).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3182112"/>
            <a:ext cx="8503920" cy="1572768"/>
          </a:xfrm>
          <a:prstGeom prst="rect">
            <a:avLst/>
          </a:prstGeom>
          <a:solidFill>
            <a:srgbClr val="1A2540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1480" y="318211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" y="3438144"/>
            <a:ext cx="835761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 = await fetch(url);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Without this check, a 404 would silently pass through!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(!res.ok) throw new Error('HTTP ' + res.status);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data = await res.json();   // now safe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26/27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560320" cy="320040"/>
          </a:xfrm>
          <a:prstGeom prst="roundRect">
            <a:avLst>
              <a:gd name="adj" fmla="val 20000"/>
            </a:avLst>
          </a:prstGeom>
          <a:solidFill>
            <a:srgbClr val="F7DF1E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A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REVIEW -- 6 things to remember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20040" y="685800"/>
            <a:ext cx="4160520" cy="1207008"/>
          </a:xfrm>
          <a:prstGeom prst="roundRect">
            <a:avLst>
              <a:gd name="adj" fmla="val 5303"/>
            </a:avLst>
          </a:prstGeom>
          <a:solidFill>
            <a:srgbClr val="1E3A5F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777240"/>
            <a:ext cx="1828800" cy="384048"/>
          </a:xfrm>
          <a:prstGeom prst="roundRect">
            <a:avLst>
              <a:gd name="adj" fmla="val 16667"/>
            </a:avLst>
          </a:prstGeom>
          <a:solidFill>
            <a:srgbClr val="F7DF1E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7772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3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fetch(url)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48056" y="1234440"/>
            <a:ext cx="3913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HTTP GET, returns a Promise immediately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685800"/>
            <a:ext cx="4160520" cy="1207008"/>
          </a:xfrm>
          <a:prstGeom prst="roundRect">
            <a:avLst>
              <a:gd name="adj" fmla="val 5303"/>
            </a:avLst>
          </a:prstGeom>
          <a:solidFill>
            <a:srgbClr val="1E3A5F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777240"/>
            <a:ext cx="1828800" cy="384048"/>
          </a:xfrm>
          <a:prstGeom prst="roundRect">
            <a:avLst>
              <a:gd name="adj" fmla="val 16667"/>
            </a:avLst>
          </a:prstGeom>
          <a:solidFill>
            <a:srgbClr val="F7DF1E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7772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3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82896" y="1234440"/>
            <a:ext cx="3913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Pauses THIS function -- not the whole page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2011680"/>
            <a:ext cx="4160520" cy="1207008"/>
          </a:xfrm>
          <a:prstGeom prst="roundRect">
            <a:avLst>
              <a:gd name="adj" fmla="val 5303"/>
            </a:avLst>
          </a:prstGeom>
          <a:solidFill>
            <a:srgbClr val="1E3A5F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103120"/>
            <a:ext cx="1828800" cy="384048"/>
          </a:xfrm>
          <a:prstGeom prst="roundRect">
            <a:avLst>
              <a:gd name="adj" fmla="val 16667"/>
            </a:avLst>
          </a:prstGeom>
          <a:solidFill>
            <a:srgbClr val="F7DF1E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21031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3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res.json()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48056" y="2560320"/>
            <a:ext cx="3913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response body -- also needs await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2011680"/>
            <a:ext cx="4160520" cy="1207008"/>
          </a:xfrm>
          <a:prstGeom prst="roundRect">
            <a:avLst>
              <a:gd name="adj" fmla="val 5303"/>
            </a:avLst>
          </a:prstGeom>
          <a:solidFill>
            <a:srgbClr val="1E3A5F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2103120"/>
            <a:ext cx="1828800" cy="384048"/>
          </a:xfrm>
          <a:prstGeom prst="roundRect">
            <a:avLst>
              <a:gd name="adj" fmla="val 16667"/>
            </a:avLst>
          </a:prstGeom>
          <a:solidFill>
            <a:srgbClr val="F7DF1E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21031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3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res.ok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882896" y="2560320"/>
            <a:ext cx="3913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for 404/500 -- check it yourself!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3337560"/>
            <a:ext cx="4160520" cy="1207008"/>
          </a:xfrm>
          <a:prstGeom prst="roundRect">
            <a:avLst>
              <a:gd name="adj" fmla="val 5303"/>
            </a:avLst>
          </a:prstGeom>
          <a:solidFill>
            <a:srgbClr val="1E3A5F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429000"/>
            <a:ext cx="1828800" cy="384048"/>
          </a:xfrm>
          <a:prstGeom prst="roundRect">
            <a:avLst>
              <a:gd name="adj" fmla="val 16667"/>
            </a:avLst>
          </a:prstGeom>
          <a:solidFill>
            <a:srgbClr val="F7DF1E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11480" y="34290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3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48056" y="3886200"/>
            <a:ext cx="3913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to use await inside any function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3337560"/>
            <a:ext cx="4160520" cy="1207008"/>
          </a:xfrm>
          <a:prstGeom prst="roundRect">
            <a:avLst>
              <a:gd name="adj" fmla="val 5303"/>
            </a:avLst>
          </a:prstGeom>
          <a:solidFill>
            <a:srgbClr val="1E3A5F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3429000"/>
            <a:ext cx="1828800" cy="384048"/>
          </a:xfrm>
          <a:prstGeom prst="roundRect">
            <a:avLst>
              <a:gd name="adj" fmla="val 16667"/>
            </a:avLst>
          </a:prstGeom>
          <a:solidFill>
            <a:srgbClr val="F7DF1E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46320" y="34290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3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finally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882896" y="3886200"/>
            <a:ext cx="3913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runs -- use for cleanup (spinners, etc.)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27/27</a:t>
            </a:r>
            <a:endParaRPr lang="en-US" sz="8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ebPro JS">
  <a:themeElements>
    <a:clrScheme name="WebPro JS">
      <a:dk1>
        <a:srgbClr val="0F172A"/>
      </a:dk1>
      <a:lt1>
        <a:srgbClr val="FFFFFF"/>
      </a:lt1>
      <a:dk2>
        <a:srgbClr val="1E293B"/>
      </a:dk2>
      <a:lt2>
        <a:srgbClr val="F0F4FF"/>
      </a:lt2>
      <a:accent1>
        <a:srgbClr val="F7DF1E"/>
      </a:accent1>
      <a:accent2>
        <a:srgbClr val="1A56DB"/>
      </a:accent2>
      <a:accent3>
        <a:srgbClr val="16A34A"/>
      </a:accent3>
      <a:accent4>
        <a:srgbClr val="DC2626"/>
      </a:accent4>
      <a:accent5>
        <a:srgbClr val="7C3AED"/>
      </a:accent5>
      <a:accent6>
        <a:srgbClr val="0891B2"/>
      </a:accent6>
      <a:hlink>
        <a:srgbClr val="1A56DB"/>
      </a:hlink>
      <a:folHlink>
        <a:srgbClr val="7C3AED"/>
      </a:folHlink>
    </a:clrScheme>
    <a:fontScheme name="WebPro J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3590</Words>
  <Application>Microsoft Office PowerPoint</Application>
  <PresentationFormat>On-screen Show (16:9)</PresentationFormat>
  <Paragraphs>549</Paragraphs>
  <Slides>31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Courier New</vt:lpstr>
      <vt:lpstr>WebPro JS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Mukhiddin Toshpulatov</cp:lastModifiedBy>
  <cp:revision>1</cp:revision>
  <dcterms:created xsi:type="dcterms:W3CDTF">2026-10-06T10:26:49Z</dcterms:created>
  <dcterms:modified xsi:type="dcterms:W3CDTF">2026-10-16T02:28:41Z</dcterms:modified>
</cp:coreProperties>
</file>