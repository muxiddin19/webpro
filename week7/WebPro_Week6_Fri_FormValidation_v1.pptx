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6 Friday! On Monday we used HTML5 attributes for validation. Today we replace those with JavaScript for complete control over error messages, validation timing, and multi-field logic. By the end of class students will have a fully JS-validated registration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HTML5 validation is a great starting point, but real applications need more. Custom error messages that match your design system, real-time feedback as users type, and comparing two fields (password confirmation) are all impossible with HTML5 attributes alone. JS gives us complete control — and we can still keep HTML5 as a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pattern is always the same: listen for the submit event, call preventDefault() immediately so the form never fires, run your own validation, and only submit programmatically if everything passes. The novalidate attribute on the &lt;form&gt; disables the browser's own popups so ours appear instead. Without novalidate, users see both the browser tooltip AND our custom error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checkValidity() checks an individual field against all its HTML5 constraints (required, pattern, min, max, etc). setCustomValidity() overrides what the browser shows. The gotcha: if you set a custom error, you MUST clear it with setCustomValidity("") when the input becomes valid — otherwise the field is permanently invalid even after the user fixes it. This is the #1 beginner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validity object gives you boolean flags for every type of constraint violation. This is much better than reading validationMessage, which is localised text you cannot reliably parse. Use these flags to show specific, helpful errors: "Email is required" versus "Must be a valid email address" versus "Email is too short" — three different problems, three different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Real-time feedback (on "input") is now the UX standard — users see errors as they type rather than after submission. However, "blur" (on field exit) is often better for empty fields: showing "required" while a user is still typing there is annoying. A common pattern: validate on "input" only if the field has already been "touched" (once the user has left it once). The aria-live="polite" on the span announces the error to screen readers.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Regex is the power tool for string validation. The ^ and $ anchors are critical — without them, /\d{9}/ matches 9 digits ANYWHERE in the string, so "abc123456789xyz" would pass. The ^ means "start of string" and $ means "end of string". Use regex101.com to test patterns interactively — it explains each part in plain English. Korean student IDs at Gachon are 9 digits.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Password confirmation is impossible with HTML5 attributes alone — you cannot write pattern="same as #pw" because you cannot reference another element in a pattern. JavaScript makes this trivial: listen on the confirm field, compare .value, and use setCustomValidity to hook into the browser's form validity system. Also listen on the first password field: if the user edits the original password after typing the confirmation, re-run the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errors must be communicated to assistive technologies too. A sighted user sees a red border and error text — a screen reader user hears nothing unless we add ARIA attributes. This section covers the minimum required to make your JS validation accessible.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screen reader user tabs into the email field, VoiceOver/NVDA reads: "Email, required, edit text". When they tab out and there is an error, aria-live="polite" causes the screen reader to announce the error text once the user finishes their current action. aria-invalid="true" also tells the screen reader the field has an error. Together these replicate the visual red border + message for AT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novalidate is the single attribute that switches the whole form from "browser-controlled" to "JS-controlled". Without it you get double-validation: the browser fires its own popup, then your JS also shows an error. With it, the browser stays completely silent and your code is fully in charge. Remember: always test WITHOUT JavaScript disabled to make sure the HTML5 fallback still protects the server even without novalidate.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we replaced HTML5-only validation with full JS validation. Students now have all the tools to build professional-grade form validation. Next week we cover accessibility more broadly — Web Accessibility (Monday) will build on the aria-describedby patterns learned today. Homework is due before Monday's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540"/>
          </a:solidFill>
          <a:ln w="12700">
            <a:solidFill>
              <a:srgbClr val="1A2540"/>
            </a:solidFill>
            <a:prstDash val="solid"/>
          </a:ln>
        </p:spPr>
      </p:sp>
      <p:sp>
        <p:nvSpPr>
          <p:cNvPr id="3" name="Shape 1"/>
          <p:cNvSpPr/>
          <p:nvPr/>
        </p:nvSpPr>
        <p:spPr>
          <a:xfrm>
            <a:off x="0" y="0"/>
            <a:ext cx="9144000" cy="109728"/>
          </a:xfrm>
          <a:prstGeom prst="rect">
            <a:avLst/>
          </a:prstGeom>
          <a:solidFill>
            <a:srgbClr val="F7DF1E"/>
          </a:solidFill>
          <a:ln w="12700">
            <a:solidFill>
              <a:srgbClr val="F7DF1E"/>
            </a:solidFill>
            <a:prstDash val="solid"/>
          </a:ln>
        </p:spPr>
      </p:sp>
      <p:sp>
        <p:nvSpPr>
          <p:cNvPr id="4" name="Shape 2"/>
          <p:cNvSpPr/>
          <p:nvPr/>
        </p:nvSpPr>
        <p:spPr>
          <a:xfrm>
            <a:off x="457200" y="256032"/>
            <a:ext cx="1645920" cy="384048"/>
          </a:xfrm>
          <a:prstGeom prst="rect">
            <a:avLst/>
          </a:prstGeom>
          <a:solidFill>
            <a:srgbClr val="F7DF1E"/>
          </a:solidFill>
          <a:ln w="12700">
            <a:solidFill>
              <a:srgbClr val="F7DF1E"/>
            </a:solidFill>
            <a:prstDash val="solid"/>
          </a:ln>
        </p:spPr>
      </p:sp>
      <p:sp>
        <p:nvSpPr>
          <p:cNvPr id="5" name="Text 3"/>
          <p:cNvSpPr txBox="1"/>
          <p:nvPr/>
        </p:nvSpPr>
        <p:spPr>
          <a:xfrm>
            <a:off x="457200" y="256032"/>
            <a:ext cx="1645920" cy="384048"/>
          </a:xfrm>
          <a:prstGeom prst="rect">
            <a:avLst/>
          </a:prstGeom>
          <a:noFill/>
          <a:ln/>
        </p:spPr>
        <p:txBody>
          <a:bodyPr wrap="square" lIns="0" tIns="0" rIns="0" bIns="0" rtlCol="0" anchor="ctr"/>
          <a:lstStyle/>
          <a:p>
            <a:pPr algn="ctr" indent="0" marL="0">
              <a:buNone/>
            </a:pPr>
            <a:r>
              <a:rPr lang="en-US" sz="900" b="1" dirty="0">
                <a:solidFill>
                  <a:srgbClr val="1A2540"/>
                </a:solidFill>
              </a:rPr>
              <a:t>JS VALIDATION</a:t>
            </a:r>
            <a:endParaRPr lang="en-US" sz="900" dirty="0"/>
          </a:p>
        </p:txBody>
      </p:sp>
      <p:sp>
        <p:nvSpPr>
          <p:cNvPr id="6" name="Text 4"/>
          <p:cNvSpPr txBox="1"/>
          <p:nvPr/>
        </p:nvSpPr>
        <p:spPr>
          <a:xfrm>
            <a:off x="7040880" y="256032"/>
            <a:ext cx="1645920" cy="384048"/>
          </a:xfrm>
          <a:prstGeom prst="rect">
            <a:avLst/>
          </a:prstGeom>
          <a:noFill/>
          <a:ln/>
        </p:spPr>
        <p:txBody>
          <a:bodyPr wrap="square" lIns="0" tIns="0" rIns="0" bIns="0" rtlCol="0" anchor="ctr"/>
          <a:lstStyle/>
          <a:p>
            <a:pPr algn="r" indent="0" marL="0">
              <a:buNone/>
            </a:pPr>
            <a:r>
              <a:rPr lang="en-US" sz="900" dirty="0">
                <a:solidFill>
                  <a:srgbClr val="8892B0"/>
                </a:solidFill>
              </a:rPr>
              <a:t>Week 6  ·  Fri</a:t>
            </a:r>
            <a:endParaRPr lang="en-US" sz="900" dirty="0"/>
          </a:p>
        </p:txBody>
      </p:sp>
      <p:sp>
        <p:nvSpPr>
          <p:cNvPr id="7" name="Text 5"/>
          <p:cNvSpPr txBox="1"/>
          <p:nvPr/>
        </p:nvSpPr>
        <p:spPr>
          <a:xfrm>
            <a:off x="914400" y="1463040"/>
            <a:ext cx="7315200" cy="1280160"/>
          </a:xfrm>
          <a:prstGeom prst="rect">
            <a:avLst/>
          </a:prstGeom>
          <a:noFill/>
          <a:ln/>
        </p:spPr>
        <p:txBody>
          <a:bodyPr wrap="square" lIns="0" tIns="0" rIns="0" bIns="0" rtlCol="0" anchor="ctr"/>
          <a:lstStyle/>
          <a:p>
            <a:pPr algn="ctr" indent="0" marL="0">
              <a:buNone/>
            </a:pPr>
            <a:r>
              <a:rPr lang="en-US" sz="4800" b="1" dirty="0">
                <a:solidFill>
                  <a:srgbClr val="FFFFFF"/>
                </a:solidFill>
                <a:latin typeface="Calibri" pitchFamily="34" charset="0"/>
                <a:ea typeface="Calibri" pitchFamily="34" charset="-122"/>
                <a:cs typeface="Calibri" pitchFamily="34" charset="-120"/>
              </a:rPr>
              <a:t>JavaScript Form</a:t>
            </a:r>
            <a:endParaRPr lang="en-US" sz="4800" dirty="0"/>
          </a:p>
          <a:p>
            <a:pPr algn="ctr" indent="0" marL="0">
              <a:buNone/>
            </a:pPr>
            <a:r>
              <a:rPr lang="en-US" sz="4800" b="1" dirty="0">
                <a:solidFill>
                  <a:srgbClr val="FFFFFF"/>
                </a:solidFill>
                <a:latin typeface="Calibri" pitchFamily="34" charset="0"/>
                <a:ea typeface="Calibri" pitchFamily="34" charset="-122"/>
                <a:cs typeface="Calibri" pitchFamily="34" charset="-120"/>
              </a:rPr>
              <a:t>Validation</a:t>
            </a:r>
            <a:endParaRPr lang="en-US" sz="4800" dirty="0"/>
          </a:p>
        </p:txBody>
      </p:sp>
      <p:sp>
        <p:nvSpPr>
          <p:cNvPr id="8" name="Text 6"/>
          <p:cNvSpPr txBox="1"/>
          <p:nvPr/>
        </p:nvSpPr>
        <p:spPr>
          <a:xfrm>
            <a:off x="914400" y="2834640"/>
            <a:ext cx="7315200" cy="457200"/>
          </a:xfrm>
          <a:prstGeom prst="rect">
            <a:avLst/>
          </a:prstGeom>
          <a:noFill/>
          <a:ln/>
        </p:spPr>
        <p:txBody>
          <a:bodyPr wrap="square" lIns="0" tIns="0" rIns="0" bIns="0" rtlCol="0" anchor="ctr"/>
          <a:lstStyle/>
          <a:p>
            <a:pPr algn="ctr" indent="0" marL="0">
              <a:buNone/>
            </a:pPr>
            <a:r>
              <a:rPr lang="en-US" sz="1800" dirty="0">
                <a:solidFill>
                  <a:srgbClr val="CDD6F4"/>
                </a:solidFill>
                <a:latin typeface="Calibri" pitchFamily="34" charset="0"/>
                <a:ea typeface="Calibri" pitchFamily="34" charset="-122"/>
                <a:cs typeface="Calibri" pitchFamily="34" charset="-120"/>
              </a:rPr>
              <a:t>Full control over user input — beyond HTML5 limits</a:t>
            </a:r>
            <a:endParaRPr lang="en-US" sz="1800" dirty="0"/>
          </a:p>
        </p:txBody>
      </p:sp>
      <p:sp>
        <p:nvSpPr>
          <p:cNvPr id="9" name="Text 7"/>
          <p:cNvSpPr txBox="1"/>
          <p:nvPr/>
        </p:nvSpPr>
        <p:spPr>
          <a:xfrm>
            <a:off x="457200" y="4480560"/>
            <a:ext cx="8229600" cy="457200"/>
          </a:xfrm>
          <a:prstGeom prst="rect">
            <a:avLst/>
          </a:prstGeom>
          <a:noFill/>
          <a:ln/>
        </p:spPr>
        <p:txBody>
          <a:bodyPr wrap="square" lIns="0" tIns="0" rIns="0" bIns="0" rtlCol="0" anchor="ctr"/>
          <a:lstStyle/>
          <a:p>
            <a:pPr algn="ctr" indent="0" marL="0">
              <a:buNone/>
            </a:pPr>
            <a:r>
              <a:rPr lang="en-US" sz="1000" dirty="0">
                <a:solidFill>
                  <a:srgbClr val="8892B0"/>
                </a:solidFill>
                <a:latin typeface="Calibri" pitchFamily="34" charset="0"/>
                <a:ea typeface="Calibri" pitchFamily="34" charset="-122"/>
                <a:cs typeface="Calibri" pitchFamily="34" charset="-120"/>
              </a:rPr>
              <a:t>K0126002  ·  Gachon University  ·  2026 Fall  ·  Dr. Toshpulatov</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9144000" cy="64008"/>
          </a:xfrm>
          <a:prstGeom prst="rect">
            <a:avLst/>
          </a:prstGeom>
          <a:solidFill>
            <a:srgbClr val="F7DF1E"/>
          </a:solidFill>
          <a:ln w="12700">
            <a:solidFill>
              <a:srgbClr val="F7DF1E"/>
            </a:solidFill>
            <a:prstDash val="solid"/>
          </a:ln>
        </p:spPr>
      </p:sp>
      <p:sp>
        <p:nvSpPr>
          <p:cNvPr id="4" name="Text 2"/>
          <p:cNvSpPr txBox="1"/>
          <p:nvPr/>
        </p:nvSpPr>
        <p:spPr>
          <a:xfrm>
            <a:off x="457200" y="182880"/>
            <a:ext cx="8229600" cy="548640"/>
          </a:xfrm>
          <a:prstGeom prst="rect">
            <a:avLst/>
          </a:prstGeom>
          <a:noFill/>
          <a:ln/>
        </p:spPr>
        <p:txBody>
          <a:bodyPr wrap="square" lIns="0" tIns="0" rIns="0" bIns="0" rtlCol="0" anchor="ctr"/>
          <a:lstStyle/>
          <a:p>
            <a:pPr algn="l" indent="0" marL="0">
              <a:buNone/>
            </a:pPr>
            <a:r>
              <a:rPr lang="en-US" sz="2800" b="1" dirty="0">
                <a:solidFill>
                  <a:srgbClr val="1A2540"/>
                </a:solidFill>
                <a:latin typeface="Calibri" pitchFamily="34" charset="0"/>
                <a:ea typeface="Calibri" pitchFamily="34" charset="-122"/>
                <a:cs typeface="Calibri" pitchFamily="34" charset="-120"/>
              </a:rPr>
              <a:t>Why JavaScript Validation?</a:t>
            </a:r>
            <a:endParaRPr lang="en-US" sz="2800" dirty="0"/>
          </a:p>
        </p:txBody>
      </p:sp>
      <p:sp>
        <p:nvSpPr>
          <p:cNvPr id="5" name="Shape 3"/>
          <p:cNvSpPr/>
          <p:nvPr/>
        </p:nvSpPr>
        <p:spPr>
          <a:xfrm>
            <a:off x="457200" y="758952"/>
            <a:ext cx="8229600" cy="36576"/>
          </a:xfrm>
          <a:prstGeom prst="rect">
            <a:avLst/>
          </a:prstGeom>
          <a:solidFill>
            <a:srgbClr val="F7DF1E"/>
          </a:solidFill>
          <a:ln w="12700">
            <a:solidFill>
              <a:srgbClr val="F7DF1E"/>
            </a:solidFill>
            <a:prstDash val="solid"/>
          </a:ln>
        </p:spPr>
      </p:sp>
      <p:sp>
        <p:nvSpPr>
          <p:cNvPr id="6" name="Shape 4"/>
          <p:cNvSpPr/>
          <p:nvPr/>
        </p:nvSpPr>
        <p:spPr>
          <a:xfrm>
            <a:off x="365760" y="914400"/>
            <a:ext cx="3200400" cy="365760"/>
          </a:xfrm>
          <a:prstGeom prst="rect">
            <a:avLst/>
          </a:prstGeom>
          <a:solidFill>
            <a:srgbClr val="1A2540"/>
          </a:solidFill>
          <a:ln w="12700">
            <a:solidFill>
              <a:srgbClr val="1A2540"/>
            </a:solidFill>
            <a:prstDash val="solid"/>
          </a:ln>
        </p:spPr>
      </p:sp>
      <p:sp>
        <p:nvSpPr>
          <p:cNvPr id="7" name="Text 5"/>
          <p:cNvSpPr txBox="1"/>
          <p:nvPr/>
        </p:nvSpPr>
        <p:spPr>
          <a:xfrm>
            <a:off x="365760" y="914400"/>
            <a:ext cx="3200400" cy="365760"/>
          </a:xfrm>
          <a:prstGeom prst="rect">
            <a:avLst/>
          </a:prstGeom>
          <a:noFill/>
          <a:ln/>
        </p:spPr>
        <p:txBody>
          <a:bodyPr wrap="square" lIns="101600" tIns="101600" rIns="101600" bIns="101600" rtlCol="0" anchor="ctr"/>
          <a:lstStyle/>
          <a:p>
            <a:pPr algn="l" indent="0" marL="0">
              <a:buNone/>
            </a:pPr>
            <a:r>
              <a:rPr lang="en-US" sz="1200" b="1" dirty="0">
                <a:solidFill>
                  <a:srgbClr val="F7DF1E"/>
                </a:solidFill>
                <a:latin typeface="Calibri" pitchFamily="34" charset="0"/>
                <a:ea typeface="Calibri" pitchFamily="34" charset="-122"/>
                <a:cs typeface="Calibri" pitchFamily="34" charset="-120"/>
              </a:rPr>
              <a:t>Capability</a:t>
            </a:r>
            <a:endParaRPr lang="en-US" sz="1200" dirty="0"/>
          </a:p>
        </p:txBody>
      </p:sp>
      <p:sp>
        <p:nvSpPr>
          <p:cNvPr id="8" name="Shape 6"/>
          <p:cNvSpPr/>
          <p:nvPr/>
        </p:nvSpPr>
        <p:spPr>
          <a:xfrm>
            <a:off x="3611880" y="914400"/>
            <a:ext cx="2423160" cy="365760"/>
          </a:xfrm>
          <a:prstGeom prst="rect">
            <a:avLst/>
          </a:prstGeom>
          <a:solidFill>
            <a:srgbClr val="E57373"/>
          </a:solidFill>
          <a:ln w="12700">
            <a:solidFill>
              <a:srgbClr val="C62828"/>
            </a:solidFill>
            <a:prstDash val="solid"/>
          </a:ln>
        </p:spPr>
      </p:sp>
      <p:sp>
        <p:nvSpPr>
          <p:cNvPr id="9" name="Text 7"/>
          <p:cNvSpPr txBox="1"/>
          <p:nvPr/>
        </p:nvSpPr>
        <p:spPr>
          <a:xfrm>
            <a:off x="3611880" y="914400"/>
            <a:ext cx="24231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HTML5 only</a:t>
            </a:r>
            <a:endParaRPr lang="en-US" sz="1200" dirty="0"/>
          </a:p>
        </p:txBody>
      </p:sp>
      <p:sp>
        <p:nvSpPr>
          <p:cNvPr id="10" name="Shape 8"/>
          <p:cNvSpPr/>
          <p:nvPr/>
        </p:nvSpPr>
        <p:spPr>
          <a:xfrm>
            <a:off x="6080760" y="914400"/>
            <a:ext cx="2743200" cy="365760"/>
          </a:xfrm>
          <a:prstGeom prst="rect">
            <a:avLst/>
          </a:prstGeom>
          <a:solidFill>
            <a:srgbClr val="43A047"/>
          </a:solidFill>
          <a:ln w="12700">
            <a:solidFill>
              <a:srgbClr val="1B5E20"/>
            </a:solidFill>
            <a:prstDash val="solid"/>
          </a:ln>
        </p:spPr>
      </p:sp>
      <p:sp>
        <p:nvSpPr>
          <p:cNvPr id="11" name="Text 9"/>
          <p:cNvSpPr txBox="1"/>
          <p:nvPr/>
        </p:nvSpPr>
        <p:spPr>
          <a:xfrm>
            <a:off x="6080760" y="914400"/>
            <a:ext cx="27432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JS Validation</a:t>
            </a:r>
            <a:endParaRPr lang="en-US" sz="1200" dirty="0"/>
          </a:p>
        </p:txBody>
      </p:sp>
      <p:sp>
        <p:nvSpPr>
          <p:cNvPr id="12" name="Shape 10"/>
          <p:cNvSpPr/>
          <p:nvPr/>
        </p:nvSpPr>
        <p:spPr>
          <a:xfrm>
            <a:off x="365760" y="1325880"/>
            <a:ext cx="3200400" cy="640080"/>
          </a:xfrm>
          <a:prstGeom prst="rect">
            <a:avLst/>
          </a:prstGeom>
          <a:solidFill>
            <a:srgbClr val="E8EDFF"/>
          </a:solidFill>
          <a:ln w="12700">
            <a:solidFill>
              <a:srgbClr val="CBD5FF"/>
            </a:solidFill>
            <a:prstDash val="solid"/>
          </a:ln>
        </p:spPr>
      </p:sp>
      <p:sp>
        <p:nvSpPr>
          <p:cNvPr id="13" name="Text 11"/>
          <p:cNvSpPr txBox="1"/>
          <p:nvPr/>
        </p:nvSpPr>
        <p:spPr>
          <a:xfrm>
            <a:off x="457200" y="1325880"/>
            <a:ext cx="3017520" cy="640080"/>
          </a:xfrm>
          <a:prstGeom prst="rect">
            <a:avLst/>
          </a:prstGeom>
          <a:noFill/>
          <a:ln/>
        </p:spPr>
        <p:txBody>
          <a:bodyPr wrap="square" lIns="0" tIns="0" rIns="0" bIns="0" rtlCol="0" anchor="ctr"/>
          <a:lstStyle/>
          <a:p>
            <a:pPr algn="l" indent="0" marL="0">
              <a:buNone/>
            </a:pPr>
            <a:r>
              <a:rPr lang="en-US" sz="1100" b="1" dirty="0">
                <a:solidFill>
                  <a:srgbClr val="1A2540"/>
                </a:solidFill>
                <a:latin typeface="Calibri" pitchFamily="34" charset="0"/>
                <a:ea typeface="Calibri" pitchFamily="34" charset="-122"/>
                <a:cs typeface="Calibri" pitchFamily="34" charset="-120"/>
              </a:rPr>
              <a:t>Custom error messages</a:t>
            </a:r>
            <a:endParaRPr lang="en-US" sz="1100" dirty="0"/>
          </a:p>
        </p:txBody>
      </p:sp>
      <p:sp>
        <p:nvSpPr>
          <p:cNvPr id="14" name="Shape 12"/>
          <p:cNvSpPr/>
          <p:nvPr/>
        </p:nvSpPr>
        <p:spPr>
          <a:xfrm>
            <a:off x="3611880" y="1325880"/>
            <a:ext cx="2423160" cy="640080"/>
          </a:xfrm>
          <a:prstGeom prst="rect">
            <a:avLst/>
          </a:prstGeom>
          <a:solidFill>
            <a:srgbClr val="E8EDFF"/>
          </a:solidFill>
          <a:ln w="12700">
            <a:solidFill>
              <a:srgbClr val="CBD5FF"/>
            </a:solidFill>
            <a:prstDash val="solid"/>
          </a:ln>
        </p:spPr>
      </p:sp>
      <p:sp>
        <p:nvSpPr>
          <p:cNvPr id="15" name="Text 13"/>
          <p:cNvSpPr txBox="1"/>
          <p:nvPr/>
        </p:nvSpPr>
        <p:spPr>
          <a:xfrm>
            <a:off x="3657600" y="1325880"/>
            <a:ext cx="2331720" cy="640080"/>
          </a:xfrm>
          <a:prstGeom prst="rect">
            <a:avLst/>
          </a:prstGeom>
          <a:noFill/>
          <a:ln/>
        </p:spPr>
        <p:txBody>
          <a:bodyPr wrap="square" lIns="0" tIns="0" rIns="0" bIns="0" rtlCol="0" anchor="ctr"/>
          <a:lstStyle/>
          <a:p>
            <a:pPr algn="ctr" indent="0" marL="0">
              <a:buNone/>
            </a:pPr>
            <a:r>
              <a:rPr lang="en-US" sz="1000" dirty="0">
                <a:solidFill>
                  <a:srgbClr val="C62828"/>
                </a:solidFill>
                <a:latin typeface="Calibri" pitchFamily="34" charset="0"/>
                <a:ea typeface="Calibri" pitchFamily="34" charset="-122"/>
                <a:cs typeface="Calibri" pitchFamily="34" charset="-120"/>
              </a:rPr>
              <a:t>Generic browser tooltip</a:t>
            </a:r>
            <a:endParaRPr lang="en-US" sz="1000" dirty="0"/>
          </a:p>
        </p:txBody>
      </p:sp>
      <p:sp>
        <p:nvSpPr>
          <p:cNvPr id="16" name="Shape 14"/>
          <p:cNvSpPr/>
          <p:nvPr/>
        </p:nvSpPr>
        <p:spPr>
          <a:xfrm>
            <a:off x="6080760" y="1325880"/>
            <a:ext cx="2743200" cy="640080"/>
          </a:xfrm>
          <a:prstGeom prst="rect">
            <a:avLst/>
          </a:prstGeom>
          <a:solidFill>
            <a:srgbClr val="E8EDFF"/>
          </a:solidFill>
          <a:ln w="12700">
            <a:solidFill>
              <a:srgbClr val="CBD5FF"/>
            </a:solidFill>
            <a:prstDash val="solid"/>
          </a:ln>
        </p:spPr>
      </p:sp>
      <p:sp>
        <p:nvSpPr>
          <p:cNvPr id="17" name="Text 15"/>
          <p:cNvSpPr txBox="1"/>
          <p:nvPr/>
        </p:nvSpPr>
        <p:spPr>
          <a:xfrm>
            <a:off x="6126480" y="1325880"/>
            <a:ext cx="2651760" cy="640080"/>
          </a:xfrm>
          <a:prstGeom prst="rect">
            <a:avLst/>
          </a:prstGeom>
          <a:noFill/>
          <a:ln/>
        </p:spPr>
        <p:txBody>
          <a:bodyPr wrap="square" lIns="0" tIns="0" rIns="0" bIns="0" rtlCol="0" anchor="ctr"/>
          <a:lstStyle/>
          <a:p>
            <a:pPr algn="ctr" indent="0" marL="0">
              <a:buNone/>
            </a:pPr>
            <a:r>
              <a:rPr lang="en-US" sz="1000" dirty="0">
                <a:solidFill>
                  <a:srgbClr val="1B5E20"/>
                </a:solidFill>
                <a:latin typeface="Calibri" pitchFamily="34" charset="0"/>
                <a:ea typeface="Calibri" pitchFamily="34" charset="-122"/>
                <a:cs typeface="Calibri" pitchFamily="34" charset="-120"/>
              </a:rPr>
              <a:t>Your own styled &lt;span&gt; below the input</a:t>
            </a:r>
            <a:endParaRPr lang="en-US" sz="1000" dirty="0"/>
          </a:p>
        </p:txBody>
      </p:sp>
      <p:sp>
        <p:nvSpPr>
          <p:cNvPr id="18" name="Shape 16"/>
          <p:cNvSpPr/>
          <p:nvPr/>
        </p:nvSpPr>
        <p:spPr>
          <a:xfrm>
            <a:off x="365760" y="2039112"/>
            <a:ext cx="3200400" cy="640080"/>
          </a:xfrm>
          <a:prstGeom prst="rect">
            <a:avLst/>
          </a:prstGeom>
          <a:solidFill>
            <a:srgbClr val="F0F4FF"/>
          </a:solidFill>
          <a:ln w="12700">
            <a:solidFill>
              <a:srgbClr val="CBD5FF"/>
            </a:solidFill>
            <a:prstDash val="solid"/>
          </a:ln>
        </p:spPr>
      </p:sp>
      <p:sp>
        <p:nvSpPr>
          <p:cNvPr id="19" name="Text 17"/>
          <p:cNvSpPr txBox="1"/>
          <p:nvPr/>
        </p:nvSpPr>
        <p:spPr>
          <a:xfrm>
            <a:off x="457200" y="2039112"/>
            <a:ext cx="3017520" cy="640080"/>
          </a:xfrm>
          <a:prstGeom prst="rect">
            <a:avLst/>
          </a:prstGeom>
          <a:noFill/>
          <a:ln/>
        </p:spPr>
        <p:txBody>
          <a:bodyPr wrap="square" lIns="0" tIns="0" rIns="0" bIns="0" rtlCol="0" anchor="ctr"/>
          <a:lstStyle/>
          <a:p>
            <a:pPr algn="l" indent="0" marL="0">
              <a:buNone/>
            </a:pPr>
            <a:r>
              <a:rPr lang="en-US" sz="1100" b="1" dirty="0">
                <a:solidFill>
                  <a:srgbClr val="1A2540"/>
                </a:solidFill>
                <a:latin typeface="Calibri" pitchFamily="34" charset="0"/>
                <a:ea typeface="Calibri" pitchFamily="34" charset="-122"/>
                <a:cs typeface="Calibri" pitchFamily="34" charset="-120"/>
              </a:rPr>
              <a:t>Validation timing</a:t>
            </a:r>
            <a:endParaRPr lang="en-US" sz="1100" dirty="0"/>
          </a:p>
        </p:txBody>
      </p:sp>
      <p:sp>
        <p:nvSpPr>
          <p:cNvPr id="20" name="Shape 18"/>
          <p:cNvSpPr/>
          <p:nvPr/>
        </p:nvSpPr>
        <p:spPr>
          <a:xfrm>
            <a:off x="3611880" y="2039112"/>
            <a:ext cx="2423160" cy="640080"/>
          </a:xfrm>
          <a:prstGeom prst="rect">
            <a:avLst/>
          </a:prstGeom>
          <a:solidFill>
            <a:srgbClr val="F0F4FF"/>
          </a:solidFill>
          <a:ln w="12700">
            <a:solidFill>
              <a:srgbClr val="CBD5FF"/>
            </a:solidFill>
            <a:prstDash val="solid"/>
          </a:ln>
        </p:spPr>
      </p:sp>
      <p:sp>
        <p:nvSpPr>
          <p:cNvPr id="21" name="Text 19"/>
          <p:cNvSpPr txBox="1"/>
          <p:nvPr/>
        </p:nvSpPr>
        <p:spPr>
          <a:xfrm>
            <a:off x="3657600" y="2039112"/>
            <a:ext cx="2331720" cy="640080"/>
          </a:xfrm>
          <a:prstGeom prst="rect">
            <a:avLst/>
          </a:prstGeom>
          <a:noFill/>
          <a:ln/>
        </p:spPr>
        <p:txBody>
          <a:bodyPr wrap="square" lIns="0" tIns="0" rIns="0" bIns="0" rtlCol="0" anchor="ctr"/>
          <a:lstStyle/>
          <a:p>
            <a:pPr algn="ctr" indent="0" marL="0">
              <a:buNone/>
            </a:pPr>
            <a:r>
              <a:rPr lang="en-US" sz="1000" dirty="0">
                <a:solidFill>
                  <a:srgbClr val="C62828"/>
                </a:solidFill>
                <a:latin typeface="Calibri" pitchFamily="34" charset="0"/>
                <a:ea typeface="Calibri" pitchFamily="34" charset="-122"/>
                <a:cs typeface="Calibri" pitchFamily="34" charset="-120"/>
              </a:rPr>
              <a:t>Only on submit</a:t>
            </a:r>
            <a:endParaRPr lang="en-US" sz="1000" dirty="0"/>
          </a:p>
        </p:txBody>
      </p:sp>
      <p:sp>
        <p:nvSpPr>
          <p:cNvPr id="22" name="Shape 20"/>
          <p:cNvSpPr/>
          <p:nvPr/>
        </p:nvSpPr>
        <p:spPr>
          <a:xfrm>
            <a:off x="6080760" y="2039112"/>
            <a:ext cx="2743200" cy="640080"/>
          </a:xfrm>
          <a:prstGeom prst="rect">
            <a:avLst/>
          </a:prstGeom>
          <a:solidFill>
            <a:srgbClr val="F0F4FF"/>
          </a:solidFill>
          <a:ln w="12700">
            <a:solidFill>
              <a:srgbClr val="CBD5FF"/>
            </a:solidFill>
            <a:prstDash val="solid"/>
          </a:ln>
        </p:spPr>
      </p:sp>
      <p:sp>
        <p:nvSpPr>
          <p:cNvPr id="23" name="Text 21"/>
          <p:cNvSpPr txBox="1"/>
          <p:nvPr/>
        </p:nvSpPr>
        <p:spPr>
          <a:xfrm>
            <a:off x="6126480" y="2039112"/>
            <a:ext cx="2651760" cy="640080"/>
          </a:xfrm>
          <a:prstGeom prst="rect">
            <a:avLst/>
          </a:prstGeom>
          <a:noFill/>
          <a:ln/>
        </p:spPr>
        <p:txBody>
          <a:bodyPr wrap="square" lIns="0" tIns="0" rIns="0" bIns="0" rtlCol="0" anchor="ctr"/>
          <a:lstStyle/>
          <a:p>
            <a:pPr algn="ctr" indent="0" marL="0">
              <a:buNone/>
            </a:pPr>
            <a:r>
              <a:rPr lang="en-US" sz="1000" dirty="0">
                <a:solidFill>
                  <a:srgbClr val="1B5E20"/>
                </a:solidFill>
                <a:latin typeface="Calibri" pitchFamily="34" charset="0"/>
                <a:ea typeface="Calibri" pitchFamily="34" charset="-122"/>
                <a:cs typeface="Calibri" pitchFamily="34" charset="-120"/>
              </a:rPr>
              <a:t>As user types (input event) or on blur</a:t>
            </a:r>
            <a:endParaRPr lang="en-US" sz="1000" dirty="0"/>
          </a:p>
        </p:txBody>
      </p:sp>
      <p:sp>
        <p:nvSpPr>
          <p:cNvPr id="24" name="Shape 22"/>
          <p:cNvSpPr/>
          <p:nvPr/>
        </p:nvSpPr>
        <p:spPr>
          <a:xfrm>
            <a:off x="365760" y="2752344"/>
            <a:ext cx="3200400" cy="640080"/>
          </a:xfrm>
          <a:prstGeom prst="rect">
            <a:avLst/>
          </a:prstGeom>
          <a:solidFill>
            <a:srgbClr val="E8EDFF"/>
          </a:solidFill>
          <a:ln w="12700">
            <a:solidFill>
              <a:srgbClr val="CBD5FF"/>
            </a:solidFill>
            <a:prstDash val="solid"/>
          </a:ln>
        </p:spPr>
      </p:sp>
      <p:sp>
        <p:nvSpPr>
          <p:cNvPr id="25" name="Text 23"/>
          <p:cNvSpPr txBox="1"/>
          <p:nvPr/>
        </p:nvSpPr>
        <p:spPr>
          <a:xfrm>
            <a:off x="457200" y="2752344"/>
            <a:ext cx="3017520" cy="640080"/>
          </a:xfrm>
          <a:prstGeom prst="rect">
            <a:avLst/>
          </a:prstGeom>
          <a:noFill/>
          <a:ln/>
        </p:spPr>
        <p:txBody>
          <a:bodyPr wrap="square" lIns="0" tIns="0" rIns="0" bIns="0" rtlCol="0" anchor="ctr"/>
          <a:lstStyle/>
          <a:p>
            <a:pPr algn="l" indent="0" marL="0">
              <a:buNone/>
            </a:pPr>
            <a:r>
              <a:rPr lang="en-US" sz="1100" b="1" dirty="0">
                <a:solidFill>
                  <a:srgbClr val="1A2540"/>
                </a:solidFill>
                <a:latin typeface="Calibri" pitchFamily="34" charset="0"/>
                <a:ea typeface="Calibri" pitchFamily="34" charset="-122"/>
                <a:cs typeface="Calibri" pitchFamily="34" charset="-120"/>
              </a:rPr>
              <a:t>Cross-field logic</a:t>
            </a:r>
            <a:endParaRPr lang="en-US" sz="1100" dirty="0"/>
          </a:p>
        </p:txBody>
      </p:sp>
      <p:sp>
        <p:nvSpPr>
          <p:cNvPr id="26" name="Shape 24"/>
          <p:cNvSpPr/>
          <p:nvPr/>
        </p:nvSpPr>
        <p:spPr>
          <a:xfrm>
            <a:off x="3611880" y="2752344"/>
            <a:ext cx="2423160" cy="640080"/>
          </a:xfrm>
          <a:prstGeom prst="rect">
            <a:avLst/>
          </a:prstGeom>
          <a:solidFill>
            <a:srgbClr val="E8EDFF"/>
          </a:solidFill>
          <a:ln w="12700">
            <a:solidFill>
              <a:srgbClr val="CBD5FF"/>
            </a:solidFill>
            <a:prstDash val="solid"/>
          </a:ln>
        </p:spPr>
      </p:sp>
      <p:sp>
        <p:nvSpPr>
          <p:cNvPr id="27" name="Text 25"/>
          <p:cNvSpPr txBox="1"/>
          <p:nvPr/>
        </p:nvSpPr>
        <p:spPr>
          <a:xfrm>
            <a:off x="3657600" y="2752344"/>
            <a:ext cx="2331720" cy="640080"/>
          </a:xfrm>
          <a:prstGeom prst="rect">
            <a:avLst/>
          </a:prstGeom>
          <a:noFill/>
          <a:ln/>
        </p:spPr>
        <p:txBody>
          <a:bodyPr wrap="square" lIns="0" tIns="0" rIns="0" bIns="0" rtlCol="0" anchor="ctr"/>
          <a:lstStyle/>
          <a:p>
            <a:pPr algn="ctr" indent="0" marL="0">
              <a:buNone/>
            </a:pPr>
            <a:r>
              <a:rPr lang="en-US" sz="1000" dirty="0">
                <a:solidFill>
                  <a:srgbClr val="C62828"/>
                </a:solidFill>
                <a:latin typeface="Calibri" pitchFamily="34" charset="0"/>
                <a:ea typeface="Calibri" pitchFamily="34" charset="-122"/>
                <a:cs typeface="Calibri" pitchFamily="34" charset="-120"/>
              </a:rPr>
              <a:t>Cannot compare two fields</a:t>
            </a:r>
            <a:endParaRPr lang="en-US" sz="1000" dirty="0"/>
          </a:p>
        </p:txBody>
      </p:sp>
      <p:sp>
        <p:nvSpPr>
          <p:cNvPr id="28" name="Shape 26"/>
          <p:cNvSpPr/>
          <p:nvPr/>
        </p:nvSpPr>
        <p:spPr>
          <a:xfrm>
            <a:off x="6080760" y="2752344"/>
            <a:ext cx="2743200" cy="640080"/>
          </a:xfrm>
          <a:prstGeom prst="rect">
            <a:avLst/>
          </a:prstGeom>
          <a:solidFill>
            <a:srgbClr val="E8EDFF"/>
          </a:solidFill>
          <a:ln w="12700">
            <a:solidFill>
              <a:srgbClr val="CBD5FF"/>
            </a:solidFill>
            <a:prstDash val="solid"/>
          </a:ln>
        </p:spPr>
      </p:sp>
      <p:sp>
        <p:nvSpPr>
          <p:cNvPr id="29" name="Text 27"/>
          <p:cNvSpPr txBox="1"/>
          <p:nvPr/>
        </p:nvSpPr>
        <p:spPr>
          <a:xfrm>
            <a:off x="6126480" y="2752344"/>
            <a:ext cx="2651760" cy="640080"/>
          </a:xfrm>
          <a:prstGeom prst="rect">
            <a:avLst/>
          </a:prstGeom>
          <a:noFill/>
          <a:ln/>
        </p:spPr>
        <p:txBody>
          <a:bodyPr wrap="square" lIns="0" tIns="0" rIns="0" bIns="0" rtlCol="0" anchor="ctr"/>
          <a:lstStyle/>
          <a:p>
            <a:pPr algn="ctr" indent="0" marL="0">
              <a:buNone/>
            </a:pPr>
            <a:r>
              <a:rPr lang="en-US" sz="1000" dirty="0">
                <a:solidFill>
                  <a:srgbClr val="1B5E20"/>
                </a:solidFill>
                <a:latin typeface="Calibri" pitchFamily="34" charset="0"/>
                <a:ea typeface="Calibri" pitchFamily="34" charset="-122"/>
                <a:cs typeface="Calibri" pitchFamily="34" charset="-120"/>
              </a:rPr>
              <a:t>Compare password + confirm password</a:t>
            </a:r>
            <a:endParaRPr lang="en-US" sz="1000" dirty="0"/>
          </a:p>
        </p:txBody>
      </p:sp>
      <p:sp>
        <p:nvSpPr>
          <p:cNvPr id="30" name="Shape 28"/>
          <p:cNvSpPr/>
          <p:nvPr/>
        </p:nvSpPr>
        <p:spPr>
          <a:xfrm>
            <a:off x="365760" y="3465576"/>
            <a:ext cx="3200400" cy="640080"/>
          </a:xfrm>
          <a:prstGeom prst="rect">
            <a:avLst/>
          </a:prstGeom>
          <a:solidFill>
            <a:srgbClr val="F0F4FF"/>
          </a:solidFill>
          <a:ln w="12700">
            <a:solidFill>
              <a:srgbClr val="CBD5FF"/>
            </a:solidFill>
            <a:prstDash val="solid"/>
          </a:ln>
        </p:spPr>
      </p:sp>
      <p:sp>
        <p:nvSpPr>
          <p:cNvPr id="31" name="Text 29"/>
          <p:cNvSpPr txBox="1"/>
          <p:nvPr/>
        </p:nvSpPr>
        <p:spPr>
          <a:xfrm>
            <a:off x="457200" y="3465576"/>
            <a:ext cx="3017520" cy="640080"/>
          </a:xfrm>
          <a:prstGeom prst="rect">
            <a:avLst/>
          </a:prstGeom>
          <a:noFill/>
          <a:ln/>
        </p:spPr>
        <p:txBody>
          <a:bodyPr wrap="square" lIns="0" tIns="0" rIns="0" bIns="0" rtlCol="0" anchor="ctr"/>
          <a:lstStyle/>
          <a:p>
            <a:pPr algn="l" indent="0" marL="0">
              <a:buNone/>
            </a:pPr>
            <a:r>
              <a:rPr lang="en-US" sz="1100" b="1" dirty="0">
                <a:solidFill>
                  <a:srgbClr val="1A2540"/>
                </a:solidFill>
                <a:latin typeface="Calibri" pitchFamily="34" charset="0"/>
                <a:ea typeface="Calibri" pitchFamily="34" charset="-122"/>
                <a:cs typeface="Calibri" pitchFamily="34" charset="-120"/>
              </a:rPr>
              <a:t>Async checks</a:t>
            </a:r>
            <a:endParaRPr lang="en-US" sz="1100" dirty="0"/>
          </a:p>
        </p:txBody>
      </p:sp>
      <p:sp>
        <p:nvSpPr>
          <p:cNvPr id="32" name="Shape 30"/>
          <p:cNvSpPr/>
          <p:nvPr/>
        </p:nvSpPr>
        <p:spPr>
          <a:xfrm>
            <a:off x="3611880" y="3465576"/>
            <a:ext cx="2423160" cy="640080"/>
          </a:xfrm>
          <a:prstGeom prst="rect">
            <a:avLst/>
          </a:prstGeom>
          <a:solidFill>
            <a:srgbClr val="F0F4FF"/>
          </a:solidFill>
          <a:ln w="12700">
            <a:solidFill>
              <a:srgbClr val="CBD5FF"/>
            </a:solidFill>
            <a:prstDash val="solid"/>
          </a:ln>
        </p:spPr>
      </p:sp>
      <p:sp>
        <p:nvSpPr>
          <p:cNvPr id="33" name="Text 31"/>
          <p:cNvSpPr txBox="1"/>
          <p:nvPr/>
        </p:nvSpPr>
        <p:spPr>
          <a:xfrm>
            <a:off x="3657600" y="3465576"/>
            <a:ext cx="2331720" cy="640080"/>
          </a:xfrm>
          <a:prstGeom prst="rect">
            <a:avLst/>
          </a:prstGeom>
          <a:noFill/>
          <a:ln/>
        </p:spPr>
        <p:txBody>
          <a:bodyPr wrap="square" lIns="0" tIns="0" rIns="0" bIns="0" rtlCol="0" anchor="ctr"/>
          <a:lstStyle/>
          <a:p>
            <a:pPr algn="ctr" indent="0" marL="0">
              <a:buNone/>
            </a:pPr>
            <a:r>
              <a:rPr lang="en-US" sz="1000" dirty="0">
                <a:solidFill>
                  <a:srgbClr val="C62828"/>
                </a:solidFill>
                <a:latin typeface="Calibri" pitchFamily="34" charset="0"/>
                <a:ea typeface="Calibri" pitchFamily="34" charset="-122"/>
                <a:cs typeface="Calibri" pitchFamily="34" charset="-120"/>
              </a:rPr>
              <a:t>Not possible</a:t>
            </a:r>
            <a:endParaRPr lang="en-US" sz="1000" dirty="0"/>
          </a:p>
        </p:txBody>
      </p:sp>
      <p:sp>
        <p:nvSpPr>
          <p:cNvPr id="34" name="Shape 32"/>
          <p:cNvSpPr/>
          <p:nvPr/>
        </p:nvSpPr>
        <p:spPr>
          <a:xfrm>
            <a:off x="6080760" y="3465576"/>
            <a:ext cx="2743200" cy="640080"/>
          </a:xfrm>
          <a:prstGeom prst="rect">
            <a:avLst/>
          </a:prstGeom>
          <a:solidFill>
            <a:srgbClr val="F0F4FF"/>
          </a:solidFill>
          <a:ln w="12700">
            <a:solidFill>
              <a:srgbClr val="CBD5FF"/>
            </a:solidFill>
            <a:prstDash val="solid"/>
          </a:ln>
        </p:spPr>
      </p:sp>
      <p:sp>
        <p:nvSpPr>
          <p:cNvPr id="35" name="Text 33"/>
          <p:cNvSpPr txBox="1"/>
          <p:nvPr/>
        </p:nvSpPr>
        <p:spPr>
          <a:xfrm>
            <a:off x="6126480" y="3465576"/>
            <a:ext cx="2651760" cy="640080"/>
          </a:xfrm>
          <a:prstGeom prst="rect">
            <a:avLst/>
          </a:prstGeom>
          <a:noFill/>
          <a:ln/>
        </p:spPr>
        <p:txBody>
          <a:bodyPr wrap="square" lIns="0" tIns="0" rIns="0" bIns="0" rtlCol="0" anchor="ctr"/>
          <a:lstStyle/>
          <a:p>
            <a:pPr algn="ctr" indent="0" marL="0">
              <a:buNone/>
            </a:pPr>
            <a:r>
              <a:rPr lang="en-US" sz="1000" dirty="0">
                <a:solidFill>
                  <a:srgbClr val="1B5E20"/>
                </a:solidFill>
                <a:latin typeface="Calibri" pitchFamily="34" charset="0"/>
                <a:ea typeface="Calibri" pitchFamily="34" charset="-122"/>
                <a:cs typeface="Calibri" pitchFamily="34" charset="-120"/>
              </a:rPr>
              <a:t>Check username availability via fetch()</a:t>
            </a:r>
            <a:endParaRPr lang="en-US" sz="1000" dirty="0"/>
          </a:p>
        </p:txBody>
      </p:sp>
      <p:sp>
        <p:nvSpPr>
          <p:cNvPr id="36" name="Shape 34"/>
          <p:cNvSpPr/>
          <p:nvPr/>
        </p:nvSpPr>
        <p:spPr>
          <a:xfrm>
            <a:off x="365760" y="4178808"/>
            <a:ext cx="3200400" cy="640080"/>
          </a:xfrm>
          <a:prstGeom prst="rect">
            <a:avLst/>
          </a:prstGeom>
          <a:solidFill>
            <a:srgbClr val="E8EDFF"/>
          </a:solidFill>
          <a:ln w="12700">
            <a:solidFill>
              <a:srgbClr val="CBD5FF"/>
            </a:solidFill>
            <a:prstDash val="solid"/>
          </a:ln>
        </p:spPr>
      </p:sp>
      <p:sp>
        <p:nvSpPr>
          <p:cNvPr id="37" name="Text 35"/>
          <p:cNvSpPr txBox="1"/>
          <p:nvPr/>
        </p:nvSpPr>
        <p:spPr>
          <a:xfrm>
            <a:off x="457200" y="4178808"/>
            <a:ext cx="3017520" cy="640080"/>
          </a:xfrm>
          <a:prstGeom prst="rect">
            <a:avLst/>
          </a:prstGeom>
          <a:noFill/>
          <a:ln/>
        </p:spPr>
        <p:txBody>
          <a:bodyPr wrap="square" lIns="0" tIns="0" rIns="0" bIns="0" rtlCol="0" anchor="ctr"/>
          <a:lstStyle/>
          <a:p>
            <a:pPr algn="l" indent="0" marL="0">
              <a:buNone/>
            </a:pPr>
            <a:r>
              <a:rPr lang="en-US" sz="1100" b="1" dirty="0">
                <a:solidFill>
                  <a:srgbClr val="1A2540"/>
                </a:solidFill>
                <a:latin typeface="Calibri" pitchFamily="34" charset="0"/>
                <a:ea typeface="Calibri" pitchFamily="34" charset="-122"/>
                <a:cs typeface="Calibri" pitchFamily="34" charset="-120"/>
              </a:rPr>
              <a:t>Styling errors</a:t>
            </a:r>
            <a:endParaRPr lang="en-US" sz="1100" dirty="0"/>
          </a:p>
        </p:txBody>
      </p:sp>
      <p:sp>
        <p:nvSpPr>
          <p:cNvPr id="38" name="Shape 36"/>
          <p:cNvSpPr/>
          <p:nvPr/>
        </p:nvSpPr>
        <p:spPr>
          <a:xfrm>
            <a:off x="3611880" y="4178808"/>
            <a:ext cx="2423160" cy="640080"/>
          </a:xfrm>
          <a:prstGeom prst="rect">
            <a:avLst/>
          </a:prstGeom>
          <a:solidFill>
            <a:srgbClr val="E8EDFF"/>
          </a:solidFill>
          <a:ln w="12700">
            <a:solidFill>
              <a:srgbClr val="CBD5FF"/>
            </a:solidFill>
            <a:prstDash val="solid"/>
          </a:ln>
        </p:spPr>
      </p:sp>
      <p:sp>
        <p:nvSpPr>
          <p:cNvPr id="39" name="Text 37"/>
          <p:cNvSpPr txBox="1"/>
          <p:nvPr/>
        </p:nvSpPr>
        <p:spPr>
          <a:xfrm>
            <a:off x="3657600" y="4178808"/>
            <a:ext cx="2331720" cy="640080"/>
          </a:xfrm>
          <a:prstGeom prst="rect">
            <a:avLst/>
          </a:prstGeom>
          <a:noFill/>
          <a:ln/>
        </p:spPr>
        <p:txBody>
          <a:bodyPr wrap="square" lIns="0" tIns="0" rIns="0" bIns="0" rtlCol="0" anchor="ctr"/>
          <a:lstStyle/>
          <a:p>
            <a:pPr algn="ctr" indent="0" marL="0">
              <a:buNone/>
            </a:pPr>
            <a:r>
              <a:rPr lang="en-US" sz="1000" dirty="0">
                <a:solidFill>
                  <a:srgbClr val="C62828"/>
                </a:solidFill>
                <a:latin typeface="Calibri" pitchFamily="34" charset="0"/>
                <a:ea typeface="Calibri" pitchFamily="34" charset="-122"/>
                <a:cs typeface="Calibri" pitchFamily="34" charset="-120"/>
              </a:rPr>
              <a:t>Browser-styled bubble</a:t>
            </a:r>
            <a:endParaRPr lang="en-US" sz="1000" dirty="0"/>
          </a:p>
        </p:txBody>
      </p:sp>
      <p:sp>
        <p:nvSpPr>
          <p:cNvPr id="40" name="Shape 38"/>
          <p:cNvSpPr/>
          <p:nvPr/>
        </p:nvSpPr>
        <p:spPr>
          <a:xfrm>
            <a:off x="6080760" y="4178808"/>
            <a:ext cx="2743200" cy="640080"/>
          </a:xfrm>
          <a:prstGeom prst="rect">
            <a:avLst/>
          </a:prstGeom>
          <a:solidFill>
            <a:srgbClr val="E8EDFF"/>
          </a:solidFill>
          <a:ln w="12700">
            <a:solidFill>
              <a:srgbClr val="CBD5FF"/>
            </a:solidFill>
            <a:prstDash val="solid"/>
          </a:ln>
        </p:spPr>
      </p:sp>
      <p:sp>
        <p:nvSpPr>
          <p:cNvPr id="41" name="Text 39"/>
          <p:cNvSpPr txBox="1"/>
          <p:nvPr/>
        </p:nvSpPr>
        <p:spPr>
          <a:xfrm>
            <a:off x="6126480" y="4178808"/>
            <a:ext cx="2651760" cy="640080"/>
          </a:xfrm>
          <a:prstGeom prst="rect">
            <a:avLst/>
          </a:prstGeom>
          <a:noFill/>
          <a:ln/>
        </p:spPr>
        <p:txBody>
          <a:bodyPr wrap="square" lIns="0" tIns="0" rIns="0" bIns="0" rtlCol="0" anchor="ctr"/>
          <a:lstStyle/>
          <a:p>
            <a:pPr algn="ctr" indent="0" marL="0">
              <a:buNone/>
            </a:pPr>
            <a:r>
              <a:rPr lang="en-US" sz="1000" dirty="0">
                <a:solidFill>
                  <a:srgbClr val="1B5E20"/>
                </a:solidFill>
                <a:latin typeface="Calibri" pitchFamily="34" charset="0"/>
                <a:ea typeface="Calibri" pitchFamily="34" charset="-122"/>
                <a:cs typeface="Calibri" pitchFamily="34" charset="-120"/>
              </a:rPr>
              <a:t>Full CSS control over error state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3200400" cy="5143500"/>
          </a:xfrm>
          <a:prstGeom prst="rect">
            <a:avLst/>
          </a:prstGeom>
          <a:solidFill>
            <a:srgbClr val="1A2540"/>
          </a:solidFill>
          <a:ln w="12700">
            <a:solidFill>
              <a:srgbClr val="1A2540"/>
            </a:solidFill>
            <a:prstDash val="solid"/>
          </a:ln>
        </p:spPr>
      </p:sp>
      <p:sp>
        <p:nvSpPr>
          <p:cNvPr id="4" name="Text 2"/>
          <p:cNvSpPr txBox="1"/>
          <p:nvPr/>
        </p:nvSpPr>
        <p:spPr>
          <a:xfrm>
            <a:off x="182880" y="228600"/>
            <a:ext cx="2834640" cy="914400"/>
          </a:xfrm>
          <a:prstGeom prst="rect">
            <a:avLst/>
          </a:prstGeom>
          <a:noFill/>
          <a:ln/>
        </p:spPr>
        <p:txBody>
          <a:bodyPr wrap="square" lIns="0" tIns="0" rIns="0" bIns="0" rtlCol="0" anchor="t"/>
          <a:lstStyle/>
          <a:p>
            <a:pPr algn="l" indent="0" marL="0">
              <a:buNone/>
            </a:pPr>
            <a:r>
              <a:rPr lang="en-US" sz="2000" b="1" dirty="0">
                <a:solidFill>
                  <a:srgbClr val="FFFFFF"/>
                </a:solidFill>
                <a:latin typeface="Calibri" pitchFamily="34" charset="0"/>
                <a:ea typeface="Calibri" pitchFamily="34" charset="-122"/>
                <a:cs typeface="Calibri" pitchFamily="34" charset="-120"/>
              </a:rPr>
              <a:t>event.</a:t>
            </a:r>
            <a:endParaRPr lang="en-US" sz="2000" dirty="0"/>
          </a:p>
          <a:p>
            <a:pPr algn="l" indent="0" marL="0">
              <a:buNone/>
            </a:pPr>
            <a:r>
              <a:rPr lang="en-US" sz="2000" b="1" dirty="0">
                <a:solidFill>
                  <a:srgbClr val="FFFFFF"/>
                </a:solidFill>
                <a:latin typeface="Calibri" pitchFamily="34" charset="0"/>
                <a:ea typeface="Calibri" pitchFamily="34" charset="-122"/>
                <a:cs typeface="Calibri" pitchFamily="34" charset="-120"/>
              </a:rPr>
              <a:t>preventDefault()</a:t>
            </a:r>
            <a:endParaRPr lang="en-US" sz="2000" dirty="0"/>
          </a:p>
        </p:txBody>
      </p:sp>
      <p:sp>
        <p:nvSpPr>
          <p:cNvPr id="5" name="Shape 3"/>
          <p:cNvSpPr/>
          <p:nvPr/>
        </p:nvSpPr>
        <p:spPr>
          <a:xfrm>
            <a:off x="182880" y="1188720"/>
            <a:ext cx="2560320" cy="45720"/>
          </a:xfrm>
          <a:prstGeom prst="rect">
            <a:avLst/>
          </a:prstGeom>
          <a:solidFill>
            <a:srgbClr val="F7DF1E"/>
          </a:solidFill>
          <a:ln w="12700">
            <a:solidFill>
              <a:srgbClr val="F7DF1E"/>
            </a:solidFill>
            <a:prstDash val="solid"/>
          </a:ln>
        </p:spPr>
      </p:sp>
      <p:sp>
        <p:nvSpPr>
          <p:cNvPr id="6" name="Text 4"/>
          <p:cNvSpPr txBox="1"/>
          <p:nvPr/>
        </p:nvSpPr>
        <p:spPr>
          <a:xfrm>
            <a:off x="182880" y="1261872"/>
            <a:ext cx="2834640" cy="365760"/>
          </a:xfrm>
          <a:prstGeom prst="rect">
            <a:avLst/>
          </a:prstGeom>
          <a:noFill/>
          <a:ln/>
        </p:spPr>
        <p:txBody>
          <a:bodyPr wrap="square" lIns="0" tIns="0" rIns="0" bIns="0" rtlCol="0" anchor="t"/>
          <a:lstStyle/>
          <a:p>
            <a:pPr algn="l" indent="0" marL="0">
              <a:buNone/>
            </a:pPr>
            <a:r>
              <a:rPr lang="en-US" sz="1100" dirty="0">
                <a:solidFill>
                  <a:srgbClr val="CDD6F4"/>
                </a:solidFill>
                <a:latin typeface="Calibri" pitchFamily="34" charset="0"/>
                <a:ea typeface="Calibri" pitchFamily="34" charset="-122"/>
                <a:cs typeface="Calibri" pitchFamily="34" charset="-120"/>
              </a:rPr>
              <a:t>Stop &amp; validate before submit</a:t>
            </a:r>
            <a:endParaRPr lang="en-US" sz="1100" dirty="0"/>
          </a:p>
        </p:txBody>
      </p:sp>
      <p:sp>
        <p:nvSpPr>
          <p:cNvPr id="7" name="Text 5"/>
          <p:cNvSpPr txBox="1"/>
          <p:nvPr/>
        </p:nvSpPr>
        <p:spPr>
          <a:xfrm>
            <a:off x="182880" y="132588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submit event</a:t>
            </a:r>
            <a:endParaRPr lang="en-US" sz="1200" dirty="0"/>
          </a:p>
        </p:txBody>
      </p:sp>
      <p:sp>
        <p:nvSpPr>
          <p:cNvPr id="8" name="Text 6"/>
          <p:cNvSpPr txBox="1"/>
          <p:nvPr/>
        </p:nvSpPr>
        <p:spPr>
          <a:xfrm>
            <a:off x="182880" y="162763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Fires when form is submitted</a:t>
            </a:r>
            <a:endParaRPr lang="en-US" sz="1000" dirty="0"/>
          </a:p>
        </p:txBody>
      </p:sp>
      <p:sp>
        <p:nvSpPr>
          <p:cNvPr id="9" name="Text 7"/>
          <p:cNvSpPr txBox="1"/>
          <p:nvPr/>
        </p:nvSpPr>
        <p:spPr>
          <a:xfrm>
            <a:off x="182880" y="196596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preventDefault()</a:t>
            </a:r>
            <a:endParaRPr lang="en-US" sz="1200" dirty="0"/>
          </a:p>
        </p:txBody>
      </p:sp>
      <p:sp>
        <p:nvSpPr>
          <p:cNvPr id="10" name="Text 8"/>
          <p:cNvSpPr txBox="1"/>
          <p:nvPr/>
        </p:nvSpPr>
        <p:spPr>
          <a:xfrm>
            <a:off x="182880" y="226771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Stop the page from reloading</a:t>
            </a:r>
            <a:endParaRPr lang="en-US" sz="1000" dirty="0"/>
          </a:p>
        </p:txBody>
      </p:sp>
      <p:sp>
        <p:nvSpPr>
          <p:cNvPr id="11" name="Text 9"/>
          <p:cNvSpPr txBox="1"/>
          <p:nvPr/>
        </p:nvSpPr>
        <p:spPr>
          <a:xfrm>
            <a:off x="182880" y="260604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validate()</a:t>
            </a:r>
            <a:endParaRPr lang="en-US" sz="1200" dirty="0"/>
          </a:p>
        </p:txBody>
      </p:sp>
      <p:sp>
        <p:nvSpPr>
          <p:cNvPr id="12" name="Text 10"/>
          <p:cNvSpPr txBox="1"/>
          <p:nvPr/>
        </p:nvSpPr>
        <p:spPr>
          <a:xfrm>
            <a:off x="182880" y="290779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Our own check function</a:t>
            </a:r>
            <a:endParaRPr lang="en-US" sz="1000" dirty="0"/>
          </a:p>
        </p:txBody>
      </p:sp>
      <p:sp>
        <p:nvSpPr>
          <p:cNvPr id="13" name="Text 11"/>
          <p:cNvSpPr txBox="1"/>
          <p:nvPr/>
        </p:nvSpPr>
        <p:spPr>
          <a:xfrm>
            <a:off x="182880" y="324612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return false</a:t>
            </a:r>
            <a:endParaRPr lang="en-US" sz="1200" dirty="0"/>
          </a:p>
        </p:txBody>
      </p:sp>
      <p:sp>
        <p:nvSpPr>
          <p:cNvPr id="14" name="Text 12"/>
          <p:cNvSpPr txBox="1"/>
          <p:nvPr/>
        </p:nvSpPr>
        <p:spPr>
          <a:xfrm>
            <a:off x="182880" y="354787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Old way — avoid in modern JS</a:t>
            </a:r>
            <a:endParaRPr lang="en-US" sz="1000" dirty="0"/>
          </a:p>
        </p:txBody>
      </p:sp>
      <p:sp>
        <p:nvSpPr>
          <p:cNvPr id="15" name="Text 13"/>
          <p:cNvSpPr txBox="1"/>
          <p:nvPr/>
        </p:nvSpPr>
        <p:spPr>
          <a:xfrm>
            <a:off x="182880" y="388620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novalidate</a:t>
            </a:r>
            <a:endParaRPr lang="en-US" sz="1200" dirty="0"/>
          </a:p>
        </p:txBody>
      </p:sp>
      <p:sp>
        <p:nvSpPr>
          <p:cNvPr id="16" name="Text 14"/>
          <p:cNvSpPr txBox="1"/>
          <p:nvPr/>
        </p:nvSpPr>
        <p:spPr>
          <a:xfrm>
            <a:off x="182880" y="418795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Add to &lt;form&gt; to disable HTML5</a:t>
            </a:r>
            <a:endParaRPr lang="en-US" sz="1000" dirty="0"/>
          </a:p>
        </p:txBody>
      </p:sp>
      <p:sp>
        <p:nvSpPr>
          <p:cNvPr id="17" name="Shape 15"/>
          <p:cNvSpPr/>
          <p:nvPr/>
        </p:nvSpPr>
        <p:spPr>
          <a:xfrm>
            <a:off x="3337560" y="182880"/>
            <a:ext cx="5577840" cy="4754880"/>
          </a:xfrm>
          <a:prstGeom prst="rect">
            <a:avLst/>
          </a:prstGeom>
          <a:solidFill>
            <a:srgbClr val="1E2336"/>
          </a:solidFill>
          <a:ln w="12700">
            <a:solidFill>
              <a:srgbClr val="2D3250"/>
            </a:solidFill>
            <a:prstDash val="solid"/>
          </a:ln>
        </p:spPr>
      </p:sp>
      <p:sp>
        <p:nvSpPr>
          <p:cNvPr id="18" name="Shape 16"/>
          <p:cNvSpPr/>
          <p:nvPr/>
        </p:nvSpPr>
        <p:spPr>
          <a:xfrm>
            <a:off x="3456432" y="283464"/>
            <a:ext cx="118872" cy="118872"/>
          </a:xfrm>
          <a:prstGeom prst="ellipse">
            <a:avLst/>
          </a:prstGeom>
          <a:solidFill>
            <a:srgbClr val="FF5F56"/>
          </a:solidFill>
          <a:ln w="12700">
            <a:solidFill>
              <a:srgbClr val="FF5F56"/>
            </a:solidFill>
            <a:prstDash val="solid"/>
          </a:ln>
        </p:spPr>
      </p:sp>
      <p:sp>
        <p:nvSpPr>
          <p:cNvPr id="19" name="Shape 17"/>
          <p:cNvSpPr/>
          <p:nvPr/>
        </p:nvSpPr>
        <p:spPr>
          <a:xfrm>
            <a:off x="3657600" y="283464"/>
            <a:ext cx="118872" cy="118872"/>
          </a:xfrm>
          <a:prstGeom prst="ellipse">
            <a:avLst/>
          </a:prstGeom>
          <a:solidFill>
            <a:srgbClr val="FFBD2E"/>
          </a:solidFill>
          <a:ln w="12700">
            <a:solidFill>
              <a:srgbClr val="FFBD2E"/>
            </a:solidFill>
            <a:prstDash val="solid"/>
          </a:ln>
        </p:spPr>
      </p:sp>
      <p:sp>
        <p:nvSpPr>
          <p:cNvPr id="20" name="Shape 18"/>
          <p:cNvSpPr/>
          <p:nvPr/>
        </p:nvSpPr>
        <p:spPr>
          <a:xfrm>
            <a:off x="3858768" y="283464"/>
            <a:ext cx="118872" cy="118872"/>
          </a:xfrm>
          <a:prstGeom prst="ellipse">
            <a:avLst/>
          </a:prstGeom>
          <a:solidFill>
            <a:srgbClr val="27C93F"/>
          </a:solidFill>
          <a:ln w="12700">
            <a:solidFill>
              <a:srgbClr val="27C93F"/>
            </a:solidFill>
            <a:prstDash val="solid"/>
          </a:ln>
        </p:spPr>
      </p:sp>
      <p:sp>
        <p:nvSpPr>
          <p:cNvPr id="21" name="Text 19"/>
          <p:cNvSpPr txBox="1"/>
          <p:nvPr/>
        </p:nvSpPr>
        <p:spPr>
          <a:xfrm>
            <a:off x="3474720" y="475488"/>
            <a:ext cx="5303520" cy="4343400"/>
          </a:xfrm>
          <a:prstGeom prst="rect">
            <a:avLst/>
          </a:prstGeom>
          <a:noFill/>
          <a:ln/>
        </p:spPr>
        <p:txBody>
          <a:bodyPr wrap="square" lIns="0" tIns="0" rIns="0" bIns="0" rtlCol="0" anchor="t"/>
          <a:lstStyle/>
          <a:p>
            <a:pPr algn="l" indent="0" marL="0">
              <a:buNone/>
            </a:pPr>
            <a:r>
              <a:rPr lang="en-US" sz="1000" dirty="0">
                <a:solidFill>
                  <a:srgbClr val="64FFDA"/>
                </a:solidFill>
                <a:latin typeface="Courier New" pitchFamily="34" charset="0"/>
                <a:ea typeface="Courier New" pitchFamily="34" charset="-122"/>
                <a:cs typeface="Courier New" pitchFamily="34" charset="-120"/>
              </a:rPr>
              <a:t>// Add novalidate to &lt;form&gt; first!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&lt;form id="reg-form" novalidate&gt;</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const form = document.getElementById(</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"reg-form"</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form.addEventListener("submit",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function(event) {</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 Stop the browser reload</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event.preventDefault();</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if (validateForm()) {</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 All checks passed!</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form.submit();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 else: stay on page, show errors</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3200400" cy="5143500"/>
          </a:xfrm>
          <a:prstGeom prst="rect">
            <a:avLst/>
          </a:prstGeom>
          <a:solidFill>
            <a:srgbClr val="1A2540"/>
          </a:solidFill>
          <a:ln w="12700">
            <a:solidFill>
              <a:srgbClr val="1A2540"/>
            </a:solidFill>
            <a:prstDash val="solid"/>
          </a:ln>
        </p:spPr>
      </p:sp>
      <p:sp>
        <p:nvSpPr>
          <p:cNvPr id="4" name="Text 2"/>
          <p:cNvSpPr txBox="1"/>
          <p:nvPr/>
        </p:nvSpPr>
        <p:spPr>
          <a:xfrm>
            <a:off x="182880" y="228600"/>
            <a:ext cx="2834640" cy="914400"/>
          </a:xfrm>
          <a:prstGeom prst="rect">
            <a:avLst/>
          </a:prstGeom>
          <a:noFill/>
          <a:ln/>
        </p:spPr>
        <p:txBody>
          <a:bodyPr wrap="square" lIns="0" tIns="0" rIns="0" bIns="0" rtlCol="0" anchor="t"/>
          <a:lstStyle/>
          <a:p>
            <a:pPr algn="l" indent="0" marL="0">
              <a:buNone/>
            </a:pPr>
            <a:r>
              <a:rPr lang="en-US" sz="2000" b="1" dirty="0">
                <a:solidFill>
                  <a:srgbClr val="FFFFFF"/>
                </a:solidFill>
                <a:latin typeface="Calibri" pitchFamily="34" charset="0"/>
                <a:ea typeface="Calibri" pitchFamily="34" charset="-122"/>
                <a:cs typeface="Calibri" pitchFamily="34" charset="-120"/>
              </a:rPr>
              <a:t>checkValidity()</a:t>
            </a:r>
            <a:endParaRPr lang="en-US" sz="2000" dirty="0"/>
          </a:p>
          <a:p>
            <a:pPr algn="l" indent="0" marL="0">
              <a:buNone/>
            </a:pPr>
            <a:r>
              <a:rPr lang="en-US" sz="2000" b="1" dirty="0">
                <a:solidFill>
                  <a:srgbClr val="FFFFFF"/>
                </a:solidFill>
                <a:latin typeface="Calibri" pitchFamily="34" charset="0"/>
                <a:ea typeface="Calibri" pitchFamily="34" charset="-122"/>
                <a:cs typeface="Calibri" pitchFamily="34" charset="-120"/>
              </a:rPr>
              <a:t>&amp; setCustom</a:t>
            </a:r>
            <a:endParaRPr lang="en-US" sz="2000" dirty="0"/>
          </a:p>
          <a:p>
            <a:pPr algn="l" indent="0" marL="0">
              <a:buNone/>
            </a:pPr>
            <a:r>
              <a:rPr lang="en-US" sz="2000" b="1" dirty="0">
                <a:solidFill>
                  <a:srgbClr val="FFFFFF"/>
                </a:solidFill>
                <a:latin typeface="Calibri" pitchFamily="34" charset="0"/>
                <a:ea typeface="Calibri" pitchFamily="34" charset="-122"/>
                <a:cs typeface="Calibri" pitchFamily="34" charset="-120"/>
              </a:rPr>
              <a:t>Validity()</a:t>
            </a:r>
            <a:endParaRPr lang="en-US" sz="2000" dirty="0"/>
          </a:p>
        </p:txBody>
      </p:sp>
      <p:sp>
        <p:nvSpPr>
          <p:cNvPr id="5" name="Shape 3"/>
          <p:cNvSpPr/>
          <p:nvPr/>
        </p:nvSpPr>
        <p:spPr>
          <a:xfrm>
            <a:off x="182880" y="1188720"/>
            <a:ext cx="2560320" cy="45720"/>
          </a:xfrm>
          <a:prstGeom prst="rect">
            <a:avLst/>
          </a:prstGeom>
          <a:solidFill>
            <a:srgbClr val="F7DF1E"/>
          </a:solidFill>
          <a:ln w="12700">
            <a:solidFill>
              <a:srgbClr val="F7DF1E"/>
            </a:solidFill>
            <a:prstDash val="solid"/>
          </a:ln>
        </p:spPr>
      </p:sp>
      <p:sp>
        <p:nvSpPr>
          <p:cNvPr id="6" name="Text 4"/>
          <p:cNvSpPr txBox="1"/>
          <p:nvPr/>
        </p:nvSpPr>
        <p:spPr>
          <a:xfrm>
            <a:off x="182880" y="1261872"/>
            <a:ext cx="2834640" cy="365760"/>
          </a:xfrm>
          <a:prstGeom prst="rect">
            <a:avLst/>
          </a:prstGeom>
          <a:noFill/>
          <a:ln/>
        </p:spPr>
        <p:txBody>
          <a:bodyPr wrap="square" lIns="0" tIns="0" rIns="0" bIns="0" rtlCol="0" anchor="t"/>
          <a:lstStyle/>
          <a:p>
            <a:pPr algn="l" indent="0" marL="0">
              <a:buNone/>
            </a:pPr>
            <a:r>
              <a:rPr lang="en-US" sz="1100" dirty="0">
                <a:solidFill>
                  <a:srgbClr val="CDD6F4"/>
                </a:solidFill>
                <a:latin typeface="Calibri" pitchFamily="34" charset="0"/>
                <a:ea typeface="Calibri" pitchFamily="34" charset="-122"/>
                <a:cs typeface="Calibri" pitchFamily="34" charset="-120"/>
              </a:rPr>
              <a:t>Built-in JS validation API</a:t>
            </a:r>
            <a:endParaRPr lang="en-US" sz="1100" dirty="0"/>
          </a:p>
        </p:txBody>
      </p:sp>
      <p:sp>
        <p:nvSpPr>
          <p:cNvPr id="7" name="Text 5"/>
          <p:cNvSpPr txBox="1"/>
          <p:nvPr/>
        </p:nvSpPr>
        <p:spPr>
          <a:xfrm>
            <a:off x="182880" y="132588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checkValidity()</a:t>
            </a:r>
            <a:endParaRPr lang="en-US" sz="1200" dirty="0"/>
          </a:p>
        </p:txBody>
      </p:sp>
      <p:sp>
        <p:nvSpPr>
          <p:cNvPr id="8" name="Text 6"/>
          <p:cNvSpPr txBox="1"/>
          <p:nvPr/>
        </p:nvSpPr>
        <p:spPr>
          <a:xfrm>
            <a:off x="182880" y="162763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Returns true/false</a:t>
            </a:r>
            <a:endParaRPr lang="en-US" sz="1000" dirty="0"/>
          </a:p>
        </p:txBody>
      </p:sp>
      <p:sp>
        <p:nvSpPr>
          <p:cNvPr id="9" name="Text 7"/>
          <p:cNvSpPr txBox="1"/>
          <p:nvPr/>
        </p:nvSpPr>
        <p:spPr>
          <a:xfrm>
            <a:off x="182880" y="196596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setCustomValidity()</a:t>
            </a:r>
            <a:endParaRPr lang="en-US" sz="1200" dirty="0"/>
          </a:p>
        </p:txBody>
      </p:sp>
      <p:sp>
        <p:nvSpPr>
          <p:cNvPr id="10" name="Text 8"/>
          <p:cNvSpPr txBox="1"/>
          <p:nvPr/>
        </p:nvSpPr>
        <p:spPr>
          <a:xfrm>
            <a:off x="182880" y="226771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Set a custom error string</a:t>
            </a:r>
            <a:endParaRPr lang="en-US" sz="1000" dirty="0"/>
          </a:p>
        </p:txBody>
      </p:sp>
      <p:sp>
        <p:nvSpPr>
          <p:cNvPr id="11" name="Text 9"/>
          <p:cNvSpPr txBox="1"/>
          <p:nvPr/>
        </p:nvSpPr>
        <p:spPr>
          <a:xfrm>
            <a:off x="182880" y="260604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setCustomValidity("")</a:t>
            </a:r>
            <a:endParaRPr lang="en-US" sz="1200" dirty="0"/>
          </a:p>
        </p:txBody>
      </p:sp>
      <p:sp>
        <p:nvSpPr>
          <p:cNvPr id="12" name="Text 10"/>
          <p:cNvSpPr txBox="1"/>
          <p:nvPr/>
        </p:nvSpPr>
        <p:spPr>
          <a:xfrm>
            <a:off x="182880" y="290779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Clear error (mark valid)</a:t>
            </a:r>
            <a:endParaRPr lang="en-US" sz="1000" dirty="0"/>
          </a:p>
        </p:txBody>
      </p:sp>
      <p:sp>
        <p:nvSpPr>
          <p:cNvPr id="13" name="Text 11"/>
          <p:cNvSpPr txBox="1"/>
          <p:nvPr/>
        </p:nvSpPr>
        <p:spPr>
          <a:xfrm>
            <a:off x="182880" y="324612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reportValidity()</a:t>
            </a:r>
            <a:endParaRPr lang="en-US" sz="1200" dirty="0"/>
          </a:p>
        </p:txBody>
      </p:sp>
      <p:sp>
        <p:nvSpPr>
          <p:cNvPr id="14" name="Text 12"/>
          <p:cNvSpPr txBox="1"/>
          <p:nvPr/>
        </p:nvSpPr>
        <p:spPr>
          <a:xfrm>
            <a:off x="182880" y="354787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Show the browser tooltip</a:t>
            </a:r>
            <a:endParaRPr lang="en-US" sz="1000" dirty="0"/>
          </a:p>
        </p:txBody>
      </p:sp>
      <p:sp>
        <p:nvSpPr>
          <p:cNvPr id="15" name="Shape 13"/>
          <p:cNvSpPr/>
          <p:nvPr/>
        </p:nvSpPr>
        <p:spPr>
          <a:xfrm>
            <a:off x="3337560" y="182880"/>
            <a:ext cx="5577840" cy="4754880"/>
          </a:xfrm>
          <a:prstGeom prst="rect">
            <a:avLst/>
          </a:prstGeom>
          <a:solidFill>
            <a:srgbClr val="1E2336"/>
          </a:solidFill>
          <a:ln w="12700">
            <a:solidFill>
              <a:srgbClr val="2D3250"/>
            </a:solidFill>
            <a:prstDash val="solid"/>
          </a:ln>
        </p:spPr>
      </p:sp>
      <p:sp>
        <p:nvSpPr>
          <p:cNvPr id="16" name="Shape 14"/>
          <p:cNvSpPr/>
          <p:nvPr/>
        </p:nvSpPr>
        <p:spPr>
          <a:xfrm>
            <a:off x="3456432" y="283464"/>
            <a:ext cx="118872" cy="118872"/>
          </a:xfrm>
          <a:prstGeom prst="ellipse">
            <a:avLst/>
          </a:prstGeom>
          <a:solidFill>
            <a:srgbClr val="FF5F56"/>
          </a:solidFill>
          <a:ln w="12700">
            <a:solidFill>
              <a:srgbClr val="FF5F56"/>
            </a:solidFill>
            <a:prstDash val="solid"/>
          </a:ln>
        </p:spPr>
      </p:sp>
      <p:sp>
        <p:nvSpPr>
          <p:cNvPr id="17" name="Shape 15"/>
          <p:cNvSpPr/>
          <p:nvPr/>
        </p:nvSpPr>
        <p:spPr>
          <a:xfrm>
            <a:off x="3657600" y="283464"/>
            <a:ext cx="118872" cy="118872"/>
          </a:xfrm>
          <a:prstGeom prst="ellipse">
            <a:avLst/>
          </a:prstGeom>
          <a:solidFill>
            <a:srgbClr val="FFBD2E"/>
          </a:solidFill>
          <a:ln w="12700">
            <a:solidFill>
              <a:srgbClr val="FFBD2E"/>
            </a:solidFill>
            <a:prstDash val="solid"/>
          </a:ln>
        </p:spPr>
      </p:sp>
      <p:sp>
        <p:nvSpPr>
          <p:cNvPr id="18" name="Shape 16"/>
          <p:cNvSpPr/>
          <p:nvPr/>
        </p:nvSpPr>
        <p:spPr>
          <a:xfrm>
            <a:off x="3858768" y="283464"/>
            <a:ext cx="118872" cy="118872"/>
          </a:xfrm>
          <a:prstGeom prst="ellipse">
            <a:avLst/>
          </a:prstGeom>
          <a:solidFill>
            <a:srgbClr val="27C93F"/>
          </a:solidFill>
          <a:ln w="12700">
            <a:solidFill>
              <a:srgbClr val="27C93F"/>
            </a:solidFill>
            <a:prstDash val="solid"/>
          </a:ln>
        </p:spPr>
      </p:sp>
      <p:sp>
        <p:nvSpPr>
          <p:cNvPr id="19" name="Text 17"/>
          <p:cNvSpPr txBox="1"/>
          <p:nvPr/>
        </p:nvSpPr>
        <p:spPr>
          <a:xfrm>
            <a:off x="3474720" y="475488"/>
            <a:ext cx="5303520" cy="4343400"/>
          </a:xfrm>
          <a:prstGeom prst="rect">
            <a:avLst/>
          </a:prstGeom>
          <a:noFill/>
          <a:ln/>
        </p:spPr>
        <p:txBody>
          <a:bodyPr wrap="square" lIns="0" tIns="0" rIns="0" bIns="0" rtlCol="0" anchor="t"/>
          <a:lstStyle/>
          <a:p>
            <a:pPr algn="l" indent="0" marL="0">
              <a:buNone/>
            </a:pPr>
            <a:r>
              <a:rPr lang="en-US" sz="1000" dirty="0">
                <a:solidFill>
                  <a:srgbClr val="64FFDA"/>
                </a:solidFill>
                <a:latin typeface="Courier New" pitchFamily="34" charset="0"/>
                <a:ea typeface="Courier New" pitchFamily="34" charset="-122"/>
                <a:cs typeface="Courier New" pitchFamily="34" charset="-120"/>
              </a:rPr>
              <a:t>const sid = document.getElementById("sid");</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Check if input passes its HTML5 rules</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if (!sid.checkValidity()) {</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console.log(sid.validationMessage);</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Set a CUSTOM error message</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function validateSID() {</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const val = sid.value;</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if (!/^\d{9}$/.test(val)) {</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sid.setCustomValidity(</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"Student ID must be 9 digits"</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 else {</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 IMPORTANT: clear the error</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sid.setCustomValidity("");</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3200400" cy="5143500"/>
          </a:xfrm>
          <a:prstGeom prst="rect">
            <a:avLst/>
          </a:prstGeom>
          <a:solidFill>
            <a:srgbClr val="1A2540"/>
          </a:solidFill>
          <a:ln w="12700">
            <a:solidFill>
              <a:srgbClr val="1A2540"/>
            </a:solidFill>
            <a:prstDash val="solid"/>
          </a:ln>
        </p:spPr>
      </p:sp>
      <p:sp>
        <p:nvSpPr>
          <p:cNvPr id="4" name="Text 2"/>
          <p:cNvSpPr txBox="1"/>
          <p:nvPr/>
        </p:nvSpPr>
        <p:spPr>
          <a:xfrm>
            <a:off x="182880" y="228600"/>
            <a:ext cx="2834640" cy="914400"/>
          </a:xfrm>
          <a:prstGeom prst="rect">
            <a:avLst/>
          </a:prstGeom>
          <a:noFill/>
          <a:ln/>
        </p:spPr>
        <p:txBody>
          <a:bodyPr wrap="square" lIns="0" tIns="0" rIns="0" bIns="0" rtlCol="0" anchor="t"/>
          <a:lstStyle/>
          <a:p>
            <a:pPr algn="l" indent="0" marL="0">
              <a:buNone/>
            </a:pPr>
            <a:r>
              <a:rPr lang="en-US" sz="2000" b="1" dirty="0">
                <a:solidFill>
                  <a:srgbClr val="FFFFFF"/>
                </a:solidFill>
                <a:latin typeface="Calibri" pitchFamily="34" charset="0"/>
                <a:ea typeface="Calibri" pitchFamily="34" charset="-122"/>
                <a:cs typeface="Calibri" pitchFamily="34" charset="-120"/>
              </a:rPr>
              <a:t>The validity</a:t>
            </a:r>
            <a:endParaRPr lang="en-US" sz="2000" dirty="0"/>
          </a:p>
          <a:p>
            <a:pPr algn="l" indent="0" marL="0">
              <a:buNone/>
            </a:pPr>
            <a:r>
              <a:rPr lang="en-US" sz="2000" b="1" dirty="0">
                <a:solidFill>
                  <a:srgbClr val="FFFFFF"/>
                </a:solidFill>
                <a:latin typeface="Calibri" pitchFamily="34" charset="0"/>
                <a:ea typeface="Calibri" pitchFamily="34" charset="-122"/>
                <a:cs typeface="Calibri" pitchFamily="34" charset="-120"/>
              </a:rPr>
              <a:t>Object</a:t>
            </a:r>
            <a:endParaRPr lang="en-US" sz="2000" dirty="0"/>
          </a:p>
        </p:txBody>
      </p:sp>
      <p:sp>
        <p:nvSpPr>
          <p:cNvPr id="5" name="Shape 3"/>
          <p:cNvSpPr/>
          <p:nvPr/>
        </p:nvSpPr>
        <p:spPr>
          <a:xfrm>
            <a:off x="182880" y="1188720"/>
            <a:ext cx="2560320" cy="45720"/>
          </a:xfrm>
          <a:prstGeom prst="rect">
            <a:avLst/>
          </a:prstGeom>
          <a:solidFill>
            <a:srgbClr val="F7DF1E"/>
          </a:solidFill>
          <a:ln w="12700">
            <a:solidFill>
              <a:srgbClr val="F7DF1E"/>
            </a:solidFill>
            <a:prstDash val="solid"/>
          </a:ln>
        </p:spPr>
      </p:sp>
      <p:sp>
        <p:nvSpPr>
          <p:cNvPr id="6" name="Text 4"/>
          <p:cNvSpPr txBox="1"/>
          <p:nvPr/>
        </p:nvSpPr>
        <p:spPr>
          <a:xfrm>
            <a:off x="182880" y="1261872"/>
            <a:ext cx="2834640" cy="365760"/>
          </a:xfrm>
          <a:prstGeom prst="rect">
            <a:avLst/>
          </a:prstGeom>
          <a:noFill/>
          <a:ln/>
        </p:spPr>
        <p:txBody>
          <a:bodyPr wrap="square" lIns="0" tIns="0" rIns="0" bIns="0" rtlCol="0" anchor="t"/>
          <a:lstStyle/>
          <a:p>
            <a:pPr algn="l" indent="0" marL="0">
              <a:buNone/>
            </a:pPr>
            <a:r>
              <a:rPr lang="en-US" sz="1100" dirty="0">
                <a:solidFill>
                  <a:srgbClr val="CDD6F4"/>
                </a:solidFill>
                <a:latin typeface="Calibri" pitchFamily="34" charset="0"/>
                <a:ea typeface="Calibri" pitchFamily="34" charset="-122"/>
                <a:cs typeface="Calibri" pitchFamily="34" charset="-120"/>
              </a:rPr>
              <a:t>Fine-grained error info</a:t>
            </a:r>
            <a:endParaRPr lang="en-US" sz="1100" dirty="0"/>
          </a:p>
        </p:txBody>
      </p:sp>
      <p:sp>
        <p:nvSpPr>
          <p:cNvPr id="7" name="Text 5"/>
          <p:cNvSpPr txBox="1"/>
          <p:nvPr/>
        </p:nvSpPr>
        <p:spPr>
          <a:xfrm>
            <a:off x="182880" y="132588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valueMissing</a:t>
            </a:r>
            <a:endParaRPr lang="en-US" sz="1200" dirty="0"/>
          </a:p>
        </p:txBody>
      </p:sp>
      <p:sp>
        <p:nvSpPr>
          <p:cNvPr id="8" name="Text 6"/>
          <p:cNvSpPr txBox="1"/>
          <p:nvPr/>
        </p:nvSpPr>
        <p:spPr>
          <a:xfrm>
            <a:off x="182880" y="162763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required but empty</a:t>
            </a:r>
            <a:endParaRPr lang="en-US" sz="1000" dirty="0"/>
          </a:p>
        </p:txBody>
      </p:sp>
      <p:sp>
        <p:nvSpPr>
          <p:cNvPr id="9" name="Text 7"/>
          <p:cNvSpPr txBox="1"/>
          <p:nvPr/>
        </p:nvSpPr>
        <p:spPr>
          <a:xfrm>
            <a:off x="182880" y="196596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typeMismatch</a:t>
            </a:r>
            <a:endParaRPr lang="en-US" sz="1200" dirty="0"/>
          </a:p>
        </p:txBody>
      </p:sp>
      <p:sp>
        <p:nvSpPr>
          <p:cNvPr id="10" name="Text 8"/>
          <p:cNvSpPr txBox="1"/>
          <p:nvPr/>
        </p:nvSpPr>
        <p:spPr>
          <a:xfrm>
            <a:off x="182880" y="226771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Wrong type (email, url)</a:t>
            </a:r>
            <a:endParaRPr lang="en-US" sz="1000" dirty="0"/>
          </a:p>
        </p:txBody>
      </p:sp>
      <p:sp>
        <p:nvSpPr>
          <p:cNvPr id="11" name="Text 9"/>
          <p:cNvSpPr txBox="1"/>
          <p:nvPr/>
        </p:nvSpPr>
        <p:spPr>
          <a:xfrm>
            <a:off x="182880" y="260604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patternMismatch</a:t>
            </a:r>
            <a:endParaRPr lang="en-US" sz="1200" dirty="0"/>
          </a:p>
        </p:txBody>
      </p:sp>
      <p:sp>
        <p:nvSpPr>
          <p:cNvPr id="12" name="Text 10"/>
          <p:cNvSpPr txBox="1"/>
          <p:nvPr/>
        </p:nvSpPr>
        <p:spPr>
          <a:xfrm>
            <a:off x="182880" y="290779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RegEx pattern failed</a:t>
            </a:r>
            <a:endParaRPr lang="en-US" sz="1000" dirty="0"/>
          </a:p>
        </p:txBody>
      </p:sp>
      <p:sp>
        <p:nvSpPr>
          <p:cNvPr id="13" name="Text 11"/>
          <p:cNvSpPr txBox="1"/>
          <p:nvPr/>
        </p:nvSpPr>
        <p:spPr>
          <a:xfrm>
            <a:off x="182880" y="324612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tooShort/Long</a:t>
            </a:r>
            <a:endParaRPr lang="en-US" sz="1200" dirty="0"/>
          </a:p>
        </p:txBody>
      </p:sp>
      <p:sp>
        <p:nvSpPr>
          <p:cNvPr id="14" name="Text 12"/>
          <p:cNvSpPr txBox="1"/>
          <p:nvPr/>
        </p:nvSpPr>
        <p:spPr>
          <a:xfrm>
            <a:off x="182880" y="354787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minlength / maxlength</a:t>
            </a:r>
            <a:endParaRPr lang="en-US" sz="1000" dirty="0"/>
          </a:p>
        </p:txBody>
      </p:sp>
      <p:sp>
        <p:nvSpPr>
          <p:cNvPr id="15" name="Text 13"/>
          <p:cNvSpPr txBox="1"/>
          <p:nvPr/>
        </p:nvSpPr>
        <p:spPr>
          <a:xfrm>
            <a:off x="182880" y="388620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rangeUnderflow</a:t>
            </a:r>
            <a:endParaRPr lang="en-US" sz="1200" dirty="0"/>
          </a:p>
        </p:txBody>
      </p:sp>
      <p:sp>
        <p:nvSpPr>
          <p:cNvPr id="16" name="Text 14"/>
          <p:cNvSpPr txBox="1"/>
          <p:nvPr/>
        </p:nvSpPr>
        <p:spPr>
          <a:xfrm>
            <a:off x="182880" y="418795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Below min value</a:t>
            </a:r>
            <a:endParaRPr lang="en-US" sz="1000" dirty="0"/>
          </a:p>
        </p:txBody>
      </p:sp>
      <p:sp>
        <p:nvSpPr>
          <p:cNvPr id="17" name="Shape 15"/>
          <p:cNvSpPr/>
          <p:nvPr/>
        </p:nvSpPr>
        <p:spPr>
          <a:xfrm>
            <a:off x="3337560" y="182880"/>
            <a:ext cx="5577840" cy="4754880"/>
          </a:xfrm>
          <a:prstGeom prst="rect">
            <a:avLst/>
          </a:prstGeom>
          <a:solidFill>
            <a:srgbClr val="1E2336"/>
          </a:solidFill>
          <a:ln w="12700">
            <a:solidFill>
              <a:srgbClr val="2D3250"/>
            </a:solidFill>
            <a:prstDash val="solid"/>
          </a:ln>
        </p:spPr>
      </p:sp>
      <p:sp>
        <p:nvSpPr>
          <p:cNvPr id="18" name="Shape 16"/>
          <p:cNvSpPr/>
          <p:nvPr/>
        </p:nvSpPr>
        <p:spPr>
          <a:xfrm>
            <a:off x="3456432" y="283464"/>
            <a:ext cx="118872" cy="118872"/>
          </a:xfrm>
          <a:prstGeom prst="ellipse">
            <a:avLst/>
          </a:prstGeom>
          <a:solidFill>
            <a:srgbClr val="FF5F56"/>
          </a:solidFill>
          <a:ln w="12700">
            <a:solidFill>
              <a:srgbClr val="FF5F56"/>
            </a:solidFill>
            <a:prstDash val="solid"/>
          </a:ln>
        </p:spPr>
      </p:sp>
      <p:sp>
        <p:nvSpPr>
          <p:cNvPr id="19" name="Shape 17"/>
          <p:cNvSpPr/>
          <p:nvPr/>
        </p:nvSpPr>
        <p:spPr>
          <a:xfrm>
            <a:off x="3657600" y="283464"/>
            <a:ext cx="118872" cy="118872"/>
          </a:xfrm>
          <a:prstGeom prst="ellipse">
            <a:avLst/>
          </a:prstGeom>
          <a:solidFill>
            <a:srgbClr val="FFBD2E"/>
          </a:solidFill>
          <a:ln w="12700">
            <a:solidFill>
              <a:srgbClr val="FFBD2E"/>
            </a:solidFill>
            <a:prstDash val="solid"/>
          </a:ln>
        </p:spPr>
      </p:sp>
      <p:sp>
        <p:nvSpPr>
          <p:cNvPr id="20" name="Shape 18"/>
          <p:cNvSpPr/>
          <p:nvPr/>
        </p:nvSpPr>
        <p:spPr>
          <a:xfrm>
            <a:off x="3858768" y="283464"/>
            <a:ext cx="118872" cy="118872"/>
          </a:xfrm>
          <a:prstGeom prst="ellipse">
            <a:avLst/>
          </a:prstGeom>
          <a:solidFill>
            <a:srgbClr val="27C93F"/>
          </a:solidFill>
          <a:ln w="12700">
            <a:solidFill>
              <a:srgbClr val="27C93F"/>
            </a:solidFill>
            <a:prstDash val="solid"/>
          </a:ln>
        </p:spPr>
      </p:sp>
      <p:sp>
        <p:nvSpPr>
          <p:cNvPr id="21" name="Text 19"/>
          <p:cNvSpPr txBox="1"/>
          <p:nvPr/>
        </p:nvSpPr>
        <p:spPr>
          <a:xfrm>
            <a:off x="3474720" y="475488"/>
            <a:ext cx="5303520" cy="4343400"/>
          </a:xfrm>
          <a:prstGeom prst="rect">
            <a:avLst/>
          </a:prstGeom>
          <a:noFill/>
          <a:ln/>
        </p:spPr>
        <p:txBody>
          <a:bodyPr wrap="square" lIns="0" tIns="0" rIns="0" bIns="0" rtlCol="0" anchor="t"/>
          <a:lstStyle/>
          <a:p>
            <a:pPr algn="l" indent="0" marL="0">
              <a:buNone/>
            </a:pPr>
            <a:r>
              <a:rPr lang="en-US" sz="1000" dirty="0">
                <a:solidFill>
                  <a:srgbClr val="64FFDA"/>
                </a:solidFill>
                <a:latin typeface="Courier New" pitchFamily="34" charset="0"/>
                <a:ea typeface="Courier New" pitchFamily="34" charset="-122"/>
                <a:cs typeface="Courier New" pitchFamily="34" charset="-120"/>
              </a:rPr>
              <a:t>const email = document.getElementById(</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"email"</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Read individual validity flags</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function getEmailError(input) {</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const v = input.validity;</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if (v.valueMissing)</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return "Email is required";</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if (v.typeMismatch)</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return "Enter a valid email address";</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if (v.tooShort)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return "Email is too short";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return ""; // valid</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v.valid is true only when all</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flags above are false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3200400" cy="5143500"/>
          </a:xfrm>
          <a:prstGeom prst="rect">
            <a:avLst/>
          </a:prstGeom>
          <a:solidFill>
            <a:srgbClr val="1A2540"/>
          </a:solidFill>
          <a:ln w="12700">
            <a:solidFill>
              <a:srgbClr val="1A2540"/>
            </a:solidFill>
            <a:prstDash val="solid"/>
          </a:ln>
        </p:spPr>
      </p:sp>
      <p:sp>
        <p:nvSpPr>
          <p:cNvPr id="4" name="Text 2"/>
          <p:cNvSpPr txBox="1"/>
          <p:nvPr/>
        </p:nvSpPr>
        <p:spPr>
          <a:xfrm>
            <a:off x="182880" y="228600"/>
            <a:ext cx="2834640" cy="914400"/>
          </a:xfrm>
          <a:prstGeom prst="rect">
            <a:avLst/>
          </a:prstGeom>
          <a:noFill/>
          <a:ln/>
        </p:spPr>
        <p:txBody>
          <a:bodyPr wrap="square" lIns="0" tIns="0" rIns="0" bIns="0" rtlCol="0" anchor="t"/>
          <a:lstStyle/>
          <a:p>
            <a:pPr algn="l" indent="0" marL="0">
              <a:buNone/>
            </a:pPr>
            <a:r>
              <a:rPr lang="en-US" sz="2000" b="1" dirty="0">
                <a:solidFill>
                  <a:srgbClr val="FFFFFF"/>
                </a:solidFill>
                <a:latin typeface="Calibri" pitchFamily="34" charset="0"/>
                <a:ea typeface="Calibri" pitchFamily="34" charset="-122"/>
                <a:cs typeface="Calibri" pitchFamily="34" charset="-120"/>
              </a:rPr>
              <a:t>Real-time</a:t>
            </a:r>
            <a:endParaRPr lang="en-US" sz="2000" dirty="0"/>
          </a:p>
          <a:p>
            <a:pPr algn="l" indent="0" marL="0">
              <a:buNone/>
            </a:pPr>
            <a:r>
              <a:rPr lang="en-US" sz="2000" b="1" dirty="0">
                <a:solidFill>
                  <a:srgbClr val="FFFFFF"/>
                </a:solidFill>
                <a:latin typeface="Calibri" pitchFamily="34" charset="0"/>
                <a:ea typeface="Calibri" pitchFamily="34" charset="-122"/>
                <a:cs typeface="Calibri" pitchFamily="34" charset="-120"/>
              </a:rPr>
              <a:t>Feedback</a:t>
            </a:r>
            <a:endParaRPr lang="en-US" sz="2000" dirty="0"/>
          </a:p>
        </p:txBody>
      </p:sp>
      <p:sp>
        <p:nvSpPr>
          <p:cNvPr id="5" name="Shape 3"/>
          <p:cNvSpPr/>
          <p:nvPr/>
        </p:nvSpPr>
        <p:spPr>
          <a:xfrm>
            <a:off x="182880" y="1188720"/>
            <a:ext cx="2560320" cy="45720"/>
          </a:xfrm>
          <a:prstGeom prst="rect">
            <a:avLst/>
          </a:prstGeom>
          <a:solidFill>
            <a:srgbClr val="F7DF1E"/>
          </a:solidFill>
          <a:ln w="12700">
            <a:solidFill>
              <a:srgbClr val="F7DF1E"/>
            </a:solidFill>
            <a:prstDash val="solid"/>
          </a:ln>
        </p:spPr>
      </p:sp>
      <p:sp>
        <p:nvSpPr>
          <p:cNvPr id="6" name="Text 4"/>
          <p:cNvSpPr txBox="1"/>
          <p:nvPr/>
        </p:nvSpPr>
        <p:spPr>
          <a:xfrm>
            <a:off x="182880" y="1261872"/>
            <a:ext cx="2834640" cy="365760"/>
          </a:xfrm>
          <a:prstGeom prst="rect">
            <a:avLst/>
          </a:prstGeom>
          <a:noFill/>
          <a:ln/>
        </p:spPr>
        <p:txBody>
          <a:bodyPr wrap="square" lIns="0" tIns="0" rIns="0" bIns="0" rtlCol="0" anchor="t"/>
          <a:lstStyle/>
          <a:p>
            <a:pPr algn="l" indent="0" marL="0">
              <a:buNone/>
            </a:pPr>
            <a:r>
              <a:rPr lang="en-US" sz="1100" dirty="0">
                <a:solidFill>
                  <a:srgbClr val="CDD6F4"/>
                </a:solidFill>
                <a:latin typeface="Calibri" pitchFamily="34" charset="0"/>
                <a:ea typeface="Calibri" pitchFamily="34" charset="-122"/>
                <a:cs typeface="Calibri" pitchFamily="34" charset="-120"/>
              </a:rPr>
              <a:t>"input" event as user types</a:t>
            </a:r>
            <a:endParaRPr lang="en-US" sz="1100" dirty="0"/>
          </a:p>
        </p:txBody>
      </p:sp>
      <p:sp>
        <p:nvSpPr>
          <p:cNvPr id="7" name="Text 5"/>
          <p:cNvSpPr txBox="1"/>
          <p:nvPr/>
        </p:nvSpPr>
        <p:spPr>
          <a:xfrm>
            <a:off x="182880" y="132588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"input" event</a:t>
            </a:r>
            <a:endParaRPr lang="en-US" sz="1200" dirty="0"/>
          </a:p>
        </p:txBody>
      </p:sp>
      <p:sp>
        <p:nvSpPr>
          <p:cNvPr id="8" name="Text 6"/>
          <p:cNvSpPr txBox="1"/>
          <p:nvPr/>
        </p:nvSpPr>
        <p:spPr>
          <a:xfrm>
            <a:off x="182880" y="162763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Fires on every keystroke</a:t>
            </a:r>
            <a:endParaRPr lang="en-US" sz="1000" dirty="0"/>
          </a:p>
        </p:txBody>
      </p:sp>
      <p:sp>
        <p:nvSpPr>
          <p:cNvPr id="9" name="Text 7"/>
          <p:cNvSpPr txBox="1"/>
          <p:nvPr/>
        </p:nvSpPr>
        <p:spPr>
          <a:xfrm>
            <a:off x="182880" y="196596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"blur" event</a:t>
            </a:r>
            <a:endParaRPr lang="en-US" sz="1200" dirty="0"/>
          </a:p>
        </p:txBody>
      </p:sp>
      <p:sp>
        <p:nvSpPr>
          <p:cNvPr id="10" name="Text 8"/>
          <p:cNvSpPr txBox="1"/>
          <p:nvPr/>
        </p:nvSpPr>
        <p:spPr>
          <a:xfrm>
            <a:off x="182880" y="226771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Fires when focus leaves field</a:t>
            </a:r>
            <a:endParaRPr lang="en-US" sz="1000" dirty="0"/>
          </a:p>
        </p:txBody>
      </p:sp>
      <p:sp>
        <p:nvSpPr>
          <p:cNvPr id="11" name="Text 9"/>
          <p:cNvSpPr txBox="1"/>
          <p:nvPr/>
        </p:nvSpPr>
        <p:spPr>
          <a:xfrm>
            <a:off x="182880" y="260604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"change" event</a:t>
            </a:r>
            <a:endParaRPr lang="en-US" sz="1200" dirty="0"/>
          </a:p>
        </p:txBody>
      </p:sp>
      <p:sp>
        <p:nvSpPr>
          <p:cNvPr id="12" name="Text 10"/>
          <p:cNvSpPr txBox="1"/>
          <p:nvPr/>
        </p:nvSpPr>
        <p:spPr>
          <a:xfrm>
            <a:off x="182880" y="290779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Fires after value changes</a:t>
            </a:r>
            <a:endParaRPr lang="en-US" sz="1000" dirty="0"/>
          </a:p>
        </p:txBody>
      </p:sp>
      <p:sp>
        <p:nvSpPr>
          <p:cNvPr id="13" name="Text 11"/>
          <p:cNvSpPr txBox="1"/>
          <p:nvPr/>
        </p:nvSpPr>
        <p:spPr>
          <a:xfrm>
            <a:off x="182880" y="324612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showError()</a:t>
            </a:r>
            <a:endParaRPr lang="en-US" sz="1200" dirty="0"/>
          </a:p>
        </p:txBody>
      </p:sp>
      <p:sp>
        <p:nvSpPr>
          <p:cNvPr id="14" name="Text 12"/>
          <p:cNvSpPr txBox="1"/>
          <p:nvPr/>
        </p:nvSpPr>
        <p:spPr>
          <a:xfrm>
            <a:off x="182880" y="354787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Update the error &lt;span&gt;</a:t>
            </a:r>
            <a:endParaRPr lang="en-US" sz="1000" dirty="0"/>
          </a:p>
        </p:txBody>
      </p:sp>
      <p:sp>
        <p:nvSpPr>
          <p:cNvPr id="15" name="Text 13"/>
          <p:cNvSpPr txBox="1"/>
          <p:nvPr/>
        </p:nvSpPr>
        <p:spPr>
          <a:xfrm>
            <a:off x="182880" y="388620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clearError()</a:t>
            </a:r>
            <a:endParaRPr lang="en-US" sz="1200" dirty="0"/>
          </a:p>
        </p:txBody>
      </p:sp>
      <p:sp>
        <p:nvSpPr>
          <p:cNvPr id="16" name="Text 14"/>
          <p:cNvSpPr txBox="1"/>
          <p:nvPr/>
        </p:nvSpPr>
        <p:spPr>
          <a:xfrm>
            <a:off x="182880" y="418795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Remove error on valid</a:t>
            </a:r>
            <a:endParaRPr lang="en-US" sz="1000" dirty="0"/>
          </a:p>
        </p:txBody>
      </p:sp>
      <p:sp>
        <p:nvSpPr>
          <p:cNvPr id="17" name="Shape 15"/>
          <p:cNvSpPr/>
          <p:nvPr/>
        </p:nvSpPr>
        <p:spPr>
          <a:xfrm>
            <a:off x="3337560" y="182880"/>
            <a:ext cx="5577840" cy="4754880"/>
          </a:xfrm>
          <a:prstGeom prst="rect">
            <a:avLst/>
          </a:prstGeom>
          <a:solidFill>
            <a:srgbClr val="1E2336"/>
          </a:solidFill>
          <a:ln w="12700">
            <a:solidFill>
              <a:srgbClr val="2D3250"/>
            </a:solidFill>
            <a:prstDash val="solid"/>
          </a:ln>
        </p:spPr>
      </p:sp>
      <p:sp>
        <p:nvSpPr>
          <p:cNvPr id="18" name="Shape 16"/>
          <p:cNvSpPr/>
          <p:nvPr/>
        </p:nvSpPr>
        <p:spPr>
          <a:xfrm>
            <a:off x="3456432" y="283464"/>
            <a:ext cx="118872" cy="118872"/>
          </a:xfrm>
          <a:prstGeom prst="ellipse">
            <a:avLst/>
          </a:prstGeom>
          <a:solidFill>
            <a:srgbClr val="FF5F56"/>
          </a:solidFill>
          <a:ln w="12700">
            <a:solidFill>
              <a:srgbClr val="FF5F56"/>
            </a:solidFill>
            <a:prstDash val="solid"/>
          </a:ln>
        </p:spPr>
      </p:sp>
      <p:sp>
        <p:nvSpPr>
          <p:cNvPr id="19" name="Shape 17"/>
          <p:cNvSpPr/>
          <p:nvPr/>
        </p:nvSpPr>
        <p:spPr>
          <a:xfrm>
            <a:off x="3657600" y="283464"/>
            <a:ext cx="118872" cy="118872"/>
          </a:xfrm>
          <a:prstGeom prst="ellipse">
            <a:avLst/>
          </a:prstGeom>
          <a:solidFill>
            <a:srgbClr val="FFBD2E"/>
          </a:solidFill>
          <a:ln w="12700">
            <a:solidFill>
              <a:srgbClr val="FFBD2E"/>
            </a:solidFill>
            <a:prstDash val="solid"/>
          </a:ln>
        </p:spPr>
      </p:sp>
      <p:sp>
        <p:nvSpPr>
          <p:cNvPr id="20" name="Shape 18"/>
          <p:cNvSpPr/>
          <p:nvPr/>
        </p:nvSpPr>
        <p:spPr>
          <a:xfrm>
            <a:off x="3858768" y="283464"/>
            <a:ext cx="118872" cy="118872"/>
          </a:xfrm>
          <a:prstGeom prst="ellipse">
            <a:avLst/>
          </a:prstGeom>
          <a:solidFill>
            <a:srgbClr val="27C93F"/>
          </a:solidFill>
          <a:ln w="12700">
            <a:solidFill>
              <a:srgbClr val="27C93F"/>
            </a:solidFill>
            <a:prstDash val="solid"/>
          </a:ln>
        </p:spPr>
      </p:sp>
      <p:sp>
        <p:nvSpPr>
          <p:cNvPr id="21" name="Text 19"/>
          <p:cNvSpPr txBox="1"/>
          <p:nvPr/>
        </p:nvSpPr>
        <p:spPr>
          <a:xfrm>
            <a:off x="3474720" y="475488"/>
            <a:ext cx="5303520" cy="4343400"/>
          </a:xfrm>
          <a:prstGeom prst="rect">
            <a:avLst/>
          </a:prstGeom>
          <a:noFill/>
          <a:ln/>
        </p:spPr>
        <p:txBody>
          <a:bodyPr wrap="square" lIns="0" tIns="0" rIns="0" bIns="0" rtlCol="0" anchor="t"/>
          <a:lstStyle/>
          <a:p>
            <a:pPr algn="l" indent="0" marL="0">
              <a:buNone/>
            </a:pPr>
            <a:r>
              <a:rPr lang="en-US" sz="1000" dirty="0">
                <a:solidFill>
                  <a:srgbClr val="64FFDA"/>
                </a:solidFill>
                <a:latin typeface="Courier New" pitchFamily="34" charset="0"/>
                <a:ea typeface="Courier New" pitchFamily="34" charset="-122"/>
                <a:cs typeface="Courier New" pitchFamily="34" charset="-120"/>
              </a:rPr>
              <a:t>&lt;!-- HTML: error span below input --&gt;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&lt;input type="email" id="email"&gt;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&lt;span id="email-error" class="error"</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aria-live="polite"&gt;&lt;/span&gt;</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JS: show error as user types</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const emailInput =</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document.getElementById("email");</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const emailError =</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document.getElementById("email-error");</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emailInput.addEventListener("input", () =&gt; {</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const msg = getEmailError(emailInput);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emailError.textContent = msg;</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emailInput.setAttribute(</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"aria-invalid", msg ? "true" : "false"</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3200400" cy="5143500"/>
          </a:xfrm>
          <a:prstGeom prst="rect">
            <a:avLst/>
          </a:prstGeom>
          <a:solidFill>
            <a:srgbClr val="1A2540"/>
          </a:solidFill>
          <a:ln w="12700">
            <a:solidFill>
              <a:srgbClr val="1A2540"/>
            </a:solidFill>
            <a:prstDash val="solid"/>
          </a:ln>
        </p:spPr>
      </p:sp>
      <p:sp>
        <p:nvSpPr>
          <p:cNvPr id="4" name="Text 2"/>
          <p:cNvSpPr txBox="1"/>
          <p:nvPr/>
        </p:nvSpPr>
        <p:spPr>
          <a:xfrm>
            <a:off x="182880" y="228600"/>
            <a:ext cx="2834640" cy="914400"/>
          </a:xfrm>
          <a:prstGeom prst="rect">
            <a:avLst/>
          </a:prstGeom>
          <a:noFill/>
          <a:ln/>
        </p:spPr>
        <p:txBody>
          <a:bodyPr wrap="square" lIns="0" tIns="0" rIns="0" bIns="0" rtlCol="0" anchor="t"/>
          <a:lstStyle/>
          <a:p>
            <a:pPr algn="l" indent="0" marL="0">
              <a:buNone/>
            </a:pPr>
            <a:r>
              <a:rPr lang="en-US" sz="2000" b="1" dirty="0">
                <a:solidFill>
                  <a:srgbClr val="FFFFFF"/>
                </a:solidFill>
                <a:latin typeface="Calibri" pitchFamily="34" charset="0"/>
                <a:ea typeface="Calibri" pitchFamily="34" charset="-122"/>
                <a:cs typeface="Calibri" pitchFamily="34" charset="-120"/>
              </a:rPr>
              <a:t>Regex Patterns</a:t>
            </a:r>
            <a:endParaRPr lang="en-US" sz="2000" dirty="0"/>
          </a:p>
          <a:p>
            <a:pPr algn="l" indent="0" marL="0">
              <a:buNone/>
            </a:pPr>
            <a:r>
              <a:rPr lang="en-US" sz="2000" b="1" dirty="0">
                <a:solidFill>
                  <a:srgbClr val="FFFFFF"/>
                </a:solidFill>
                <a:latin typeface="Calibri" pitchFamily="34" charset="0"/>
                <a:ea typeface="Calibri" pitchFamily="34" charset="-122"/>
                <a:cs typeface="Calibri" pitchFamily="34" charset="-120"/>
              </a:rPr>
              <a:t>in JS</a:t>
            </a:r>
            <a:endParaRPr lang="en-US" sz="2000" dirty="0"/>
          </a:p>
        </p:txBody>
      </p:sp>
      <p:sp>
        <p:nvSpPr>
          <p:cNvPr id="5" name="Shape 3"/>
          <p:cNvSpPr/>
          <p:nvPr/>
        </p:nvSpPr>
        <p:spPr>
          <a:xfrm>
            <a:off x="182880" y="1188720"/>
            <a:ext cx="2560320" cy="45720"/>
          </a:xfrm>
          <a:prstGeom prst="rect">
            <a:avLst/>
          </a:prstGeom>
          <a:solidFill>
            <a:srgbClr val="F7DF1E"/>
          </a:solidFill>
          <a:ln w="12700">
            <a:solidFill>
              <a:srgbClr val="F7DF1E"/>
            </a:solidFill>
            <a:prstDash val="solid"/>
          </a:ln>
        </p:spPr>
      </p:sp>
      <p:sp>
        <p:nvSpPr>
          <p:cNvPr id="6" name="Text 4"/>
          <p:cNvSpPr txBox="1"/>
          <p:nvPr/>
        </p:nvSpPr>
        <p:spPr>
          <a:xfrm>
            <a:off x="182880" y="1261872"/>
            <a:ext cx="2834640" cy="365760"/>
          </a:xfrm>
          <a:prstGeom prst="rect">
            <a:avLst/>
          </a:prstGeom>
          <a:noFill/>
          <a:ln/>
        </p:spPr>
        <p:txBody>
          <a:bodyPr wrap="square" lIns="0" tIns="0" rIns="0" bIns="0" rtlCol="0" anchor="t"/>
          <a:lstStyle/>
          <a:p>
            <a:pPr algn="l" indent="0" marL="0">
              <a:buNone/>
            </a:pPr>
            <a:r>
              <a:rPr lang="en-US" sz="1100" dirty="0">
                <a:solidFill>
                  <a:srgbClr val="CDD6F4"/>
                </a:solidFill>
                <a:latin typeface="Calibri" pitchFamily="34" charset="0"/>
                <a:ea typeface="Calibri" pitchFamily="34" charset="-122"/>
                <a:cs typeface="Calibri" pitchFamily="34" charset="-120"/>
              </a:rPr>
              <a:t>Common validation regexes</a:t>
            </a:r>
            <a:endParaRPr lang="en-US" sz="1100" dirty="0"/>
          </a:p>
        </p:txBody>
      </p:sp>
      <p:sp>
        <p:nvSpPr>
          <p:cNvPr id="7" name="Text 5"/>
          <p:cNvSpPr txBox="1"/>
          <p:nvPr/>
        </p:nvSpPr>
        <p:spPr>
          <a:xfrm>
            <a:off x="182880" y="132588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/^\d{9}$/</a:t>
            </a:r>
            <a:endParaRPr lang="en-US" sz="1200" dirty="0"/>
          </a:p>
        </p:txBody>
      </p:sp>
      <p:sp>
        <p:nvSpPr>
          <p:cNvPr id="8" name="Text 6"/>
          <p:cNvSpPr txBox="1"/>
          <p:nvPr/>
        </p:nvSpPr>
        <p:spPr>
          <a:xfrm>
            <a:off x="182880" y="162763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Korean 9-digit student ID</a:t>
            </a:r>
            <a:endParaRPr lang="en-US" sz="1000" dirty="0"/>
          </a:p>
        </p:txBody>
      </p:sp>
      <p:sp>
        <p:nvSpPr>
          <p:cNvPr id="9" name="Text 7"/>
          <p:cNvSpPr txBox="1"/>
          <p:nvPr/>
        </p:nvSpPr>
        <p:spPr>
          <a:xfrm>
            <a:off x="182880" y="196596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a:t>
            </a:r>
            <a:endParaRPr lang="en-US" sz="1200" dirty="0"/>
          </a:p>
        </p:txBody>
      </p:sp>
      <p:sp>
        <p:nvSpPr>
          <p:cNvPr id="10" name="Text 8"/>
          <p:cNvSpPr txBox="1"/>
          <p:nvPr/>
        </p:nvSpPr>
        <p:spPr>
          <a:xfrm>
            <a:off x="182880" y="226771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Simple email format check</a:t>
            </a:r>
            <a:endParaRPr lang="en-US" sz="1000" dirty="0"/>
          </a:p>
        </p:txBody>
      </p:sp>
      <p:sp>
        <p:nvSpPr>
          <p:cNvPr id="11" name="Text 9"/>
          <p:cNvSpPr txBox="1"/>
          <p:nvPr/>
        </p:nvSpPr>
        <p:spPr>
          <a:xfrm>
            <a:off x="182880" y="260604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/^01[016-9]\d{7,8}$/</a:t>
            </a:r>
            <a:endParaRPr lang="en-US" sz="1200" dirty="0"/>
          </a:p>
        </p:txBody>
      </p:sp>
      <p:sp>
        <p:nvSpPr>
          <p:cNvPr id="12" name="Text 10"/>
          <p:cNvSpPr txBox="1"/>
          <p:nvPr/>
        </p:nvSpPr>
        <p:spPr>
          <a:xfrm>
            <a:off x="182880" y="290779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Korean mobile number</a:t>
            </a:r>
            <a:endParaRPr lang="en-US" sz="1000" dirty="0"/>
          </a:p>
        </p:txBody>
      </p:sp>
      <p:sp>
        <p:nvSpPr>
          <p:cNvPr id="13" name="Text 11"/>
          <p:cNvSpPr txBox="1"/>
          <p:nvPr/>
        </p:nvSpPr>
        <p:spPr>
          <a:xfrm>
            <a:off x="182880" y="324612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/^(?=.*[A-Z])/</a:t>
            </a:r>
            <a:endParaRPr lang="en-US" sz="1200" dirty="0"/>
          </a:p>
        </p:txBody>
      </p:sp>
      <p:sp>
        <p:nvSpPr>
          <p:cNvPr id="14" name="Text 12"/>
          <p:cNvSpPr txBox="1"/>
          <p:nvPr/>
        </p:nvSpPr>
        <p:spPr>
          <a:xfrm>
            <a:off x="182880" y="354787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At least 1 uppercase letter</a:t>
            </a:r>
            <a:endParaRPr lang="en-US" sz="1000" dirty="0"/>
          </a:p>
        </p:txBody>
      </p:sp>
      <p:sp>
        <p:nvSpPr>
          <p:cNvPr id="15" name="Text 13"/>
          <p:cNvSpPr txBox="1"/>
          <p:nvPr/>
        </p:nvSpPr>
        <p:spPr>
          <a:xfrm>
            <a:off x="182880" y="388620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/^.{8,}$/</a:t>
            </a:r>
            <a:endParaRPr lang="en-US" sz="1200" dirty="0"/>
          </a:p>
        </p:txBody>
      </p:sp>
      <p:sp>
        <p:nvSpPr>
          <p:cNvPr id="16" name="Text 14"/>
          <p:cNvSpPr txBox="1"/>
          <p:nvPr/>
        </p:nvSpPr>
        <p:spPr>
          <a:xfrm>
            <a:off x="182880" y="418795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Minimum 8 characters</a:t>
            </a:r>
            <a:endParaRPr lang="en-US" sz="1000" dirty="0"/>
          </a:p>
        </p:txBody>
      </p:sp>
      <p:sp>
        <p:nvSpPr>
          <p:cNvPr id="17" name="Shape 15"/>
          <p:cNvSpPr/>
          <p:nvPr/>
        </p:nvSpPr>
        <p:spPr>
          <a:xfrm>
            <a:off x="3337560" y="182880"/>
            <a:ext cx="5577840" cy="4754880"/>
          </a:xfrm>
          <a:prstGeom prst="rect">
            <a:avLst/>
          </a:prstGeom>
          <a:solidFill>
            <a:srgbClr val="1E2336"/>
          </a:solidFill>
          <a:ln w="12700">
            <a:solidFill>
              <a:srgbClr val="2D3250"/>
            </a:solidFill>
            <a:prstDash val="solid"/>
          </a:ln>
        </p:spPr>
      </p:sp>
      <p:sp>
        <p:nvSpPr>
          <p:cNvPr id="18" name="Shape 16"/>
          <p:cNvSpPr/>
          <p:nvPr/>
        </p:nvSpPr>
        <p:spPr>
          <a:xfrm>
            <a:off x="3456432" y="283464"/>
            <a:ext cx="118872" cy="118872"/>
          </a:xfrm>
          <a:prstGeom prst="ellipse">
            <a:avLst/>
          </a:prstGeom>
          <a:solidFill>
            <a:srgbClr val="FF5F56"/>
          </a:solidFill>
          <a:ln w="12700">
            <a:solidFill>
              <a:srgbClr val="FF5F56"/>
            </a:solidFill>
            <a:prstDash val="solid"/>
          </a:ln>
        </p:spPr>
      </p:sp>
      <p:sp>
        <p:nvSpPr>
          <p:cNvPr id="19" name="Shape 17"/>
          <p:cNvSpPr/>
          <p:nvPr/>
        </p:nvSpPr>
        <p:spPr>
          <a:xfrm>
            <a:off x="3657600" y="283464"/>
            <a:ext cx="118872" cy="118872"/>
          </a:xfrm>
          <a:prstGeom prst="ellipse">
            <a:avLst/>
          </a:prstGeom>
          <a:solidFill>
            <a:srgbClr val="FFBD2E"/>
          </a:solidFill>
          <a:ln w="12700">
            <a:solidFill>
              <a:srgbClr val="FFBD2E"/>
            </a:solidFill>
            <a:prstDash val="solid"/>
          </a:ln>
        </p:spPr>
      </p:sp>
      <p:sp>
        <p:nvSpPr>
          <p:cNvPr id="20" name="Shape 18"/>
          <p:cNvSpPr/>
          <p:nvPr/>
        </p:nvSpPr>
        <p:spPr>
          <a:xfrm>
            <a:off x="3858768" y="283464"/>
            <a:ext cx="118872" cy="118872"/>
          </a:xfrm>
          <a:prstGeom prst="ellipse">
            <a:avLst/>
          </a:prstGeom>
          <a:solidFill>
            <a:srgbClr val="27C93F"/>
          </a:solidFill>
          <a:ln w="12700">
            <a:solidFill>
              <a:srgbClr val="27C93F"/>
            </a:solidFill>
            <a:prstDash val="solid"/>
          </a:ln>
        </p:spPr>
      </p:sp>
      <p:sp>
        <p:nvSpPr>
          <p:cNvPr id="21" name="Text 19"/>
          <p:cNvSpPr txBox="1"/>
          <p:nvPr/>
        </p:nvSpPr>
        <p:spPr>
          <a:xfrm>
            <a:off x="3474720" y="475488"/>
            <a:ext cx="5303520" cy="4343400"/>
          </a:xfrm>
          <a:prstGeom prst="rect">
            <a:avLst/>
          </a:prstGeom>
          <a:noFill/>
          <a:ln/>
        </p:spPr>
        <p:txBody>
          <a:bodyPr wrap="square" lIns="0" tIns="0" rIns="0" bIns="0" rtlCol="0" anchor="t"/>
          <a:lstStyle/>
          <a:p>
            <a:pPr algn="l" indent="0" marL="0">
              <a:buNone/>
            </a:pPr>
            <a:r>
              <a:rPr lang="en-US" sz="1000" dirty="0">
                <a:solidFill>
                  <a:srgbClr val="64FFDA"/>
                </a:solidFill>
                <a:latin typeface="Courier New" pitchFamily="34" charset="0"/>
                <a:ea typeface="Courier New" pitchFamily="34" charset="-122"/>
                <a:cs typeface="Courier New" pitchFamily="34" charset="-120"/>
              </a:rPr>
              <a:t>// Test a regex against a value</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const SID_REGEX = /^\d{9}$/;</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const EMAIL_REGEX =</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/^[a-zA-Z0-9._%+\-]+@[a-zA-Z0-9.\-]+\.[a-zA-Z]{2,}$/;</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const KR_PHONE_REGEX = /^01[016-9]\d{7,8}$/;</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function validateStudentID(value) {</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if (!SID_REGEX.test(value)) {</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return "Student ID: 9 digits only";</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return "";</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.test() returns true/false</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console.log(SID_REGEX.test("123456789")); // true</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console.log(SID_REGEX.test("12345678"));  // false</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console.log(SID_REGEX.test("12345678a")); // false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3200400" cy="5143500"/>
          </a:xfrm>
          <a:prstGeom prst="rect">
            <a:avLst/>
          </a:prstGeom>
          <a:solidFill>
            <a:srgbClr val="1A2540"/>
          </a:solidFill>
          <a:ln w="12700">
            <a:solidFill>
              <a:srgbClr val="1A2540"/>
            </a:solidFill>
            <a:prstDash val="solid"/>
          </a:ln>
        </p:spPr>
      </p:sp>
      <p:sp>
        <p:nvSpPr>
          <p:cNvPr id="4" name="Text 2"/>
          <p:cNvSpPr txBox="1"/>
          <p:nvPr/>
        </p:nvSpPr>
        <p:spPr>
          <a:xfrm>
            <a:off x="182880" y="228600"/>
            <a:ext cx="2834640" cy="914400"/>
          </a:xfrm>
          <a:prstGeom prst="rect">
            <a:avLst/>
          </a:prstGeom>
          <a:noFill/>
          <a:ln/>
        </p:spPr>
        <p:txBody>
          <a:bodyPr wrap="square" lIns="0" tIns="0" rIns="0" bIns="0" rtlCol="0" anchor="t"/>
          <a:lstStyle/>
          <a:p>
            <a:pPr algn="l" indent="0" marL="0">
              <a:buNone/>
            </a:pPr>
            <a:r>
              <a:rPr lang="en-US" sz="2000" b="1" dirty="0">
                <a:solidFill>
                  <a:srgbClr val="FFFFFF"/>
                </a:solidFill>
                <a:latin typeface="Calibri" pitchFamily="34" charset="0"/>
                <a:ea typeface="Calibri" pitchFamily="34" charset="-122"/>
                <a:cs typeface="Calibri" pitchFamily="34" charset="-120"/>
              </a:rPr>
              <a:t>Password</a:t>
            </a:r>
            <a:endParaRPr lang="en-US" sz="2000" dirty="0"/>
          </a:p>
          <a:p>
            <a:pPr algn="l" indent="0" marL="0">
              <a:buNone/>
            </a:pPr>
            <a:r>
              <a:rPr lang="en-US" sz="2000" b="1" dirty="0">
                <a:solidFill>
                  <a:srgbClr val="FFFFFF"/>
                </a:solidFill>
                <a:latin typeface="Calibri" pitchFamily="34" charset="0"/>
                <a:ea typeface="Calibri" pitchFamily="34" charset="-122"/>
                <a:cs typeface="Calibri" pitchFamily="34" charset="-120"/>
              </a:rPr>
              <a:t>Confirmation</a:t>
            </a:r>
            <a:endParaRPr lang="en-US" sz="2000" dirty="0"/>
          </a:p>
        </p:txBody>
      </p:sp>
      <p:sp>
        <p:nvSpPr>
          <p:cNvPr id="5" name="Shape 3"/>
          <p:cNvSpPr/>
          <p:nvPr/>
        </p:nvSpPr>
        <p:spPr>
          <a:xfrm>
            <a:off x="182880" y="1188720"/>
            <a:ext cx="2560320" cy="45720"/>
          </a:xfrm>
          <a:prstGeom prst="rect">
            <a:avLst/>
          </a:prstGeom>
          <a:solidFill>
            <a:srgbClr val="F7DF1E"/>
          </a:solidFill>
          <a:ln w="12700">
            <a:solidFill>
              <a:srgbClr val="F7DF1E"/>
            </a:solidFill>
            <a:prstDash val="solid"/>
          </a:ln>
        </p:spPr>
      </p:sp>
      <p:sp>
        <p:nvSpPr>
          <p:cNvPr id="6" name="Text 4"/>
          <p:cNvSpPr txBox="1"/>
          <p:nvPr/>
        </p:nvSpPr>
        <p:spPr>
          <a:xfrm>
            <a:off x="182880" y="1261872"/>
            <a:ext cx="2834640" cy="365760"/>
          </a:xfrm>
          <a:prstGeom prst="rect">
            <a:avLst/>
          </a:prstGeom>
          <a:noFill/>
          <a:ln/>
        </p:spPr>
        <p:txBody>
          <a:bodyPr wrap="square" lIns="0" tIns="0" rIns="0" bIns="0" rtlCol="0" anchor="t"/>
          <a:lstStyle/>
          <a:p>
            <a:pPr algn="l" indent="0" marL="0">
              <a:buNone/>
            </a:pPr>
            <a:r>
              <a:rPr lang="en-US" sz="1100" dirty="0">
                <a:solidFill>
                  <a:srgbClr val="CDD6F4"/>
                </a:solidFill>
                <a:latin typeface="Calibri" pitchFamily="34" charset="0"/>
                <a:ea typeface="Calibri" pitchFamily="34" charset="-122"/>
                <a:cs typeface="Calibri" pitchFamily="34" charset="-120"/>
              </a:rPr>
              <a:t>Comparing two fields</a:t>
            </a:r>
            <a:endParaRPr lang="en-US" sz="1100" dirty="0"/>
          </a:p>
        </p:txBody>
      </p:sp>
      <p:sp>
        <p:nvSpPr>
          <p:cNvPr id="7" name="Text 5"/>
          <p:cNvSpPr txBox="1"/>
          <p:nvPr/>
        </p:nvSpPr>
        <p:spPr>
          <a:xfrm>
            <a:off x="182880" y="132588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Two inputs</a:t>
            </a:r>
            <a:endParaRPr lang="en-US" sz="1200" dirty="0"/>
          </a:p>
        </p:txBody>
      </p:sp>
      <p:sp>
        <p:nvSpPr>
          <p:cNvPr id="8" name="Text 6"/>
          <p:cNvSpPr txBox="1"/>
          <p:nvPr/>
        </p:nvSpPr>
        <p:spPr>
          <a:xfrm>
            <a:off x="182880" y="162763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password + confirmPassword</a:t>
            </a:r>
            <a:endParaRPr lang="en-US" sz="1000" dirty="0"/>
          </a:p>
        </p:txBody>
      </p:sp>
      <p:sp>
        <p:nvSpPr>
          <p:cNvPr id="9" name="Text 7"/>
          <p:cNvSpPr txBox="1"/>
          <p:nvPr/>
        </p:nvSpPr>
        <p:spPr>
          <a:xfrm>
            <a:off x="182880" y="196596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.value compare</a:t>
            </a:r>
            <a:endParaRPr lang="en-US" sz="1200" dirty="0"/>
          </a:p>
        </p:txBody>
      </p:sp>
      <p:sp>
        <p:nvSpPr>
          <p:cNvPr id="10" name="Text 8"/>
          <p:cNvSpPr txBox="1"/>
          <p:nvPr/>
        </p:nvSpPr>
        <p:spPr>
          <a:xfrm>
            <a:off x="182880" y="226771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Strict equality ===</a:t>
            </a:r>
            <a:endParaRPr lang="en-US" sz="1000" dirty="0"/>
          </a:p>
        </p:txBody>
      </p:sp>
      <p:sp>
        <p:nvSpPr>
          <p:cNvPr id="11" name="Text 9"/>
          <p:cNvSpPr txBox="1"/>
          <p:nvPr/>
        </p:nvSpPr>
        <p:spPr>
          <a:xfrm>
            <a:off x="182880" y="260604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On "input"</a:t>
            </a:r>
            <a:endParaRPr lang="en-US" sz="1200" dirty="0"/>
          </a:p>
        </p:txBody>
      </p:sp>
      <p:sp>
        <p:nvSpPr>
          <p:cNvPr id="12" name="Text 10"/>
          <p:cNvSpPr txBox="1"/>
          <p:nvPr/>
        </p:nvSpPr>
        <p:spPr>
          <a:xfrm>
            <a:off x="182880" y="290779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Validate confirm on every key</a:t>
            </a:r>
            <a:endParaRPr lang="en-US" sz="1000" dirty="0"/>
          </a:p>
        </p:txBody>
      </p:sp>
      <p:sp>
        <p:nvSpPr>
          <p:cNvPr id="13" name="Text 11"/>
          <p:cNvSpPr txBox="1"/>
          <p:nvPr/>
        </p:nvSpPr>
        <p:spPr>
          <a:xfrm>
            <a:off x="182880" y="324612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setCustomValidity</a:t>
            </a:r>
            <a:endParaRPr lang="en-US" sz="1200" dirty="0"/>
          </a:p>
        </p:txBody>
      </p:sp>
      <p:sp>
        <p:nvSpPr>
          <p:cNvPr id="14" name="Text 12"/>
          <p:cNvSpPr txBox="1"/>
          <p:nvPr/>
        </p:nvSpPr>
        <p:spPr>
          <a:xfrm>
            <a:off x="182880" y="354787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Mark confirm as invalid in API</a:t>
            </a:r>
            <a:endParaRPr lang="en-US" sz="1000" dirty="0"/>
          </a:p>
        </p:txBody>
      </p:sp>
      <p:sp>
        <p:nvSpPr>
          <p:cNvPr id="15" name="Shape 13"/>
          <p:cNvSpPr/>
          <p:nvPr/>
        </p:nvSpPr>
        <p:spPr>
          <a:xfrm>
            <a:off x="3337560" y="182880"/>
            <a:ext cx="5577840" cy="4754880"/>
          </a:xfrm>
          <a:prstGeom prst="rect">
            <a:avLst/>
          </a:prstGeom>
          <a:solidFill>
            <a:srgbClr val="1E2336"/>
          </a:solidFill>
          <a:ln w="12700">
            <a:solidFill>
              <a:srgbClr val="2D3250"/>
            </a:solidFill>
            <a:prstDash val="solid"/>
          </a:ln>
        </p:spPr>
      </p:sp>
      <p:sp>
        <p:nvSpPr>
          <p:cNvPr id="16" name="Shape 14"/>
          <p:cNvSpPr/>
          <p:nvPr/>
        </p:nvSpPr>
        <p:spPr>
          <a:xfrm>
            <a:off x="3456432" y="283464"/>
            <a:ext cx="118872" cy="118872"/>
          </a:xfrm>
          <a:prstGeom prst="ellipse">
            <a:avLst/>
          </a:prstGeom>
          <a:solidFill>
            <a:srgbClr val="FF5F56"/>
          </a:solidFill>
          <a:ln w="12700">
            <a:solidFill>
              <a:srgbClr val="FF5F56"/>
            </a:solidFill>
            <a:prstDash val="solid"/>
          </a:ln>
        </p:spPr>
      </p:sp>
      <p:sp>
        <p:nvSpPr>
          <p:cNvPr id="17" name="Shape 15"/>
          <p:cNvSpPr/>
          <p:nvPr/>
        </p:nvSpPr>
        <p:spPr>
          <a:xfrm>
            <a:off x="3657600" y="283464"/>
            <a:ext cx="118872" cy="118872"/>
          </a:xfrm>
          <a:prstGeom prst="ellipse">
            <a:avLst/>
          </a:prstGeom>
          <a:solidFill>
            <a:srgbClr val="FFBD2E"/>
          </a:solidFill>
          <a:ln w="12700">
            <a:solidFill>
              <a:srgbClr val="FFBD2E"/>
            </a:solidFill>
            <a:prstDash val="solid"/>
          </a:ln>
        </p:spPr>
      </p:sp>
      <p:sp>
        <p:nvSpPr>
          <p:cNvPr id="18" name="Shape 16"/>
          <p:cNvSpPr/>
          <p:nvPr/>
        </p:nvSpPr>
        <p:spPr>
          <a:xfrm>
            <a:off x="3858768" y="283464"/>
            <a:ext cx="118872" cy="118872"/>
          </a:xfrm>
          <a:prstGeom prst="ellipse">
            <a:avLst/>
          </a:prstGeom>
          <a:solidFill>
            <a:srgbClr val="27C93F"/>
          </a:solidFill>
          <a:ln w="12700">
            <a:solidFill>
              <a:srgbClr val="27C93F"/>
            </a:solidFill>
            <a:prstDash val="solid"/>
          </a:ln>
        </p:spPr>
      </p:sp>
      <p:sp>
        <p:nvSpPr>
          <p:cNvPr id="19" name="Text 17"/>
          <p:cNvSpPr txBox="1"/>
          <p:nvPr/>
        </p:nvSpPr>
        <p:spPr>
          <a:xfrm>
            <a:off x="3474720" y="475488"/>
            <a:ext cx="5303520" cy="4343400"/>
          </a:xfrm>
          <a:prstGeom prst="rect">
            <a:avLst/>
          </a:prstGeom>
          <a:noFill/>
          <a:ln/>
        </p:spPr>
        <p:txBody>
          <a:bodyPr wrap="square" lIns="0" tIns="0" rIns="0" bIns="0" rtlCol="0" anchor="t"/>
          <a:lstStyle/>
          <a:p>
            <a:pPr algn="l" indent="0" marL="0">
              <a:buNone/>
            </a:pPr>
            <a:r>
              <a:rPr lang="en-US" sz="1000" dirty="0">
                <a:solidFill>
                  <a:srgbClr val="64FFDA"/>
                </a:solidFill>
                <a:latin typeface="Courier New" pitchFamily="34" charset="0"/>
                <a:ea typeface="Courier New" pitchFamily="34" charset="-122"/>
                <a:cs typeface="Courier New" pitchFamily="34" charset="-120"/>
              </a:rPr>
              <a:t>&lt;!-- HTML --&gt;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&lt;input type="password" id="pw"</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placeholder="Password"&gt;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&lt;input type="password" id="pw2"</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placeholder="Confirm password"&gt;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&lt;span id="pw2-error" class="error"&gt;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&lt;/span&gt;</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JS</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const pw  = document.getElementById("pw");</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const pw2 = document.getElementById("pw2");</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const pw2Err =</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document.getElementById("pw2-error");</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pw2.addEventListener("input", () =&gt; {</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if (pw.value !== pw2.value) {</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pw2.setCustomValidity(</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"Passwords do not match"</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pw2Err.textContent = "Passwords do not match";</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 else {</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pw2.setCustomValidity("");</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pw2Err.textContent = "";</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540"/>
          </a:solidFill>
          <a:ln w="12700">
            <a:solidFill>
              <a:srgbClr val="1A2540"/>
            </a:solidFill>
            <a:prstDash val="solid"/>
          </a:ln>
        </p:spPr>
      </p:sp>
      <p:sp>
        <p:nvSpPr>
          <p:cNvPr id="3" name="Shape 1"/>
          <p:cNvSpPr/>
          <p:nvPr/>
        </p:nvSpPr>
        <p:spPr>
          <a:xfrm>
            <a:off x="0" y="0"/>
            <a:ext cx="228600" cy="5143500"/>
          </a:xfrm>
          <a:prstGeom prst="rect">
            <a:avLst/>
          </a:prstGeom>
          <a:solidFill>
            <a:srgbClr val="F7DF1E"/>
          </a:solidFill>
          <a:ln w="12700">
            <a:solidFill>
              <a:srgbClr val="F7DF1E"/>
            </a:solidFill>
            <a:prstDash val="solid"/>
          </a:ln>
        </p:spPr>
      </p:sp>
      <p:sp>
        <p:nvSpPr>
          <p:cNvPr id="4" name="Text 2"/>
          <p:cNvSpPr txBox="1"/>
          <p:nvPr/>
        </p:nvSpPr>
        <p:spPr>
          <a:xfrm>
            <a:off x="457200" y="1371600"/>
            <a:ext cx="8229600" cy="365760"/>
          </a:xfrm>
          <a:prstGeom prst="rect">
            <a:avLst/>
          </a:prstGeom>
          <a:noFill/>
          <a:ln/>
        </p:spPr>
        <p:txBody>
          <a:bodyPr wrap="square" lIns="0" tIns="0" rIns="0" bIns="0" rtlCol="0" anchor="ctr"/>
          <a:lstStyle/>
          <a:p>
            <a:pPr algn="l" indent="0" marL="0">
              <a:buNone/>
            </a:pPr>
            <a:r>
              <a:rPr lang="en-US" sz="1100" b="1" spc="600" kern="0" dirty="0">
                <a:solidFill>
                  <a:srgbClr val="F7DF1E"/>
                </a:solidFill>
                <a:latin typeface="Calibri" pitchFamily="34" charset="0"/>
                <a:ea typeface="Calibri" pitchFamily="34" charset="-122"/>
                <a:cs typeface="Calibri" pitchFamily="34" charset="-120"/>
              </a:rPr>
              <a:t>CHAPTER</a:t>
            </a:r>
            <a:endParaRPr lang="en-US" sz="1100" dirty="0"/>
          </a:p>
        </p:txBody>
      </p:sp>
      <p:sp>
        <p:nvSpPr>
          <p:cNvPr id="5" name="Text 3"/>
          <p:cNvSpPr txBox="1"/>
          <p:nvPr/>
        </p:nvSpPr>
        <p:spPr>
          <a:xfrm>
            <a:off x="457200" y="1783080"/>
            <a:ext cx="365760" cy="548640"/>
          </a:xfrm>
          <a:prstGeom prst="rect">
            <a:avLst/>
          </a:prstGeom>
          <a:noFill/>
          <a:ln/>
        </p:spPr>
        <p:txBody>
          <a:bodyPr wrap="square" lIns="0" tIns="0" rIns="0" bIns="0" rtlCol="0" anchor="ctr"/>
          <a:lstStyle/>
          <a:p>
            <a:pPr algn="l" indent="0" marL="0">
              <a:buNone/>
            </a:pPr>
            <a:r>
              <a:rPr lang="en-US" sz="2200" b="1" dirty="0">
                <a:solidFill>
                  <a:srgbClr val="F7DF1E"/>
                </a:solidFill>
                <a:latin typeface="Calibri" pitchFamily="34" charset="0"/>
                <a:ea typeface="Calibri" pitchFamily="34" charset="-122"/>
                <a:cs typeface="Calibri" pitchFamily="34" charset="-120"/>
              </a:rPr>
              <a:t>&gt;</a:t>
            </a:r>
            <a:endParaRPr lang="en-US" sz="2200" dirty="0"/>
          </a:p>
        </p:txBody>
      </p:sp>
      <p:sp>
        <p:nvSpPr>
          <p:cNvPr id="6" name="Text 4"/>
          <p:cNvSpPr txBox="1"/>
          <p:nvPr/>
        </p:nvSpPr>
        <p:spPr>
          <a:xfrm>
            <a:off x="914400" y="1737360"/>
            <a:ext cx="7772400" cy="822960"/>
          </a:xfrm>
          <a:prstGeom prst="rect">
            <a:avLst/>
          </a:prstGeom>
          <a:noFill/>
          <a:ln/>
        </p:spPr>
        <p:txBody>
          <a:bodyPr wrap="square" lIns="0" tIns="0" rIns="0" bIns="0" rtlCol="0" anchor="ctr"/>
          <a:lstStyle/>
          <a:p>
            <a:pPr algn="l" indent="0" marL="0">
              <a:buNone/>
            </a:pPr>
            <a:r>
              <a:rPr lang="en-US" sz="3600" b="1" dirty="0">
                <a:solidFill>
                  <a:srgbClr val="FFFFFF"/>
                </a:solidFill>
                <a:latin typeface="Calibri" pitchFamily="34" charset="0"/>
                <a:ea typeface="Calibri" pitchFamily="34" charset="-122"/>
                <a:cs typeface="Calibri" pitchFamily="34" charset="-120"/>
              </a:rPr>
              <a:t>Accessible Validation</a:t>
            </a:r>
            <a:endParaRPr lang="en-US" sz="3600" dirty="0"/>
          </a:p>
        </p:txBody>
      </p:sp>
      <p:sp>
        <p:nvSpPr>
          <p:cNvPr id="7" name="Text 5"/>
          <p:cNvSpPr txBox="1"/>
          <p:nvPr/>
        </p:nvSpPr>
        <p:spPr>
          <a:xfrm>
            <a:off x="914400" y="2606040"/>
            <a:ext cx="7772400" cy="457200"/>
          </a:xfrm>
          <a:prstGeom prst="rect">
            <a:avLst/>
          </a:prstGeom>
          <a:noFill/>
          <a:ln/>
        </p:spPr>
        <p:txBody>
          <a:bodyPr wrap="square" lIns="0" tIns="0" rIns="0" bIns="0" rtlCol="0" anchor="ctr"/>
          <a:lstStyle/>
          <a:p>
            <a:pPr algn="l" indent="0" marL="0">
              <a:buNone/>
            </a:pPr>
            <a:r>
              <a:rPr lang="en-US" sz="1600" dirty="0">
                <a:solidFill>
                  <a:srgbClr val="CDD6F4"/>
                </a:solidFill>
                <a:latin typeface="Calibri" pitchFamily="34" charset="0"/>
                <a:ea typeface="Calibri" pitchFamily="34" charset="-122"/>
                <a:cs typeface="Calibri" pitchFamily="34" charset="-120"/>
              </a:rPr>
              <a:t>Connect errors to inputs for screen readers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3200400" cy="5143500"/>
          </a:xfrm>
          <a:prstGeom prst="rect">
            <a:avLst/>
          </a:prstGeom>
          <a:solidFill>
            <a:srgbClr val="1A2540"/>
          </a:solidFill>
          <a:ln w="12700">
            <a:solidFill>
              <a:srgbClr val="1A2540"/>
            </a:solidFill>
            <a:prstDash val="solid"/>
          </a:ln>
        </p:spPr>
      </p:sp>
      <p:sp>
        <p:nvSpPr>
          <p:cNvPr id="4" name="Text 2"/>
          <p:cNvSpPr txBox="1"/>
          <p:nvPr/>
        </p:nvSpPr>
        <p:spPr>
          <a:xfrm>
            <a:off x="182880" y="228600"/>
            <a:ext cx="2834640" cy="914400"/>
          </a:xfrm>
          <a:prstGeom prst="rect">
            <a:avLst/>
          </a:prstGeom>
          <a:noFill/>
          <a:ln/>
        </p:spPr>
        <p:txBody>
          <a:bodyPr wrap="square" lIns="0" tIns="0" rIns="0" bIns="0" rtlCol="0" anchor="t"/>
          <a:lstStyle/>
          <a:p>
            <a:pPr algn="l" indent="0" marL="0">
              <a:buNone/>
            </a:pPr>
            <a:r>
              <a:rPr lang="en-US" sz="2000" b="1" dirty="0">
                <a:solidFill>
                  <a:srgbClr val="FFFFFF"/>
                </a:solidFill>
                <a:latin typeface="Calibri" pitchFamily="34" charset="0"/>
                <a:ea typeface="Calibri" pitchFamily="34" charset="-122"/>
                <a:cs typeface="Calibri" pitchFamily="34" charset="-120"/>
              </a:rPr>
              <a:t>Accessibility:</a:t>
            </a:r>
            <a:endParaRPr lang="en-US" sz="2000" dirty="0"/>
          </a:p>
          <a:p>
            <a:pPr algn="l" indent="0" marL="0">
              <a:buNone/>
            </a:pPr>
            <a:r>
              <a:rPr lang="en-US" sz="2000" b="1" dirty="0">
                <a:solidFill>
                  <a:srgbClr val="FFFFFF"/>
                </a:solidFill>
                <a:latin typeface="Calibri" pitchFamily="34" charset="0"/>
                <a:ea typeface="Calibri" pitchFamily="34" charset="-122"/>
                <a:cs typeface="Calibri" pitchFamily="34" charset="-120"/>
              </a:rPr>
              <a:t>aria-describedby</a:t>
            </a:r>
            <a:endParaRPr lang="en-US" sz="2000" dirty="0"/>
          </a:p>
        </p:txBody>
      </p:sp>
      <p:sp>
        <p:nvSpPr>
          <p:cNvPr id="5" name="Shape 3"/>
          <p:cNvSpPr/>
          <p:nvPr/>
        </p:nvSpPr>
        <p:spPr>
          <a:xfrm>
            <a:off x="182880" y="1188720"/>
            <a:ext cx="2560320" cy="45720"/>
          </a:xfrm>
          <a:prstGeom prst="rect">
            <a:avLst/>
          </a:prstGeom>
          <a:solidFill>
            <a:srgbClr val="F7DF1E"/>
          </a:solidFill>
          <a:ln w="12700">
            <a:solidFill>
              <a:srgbClr val="F7DF1E"/>
            </a:solidFill>
            <a:prstDash val="solid"/>
          </a:ln>
        </p:spPr>
      </p:sp>
      <p:sp>
        <p:nvSpPr>
          <p:cNvPr id="6" name="Text 4"/>
          <p:cNvSpPr txBox="1"/>
          <p:nvPr/>
        </p:nvSpPr>
        <p:spPr>
          <a:xfrm>
            <a:off x="182880" y="1261872"/>
            <a:ext cx="2834640" cy="365760"/>
          </a:xfrm>
          <a:prstGeom prst="rect">
            <a:avLst/>
          </a:prstGeom>
          <a:noFill/>
          <a:ln/>
        </p:spPr>
        <p:txBody>
          <a:bodyPr wrap="square" lIns="0" tIns="0" rIns="0" bIns="0" rtlCol="0" anchor="t"/>
          <a:lstStyle/>
          <a:p>
            <a:pPr algn="l" indent="0" marL="0">
              <a:buNone/>
            </a:pPr>
            <a:r>
              <a:rPr lang="en-US" sz="1100" dirty="0">
                <a:solidFill>
                  <a:srgbClr val="CDD6F4"/>
                </a:solidFill>
                <a:latin typeface="Calibri" pitchFamily="34" charset="0"/>
                <a:ea typeface="Calibri" pitchFamily="34" charset="-122"/>
                <a:cs typeface="Calibri" pitchFamily="34" charset="-120"/>
              </a:rPr>
              <a:t>Link inputs to error spans</a:t>
            </a:r>
            <a:endParaRPr lang="en-US" sz="1100" dirty="0"/>
          </a:p>
        </p:txBody>
      </p:sp>
      <p:sp>
        <p:nvSpPr>
          <p:cNvPr id="7" name="Text 5"/>
          <p:cNvSpPr txBox="1"/>
          <p:nvPr/>
        </p:nvSpPr>
        <p:spPr>
          <a:xfrm>
            <a:off x="182880" y="132588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aria-describedby</a:t>
            </a:r>
            <a:endParaRPr lang="en-US" sz="1200" dirty="0"/>
          </a:p>
        </p:txBody>
      </p:sp>
      <p:sp>
        <p:nvSpPr>
          <p:cNvPr id="8" name="Text 6"/>
          <p:cNvSpPr txBox="1"/>
          <p:nvPr/>
        </p:nvSpPr>
        <p:spPr>
          <a:xfrm>
            <a:off x="182880" y="162763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Points to id of error &lt;span&gt;</a:t>
            </a:r>
            <a:endParaRPr lang="en-US" sz="1000" dirty="0"/>
          </a:p>
        </p:txBody>
      </p:sp>
      <p:sp>
        <p:nvSpPr>
          <p:cNvPr id="9" name="Text 7"/>
          <p:cNvSpPr txBox="1"/>
          <p:nvPr/>
        </p:nvSpPr>
        <p:spPr>
          <a:xfrm>
            <a:off x="182880" y="196596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aria-invalid</a:t>
            </a:r>
            <a:endParaRPr lang="en-US" sz="1200" dirty="0"/>
          </a:p>
        </p:txBody>
      </p:sp>
      <p:sp>
        <p:nvSpPr>
          <p:cNvPr id="10" name="Text 8"/>
          <p:cNvSpPr txBox="1"/>
          <p:nvPr/>
        </p:nvSpPr>
        <p:spPr>
          <a:xfrm>
            <a:off x="182880" y="226771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"true" when input has error</a:t>
            </a:r>
            <a:endParaRPr lang="en-US" sz="1000" dirty="0"/>
          </a:p>
        </p:txBody>
      </p:sp>
      <p:sp>
        <p:nvSpPr>
          <p:cNvPr id="11" name="Text 9"/>
          <p:cNvSpPr txBox="1"/>
          <p:nvPr/>
        </p:nvSpPr>
        <p:spPr>
          <a:xfrm>
            <a:off x="182880" y="260604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aria-live="polite"</a:t>
            </a:r>
            <a:endParaRPr lang="en-US" sz="1200" dirty="0"/>
          </a:p>
        </p:txBody>
      </p:sp>
      <p:sp>
        <p:nvSpPr>
          <p:cNvPr id="12" name="Text 10"/>
          <p:cNvSpPr txBox="1"/>
          <p:nvPr/>
        </p:nvSpPr>
        <p:spPr>
          <a:xfrm>
            <a:off x="182880" y="290779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Screen reader reads new text</a:t>
            </a:r>
            <a:endParaRPr lang="en-US" sz="1000" dirty="0"/>
          </a:p>
        </p:txBody>
      </p:sp>
      <p:sp>
        <p:nvSpPr>
          <p:cNvPr id="13" name="Text 11"/>
          <p:cNvSpPr txBox="1"/>
          <p:nvPr/>
        </p:nvSpPr>
        <p:spPr>
          <a:xfrm>
            <a:off x="182880" y="324612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role="alert"</a:t>
            </a:r>
            <a:endParaRPr lang="en-US" sz="1200" dirty="0"/>
          </a:p>
        </p:txBody>
      </p:sp>
      <p:sp>
        <p:nvSpPr>
          <p:cNvPr id="14" name="Text 12"/>
          <p:cNvSpPr txBox="1"/>
          <p:nvPr/>
        </p:nvSpPr>
        <p:spPr>
          <a:xfrm>
            <a:off x="182880" y="354787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Immediate announcement</a:t>
            </a:r>
            <a:endParaRPr lang="en-US" sz="1000" dirty="0"/>
          </a:p>
        </p:txBody>
      </p:sp>
      <p:sp>
        <p:nvSpPr>
          <p:cNvPr id="15" name="Shape 13"/>
          <p:cNvSpPr/>
          <p:nvPr/>
        </p:nvSpPr>
        <p:spPr>
          <a:xfrm>
            <a:off x="3337560" y="182880"/>
            <a:ext cx="5577840" cy="4754880"/>
          </a:xfrm>
          <a:prstGeom prst="rect">
            <a:avLst/>
          </a:prstGeom>
          <a:solidFill>
            <a:srgbClr val="1E2336"/>
          </a:solidFill>
          <a:ln w="12700">
            <a:solidFill>
              <a:srgbClr val="2D3250"/>
            </a:solidFill>
            <a:prstDash val="solid"/>
          </a:ln>
        </p:spPr>
      </p:sp>
      <p:sp>
        <p:nvSpPr>
          <p:cNvPr id="16" name="Shape 14"/>
          <p:cNvSpPr/>
          <p:nvPr/>
        </p:nvSpPr>
        <p:spPr>
          <a:xfrm>
            <a:off x="3456432" y="283464"/>
            <a:ext cx="118872" cy="118872"/>
          </a:xfrm>
          <a:prstGeom prst="ellipse">
            <a:avLst/>
          </a:prstGeom>
          <a:solidFill>
            <a:srgbClr val="FF5F56"/>
          </a:solidFill>
          <a:ln w="12700">
            <a:solidFill>
              <a:srgbClr val="FF5F56"/>
            </a:solidFill>
            <a:prstDash val="solid"/>
          </a:ln>
        </p:spPr>
      </p:sp>
      <p:sp>
        <p:nvSpPr>
          <p:cNvPr id="17" name="Shape 15"/>
          <p:cNvSpPr/>
          <p:nvPr/>
        </p:nvSpPr>
        <p:spPr>
          <a:xfrm>
            <a:off x="3657600" y="283464"/>
            <a:ext cx="118872" cy="118872"/>
          </a:xfrm>
          <a:prstGeom prst="ellipse">
            <a:avLst/>
          </a:prstGeom>
          <a:solidFill>
            <a:srgbClr val="FFBD2E"/>
          </a:solidFill>
          <a:ln w="12700">
            <a:solidFill>
              <a:srgbClr val="FFBD2E"/>
            </a:solidFill>
            <a:prstDash val="solid"/>
          </a:ln>
        </p:spPr>
      </p:sp>
      <p:sp>
        <p:nvSpPr>
          <p:cNvPr id="18" name="Shape 16"/>
          <p:cNvSpPr/>
          <p:nvPr/>
        </p:nvSpPr>
        <p:spPr>
          <a:xfrm>
            <a:off x="3858768" y="283464"/>
            <a:ext cx="118872" cy="118872"/>
          </a:xfrm>
          <a:prstGeom prst="ellipse">
            <a:avLst/>
          </a:prstGeom>
          <a:solidFill>
            <a:srgbClr val="27C93F"/>
          </a:solidFill>
          <a:ln w="12700">
            <a:solidFill>
              <a:srgbClr val="27C93F"/>
            </a:solidFill>
            <a:prstDash val="solid"/>
          </a:ln>
        </p:spPr>
      </p:sp>
      <p:sp>
        <p:nvSpPr>
          <p:cNvPr id="19" name="Text 17"/>
          <p:cNvSpPr txBox="1"/>
          <p:nvPr/>
        </p:nvSpPr>
        <p:spPr>
          <a:xfrm>
            <a:off x="3474720" y="475488"/>
            <a:ext cx="5303520" cy="4343400"/>
          </a:xfrm>
          <a:prstGeom prst="rect">
            <a:avLst/>
          </a:prstGeom>
          <a:noFill/>
          <a:ln/>
        </p:spPr>
        <p:txBody>
          <a:bodyPr wrap="square" lIns="0" tIns="0" rIns="0" bIns="0" rtlCol="0" anchor="t"/>
          <a:lstStyle/>
          <a:p>
            <a:pPr algn="l" indent="0" marL="0">
              <a:buNone/>
            </a:pPr>
            <a:r>
              <a:rPr lang="en-US" sz="1000" dirty="0">
                <a:solidFill>
                  <a:srgbClr val="64FFDA"/>
                </a:solidFill>
                <a:latin typeface="Courier New" pitchFamily="34" charset="0"/>
                <a:ea typeface="Courier New" pitchFamily="34" charset="-122"/>
                <a:cs typeface="Courier New" pitchFamily="34" charset="-120"/>
              </a:rPr>
              <a:t>&lt;!-- HTML: link input to its error span --&gt;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&lt;label for="email"&gt;Email&lt;/label&gt;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&lt;input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type="email"</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id="email"</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aria-describedby="email-error"</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aria-invalid="false"&gt;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&lt;span</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id="email-error"</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class="error"</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aria-live="polite"</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&gt;&lt;/span&gt;</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JS: update aria-invalid</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function showError(input, errorEl, msg) {</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errorEl.textContent = msg;</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input.setAttribute("aria-invalid",</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msg ? "true" : "false");</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9144000" cy="64008"/>
          </a:xfrm>
          <a:prstGeom prst="rect">
            <a:avLst/>
          </a:prstGeom>
          <a:solidFill>
            <a:srgbClr val="F7DF1E"/>
          </a:solidFill>
          <a:ln w="12700">
            <a:solidFill>
              <a:srgbClr val="F7DF1E"/>
            </a:solidFill>
            <a:prstDash val="solid"/>
          </a:ln>
        </p:spPr>
      </p:sp>
      <p:sp>
        <p:nvSpPr>
          <p:cNvPr id="4" name="Text 2"/>
          <p:cNvSpPr txBox="1"/>
          <p:nvPr/>
        </p:nvSpPr>
        <p:spPr>
          <a:xfrm>
            <a:off x="457200" y="182880"/>
            <a:ext cx="8229600" cy="548640"/>
          </a:xfrm>
          <a:prstGeom prst="rect">
            <a:avLst/>
          </a:prstGeom>
          <a:noFill/>
          <a:ln/>
        </p:spPr>
        <p:txBody>
          <a:bodyPr wrap="square" lIns="0" tIns="0" rIns="0" bIns="0" rtlCol="0" anchor="ctr"/>
          <a:lstStyle/>
          <a:p>
            <a:pPr algn="l" indent="0" marL="0">
              <a:buNone/>
            </a:pPr>
            <a:r>
              <a:rPr lang="en-US" sz="2800" b="1" dirty="0">
                <a:solidFill>
                  <a:srgbClr val="1A2540"/>
                </a:solidFill>
                <a:latin typeface="Calibri" pitchFamily="34" charset="0"/>
                <a:ea typeface="Calibri" pitchFamily="34" charset="-122"/>
                <a:cs typeface="Calibri" pitchFamily="34" charset="-120"/>
              </a:rPr>
              <a:t>The novalidate Attribute</a:t>
            </a:r>
            <a:endParaRPr lang="en-US" sz="2800" dirty="0"/>
          </a:p>
        </p:txBody>
      </p:sp>
      <p:sp>
        <p:nvSpPr>
          <p:cNvPr id="5" name="Shape 3"/>
          <p:cNvSpPr/>
          <p:nvPr/>
        </p:nvSpPr>
        <p:spPr>
          <a:xfrm>
            <a:off x="457200" y="758952"/>
            <a:ext cx="8229600" cy="36576"/>
          </a:xfrm>
          <a:prstGeom prst="rect">
            <a:avLst/>
          </a:prstGeom>
          <a:solidFill>
            <a:srgbClr val="F7DF1E"/>
          </a:solidFill>
          <a:ln w="12700">
            <a:solidFill>
              <a:srgbClr val="F7DF1E"/>
            </a:solidFill>
            <a:prstDash val="solid"/>
          </a:ln>
        </p:spPr>
      </p:sp>
      <p:sp>
        <p:nvSpPr>
          <p:cNvPr id="6" name="Shape 4"/>
          <p:cNvSpPr/>
          <p:nvPr/>
        </p:nvSpPr>
        <p:spPr>
          <a:xfrm>
            <a:off x="457200" y="1005840"/>
            <a:ext cx="8229600" cy="2011680"/>
          </a:xfrm>
          <a:prstGeom prst="rect">
            <a:avLst/>
          </a:prstGeom>
          <a:solidFill>
            <a:srgbClr val="E8EDFF"/>
          </a:solidFill>
          <a:ln w="12700">
            <a:solidFill>
              <a:srgbClr val="CBD5FF"/>
            </a:solidFill>
            <a:prstDash val="solid"/>
          </a:ln>
        </p:spPr>
      </p:sp>
      <p:sp>
        <p:nvSpPr>
          <p:cNvPr id="7" name="Shape 5"/>
          <p:cNvSpPr/>
          <p:nvPr/>
        </p:nvSpPr>
        <p:spPr>
          <a:xfrm>
            <a:off x="457200" y="3154680"/>
            <a:ext cx="3931920" cy="1737360"/>
          </a:xfrm>
          <a:prstGeom prst="rect">
            <a:avLst/>
          </a:prstGeom>
          <a:solidFill>
            <a:srgbClr val="1E2336"/>
          </a:solidFill>
          <a:ln w="12700">
            <a:solidFill>
              <a:srgbClr val="2D3250"/>
            </a:solidFill>
            <a:prstDash val="solid"/>
          </a:ln>
        </p:spPr>
      </p:sp>
      <p:sp>
        <p:nvSpPr>
          <p:cNvPr id="8" name="Shape 6"/>
          <p:cNvSpPr/>
          <p:nvPr/>
        </p:nvSpPr>
        <p:spPr>
          <a:xfrm>
            <a:off x="576072" y="3255264"/>
            <a:ext cx="118872" cy="118872"/>
          </a:xfrm>
          <a:prstGeom prst="ellipse">
            <a:avLst/>
          </a:prstGeom>
          <a:solidFill>
            <a:srgbClr val="FF5F56"/>
          </a:solidFill>
          <a:ln w="12700">
            <a:solidFill>
              <a:srgbClr val="FF5F56"/>
            </a:solidFill>
            <a:prstDash val="solid"/>
          </a:ln>
        </p:spPr>
      </p:sp>
      <p:sp>
        <p:nvSpPr>
          <p:cNvPr id="9" name="Shape 7"/>
          <p:cNvSpPr/>
          <p:nvPr/>
        </p:nvSpPr>
        <p:spPr>
          <a:xfrm>
            <a:off x="777240" y="3255264"/>
            <a:ext cx="118872" cy="118872"/>
          </a:xfrm>
          <a:prstGeom prst="ellipse">
            <a:avLst/>
          </a:prstGeom>
          <a:solidFill>
            <a:srgbClr val="FFBD2E"/>
          </a:solidFill>
          <a:ln w="12700">
            <a:solidFill>
              <a:srgbClr val="FFBD2E"/>
            </a:solidFill>
            <a:prstDash val="solid"/>
          </a:ln>
        </p:spPr>
      </p:sp>
      <p:sp>
        <p:nvSpPr>
          <p:cNvPr id="10" name="Shape 8"/>
          <p:cNvSpPr/>
          <p:nvPr/>
        </p:nvSpPr>
        <p:spPr>
          <a:xfrm>
            <a:off x="978408" y="3255264"/>
            <a:ext cx="118872" cy="118872"/>
          </a:xfrm>
          <a:prstGeom prst="ellipse">
            <a:avLst/>
          </a:prstGeom>
          <a:solidFill>
            <a:srgbClr val="27C93F"/>
          </a:solidFill>
          <a:ln w="12700">
            <a:solidFill>
              <a:srgbClr val="27C93F"/>
            </a:solidFill>
            <a:prstDash val="solid"/>
          </a:ln>
        </p:spPr>
      </p:sp>
      <p:sp>
        <p:nvSpPr>
          <p:cNvPr id="11" name="Text 9"/>
          <p:cNvSpPr txBox="1"/>
          <p:nvPr/>
        </p:nvSpPr>
        <p:spPr>
          <a:xfrm>
            <a:off x="594360" y="3447288"/>
            <a:ext cx="3657600" cy="1325880"/>
          </a:xfrm>
          <a:prstGeom prst="rect">
            <a:avLst/>
          </a:prstGeom>
          <a:noFill/>
          <a:ln/>
        </p:spPr>
        <p:txBody>
          <a:bodyPr wrap="square" lIns="0" tIns="0" rIns="0" bIns="0" rtlCol="0" anchor="t"/>
          <a:lstStyle/>
          <a:p>
            <a:pPr algn="l" indent="0" marL="0">
              <a:buNone/>
            </a:pPr>
            <a:r>
              <a:rPr lang="en-US" sz="1000" dirty="0">
                <a:solidFill>
                  <a:srgbClr val="64FFDA"/>
                </a:solidFill>
                <a:latin typeface="Courier New" pitchFamily="34" charset="0"/>
                <a:ea typeface="Courier New" pitchFamily="34" charset="-122"/>
                <a:cs typeface="Courier New" pitchFamily="34" charset="-120"/>
              </a:rPr>
              <a:t>&lt;!-- ADD novalidate to your form --&gt;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&lt;form id="reg-form" novalidate&gt;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&lt;!-- inputs here --&gt;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&lt;/form&gt;</a:t>
            </a:r>
            <a:endParaRPr lang="en-US" sz="1000" dirty="0"/>
          </a:p>
        </p:txBody>
      </p:sp>
      <p:sp>
        <p:nvSpPr>
          <p:cNvPr id="12" name="Shape 10"/>
          <p:cNvSpPr/>
          <p:nvPr/>
        </p:nvSpPr>
        <p:spPr>
          <a:xfrm>
            <a:off x="4754880" y="3154680"/>
            <a:ext cx="3931920" cy="1737360"/>
          </a:xfrm>
          <a:prstGeom prst="rect">
            <a:avLst/>
          </a:prstGeom>
          <a:solidFill>
            <a:srgbClr val="1E2336"/>
          </a:solidFill>
          <a:ln w="12700">
            <a:solidFill>
              <a:srgbClr val="2D3250"/>
            </a:solidFill>
            <a:prstDash val="solid"/>
          </a:ln>
        </p:spPr>
      </p:sp>
      <p:sp>
        <p:nvSpPr>
          <p:cNvPr id="13" name="Text 11"/>
          <p:cNvSpPr txBox="1"/>
          <p:nvPr/>
        </p:nvSpPr>
        <p:spPr>
          <a:xfrm>
            <a:off x="4892040" y="3246120"/>
            <a:ext cx="3657600" cy="1554480"/>
          </a:xfrm>
          <a:prstGeom prst="rect">
            <a:avLst/>
          </a:prstGeom>
          <a:noFill/>
          <a:ln/>
        </p:spPr>
        <p:txBody>
          <a:bodyPr wrap="square" lIns="0" tIns="0" rIns="0" bIns="0" rtlCol="0" anchor="t"/>
          <a:lstStyle/>
          <a:p>
            <a:pPr algn="l" indent="0" marL="0">
              <a:buNone/>
            </a:pPr>
            <a:r>
              <a:rPr lang="en-US" sz="1000" dirty="0">
                <a:solidFill>
                  <a:srgbClr val="64FFDA"/>
                </a:solidFill>
                <a:latin typeface="Courier New" pitchFamily="34" charset="0"/>
                <a:ea typeface="Courier New" pitchFamily="34" charset="-122"/>
                <a:cs typeface="Courier New" pitchFamily="34" charset="-120"/>
              </a:rPr>
              <a:t>Without novalidate:</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Browser popup fires first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Your JS error also shows</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User sees duplicate messages</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With novalidate:</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Browser stays silent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Only your styled error appears</a:t>
            </a:r>
            <a:endParaRPr lang="en-US" sz="1000" dirty="0"/>
          </a:p>
        </p:txBody>
      </p:sp>
      <p:sp>
        <p:nvSpPr>
          <p:cNvPr id="14" name="Text 12"/>
          <p:cNvSpPr txBox="1"/>
          <p:nvPr/>
        </p:nvSpPr>
        <p:spPr>
          <a:xfrm>
            <a:off x="594360" y="1097280"/>
            <a:ext cx="7863840" cy="292608"/>
          </a:xfrm>
          <a:prstGeom prst="rect">
            <a:avLst/>
          </a:prstGeom>
          <a:noFill/>
          <a:ln/>
        </p:spPr>
        <p:txBody>
          <a:bodyPr wrap="square" lIns="0" tIns="0" rIns="0" bIns="0" rtlCol="0" anchor="ctr"/>
          <a:lstStyle/>
          <a:p>
            <a:pPr algn="l" indent="0" marL="0">
              <a:buNone/>
            </a:pPr>
            <a:r>
              <a:rPr lang="en-US" sz="1300" b="1" dirty="0">
                <a:solidFill>
                  <a:srgbClr val="1A2540"/>
                </a:solidFill>
                <a:latin typeface="Calibri" pitchFamily="34" charset="0"/>
                <a:ea typeface="Calibri" pitchFamily="34" charset="-122"/>
                <a:cs typeface="Calibri" pitchFamily="34" charset="-120"/>
              </a:rPr>
              <a:t>🛑 Browser bubbles are suppressed</a:t>
            </a:r>
            <a:endParaRPr lang="en-US" sz="1300" dirty="0"/>
          </a:p>
        </p:txBody>
      </p:sp>
      <p:sp>
        <p:nvSpPr>
          <p:cNvPr id="15" name="Text 13"/>
          <p:cNvSpPr txBox="1"/>
          <p:nvPr/>
        </p:nvSpPr>
        <p:spPr>
          <a:xfrm>
            <a:off x="1005840" y="1408176"/>
            <a:ext cx="7498080" cy="256032"/>
          </a:xfrm>
          <a:prstGeom prst="rect">
            <a:avLst/>
          </a:prstGeom>
          <a:noFill/>
          <a:ln/>
        </p:spPr>
        <p:txBody>
          <a:bodyPr wrap="square" lIns="0" tIns="0" rIns="0" bIns="0" rtlCol="0" anchor="ctr"/>
          <a:lstStyle/>
          <a:p>
            <a:pPr algn="l" indent="0" marL="0">
              <a:buNone/>
            </a:pPr>
            <a:r>
              <a:rPr lang="en-US" sz="1100" dirty="0">
                <a:solidFill>
                  <a:srgbClr val="8892B0"/>
                </a:solidFill>
                <a:latin typeface="Calibri" pitchFamily="34" charset="0"/>
                <a:ea typeface="Calibri" pitchFamily="34" charset="-122"/>
                <a:cs typeface="Calibri" pitchFamily="34" charset="-120"/>
              </a:rPr>
              <a:t>novalidate disables the browser's built-in tooltips and prevents default submit-block behavior.</a:t>
            </a:r>
            <a:endParaRPr lang="en-US" sz="1100" dirty="0"/>
          </a:p>
        </p:txBody>
      </p:sp>
      <p:sp>
        <p:nvSpPr>
          <p:cNvPr id="16" name="Text 14"/>
          <p:cNvSpPr txBox="1"/>
          <p:nvPr/>
        </p:nvSpPr>
        <p:spPr>
          <a:xfrm>
            <a:off x="594360" y="1664208"/>
            <a:ext cx="7863840" cy="292608"/>
          </a:xfrm>
          <a:prstGeom prst="rect">
            <a:avLst/>
          </a:prstGeom>
          <a:noFill/>
          <a:ln/>
        </p:spPr>
        <p:txBody>
          <a:bodyPr wrap="square" lIns="0" tIns="0" rIns="0" bIns="0" rtlCol="0" anchor="ctr"/>
          <a:lstStyle/>
          <a:p>
            <a:pPr algn="l" indent="0" marL="0">
              <a:buNone/>
            </a:pPr>
            <a:r>
              <a:rPr lang="en-US" sz="1300" b="1" dirty="0">
                <a:solidFill>
                  <a:srgbClr val="1A2540"/>
                </a:solidFill>
                <a:latin typeface="Calibri" pitchFamily="34" charset="0"/>
                <a:ea typeface="Calibri" pitchFamily="34" charset="-122"/>
                <a:cs typeface="Calibri" pitchFamily="34" charset="-120"/>
              </a:rPr>
              <a:t>✅ checkValidity() still works</a:t>
            </a:r>
            <a:endParaRPr lang="en-US" sz="1300" dirty="0"/>
          </a:p>
        </p:txBody>
      </p:sp>
      <p:sp>
        <p:nvSpPr>
          <p:cNvPr id="17" name="Text 15"/>
          <p:cNvSpPr txBox="1"/>
          <p:nvPr/>
        </p:nvSpPr>
        <p:spPr>
          <a:xfrm>
            <a:off x="1005840" y="1975104"/>
            <a:ext cx="7498080" cy="256032"/>
          </a:xfrm>
          <a:prstGeom prst="rect">
            <a:avLst/>
          </a:prstGeom>
          <a:noFill/>
          <a:ln/>
        </p:spPr>
        <p:txBody>
          <a:bodyPr wrap="square" lIns="0" tIns="0" rIns="0" bIns="0" rtlCol="0" anchor="ctr"/>
          <a:lstStyle/>
          <a:p>
            <a:pPr algn="l" indent="0" marL="0">
              <a:buNone/>
            </a:pPr>
            <a:r>
              <a:rPr lang="en-US" sz="1100" dirty="0">
                <a:solidFill>
                  <a:srgbClr val="8892B0"/>
                </a:solidFill>
                <a:latin typeface="Calibri" pitchFamily="34" charset="0"/>
                <a:ea typeface="Calibri" pitchFamily="34" charset="-122"/>
                <a:cs typeface="Calibri" pitchFamily="34" charset="-120"/>
              </a:rPr>
              <a:t>The validity API still runs — novalidate only stops the VISUAL popup, not the underlying validity state.</a:t>
            </a:r>
            <a:endParaRPr lang="en-US" sz="1100" dirty="0"/>
          </a:p>
        </p:txBody>
      </p:sp>
      <p:sp>
        <p:nvSpPr>
          <p:cNvPr id="18" name="Text 16"/>
          <p:cNvSpPr txBox="1"/>
          <p:nvPr/>
        </p:nvSpPr>
        <p:spPr>
          <a:xfrm>
            <a:off x="594360" y="2231136"/>
            <a:ext cx="7863840" cy="292608"/>
          </a:xfrm>
          <a:prstGeom prst="rect">
            <a:avLst/>
          </a:prstGeom>
          <a:noFill/>
          <a:ln/>
        </p:spPr>
        <p:txBody>
          <a:bodyPr wrap="square" lIns="0" tIns="0" rIns="0" bIns="0" rtlCol="0" anchor="ctr"/>
          <a:lstStyle/>
          <a:p>
            <a:pPr algn="l" indent="0" marL="0">
              <a:buNone/>
            </a:pPr>
            <a:r>
              <a:rPr lang="en-US" sz="1300" b="1" dirty="0">
                <a:solidFill>
                  <a:srgbClr val="1A2540"/>
                </a:solidFill>
                <a:latin typeface="Calibri" pitchFamily="34" charset="0"/>
                <a:ea typeface="Calibri" pitchFamily="34" charset="-122"/>
                <a:cs typeface="Calibri" pitchFamily="34" charset="-120"/>
              </a:rPr>
              <a:t>🎨 Full styling control</a:t>
            </a:r>
            <a:endParaRPr lang="en-US" sz="1300" dirty="0"/>
          </a:p>
        </p:txBody>
      </p:sp>
      <p:sp>
        <p:nvSpPr>
          <p:cNvPr id="19" name="Text 17"/>
          <p:cNvSpPr txBox="1"/>
          <p:nvPr/>
        </p:nvSpPr>
        <p:spPr>
          <a:xfrm>
            <a:off x="1005840" y="2542032"/>
            <a:ext cx="7498080" cy="256032"/>
          </a:xfrm>
          <a:prstGeom prst="rect">
            <a:avLst/>
          </a:prstGeom>
          <a:noFill/>
          <a:ln/>
        </p:spPr>
        <p:txBody>
          <a:bodyPr wrap="square" lIns="0" tIns="0" rIns="0" bIns="0" rtlCol="0" anchor="ctr"/>
          <a:lstStyle/>
          <a:p>
            <a:pPr algn="l" indent="0" marL="0">
              <a:buNone/>
            </a:pPr>
            <a:r>
              <a:rPr lang="en-US" sz="1100" dirty="0">
                <a:solidFill>
                  <a:srgbClr val="8892B0"/>
                </a:solidFill>
                <a:latin typeface="Calibri" pitchFamily="34" charset="0"/>
                <a:ea typeface="Calibri" pitchFamily="34" charset="-122"/>
                <a:cs typeface="Calibri" pitchFamily="34" charset="-120"/>
              </a:rPr>
              <a:t>Your custom &lt;span&gt; errors follow your design system's colors, fonts and animations.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540"/>
          </a:solidFill>
          <a:ln w="12700">
            <a:solidFill>
              <a:srgbClr val="1A2540"/>
            </a:solidFill>
            <a:prstDash val="solid"/>
          </a:ln>
        </p:spPr>
      </p:sp>
      <p:sp>
        <p:nvSpPr>
          <p:cNvPr id="3" name="Shape 1"/>
          <p:cNvSpPr/>
          <p:nvPr/>
        </p:nvSpPr>
        <p:spPr>
          <a:xfrm>
            <a:off x="0" y="0"/>
            <a:ext cx="9144000" cy="109728"/>
          </a:xfrm>
          <a:prstGeom prst="rect">
            <a:avLst/>
          </a:prstGeom>
          <a:solidFill>
            <a:srgbClr val="F7DF1E"/>
          </a:solidFill>
          <a:ln w="12700">
            <a:solidFill>
              <a:srgbClr val="F7DF1E"/>
            </a:solidFill>
            <a:prstDash val="solid"/>
          </a:ln>
        </p:spPr>
      </p:sp>
      <p:sp>
        <p:nvSpPr>
          <p:cNvPr id="4" name="Text 2"/>
          <p:cNvSpPr txBox="1"/>
          <p:nvPr/>
        </p:nvSpPr>
        <p:spPr>
          <a:xfrm>
            <a:off x="457200" y="228600"/>
            <a:ext cx="8229600" cy="54864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Summary &amp; Homework</a:t>
            </a:r>
            <a:endParaRPr lang="en-US" sz="2600" dirty="0"/>
          </a:p>
        </p:txBody>
      </p:sp>
      <p:sp>
        <p:nvSpPr>
          <p:cNvPr id="5" name="Shape 3"/>
          <p:cNvSpPr/>
          <p:nvPr/>
        </p:nvSpPr>
        <p:spPr>
          <a:xfrm>
            <a:off x="457200" y="1005840"/>
            <a:ext cx="3931920" cy="777240"/>
          </a:xfrm>
          <a:prstGeom prst="rect">
            <a:avLst/>
          </a:prstGeom>
          <a:solidFill>
            <a:srgbClr val="243055"/>
          </a:solidFill>
          <a:ln w="12700">
            <a:solidFill>
              <a:srgbClr val="3A4F7A"/>
            </a:solidFill>
            <a:prstDash val="solid"/>
          </a:ln>
        </p:spPr>
      </p:sp>
      <p:sp>
        <p:nvSpPr>
          <p:cNvPr id="6" name="Text 4"/>
          <p:cNvSpPr txBox="1"/>
          <p:nvPr/>
        </p:nvSpPr>
        <p:spPr>
          <a:xfrm>
            <a:off x="594360" y="1051560"/>
            <a:ext cx="3657600" cy="320040"/>
          </a:xfrm>
          <a:prstGeom prst="rect">
            <a:avLst/>
          </a:prstGeom>
          <a:noFill/>
          <a:ln/>
        </p:spPr>
        <p:txBody>
          <a:bodyPr wrap="square" lIns="0" tIns="0" rIns="0" bIns="0" rtlCol="0" anchor="ctr"/>
          <a:lstStyle/>
          <a:p>
            <a:pPr algn="l" indent="0" marL="0">
              <a:buNone/>
            </a:pPr>
            <a:r>
              <a:rPr lang="en-US" sz="1300" b="1" dirty="0">
                <a:solidFill>
                  <a:srgbClr val="F7DF1E"/>
                </a:solidFill>
                <a:latin typeface="Courier New" pitchFamily="34" charset="0"/>
                <a:ea typeface="Courier New" pitchFamily="34" charset="-122"/>
                <a:cs typeface="Courier New" pitchFamily="34" charset="-120"/>
              </a:rPr>
              <a:t>preventDefault()</a:t>
            </a:r>
            <a:endParaRPr lang="en-US" sz="1300" dirty="0"/>
          </a:p>
        </p:txBody>
      </p:sp>
      <p:sp>
        <p:nvSpPr>
          <p:cNvPr id="7" name="Text 5"/>
          <p:cNvSpPr txBox="1"/>
          <p:nvPr/>
        </p:nvSpPr>
        <p:spPr>
          <a:xfrm>
            <a:off x="594360" y="1389888"/>
            <a:ext cx="3657600" cy="274320"/>
          </a:xfrm>
          <a:prstGeom prst="rect">
            <a:avLst/>
          </a:prstGeom>
          <a:noFill/>
          <a:ln/>
        </p:spPr>
        <p:txBody>
          <a:bodyPr wrap="square" lIns="0" tIns="0" rIns="0" bIns="0" rtlCol="0" anchor="ctr"/>
          <a:lstStyle/>
          <a:p>
            <a:pPr algn="l" indent="0" marL="0">
              <a:buNone/>
            </a:pPr>
            <a:r>
              <a:rPr lang="en-US" sz="1100" dirty="0">
                <a:solidFill>
                  <a:srgbClr val="CDD6F4"/>
                </a:solidFill>
                <a:latin typeface="Calibri" pitchFamily="34" charset="0"/>
                <a:ea typeface="Calibri" pitchFamily="34" charset="-122"/>
                <a:cs typeface="Calibri" pitchFamily="34" charset="-120"/>
              </a:rPr>
              <a:t>Stop submit; validate first</a:t>
            </a:r>
            <a:endParaRPr lang="en-US" sz="1100" dirty="0"/>
          </a:p>
        </p:txBody>
      </p:sp>
      <p:sp>
        <p:nvSpPr>
          <p:cNvPr id="8" name="Shape 6"/>
          <p:cNvSpPr/>
          <p:nvPr/>
        </p:nvSpPr>
        <p:spPr>
          <a:xfrm>
            <a:off x="4663440" y="1005840"/>
            <a:ext cx="3931920" cy="777240"/>
          </a:xfrm>
          <a:prstGeom prst="rect">
            <a:avLst/>
          </a:prstGeom>
          <a:solidFill>
            <a:srgbClr val="243055"/>
          </a:solidFill>
          <a:ln w="12700">
            <a:solidFill>
              <a:srgbClr val="3A4F7A"/>
            </a:solidFill>
            <a:prstDash val="solid"/>
          </a:ln>
        </p:spPr>
      </p:sp>
      <p:sp>
        <p:nvSpPr>
          <p:cNvPr id="9" name="Text 7"/>
          <p:cNvSpPr txBox="1"/>
          <p:nvPr/>
        </p:nvSpPr>
        <p:spPr>
          <a:xfrm>
            <a:off x="4800600" y="1051560"/>
            <a:ext cx="3657600" cy="320040"/>
          </a:xfrm>
          <a:prstGeom prst="rect">
            <a:avLst/>
          </a:prstGeom>
          <a:noFill/>
          <a:ln/>
        </p:spPr>
        <p:txBody>
          <a:bodyPr wrap="square" lIns="0" tIns="0" rIns="0" bIns="0" rtlCol="0" anchor="ctr"/>
          <a:lstStyle/>
          <a:p>
            <a:pPr algn="l" indent="0" marL="0">
              <a:buNone/>
            </a:pPr>
            <a:r>
              <a:rPr lang="en-US" sz="1300" b="1" dirty="0">
                <a:solidFill>
                  <a:srgbClr val="F7DF1E"/>
                </a:solidFill>
                <a:latin typeface="Courier New" pitchFamily="34" charset="0"/>
                <a:ea typeface="Courier New" pitchFamily="34" charset="-122"/>
                <a:cs typeface="Courier New" pitchFamily="34" charset="-120"/>
              </a:rPr>
              <a:t>checkValidity()</a:t>
            </a:r>
            <a:endParaRPr lang="en-US" sz="1300" dirty="0"/>
          </a:p>
        </p:txBody>
      </p:sp>
      <p:sp>
        <p:nvSpPr>
          <p:cNvPr id="10" name="Text 8"/>
          <p:cNvSpPr txBox="1"/>
          <p:nvPr/>
        </p:nvSpPr>
        <p:spPr>
          <a:xfrm>
            <a:off x="4800600" y="1389888"/>
            <a:ext cx="3657600" cy="274320"/>
          </a:xfrm>
          <a:prstGeom prst="rect">
            <a:avLst/>
          </a:prstGeom>
          <a:noFill/>
          <a:ln/>
        </p:spPr>
        <p:txBody>
          <a:bodyPr wrap="square" lIns="0" tIns="0" rIns="0" bIns="0" rtlCol="0" anchor="ctr"/>
          <a:lstStyle/>
          <a:p>
            <a:pPr algn="l" indent="0" marL="0">
              <a:buNone/>
            </a:pPr>
            <a:r>
              <a:rPr lang="en-US" sz="1100" dirty="0">
                <a:solidFill>
                  <a:srgbClr val="CDD6F4"/>
                </a:solidFill>
                <a:latin typeface="Calibri" pitchFamily="34" charset="0"/>
                <a:ea typeface="Calibri" pitchFamily="34" charset="-122"/>
                <a:cs typeface="Calibri" pitchFamily="34" charset="-120"/>
              </a:rPr>
              <a:t>Test a field programmatically</a:t>
            </a:r>
            <a:endParaRPr lang="en-US" sz="1100" dirty="0"/>
          </a:p>
        </p:txBody>
      </p:sp>
      <p:sp>
        <p:nvSpPr>
          <p:cNvPr id="11" name="Shape 9"/>
          <p:cNvSpPr/>
          <p:nvPr/>
        </p:nvSpPr>
        <p:spPr>
          <a:xfrm>
            <a:off x="457200" y="1920240"/>
            <a:ext cx="3931920" cy="777240"/>
          </a:xfrm>
          <a:prstGeom prst="rect">
            <a:avLst/>
          </a:prstGeom>
          <a:solidFill>
            <a:srgbClr val="243055"/>
          </a:solidFill>
          <a:ln w="12700">
            <a:solidFill>
              <a:srgbClr val="3A4F7A"/>
            </a:solidFill>
            <a:prstDash val="solid"/>
          </a:ln>
        </p:spPr>
      </p:sp>
      <p:sp>
        <p:nvSpPr>
          <p:cNvPr id="12" name="Text 10"/>
          <p:cNvSpPr txBox="1"/>
          <p:nvPr/>
        </p:nvSpPr>
        <p:spPr>
          <a:xfrm>
            <a:off x="594360" y="1965960"/>
            <a:ext cx="3657600" cy="320040"/>
          </a:xfrm>
          <a:prstGeom prst="rect">
            <a:avLst/>
          </a:prstGeom>
          <a:noFill/>
          <a:ln/>
        </p:spPr>
        <p:txBody>
          <a:bodyPr wrap="square" lIns="0" tIns="0" rIns="0" bIns="0" rtlCol="0" anchor="ctr"/>
          <a:lstStyle/>
          <a:p>
            <a:pPr algn="l" indent="0" marL="0">
              <a:buNone/>
            </a:pPr>
            <a:r>
              <a:rPr lang="en-US" sz="1300" b="1" dirty="0">
                <a:solidFill>
                  <a:srgbClr val="F7DF1E"/>
                </a:solidFill>
                <a:latin typeface="Courier New" pitchFamily="34" charset="0"/>
                <a:ea typeface="Courier New" pitchFamily="34" charset="-122"/>
                <a:cs typeface="Courier New" pitchFamily="34" charset="-120"/>
              </a:rPr>
              <a:t>setCustomValidity()</a:t>
            </a:r>
            <a:endParaRPr lang="en-US" sz="1300" dirty="0"/>
          </a:p>
        </p:txBody>
      </p:sp>
      <p:sp>
        <p:nvSpPr>
          <p:cNvPr id="13" name="Text 11"/>
          <p:cNvSpPr txBox="1"/>
          <p:nvPr/>
        </p:nvSpPr>
        <p:spPr>
          <a:xfrm>
            <a:off x="594360" y="2304288"/>
            <a:ext cx="3657600" cy="274320"/>
          </a:xfrm>
          <a:prstGeom prst="rect">
            <a:avLst/>
          </a:prstGeom>
          <a:noFill/>
          <a:ln/>
        </p:spPr>
        <p:txBody>
          <a:bodyPr wrap="square" lIns="0" tIns="0" rIns="0" bIns="0" rtlCol="0" anchor="ctr"/>
          <a:lstStyle/>
          <a:p>
            <a:pPr algn="l" indent="0" marL="0">
              <a:buNone/>
            </a:pPr>
            <a:r>
              <a:rPr lang="en-US" sz="1100" dirty="0">
                <a:solidFill>
                  <a:srgbClr val="CDD6F4"/>
                </a:solidFill>
                <a:latin typeface="Calibri" pitchFamily="34" charset="0"/>
                <a:ea typeface="Calibri" pitchFamily="34" charset="-122"/>
                <a:cs typeface="Calibri" pitchFamily="34" charset="-120"/>
              </a:rPr>
              <a:t>Custom error + clear with ""</a:t>
            </a:r>
            <a:endParaRPr lang="en-US" sz="1100" dirty="0"/>
          </a:p>
        </p:txBody>
      </p:sp>
      <p:sp>
        <p:nvSpPr>
          <p:cNvPr id="14" name="Shape 12"/>
          <p:cNvSpPr/>
          <p:nvPr/>
        </p:nvSpPr>
        <p:spPr>
          <a:xfrm>
            <a:off x="4663440" y="1920240"/>
            <a:ext cx="3931920" cy="777240"/>
          </a:xfrm>
          <a:prstGeom prst="rect">
            <a:avLst/>
          </a:prstGeom>
          <a:solidFill>
            <a:srgbClr val="243055"/>
          </a:solidFill>
          <a:ln w="12700">
            <a:solidFill>
              <a:srgbClr val="3A4F7A"/>
            </a:solidFill>
            <a:prstDash val="solid"/>
          </a:ln>
        </p:spPr>
      </p:sp>
      <p:sp>
        <p:nvSpPr>
          <p:cNvPr id="15" name="Text 13"/>
          <p:cNvSpPr txBox="1"/>
          <p:nvPr/>
        </p:nvSpPr>
        <p:spPr>
          <a:xfrm>
            <a:off x="4800600" y="1965960"/>
            <a:ext cx="3657600" cy="320040"/>
          </a:xfrm>
          <a:prstGeom prst="rect">
            <a:avLst/>
          </a:prstGeom>
          <a:noFill/>
          <a:ln/>
        </p:spPr>
        <p:txBody>
          <a:bodyPr wrap="square" lIns="0" tIns="0" rIns="0" bIns="0" rtlCol="0" anchor="ctr"/>
          <a:lstStyle/>
          <a:p>
            <a:pPr algn="l" indent="0" marL="0">
              <a:buNone/>
            </a:pPr>
            <a:r>
              <a:rPr lang="en-US" sz="1300" b="1" dirty="0">
                <a:solidFill>
                  <a:srgbClr val="F7DF1E"/>
                </a:solidFill>
                <a:latin typeface="Courier New" pitchFamily="34" charset="0"/>
                <a:ea typeface="Courier New" pitchFamily="34" charset="-122"/>
                <a:cs typeface="Courier New" pitchFamily="34" charset="-120"/>
              </a:rPr>
              <a:t>validity object</a:t>
            </a:r>
            <a:endParaRPr lang="en-US" sz="1300" dirty="0"/>
          </a:p>
        </p:txBody>
      </p:sp>
      <p:sp>
        <p:nvSpPr>
          <p:cNvPr id="16" name="Text 14"/>
          <p:cNvSpPr txBox="1"/>
          <p:nvPr/>
        </p:nvSpPr>
        <p:spPr>
          <a:xfrm>
            <a:off x="4800600" y="2304288"/>
            <a:ext cx="3657600" cy="274320"/>
          </a:xfrm>
          <a:prstGeom prst="rect">
            <a:avLst/>
          </a:prstGeom>
          <a:noFill/>
          <a:ln/>
        </p:spPr>
        <p:txBody>
          <a:bodyPr wrap="square" lIns="0" tIns="0" rIns="0" bIns="0" rtlCol="0" anchor="ctr"/>
          <a:lstStyle/>
          <a:p>
            <a:pPr algn="l" indent="0" marL="0">
              <a:buNone/>
            </a:pPr>
            <a:r>
              <a:rPr lang="en-US" sz="1100" dirty="0">
                <a:solidFill>
                  <a:srgbClr val="CDD6F4"/>
                </a:solidFill>
                <a:latin typeface="Calibri" pitchFamily="34" charset="0"/>
                <a:ea typeface="Calibri" pitchFamily="34" charset="-122"/>
                <a:cs typeface="Calibri" pitchFamily="34" charset="-120"/>
              </a:rPr>
              <a:t>valueMissing, patternMismatch…</a:t>
            </a:r>
            <a:endParaRPr lang="en-US" sz="1100" dirty="0"/>
          </a:p>
        </p:txBody>
      </p:sp>
      <p:sp>
        <p:nvSpPr>
          <p:cNvPr id="17" name="Shape 15"/>
          <p:cNvSpPr/>
          <p:nvPr/>
        </p:nvSpPr>
        <p:spPr>
          <a:xfrm>
            <a:off x="457200" y="2834640"/>
            <a:ext cx="3931920" cy="777240"/>
          </a:xfrm>
          <a:prstGeom prst="rect">
            <a:avLst/>
          </a:prstGeom>
          <a:solidFill>
            <a:srgbClr val="243055"/>
          </a:solidFill>
          <a:ln w="12700">
            <a:solidFill>
              <a:srgbClr val="3A4F7A"/>
            </a:solidFill>
            <a:prstDash val="solid"/>
          </a:ln>
        </p:spPr>
      </p:sp>
      <p:sp>
        <p:nvSpPr>
          <p:cNvPr id="18" name="Text 16"/>
          <p:cNvSpPr txBox="1"/>
          <p:nvPr/>
        </p:nvSpPr>
        <p:spPr>
          <a:xfrm>
            <a:off x="594360" y="2880360"/>
            <a:ext cx="3657600" cy="320040"/>
          </a:xfrm>
          <a:prstGeom prst="rect">
            <a:avLst/>
          </a:prstGeom>
          <a:noFill/>
          <a:ln/>
        </p:spPr>
        <p:txBody>
          <a:bodyPr wrap="square" lIns="0" tIns="0" rIns="0" bIns="0" rtlCol="0" anchor="ctr"/>
          <a:lstStyle/>
          <a:p>
            <a:pPr algn="l" indent="0" marL="0">
              <a:buNone/>
            </a:pPr>
            <a:r>
              <a:rPr lang="en-US" sz="1300" b="1" dirty="0">
                <a:solidFill>
                  <a:srgbClr val="F7DF1E"/>
                </a:solidFill>
                <a:latin typeface="Courier New" pitchFamily="34" charset="0"/>
                <a:ea typeface="Courier New" pitchFamily="34" charset="-122"/>
                <a:cs typeface="Courier New" pitchFamily="34" charset="-120"/>
              </a:rPr>
              <a:t>"input" event</a:t>
            </a:r>
            <a:endParaRPr lang="en-US" sz="1300" dirty="0"/>
          </a:p>
        </p:txBody>
      </p:sp>
      <p:sp>
        <p:nvSpPr>
          <p:cNvPr id="19" name="Text 17"/>
          <p:cNvSpPr txBox="1"/>
          <p:nvPr/>
        </p:nvSpPr>
        <p:spPr>
          <a:xfrm>
            <a:off x="594360" y="3218688"/>
            <a:ext cx="3657600" cy="274320"/>
          </a:xfrm>
          <a:prstGeom prst="rect">
            <a:avLst/>
          </a:prstGeom>
          <a:noFill/>
          <a:ln/>
        </p:spPr>
        <p:txBody>
          <a:bodyPr wrap="square" lIns="0" tIns="0" rIns="0" bIns="0" rtlCol="0" anchor="ctr"/>
          <a:lstStyle/>
          <a:p>
            <a:pPr algn="l" indent="0" marL="0">
              <a:buNone/>
            </a:pPr>
            <a:r>
              <a:rPr lang="en-US" sz="1100" dirty="0">
                <a:solidFill>
                  <a:srgbClr val="CDD6F4"/>
                </a:solidFill>
                <a:latin typeface="Calibri" pitchFamily="34" charset="0"/>
                <a:ea typeface="Calibri" pitchFamily="34" charset="-122"/>
                <a:cs typeface="Calibri" pitchFamily="34" charset="-120"/>
              </a:rPr>
              <a:t>Real-time feedback as user types</a:t>
            </a:r>
            <a:endParaRPr lang="en-US" sz="1100" dirty="0"/>
          </a:p>
        </p:txBody>
      </p:sp>
      <p:sp>
        <p:nvSpPr>
          <p:cNvPr id="20" name="Shape 18"/>
          <p:cNvSpPr/>
          <p:nvPr/>
        </p:nvSpPr>
        <p:spPr>
          <a:xfrm>
            <a:off x="4663440" y="2834640"/>
            <a:ext cx="3931920" cy="777240"/>
          </a:xfrm>
          <a:prstGeom prst="rect">
            <a:avLst/>
          </a:prstGeom>
          <a:solidFill>
            <a:srgbClr val="243055"/>
          </a:solidFill>
          <a:ln w="12700">
            <a:solidFill>
              <a:srgbClr val="3A4F7A"/>
            </a:solidFill>
            <a:prstDash val="solid"/>
          </a:ln>
        </p:spPr>
      </p:sp>
      <p:sp>
        <p:nvSpPr>
          <p:cNvPr id="21" name="Text 19"/>
          <p:cNvSpPr txBox="1"/>
          <p:nvPr/>
        </p:nvSpPr>
        <p:spPr>
          <a:xfrm>
            <a:off x="4800600" y="2880360"/>
            <a:ext cx="3657600" cy="320040"/>
          </a:xfrm>
          <a:prstGeom prst="rect">
            <a:avLst/>
          </a:prstGeom>
          <a:noFill/>
          <a:ln/>
        </p:spPr>
        <p:txBody>
          <a:bodyPr wrap="square" lIns="0" tIns="0" rIns="0" bIns="0" rtlCol="0" anchor="ctr"/>
          <a:lstStyle/>
          <a:p>
            <a:pPr algn="l" indent="0" marL="0">
              <a:buNone/>
            </a:pPr>
            <a:r>
              <a:rPr lang="en-US" sz="1300" b="1" dirty="0">
                <a:solidFill>
                  <a:srgbClr val="F7DF1E"/>
                </a:solidFill>
                <a:latin typeface="Courier New" pitchFamily="34" charset="0"/>
                <a:ea typeface="Courier New" pitchFamily="34" charset="-122"/>
                <a:cs typeface="Courier New" pitchFamily="34" charset="-120"/>
              </a:rPr>
              <a:t>aria-describedby</a:t>
            </a:r>
            <a:endParaRPr lang="en-US" sz="1300" dirty="0"/>
          </a:p>
        </p:txBody>
      </p:sp>
      <p:sp>
        <p:nvSpPr>
          <p:cNvPr id="22" name="Text 20"/>
          <p:cNvSpPr txBox="1"/>
          <p:nvPr/>
        </p:nvSpPr>
        <p:spPr>
          <a:xfrm>
            <a:off x="4800600" y="3218688"/>
            <a:ext cx="3657600" cy="274320"/>
          </a:xfrm>
          <a:prstGeom prst="rect">
            <a:avLst/>
          </a:prstGeom>
          <a:noFill/>
          <a:ln/>
        </p:spPr>
        <p:txBody>
          <a:bodyPr wrap="square" lIns="0" tIns="0" rIns="0" bIns="0" rtlCol="0" anchor="ctr"/>
          <a:lstStyle/>
          <a:p>
            <a:pPr algn="l" indent="0" marL="0">
              <a:buNone/>
            </a:pPr>
            <a:r>
              <a:rPr lang="en-US" sz="1100" dirty="0">
                <a:solidFill>
                  <a:srgbClr val="CDD6F4"/>
                </a:solidFill>
                <a:latin typeface="Calibri" pitchFamily="34" charset="0"/>
                <a:ea typeface="Calibri" pitchFamily="34" charset="-122"/>
                <a:cs typeface="Calibri" pitchFamily="34" charset="-120"/>
              </a:rPr>
              <a:t>Link input to error span for AT</a:t>
            </a:r>
            <a:endParaRPr lang="en-US" sz="1100" dirty="0"/>
          </a:p>
        </p:txBody>
      </p:sp>
      <p:sp>
        <p:nvSpPr>
          <p:cNvPr id="23" name="Shape 21"/>
          <p:cNvSpPr/>
          <p:nvPr/>
        </p:nvSpPr>
        <p:spPr>
          <a:xfrm>
            <a:off x="457200" y="3886200"/>
            <a:ext cx="8229600" cy="960120"/>
          </a:xfrm>
          <a:prstGeom prst="rect">
            <a:avLst/>
          </a:prstGeom>
          <a:solidFill>
            <a:srgbClr val="162030"/>
          </a:solidFill>
          <a:ln w="12700">
            <a:solidFill>
              <a:srgbClr val="F7DF1E"/>
            </a:solidFill>
            <a:prstDash val="solid"/>
          </a:ln>
        </p:spPr>
      </p:sp>
      <p:sp>
        <p:nvSpPr>
          <p:cNvPr id="24" name="Text 22"/>
          <p:cNvSpPr txBox="1"/>
          <p:nvPr/>
        </p:nvSpPr>
        <p:spPr>
          <a:xfrm>
            <a:off x="548640" y="3931920"/>
            <a:ext cx="1280160" cy="320040"/>
          </a:xfrm>
          <a:prstGeom prst="rect">
            <a:avLst/>
          </a:prstGeom>
          <a:noFill/>
          <a:ln/>
        </p:spPr>
        <p:txBody>
          <a:bodyPr wrap="square" lIns="0" tIns="0" rIns="0" bIns="0" rtlCol="0" anchor="ctr"/>
          <a:lstStyle/>
          <a:p>
            <a:pPr algn="l" indent="0" marL="0">
              <a:buNone/>
            </a:pPr>
            <a:r>
              <a:rPr lang="en-US" sz="900" b="1" dirty="0">
                <a:solidFill>
                  <a:srgbClr val="F7DF1E"/>
                </a:solidFill>
                <a:latin typeface="Calibri" pitchFamily="34" charset="0"/>
                <a:ea typeface="Calibri" pitchFamily="34" charset="-122"/>
                <a:cs typeface="Calibri" pitchFamily="34" charset="-120"/>
              </a:rPr>
              <a:t>HOMEWORK</a:t>
            </a:r>
            <a:endParaRPr lang="en-US" sz="900" dirty="0"/>
          </a:p>
        </p:txBody>
      </p:sp>
      <p:sp>
        <p:nvSpPr>
          <p:cNvPr id="25" name="Text 23"/>
          <p:cNvSpPr txBox="1"/>
          <p:nvPr/>
        </p:nvSpPr>
        <p:spPr>
          <a:xfrm>
            <a:off x="548640" y="4251960"/>
            <a:ext cx="7955280" cy="502920"/>
          </a:xfrm>
          <a:prstGeom prst="rect">
            <a:avLst/>
          </a:prstGeom>
          <a:noFill/>
          <a:ln/>
        </p:spPr>
        <p:txBody>
          <a:bodyPr wrap="square" lIns="0" tIns="0" rIns="0" bIns="0" rtlCol="0" anchor="t"/>
          <a:lstStyle/>
          <a:p>
            <a:pPr algn="l" indent="0" marL="0">
              <a:buNone/>
            </a:pPr>
            <a:r>
              <a:rPr lang="en-US" sz="1050" dirty="0">
                <a:solidFill>
                  <a:srgbClr val="FFFFFF"/>
                </a:solidFill>
                <a:latin typeface="Calibri" pitchFamily="34" charset="0"/>
                <a:ea typeface="Calibri" pitchFamily="34" charset="-122"/>
                <a:cs typeface="Calibri" pitchFamily="34" charset="-120"/>
              </a:rPr>
              <a:t>Add full JS validation to your Monday registration form: use preventDefault, show inline error messages on "input" events, validate the student ID with /^\d{9}$/, and add a password-confirmation field. Add aria-describedby to every error span.</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Gachon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JavaScript Form Validation</dc:title>
  <dc:subject>Web Programming K0126002</dc:subject>
  <dc:creator>Dr. Toshpulatov</dc:creator>
  <cp:lastModifiedBy>Dr. Toshpulatov</cp:lastModifiedBy>
  <cp:revision>1</cp:revision>
  <dcterms:created xsi:type="dcterms:W3CDTF">2026-10-21T09:40:45Z</dcterms:created>
  <dcterms:modified xsi:type="dcterms:W3CDTF">2026-10-21T09:40:45Z</dcterms:modified>
</cp:coreProperties>
</file>