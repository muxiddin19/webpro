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210" d="100"/>
          <a:sy n="210" d="100"/>
        </p:scale>
        <p:origin x="43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38027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6 Monday! Today we cover HTML Forms and HTML5 Validation — the building blocks of user interaction on every website. By the end of class students will be able to create a complete, validated registration form using only HTML and CSS.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question: "How many websites have you used today that had a form?" Forms are everywhere — and every web developer must know how to build them correctly. The three examples on screen represent the three most common form use cases.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&lt;form&gt; element is the container for all form controls. action tells the browser WHERE to send the data — often a server endpoint. method="POST" sends data in the request body (safe for passwords, large data). method="GET" appends data to the URL — fine for searches, bad for passwords. Always give forms an id for JS targeting.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of thumb: GET for reading data (searches, filters), POST for writing/sending sensitive data (logins, sign-ups, file uploads). This is enforced by REST conventions and is critical for security. A "forgot password" form using GET would expose the token in the URL and browser history.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HTML5 added about 20 new input types. Each type changes what the mobile keyboard shows (email type shows @ key), what UI widget appears (date shows a picker), and what validation happens automatically. Use the right type — it is free accessibility and UX. Demo: change type="text" to type="email" and show how the browser validation changes.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attributes wire up the browser's built-in validation engine — no JavaScript needed. The browser will prevent form submission and show a tooltip if any constraint fails. pattern accepts a RegEx without the slashes. Title attribute text becomes the tooltip message. Limitation: styling the error bubbles cross-browser is tricky — that's where JS validation (Friday) helps.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for/id link is one of the most commonly missed things in student forms. Without it, a screen reader user hears "edit text" instead of "Email address". Also: clicking the label text should move focus into the input — this is a native feature that requires no JS, but only works with proper for/id linking. Placeholder text is NOT a substitute for a label.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fieldset and legend are especially important for radio buttons and checkboxes — they group related options so screen readers read "What is your major? Computer Science / Software Engineering / Data Science". Without the fieldset, a screen reader just reads each option in isolation with no context. The visual border it draws can be overridden with CSS.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caveat: :invalid fires immediately on page load before the user touches anything. This means red borders on a blank form on first load. The trick is to combine :invalid with :not(:placeholder-shown) so the red only shows after the user has started typing. Friday we will use JS for even finer control.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the live coding portion. Open VS Code and a browser side-by-side. Build the form live from scratch, explaining each element as you add it. Students should follow along on their own laptops.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field. Ask students: "Why novalidate here?" — because we will replace it with JS validation on Friday. Demonstrate: remove required from one field, see how submission succeeds. Then add it back. Show how the browser tooltip appears. Point out the pattern attribute and test it with 12345678 (8 digits, should fail) vs 123456789 (9 digits, passes).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Accessibility is not optional — in many countries it is a legal requirement (Americans with Disabilities Act, Korea's Act on Welfare of Persons with Disabilities). A form that a screen reader cannot navigate loses users and can expose your company to legal risk. The good news: semantic HTML gives you 80% of accessibility for free.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session: we learned how to create forms, which input types to use, how to add validation with HTML attributes, how to group fields, and how to style validity states. Friday we replace HTML5 validation with full JavaScript validation for finer control. Homework is due before Friday's class — we will reference it during the JS validation demo.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w="12700">
            <a:solidFill>
              <a:srgbClr val="1A2540"/>
            </a:solidFill>
            <a:prstDash val="solid"/>
          </a:ln>
        </p:spPr>
      </p:sp>
      <p:sp>
        <p:nvSpPr>
          <p:cNvPr id="3" name="Shape 1"/>
          <p:cNvSpPr/>
          <p:nvPr/>
        </p:nvSpPr>
        <p:spPr>
          <a:xfrm>
            <a:off x="0" y="0"/>
            <a:ext cx="9144000" cy="109728"/>
          </a:xfrm>
          <a:prstGeom prst="rect">
            <a:avLst/>
          </a:prstGeom>
          <a:solidFill>
            <a:srgbClr val="F7DF1E"/>
          </a:solidFill>
          <a:ln w="12700">
            <a:solidFill>
              <a:srgbClr val="F7DF1E"/>
            </a:solidFill>
            <a:prstDash val="solid"/>
          </a:ln>
        </p:spPr>
      </p:sp>
      <p:sp>
        <p:nvSpPr>
          <p:cNvPr id="4" name="Shape 2"/>
          <p:cNvSpPr/>
          <p:nvPr/>
        </p:nvSpPr>
        <p:spPr>
          <a:xfrm>
            <a:off x="457200" y="256032"/>
            <a:ext cx="1645920" cy="384048"/>
          </a:xfrm>
          <a:prstGeom prst="rect">
            <a:avLst/>
          </a:prstGeom>
          <a:solidFill>
            <a:srgbClr val="F7DF1E"/>
          </a:solidFill>
          <a:ln w="12700">
            <a:solidFill>
              <a:srgbClr val="F7DF1E"/>
            </a:solidFill>
            <a:prstDash val="solid"/>
          </a:ln>
        </p:spPr>
      </p:sp>
      <p:sp>
        <p:nvSpPr>
          <p:cNvPr id="5" name="Text 3"/>
          <p:cNvSpPr txBox="1"/>
          <p:nvPr/>
        </p:nvSpPr>
        <p:spPr>
          <a:xfrm>
            <a:off x="457200" y="256032"/>
            <a:ext cx="1645920" cy="384048"/>
          </a:xfrm>
          <a:prstGeom prst="rect">
            <a:avLst/>
          </a:prstGeom>
          <a:noFill/>
          <a:ln/>
        </p:spPr>
        <p:txBody>
          <a:bodyPr wrap="square" lIns="0" tIns="0" rIns="0" bIns="0" rtlCol="0" anchor="ctr"/>
          <a:lstStyle/>
          <a:p>
            <a:pPr marL="0" indent="0" algn="ctr">
              <a:buNone/>
            </a:pPr>
            <a:r>
              <a:rPr lang="en-US" sz="900" b="1" dirty="0">
                <a:solidFill>
                  <a:srgbClr val="1A2540"/>
                </a:solidFill>
              </a:rPr>
              <a:t>HTML FORMS</a:t>
            </a:r>
            <a:endParaRPr lang="en-US" sz="900" dirty="0"/>
          </a:p>
        </p:txBody>
      </p:sp>
      <p:sp>
        <p:nvSpPr>
          <p:cNvPr id="6" name="Text 4"/>
          <p:cNvSpPr txBox="1"/>
          <p:nvPr/>
        </p:nvSpPr>
        <p:spPr>
          <a:xfrm>
            <a:off x="7040880" y="256032"/>
            <a:ext cx="1645920" cy="384048"/>
          </a:xfrm>
          <a:prstGeom prst="rect">
            <a:avLst/>
          </a:prstGeom>
          <a:noFill/>
          <a:ln/>
        </p:spPr>
        <p:txBody>
          <a:bodyPr wrap="square" lIns="0" tIns="0" rIns="0" bIns="0" rtlCol="0" anchor="ctr"/>
          <a:lstStyle/>
          <a:p>
            <a:pPr marL="0" indent="0" algn="r">
              <a:buNone/>
            </a:pPr>
            <a:r>
              <a:rPr lang="en-US" sz="900" dirty="0">
                <a:solidFill>
                  <a:srgbClr val="8892B0"/>
                </a:solidFill>
              </a:rPr>
              <a:t>Week 6  ·  Mon</a:t>
            </a:r>
            <a:endParaRPr lang="en-US" sz="900" dirty="0"/>
          </a:p>
        </p:txBody>
      </p:sp>
      <p:sp>
        <p:nvSpPr>
          <p:cNvPr id="7" name="Text 5"/>
          <p:cNvSpPr txBox="1"/>
          <p:nvPr/>
        </p:nvSpPr>
        <p:spPr>
          <a:xfrm>
            <a:off x="914400" y="1463040"/>
            <a:ext cx="7315200" cy="1280160"/>
          </a:xfrm>
          <a:prstGeom prst="rect">
            <a:avLst/>
          </a:prstGeom>
          <a:noFill/>
          <a:ln/>
        </p:spPr>
        <p:txBody>
          <a:bodyPr wrap="square" lIns="0" tIns="0" rIns="0" bIns="0" rtlCol="0" anchor="ctr"/>
          <a:lstStyle/>
          <a:p>
            <a:pPr marL="0" indent="0" algn="ctr">
              <a:buNone/>
            </a:pPr>
            <a:r>
              <a:rPr lang="en-US" sz="4800" b="1" dirty="0">
                <a:solidFill>
                  <a:srgbClr val="FFFFFF"/>
                </a:solidFill>
                <a:latin typeface="Calibri" pitchFamily="34" charset="0"/>
                <a:ea typeface="Calibri" pitchFamily="34" charset="-122"/>
                <a:cs typeface="Calibri" pitchFamily="34" charset="-120"/>
              </a:rPr>
              <a:t>HTML Forms</a:t>
            </a:r>
            <a:endParaRPr lang="en-US" sz="4800" dirty="0"/>
          </a:p>
          <a:p>
            <a:pPr marL="0" indent="0" algn="ctr">
              <a:buNone/>
            </a:pPr>
            <a:r>
              <a:rPr lang="en-US" sz="4800" b="1" dirty="0">
                <a:solidFill>
                  <a:srgbClr val="FFFFFF"/>
                </a:solidFill>
                <a:latin typeface="Calibri" pitchFamily="34" charset="0"/>
                <a:ea typeface="Calibri" pitchFamily="34" charset="-122"/>
                <a:cs typeface="Calibri" pitchFamily="34" charset="-120"/>
              </a:rPr>
              <a:t>&amp; Validation</a:t>
            </a:r>
            <a:endParaRPr lang="en-US" sz="4800" dirty="0"/>
          </a:p>
        </p:txBody>
      </p:sp>
      <p:sp>
        <p:nvSpPr>
          <p:cNvPr id="8" name="Text 6"/>
          <p:cNvSpPr txBox="1"/>
          <p:nvPr/>
        </p:nvSpPr>
        <p:spPr>
          <a:xfrm>
            <a:off x="914400" y="2834640"/>
            <a:ext cx="7315200" cy="457200"/>
          </a:xfrm>
          <a:prstGeom prst="rect">
            <a:avLst/>
          </a:prstGeom>
          <a:noFill/>
          <a:ln/>
        </p:spPr>
        <p:txBody>
          <a:bodyPr wrap="square" lIns="0" tIns="0" rIns="0" bIns="0" rtlCol="0" anchor="ctr"/>
          <a:lstStyle/>
          <a:p>
            <a:pPr marL="0" indent="0" algn="ctr">
              <a:buNone/>
            </a:pPr>
            <a:r>
              <a:rPr lang="en-US" sz="1800" dirty="0">
                <a:solidFill>
                  <a:srgbClr val="CDD6F4"/>
                </a:solidFill>
                <a:latin typeface="Calibri" pitchFamily="34" charset="0"/>
                <a:ea typeface="Calibri" pitchFamily="34" charset="-122"/>
                <a:cs typeface="Calibri" pitchFamily="34" charset="-120"/>
              </a:rPr>
              <a:t>The gateway for every user interaction</a:t>
            </a:r>
            <a:endParaRPr lang="en-US" sz="1800" dirty="0"/>
          </a:p>
        </p:txBody>
      </p:sp>
      <p:sp>
        <p:nvSpPr>
          <p:cNvPr id="9" name="Text 7"/>
          <p:cNvSpPr txBox="1"/>
          <p:nvPr/>
        </p:nvSpPr>
        <p:spPr>
          <a:xfrm>
            <a:off x="457200" y="4480560"/>
            <a:ext cx="8229600" cy="457200"/>
          </a:xfrm>
          <a:prstGeom prst="rect">
            <a:avLst/>
          </a:prstGeom>
          <a:noFill/>
          <a:ln/>
        </p:spPr>
        <p:txBody>
          <a:bodyPr wrap="square" lIns="0" tIns="0" rIns="0" bIns="0" rtlCol="0" anchor="ctr"/>
          <a:lstStyle/>
          <a:p>
            <a:pPr marL="0" indent="0" algn="ctr">
              <a:buNone/>
            </a:pPr>
            <a:r>
              <a:rPr lang="en-US" sz="1000" dirty="0">
                <a:solidFill>
                  <a:srgbClr val="8892B0"/>
                </a:solidFill>
                <a:latin typeface="Calibri" pitchFamily="34" charset="0"/>
                <a:ea typeface="Calibri" pitchFamily="34" charset="-122"/>
                <a:cs typeface="Calibri" pitchFamily="34" charset="-120"/>
              </a:rPr>
              <a:t>K0126002  ·  Gachon University  ·  2026 Fall  ·  Dr. Toshpulatov</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9144000" cy="64008"/>
          </a:xfrm>
          <a:prstGeom prst="rect">
            <a:avLst/>
          </a:prstGeom>
          <a:solidFill>
            <a:srgbClr val="F7DF1E"/>
          </a:solidFill>
          <a:ln w="12700">
            <a:solidFill>
              <a:srgbClr val="F7DF1E"/>
            </a:solidFill>
            <a:prstDash val="solid"/>
          </a:ln>
        </p:spPr>
      </p:sp>
      <p:sp>
        <p:nvSpPr>
          <p:cNvPr id="4" name="Text 2"/>
          <p:cNvSpPr txBox="1"/>
          <p:nvPr/>
        </p:nvSpPr>
        <p:spPr>
          <a:xfrm>
            <a:off x="457200" y="182880"/>
            <a:ext cx="8229600" cy="548640"/>
          </a:xfrm>
          <a:prstGeom prst="rect">
            <a:avLst/>
          </a:prstGeom>
          <a:noFill/>
          <a:ln/>
        </p:spPr>
        <p:txBody>
          <a:bodyPr wrap="square" lIns="0" tIns="0" rIns="0" bIns="0" rtlCol="0" anchor="ctr"/>
          <a:lstStyle/>
          <a:p>
            <a:pPr marL="0" indent="0" algn="l">
              <a:buNone/>
            </a:pPr>
            <a:r>
              <a:rPr lang="en-US" sz="2800" b="1" dirty="0">
                <a:solidFill>
                  <a:srgbClr val="1A2540"/>
                </a:solidFill>
                <a:latin typeface="Calibri" pitchFamily="34" charset="0"/>
                <a:ea typeface="Calibri" pitchFamily="34" charset="-122"/>
                <a:cs typeface="Calibri" pitchFamily="34" charset="-120"/>
              </a:rPr>
              <a:t>Why Do Forms Matter?</a:t>
            </a:r>
            <a:endParaRPr lang="en-US" sz="2800" dirty="0"/>
          </a:p>
        </p:txBody>
      </p:sp>
      <p:sp>
        <p:nvSpPr>
          <p:cNvPr id="5" name="Shape 3"/>
          <p:cNvSpPr/>
          <p:nvPr/>
        </p:nvSpPr>
        <p:spPr>
          <a:xfrm>
            <a:off x="457200" y="758952"/>
            <a:ext cx="8229600" cy="36576"/>
          </a:xfrm>
          <a:prstGeom prst="rect">
            <a:avLst/>
          </a:prstGeom>
          <a:solidFill>
            <a:srgbClr val="F7DF1E"/>
          </a:solidFill>
          <a:ln w="12700">
            <a:solidFill>
              <a:srgbClr val="F7DF1E"/>
            </a:solidFill>
            <a:prstDash val="solid"/>
          </a:ln>
        </p:spPr>
      </p:sp>
      <p:sp>
        <p:nvSpPr>
          <p:cNvPr id="6" name="Shape 4"/>
          <p:cNvSpPr/>
          <p:nvPr/>
        </p:nvSpPr>
        <p:spPr>
          <a:xfrm>
            <a:off x="457200" y="1005840"/>
            <a:ext cx="2560320" cy="3474720"/>
          </a:xfrm>
          <a:prstGeom prst="rect">
            <a:avLst/>
          </a:prstGeom>
          <a:solidFill>
            <a:srgbClr val="E8EDFF"/>
          </a:solidFill>
          <a:ln w="12700">
            <a:solidFill>
              <a:srgbClr val="CBD5FF"/>
            </a:solidFill>
            <a:prstDash val="solid"/>
          </a:ln>
        </p:spPr>
      </p:sp>
      <p:sp>
        <p:nvSpPr>
          <p:cNvPr id="7" name="Text 5"/>
          <p:cNvSpPr txBox="1"/>
          <p:nvPr/>
        </p:nvSpPr>
        <p:spPr>
          <a:xfrm>
            <a:off x="457200" y="1097280"/>
            <a:ext cx="2560320" cy="73152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8" name="Text 6"/>
          <p:cNvSpPr txBox="1"/>
          <p:nvPr/>
        </p:nvSpPr>
        <p:spPr>
          <a:xfrm>
            <a:off x="548640" y="1920240"/>
            <a:ext cx="2377440" cy="411480"/>
          </a:xfrm>
          <a:prstGeom prst="rect">
            <a:avLst/>
          </a:prstGeom>
          <a:noFill/>
          <a:ln/>
        </p:spPr>
        <p:txBody>
          <a:bodyPr wrap="square" lIns="0" tIns="0" rIns="0" bIns="0" rtlCol="0" anchor="ctr"/>
          <a:lstStyle/>
          <a:p>
            <a:pPr marL="0" indent="0" algn="ctr">
              <a:buNone/>
            </a:pPr>
            <a:r>
              <a:rPr lang="en-US" sz="1800" b="1" dirty="0">
                <a:solidFill>
                  <a:srgbClr val="1A2540"/>
                </a:solidFill>
                <a:latin typeface="Calibri" pitchFamily="34" charset="0"/>
                <a:ea typeface="Calibri" pitchFamily="34" charset="-122"/>
                <a:cs typeface="Calibri" pitchFamily="34" charset="-120"/>
              </a:rPr>
              <a:t>Login</a:t>
            </a:r>
            <a:endParaRPr lang="en-US" sz="1800" dirty="0"/>
          </a:p>
        </p:txBody>
      </p:sp>
      <p:sp>
        <p:nvSpPr>
          <p:cNvPr id="9" name="Text 7"/>
          <p:cNvSpPr txBox="1"/>
          <p:nvPr/>
        </p:nvSpPr>
        <p:spPr>
          <a:xfrm>
            <a:off x="548640" y="2377440"/>
            <a:ext cx="2377440" cy="1005840"/>
          </a:xfrm>
          <a:prstGeom prst="rect">
            <a:avLst/>
          </a:prstGeom>
          <a:noFill/>
          <a:ln/>
        </p:spPr>
        <p:txBody>
          <a:bodyPr wrap="square" lIns="0" tIns="0" rIns="0" bIns="0" rtlCol="0" anchor="t"/>
          <a:lstStyle/>
          <a:p>
            <a:pPr marL="0" indent="0" algn="ctr">
              <a:buNone/>
            </a:pPr>
            <a:r>
              <a:rPr lang="en-US" sz="1200" dirty="0">
                <a:solidFill>
                  <a:srgbClr val="8892B0"/>
                </a:solidFill>
                <a:latin typeface="Calibri" pitchFamily="34" charset="0"/>
                <a:ea typeface="Calibri" pitchFamily="34" charset="-122"/>
                <a:cs typeface="Calibri" pitchFamily="34" charset="-120"/>
              </a:rPr>
              <a:t>Every "Sign In" button submits</a:t>
            </a:r>
            <a:endParaRPr lang="en-US" sz="1200" dirty="0"/>
          </a:p>
          <a:p>
            <a:pPr marL="0" indent="0" algn="ctr">
              <a:buNone/>
            </a:pPr>
            <a:r>
              <a:rPr lang="en-US" sz="1200" dirty="0">
                <a:solidFill>
                  <a:srgbClr val="8892B0"/>
                </a:solidFill>
                <a:latin typeface="Calibri" pitchFamily="34" charset="0"/>
                <a:ea typeface="Calibri" pitchFamily="34" charset="-122"/>
                <a:cs typeface="Calibri" pitchFamily="34" charset="-120"/>
              </a:rPr>
              <a:t>a form to verify your identity.</a:t>
            </a:r>
            <a:endParaRPr lang="en-US" sz="1200" dirty="0"/>
          </a:p>
        </p:txBody>
      </p:sp>
      <p:sp>
        <p:nvSpPr>
          <p:cNvPr id="10" name="Shape 8"/>
          <p:cNvSpPr/>
          <p:nvPr/>
        </p:nvSpPr>
        <p:spPr>
          <a:xfrm>
            <a:off x="3291840" y="1005840"/>
            <a:ext cx="2560320" cy="3474720"/>
          </a:xfrm>
          <a:prstGeom prst="rect">
            <a:avLst/>
          </a:prstGeom>
          <a:solidFill>
            <a:srgbClr val="E8EDFF"/>
          </a:solidFill>
          <a:ln w="12700">
            <a:solidFill>
              <a:srgbClr val="CBD5FF"/>
            </a:solidFill>
            <a:prstDash val="solid"/>
          </a:ln>
        </p:spPr>
      </p:sp>
      <p:sp>
        <p:nvSpPr>
          <p:cNvPr id="11" name="Text 9"/>
          <p:cNvSpPr txBox="1"/>
          <p:nvPr/>
        </p:nvSpPr>
        <p:spPr>
          <a:xfrm>
            <a:off x="3291840" y="1097280"/>
            <a:ext cx="2560320" cy="73152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12" name="Text 10"/>
          <p:cNvSpPr txBox="1"/>
          <p:nvPr/>
        </p:nvSpPr>
        <p:spPr>
          <a:xfrm>
            <a:off x="3383280" y="1920240"/>
            <a:ext cx="2377440" cy="411480"/>
          </a:xfrm>
          <a:prstGeom prst="rect">
            <a:avLst/>
          </a:prstGeom>
          <a:noFill/>
          <a:ln/>
        </p:spPr>
        <p:txBody>
          <a:bodyPr wrap="square" lIns="0" tIns="0" rIns="0" bIns="0" rtlCol="0" anchor="ctr"/>
          <a:lstStyle/>
          <a:p>
            <a:pPr marL="0" indent="0" algn="ctr">
              <a:buNone/>
            </a:pPr>
            <a:r>
              <a:rPr lang="en-US" sz="1800" b="1" dirty="0">
                <a:solidFill>
                  <a:srgbClr val="1A2540"/>
                </a:solidFill>
                <a:latin typeface="Calibri" pitchFamily="34" charset="0"/>
                <a:ea typeface="Calibri" pitchFamily="34" charset="-122"/>
                <a:cs typeface="Calibri" pitchFamily="34" charset="-120"/>
              </a:rPr>
              <a:t>Search</a:t>
            </a:r>
            <a:endParaRPr lang="en-US" sz="1800" dirty="0"/>
          </a:p>
        </p:txBody>
      </p:sp>
      <p:sp>
        <p:nvSpPr>
          <p:cNvPr id="13" name="Text 11"/>
          <p:cNvSpPr txBox="1"/>
          <p:nvPr/>
        </p:nvSpPr>
        <p:spPr>
          <a:xfrm>
            <a:off x="3383280" y="2377440"/>
            <a:ext cx="2377440" cy="1005840"/>
          </a:xfrm>
          <a:prstGeom prst="rect">
            <a:avLst/>
          </a:prstGeom>
          <a:noFill/>
          <a:ln/>
        </p:spPr>
        <p:txBody>
          <a:bodyPr wrap="square" lIns="0" tIns="0" rIns="0" bIns="0" rtlCol="0" anchor="t"/>
          <a:lstStyle/>
          <a:p>
            <a:pPr marL="0" indent="0" algn="ctr">
              <a:buNone/>
            </a:pPr>
            <a:r>
              <a:rPr lang="en-US" sz="1200" dirty="0">
                <a:solidFill>
                  <a:srgbClr val="8892B0"/>
                </a:solidFill>
                <a:latin typeface="Calibri" pitchFamily="34" charset="0"/>
                <a:ea typeface="Calibri" pitchFamily="34" charset="-122"/>
                <a:cs typeface="Calibri" pitchFamily="34" charset="-120"/>
              </a:rPr>
              <a:t>Google, YouTube, every search</a:t>
            </a:r>
            <a:endParaRPr lang="en-US" sz="1200" dirty="0"/>
          </a:p>
          <a:p>
            <a:pPr marL="0" indent="0" algn="ctr">
              <a:buNone/>
            </a:pPr>
            <a:r>
              <a:rPr lang="en-US" sz="1200" dirty="0">
                <a:solidFill>
                  <a:srgbClr val="8892B0"/>
                </a:solidFill>
                <a:latin typeface="Calibri" pitchFamily="34" charset="0"/>
                <a:ea typeface="Calibri" pitchFamily="34" charset="-122"/>
                <a:cs typeface="Calibri" pitchFamily="34" charset="-120"/>
              </a:rPr>
              <a:t>bar is a single-input form.</a:t>
            </a:r>
            <a:endParaRPr lang="en-US" sz="1200" dirty="0"/>
          </a:p>
        </p:txBody>
      </p:sp>
      <p:sp>
        <p:nvSpPr>
          <p:cNvPr id="14" name="Shape 12"/>
          <p:cNvSpPr/>
          <p:nvPr/>
        </p:nvSpPr>
        <p:spPr>
          <a:xfrm>
            <a:off x="6126480" y="1005840"/>
            <a:ext cx="2560320" cy="3474720"/>
          </a:xfrm>
          <a:prstGeom prst="rect">
            <a:avLst/>
          </a:prstGeom>
          <a:solidFill>
            <a:srgbClr val="E8EDFF"/>
          </a:solidFill>
          <a:ln w="12700">
            <a:solidFill>
              <a:srgbClr val="CBD5FF"/>
            </a:solidFill>
            <a:prstDash val="solid"/>
          </a:ln>
        </p:spPr>
      </p:sp>
      <p:sp>
        <p:nvSpPr>
          <p:cNvPr id="15" name="Text 13"/>
          <p:cNvSpPr txBox="1"/>
          <p:nvPr/>
        </p:nvSpPr>
        <p:spPr>
          <a:xfrm>
            <a:off x="6126480" y="1097280"/>
            <a:ext cx="2560320" cy="73152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16" name="Text 14"/>
          <p:cNvSpPr txBox="1"/>
          <p:nvPr/>
        </p:nvSpPr>
        <p:spPr>
          <a:xfrm>
            <a:off x="6217920" y="1920240"/>
            <a:ext cx="2377440" cy="411480"/>
          </a:xfrm>
          <a:prstGeom prst="rect">
            <a:avLst/>
          </a:prstGeom>
          <a:noFill/>
          <a:ln/>
        </p:spPr>
        <p:txBody>
          <a:bodyPr wrap="square" lIns="0" tIns="0" rIns="0" bIns="0" rtlCol="0" anchor="ctr"/>
          <a:lstStyle/>
          <a:p>
            <a:pPr marL="0" indent="0" algn="ctr">
              <a:buNone/>
            </a:pPr>
            <a:r>
              <a:rPr lang="en-US" sz="1800" b="1" dirty="0">
                <a:solidFill>
                  <a:srgbClr val="1A2540"/>
                </a:solidFill>
                <a:latin typeface="Calibri" pitchFamily="34" charset="0"/>
                <a:ea typeface="Calibri" pitchFamily="34" charset="-122"/>
                <a:cs typeface="Calibri" pitchFamily="34" charset="-120"/>
              </a:rPr>
              <a:t>Registration</a:t>
            </a:r>
            <a:endParaRPr lang="en-US" sz="1800" dirty="0"/>
          </a:p>
        </p:txBody>
      </p:sp>
      <p:sp>
        <p:nvSpPr>
          <p:cNvPr id="17" name="Text 15"/>
          <p:cNvSpPr txBox="1"/>
          <p:nvPr/>
        </p:nvSpPr>
        <p:spPr>
          <a:xfrm>
            <a:off x="6217920" y="2377440"/>
            <a:ext cx="2377440" cy="1005840"/>
          </a:xfrm>
          <a:prstGeom prst="rect">
            <a:avLst/>
          </a:prstGeom>
          <a:noFill/>
          <a:ln/>
        </p:spPr>
        <p:txBody>
          <a:bodyPr wrap="square" lIns="0" tIns="0" rIns="0" bIns="0" rtlCol="0" anchor="t"/>
          <a:lstStyle/>
          <a:p>
            <a:pPr marL="0" indent="0" algn="ctr">
              <a:buNone/>
            </a:pPr>
            <a:r>
              <a:rPr lang="en-US" sz="1200" dirty="0">
                <a:solidFill>
                  <a:srgbClr val="8892B0"/>
                </a:solidFill>
                <a:latin typeface="Calibri" pitchFamily="34" charset="0"/>
                <a:ea typeface="Calibri" pitchFamily="34" charset="-122"/>
                <a:cs typeface="Calibri" pitchFamily="34" charset="-120"/>
              </a:rPr>
              <a:t>Account creation, surveys, checkout</a:t>
            </a:r>
            <a:endParaRPr lang="en-US" sz="1200" dirty="0"/>
          </a:p>
          <a:p>
            <a:pPr marL="0" indent="0" algn="ctr">
              <a:buNone/>
            </a:pPr>
            <a:r>
              <a:rPr lang="en-US" sz="1200" dirty="0">
                <a:solidFill>
                  <a:srgbClr val="8892B0"/>
                </a:solidFill>
                <a:latin typeface="Calibri" pitchFamily="34" charset="0"/>
                <a:ea typeface="Calibri" pitchFamily="34" charset="-122"/>
                <a:cs typeface="Calibri" pitchFamily="34" charset="-120"/>
              </a:rPr>
              <a:t>— all rely on HTML forms.</a:t>
            </a:r>
            <a:endParaRPr lang="en-US" sz="1200" dirty="0"/>
          </a:p>
        </p:txBody>
      </p:sp>
      <p:sp>
        <p:nvSpPr>
          <p:cNvPr id="18" name="Text 16"/>
          <p:cNvSpPr txBox="1"/>
          <p:nvPr/>
        </p:nvSpPr>
        <p:spPr>
          <a:xfrm>
            <a:off x="457200" y="4617720"/>
            <a:ext cx="8229600" cy="320040"/>
          </a:xfrm>
          <a:prstGeom prst="rect">
            <a:avLst/>
          </a:prstGeom>
          <a:noFill/>
          <a:ln/>
        </p:spPr>
        <p:txBody>
          <a:bodyPr wrap="square" lIns="0" tIns="0" rIns="0" bIns="0" rtlCol="0" anchor="ctr"/>
          <a:lstStyle/>
          <a:p>
            <a:pPr marL="0" indent="0" algn="ctr">
              <a:buNone/>
            </a:pPr>
            <a:r>
              <a:rPr lang="en-US" sz="1200" b="1" dirty="0">
                <a:solidFill>
                  <a:srgbClr val="1A2540"/>
                </a:solidFill>
                <a:latin typeface="Calibri" pitchFamily="34" charset="0"/>
                <a:ea typeface="Calibri" pitchFamily="34" charset="-122"/>
                <a:cs typeface="Calibri" pitchFamily="34" charset="-120"/>
              </a:rPr>
              <a:t>Forms are the #1 way users send data to your server.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3200400" cy="5143500"/>
          </a:xfrm>
          <a:prstGeom prst="rect">
            <a:avLst/>
          </a:prstGeom>
          <a:solidFill>
            <a:srgbClr val="1A2540"/>
          </a:solidFill>
          <a:ln w="12700">
            <a:solidFill>
              <a:srgbClr val="1A2540"/>
            </a:solidFill>
            <a:prstDash val="solid"/>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marL="0" indent="0" algn="l">
              <a:buNone/>
            </a:pPr>
            <a:r>
              <a:rPr lang="en-US" sz="2000" b="1" dirty="0">
                <a:solidFill>
                  <a:srgbClr val="FFFFFF"/>
                </a:solidFill>
                <a:latin typeface="Calibri" pitchFamily="34" charset="0"/>
                <a:ea typeface="Calibri" pitchFamily="34" charset="-122"/>
                <a:cs typeface="Calibri" pitchFamily="34" charset="-120"/>
              </a:rPr>
              <a:t>The &lt;form&gt;</a:t>
            </a:r>
            <a:endParaRPr lang="en-US" sz="2000" dirty="0"/>
          </a:p>
          <a:p>
            <a:pPr marL="0" indent="0" algn="l">
              <a:buNone/>
            </a:pPr>
            <a:r>
              <a:rPr lang="en-US" sz="2000" b="1" dirty="0">
                <a:solidFill>
                  <a:srgbClr val="FFFFFF"/>
                </a:solidFill>
                <a:latin typeface="Calibri" pitchFamily="34" charset="0"/>
                <a:ea typeface="Calibri" pitchFamily="34" charset="-122"/>
                <a:cs typeface="Calibri" pitchFamily="34" charset="-120"/>
              </a:rPr>
              <a:t>Element</a:t>
            </a:r>
            <a:endParaRPr lang="en-US" sz="2000" dirty="0"/>
          </a:p>
        </p:txBody>
      </p:sp>
      <p:sp>
        <p:nvSpPr>
          <p:cNvPr id="5" name="Shape 3"/>
          <p:cNvSpPr/>
          <p:nvPr/>
        </p:nvSpPr>
        <p:spPr>
          <a:xfrm>
            <a:off x="182880" y="1088136"/>
            <a:ext cx="2560320" cy="45720"/>
          </a:xfrm>
          <a:prstGeom prst="rect">
            <a:avLst/>
          </a:prstGeom>
          <a:solidFill>
            <a:srgbClr val="F7DF1E"/>
          </a:solidFill>
          <a:ln w="12700">
            <a:solidFill>
              <a:srgbClr val="F7DF1E"/>
            </a:solidFill>
            <a:prstDash val="solid"/>
          </a:ln>
        </p:spPr>
      </p:sp>
      <p:sp>
        <p:nvSpPr>
          <p:cNvPr id="6" name="Text 4"/>
          <p:cNvSpPr txBox="1"/>
          <p:nvPr/>
        </p:nvSpPr>
        <p:spPr>
          <a:xfrm>
            <a:off x="182880" y="1234440"/>
            <a:ext cx="2834640" cy="365760"/>
          </a:xfrm>
          <a:prstGeom prst="rect">
            <a:avLst/>
          </a:prstGeom>
          <a:noFill/>
          <a:ln/>
        </p:spPr>
        <p:txBody>
          <a:bodyPr wrap="square" lIns="0" tIns="0" rIns="0" bIns="0" rtlCol="0" anchor="t"/>
          <a:lstStyle/>
          <a:p>
            <a:pPr marL="0" indent="0" algn="l">
              <a:buNone/>
            </a:pPr>
            <a:r>
              <a:rPr lang="en-US" sz="1100" dirty="0">
                <a:solidFill>
                  <a:srgbClr val="CDD6F4"/>
                </a:solidFill>
                <a:latin typeface="Calibri" pitchFamily="34" charset="0"/>
                <a:ea typeface="Calibri" pitchFamily="34" charset="-122"/>
                <a:cs typeface="Calibri" pitchFamily="34" charset="-120"/>
              </a:rPr>
              <a:t>action + method</a:t>
            </a:r>
            <a:endParaRPr lang="en-US" sz="1100" dirty="0"/>
          </a:p>
        </p:txBody>
      </p:sp>
      <p:sp>
        <p:nvSpPr>
          <p:cNvPr id="7" name="Text 5"/>
          <p:cNvSpPr txBox="1"/>
          <p:nvPr/>
        </p:nvSpPr>
        <p:spPr>
          <a:xfrm>
            <a:off x="182880" y="1379438"/>
            <a:ext cx="2834640" cy="274320"/>
          </a:xfrm>
          <a:prstGeom prst="rect">
            <a:avLst/>
          </a:prstGeom>
          <a:noFill/>
          <a:ln/>
        </p:spPr>
        <p:txBody>
          <a:bodyPr wrap="square" lIns="0" tIns="0" rIns="0" bIns="0" rtlCol="0" anchor="t"/>
          <a:lstStyle/>
          <a:p>
            <a:pPr marL="0" indent="0" algn="l">
              <a:buNone/>
            </a:pPr>
            <a:r>
              <a:rPr lang="en-US" sz="1200" b="1" dirty="0">
                <a:solidFill>
                  <a:srgbClr val="F7DF1E"/>
                </a:solidFill>
                <a:latin typeface="Courier New" pitchFamily="34" charset="0"/>
                <a:ea typeface="Courier New" pitchFamily="34" charset="-122"/>
                <a:cs typeface="Courier New" pitchFamily="34" charset="-120"/>
              </a:rPr>
              <a:t>action</a:t>
            </a:r>
            <a:endParaRPr lang="en-US" sz="1200" dirty="0"/>
          </a:p>
        </p:txBody>
      </p:sp>
      <p:sp>
        <p:nvSpPr>
          <p:cNvPr id="8" name="Text 6"/>
          <p:cNvSpPr txBox="1"/>
          <p:nvPr/>
        </p:nvSpPr>
        <p:spPr>
          <a:xfrm>
            <a:off x="182880" y="1627632"/>
            <a:ext cx="2834640" cy="256032"/>
          </a:xfrm>
          <a:prstGeom prst="rect">
            <a:avLst/>
          </a:prstGeom>
          <a:noFill/>
          <a:ln/>
        </p:spPr>
        <p:txBody>
          <a:bodyPr wrap="square" lIns="0" tIns="0" rIns="0" bIns="0" rtlCol="0" anchor="t"/>
          <a:lstStyle/>
          <a:p>
            <a:pPr marL="0" indent="0" algn="l">
              <a:buNone/>
            </a:pPr>
            <a:r>
              <a:rPr lang="en-US" sz="1000" dirty="0">
                <a:solidFill>
                  <a:srgbClr val="8892B0"/>
                </a:solidFill>
                <a:latin typeface="Calibri" pitchFamily="34" charset="0"/>
                <a:ea typeface="Calibri" pitchFamily="34" charset="-122"/>
                <a:cs typeface="Calibri" pitchFamily="34" charset="-120"/>
              </a:rPr>
              <a:t>Where the data is sent</a:t>
            </a:r>
            <a:endParaRPr lang="en-US" sz="1000" dirty="0"/>
          </a:p>
        </p:txBody>
      </p:sp>
      <p:sp>
        <p:nvSpPr>
          <p:cNvPr id="9" name="Text 7"/>
          <p:cNvSpPr txBox="1"/>
          <p:nvPr/>
        </p:nvSpPr>
        <p:spPr>
          <a:xfrm>
            <a:off x="182880" y="1965960"/>
            <a:ext cx="2834640" cy="274320"/>
          </a:xfrm>
          <a:prstGeom prst="rect">
            <a:avLst/>
          </a:prstGeom>
          <a:noFill/>
          <a:ln/>
        </p:spPr>
        <p:txBody>
          <a:bodyPr wrap="square" lIns="0" tIns="0" rIns="0" bIns="0" rtlCol="0" anchor="t"/>
          <a:lstStyle/>
          <a:p>
            <a:pPr marL="0" indent="0" algn="l">
              <a:buNone/>
            </a:pPr>
            <a:r>
              <a:rPr lang="en-US" sz="1200" b="1" dirty="0">
                <a:solidFill>
                  <a:srgbClr val="F7DF1E"/>
                </a:solidFill>
                <a:latin typeface="Courier New" pitchFamily="34" charset="0"/>
                <a:ea typeface="Courier New" pitchFamily="34" charset="-122"/>
                <a:cs typeface="Courier New" pitchFamily="34" charset="-120"/>
              </a:rPr>
              <a:t>method</a:t>
            </a:r>
            <a:endParaRPr lang="en-US" sz="1200" dirty="0"/>
          </a:p>
        </p:txBody>
      </p:sp>
      <p:sp>
        <p:nvSpPr>
          <p:cNvPr id="10" name="Text 8"/>
          <p:cNvSpPr txBox="1"/>
          <p:nvPr/>
        </p:nvSpPr>
        <p:spPr>
          <a:xfrm>
            <a:off x="182880" y="2267712"/>
            <a:ext cx="2834640" cy="256032"/>
          </a:xfrm>
          <a:prstGeom prst="rect">
            <a:avLst/>
          </a:prstGeom>
          <a:noFill/>
          <a:ln/>
        </p:spPr>
        <p:txBody>
          <a:bodyPr wrap="square" lIns="0" tIns="0" rIns="0" bIns="0" rtlCol="0" anchor="t"/>
          <a:lstStyle/>
          <a:p>
            <a:pPr marL="0" indent="0" algn="l">
              <a:buNone/>
            </a:pPr>
            <a:r>
              <a:rPr lang="en-US" sz="1000" dirty="0">
                <a:solidFill>
                  <a:srgbClr val="8892B0"/>
                </a:solidFill>
                <a:latin typeface="Calibri" pitchFamily="34" charset="0"/>
                <a:ea typeface="Calibri" pitchFamily="34" charset="-122"/>
                <a:cs typeface="Calibri" pitchFamily="34" charset="-120"/>
              </a:rPr>
              <a:t>How it is sent (GET or POST)</a:t>
            </a:r>
            <a:endParaRPr lang="en-US" sz="1000" dirty="0"/>
          </a:p>
        </p:txBody>
      </p:sp>
      <p:sp>
        <p:nvSpPr>
          <p:cNvPr id="11" name="Text 9"/>
          <p:cNvSpPr txBox="1"/>
          <p:nvPr/>
        </p:nvSpPr>
        <p:spPr>
          <a:xfrm>
            <a:off x="182880" y="2606040"/>
            <a:ext cx="2834640" cy="274320"/>
          </a:xfrm>
          <a:prstGeom prst="rect">
            <a:avLst/>
          </a:prstGeom>
          <a:noFill/>
          <a:ln/>
        </p:spPr>
        <p:txBody>
          <a:bodyPr wrap="square" lIns="0" tIns="0" rIns="0" bIns="0" rtlCol="0" anchor="t"/>
          <a:lstStyle/>
          <a:p>
            <a:pPr marL="0" indent="0" algn="l">
              <a:buNone/>
            </a:pPr>
            <a:r>
              <a:rPr lang="en-US" sz="1200" b="1" dirty="0">
                <a:solidFill>
                  <a:srgbClr val="F7DF1E"/>
                </a:solidFill>
                <a:latin typeface="Courier New" pitchFamily="34" charset="0"/>
                <a:ea typeface="Courier New" pitchFamily="34" charset="-122"/>
                <a:cs typeface="Courier New" pitchFamily="34" charset="-120"/>
              </a:rPr>
              <a:t>id / name</a:t>
            </a:r>
            <a:endParaRPr lang="en-US" sz="1200" dirty="0"/>
          </a:p>
        </p:txBody>
      </p:sp>
      <p:sp>
        <p:nvSpPr>
          <p:cNvPr id="12" name="Text 10"/>
          <p:cNvSpPr txBox="1"/>
          <p:nvPr/>
        </p:nvSpPr>
        <p:spPr>
          <a:xfrm>
            <a:off x="182880" y="2907792"/>
            <a:ext cx="2834640" cy="256032"/>
          </a:xfrm>
          <a:prstGeom prst="rect">
            <a:avLst/>
          </a:prstGeom>
          <a:noFill/>
          <a:ln/>
        </p:spPr>
        <p:txBody>
          <a:bodyPr wrap="square" lIns="0" tIns="0" rIns="0" bIns="0" rtlCol="0" anchor="t"/>
          <a:lstStyle/>
          <a:p>
            <a:pPr marL="0" indent="0" algn="l">
              <a:buNone/>
            </a:pPr>
            <a:r>
              <a:rPr lang="en-US" sz="1000" dirty="0">
                <a:solidFill>
                  <a:srgbClr val="8892B0"/>
                </a:solidFill>
                <a:latin typeface="Calibri" pitchFamily="34" charset="0"/>
                <a:ea typeface="Calibri" pitchFamily="34" charset="-122"/>
                <a:cs typeface="Calibri" pitchFamily="34" charset="-120"/>
              </a:rPr>
              <a:t>Target via JS or labels</a:t>
            </a:r>
            <a:endParaRPr lang="en-US" sz="1000" dirty="0"/>
          </a:p>
        </p:txBody>
      </p:sp>
      <p:sp>
        <p:nvSpPr>
          <p:cNvPr id="13" name="Text 11"/>
          <p:cNvSpPr txBox="1"/>
          <p:nvPr/>
        </p:nvSpPr>
        <p:spPr>
          <a:xfrm>
            <a:off x="182880" y="3246120"/>
            <a:ext cx="2834640" cy="274320"/>
          </a:xfrm>
          <a:prstGeom prst="rect">
            <a:avLst/>
          </a:prstGeom>
          <a:noFill/>
          <a:ln/>
        </p:spPr>
        <p:txBody>
          <a:bodyPr wrap="square" lIns="0" tIns="0" rIns="0" bIns="0" rtlCol="0" anchor="t"/>
          <a:lstStyle/>
          <a:p>
            <a:pPr marL="0" indent="0" algn="l">
              <a:buNone/>
            </a:pPr>
            <a:r>
              <a:rPr lang="en-US" sz="1200" b="1" dirty="0">
                <a:solidFill>
                  <a:srgbClr val="F7DF1E"/>
                </a:solidFill>
                <a:latin typeface="Courier New" pitchFamily="34" charset="0"/>
                <a:ea typeface="Courier New" pitchFamily="34" charset="-122"/>
                <a:cs typeface="Courier New" pitchFamily="34" charset="-120"/>
              </a:rPr>
              <a:t>novalidate</a:t>
            </a:r>
            <a:endParaRPr lang="en-US" sz="1200" dirty="0"/>
          </a:p>
        </p:txBody>
      </p:sp>
      <p:sp>
        <p:nvSpPr>
          <p:cNvPr id="14" name="Text 12"/>
          <p:cNvSpPr txBox="1"/>
          <p:nvPr/>
        </p:nvSpPr>
        <p:spPr>
          <a:xfrm>
            <a:off x="182880" y="3547872"/>
            <a:ext cx="2834640" cy="256032"/>
          </a:xfrm>
          <a:prstGeom prst="rect">
            <a:avLst/>
          </a:prstGeom>
          <a:noFill/>
          <a:ln/>
        </p:spPr>
        <p:txBody>
          <a:bodyPr wrap="square" lIns="0" tIns="0" rIns="0" bIns="0" rtlCol="0" anchor="t"/>
          <a:lstStyle/>
          <a:p>
            <a:pPr marL="0" indent="0" algn="l">
              <a:buNone/>
            </a:pPr>
            <a:r>
              <a:rPr lang="en-US" sz="1000" dirty="0">
                <a:solidFill>
                  <a:srgbClr val="8892B0"/>
                </a:solidFill>
                <a:latin typeface="Calibri" pitchFamily="34" charset="0"/>
                <a:ea typeface="Calibri" pitchFamily="34" charset="-122"/>
                <a:cs typeface="Calibri" pitchFamily="34" charset="-120"/>
              </a:rPr>
              <a:t>Skip browser auto-check</a:t>
            </a:r>
            <a:endParaRPr lang="en-US" sz="1000" dirty="0"/>
          </a:p>
        </p:txBody>
      </p:sp>
      <p:sp>
        <p:nvSpPr>
          <p:cNvPr id="15" name="Text 13"/>
          <p:cNvSpPr txBox="1"/>
          <p:nvPr/>
        </p:nvSpPr>
        <p:spPr>
          <a:xfrm>
            <a:off x="182880" y="3886200"/>
            <a:ext cx="2834640" cy="274320"/>
          </a:xfrm>
          <a:prstGeom prst="rect">
            <a:avLst/>
          </a:prstGeom>
          <a:noFill/>
          <a:ln/>
        </p:spPr>
        <p:txBody>
          <a:bodyPr wrap="square" lIns="0" tIns="0" rIns="0" bIns="0" rtlCol="0" anchor="t"/>
          <a:lstStyle/>
          <a:p>
            <a:pPr marL="0" indent="0" algn="l">
              <a:buNone/>
            </a:pPr>
            <a:r>
              <a:rPr lang="en-US" sz="1200" b="1" dirty="0">
                <a:solidFill>
                  <a:srgbClr val="F7DF1E"/>
                </a:solidFill>
                <a:latin typeface="Courier New" pitchFamily="34" charset="0"/>
                <a:ea typeface="Courier New" pitchFamily="34" charset="-122"/>
                <a:cs typeface="Courier New" pitchFamily="34" charset="-120"/>
              </a:rPr>
              <a:t>autocomplete</a:t>
            </a:r>
            <a:endParaRPr lang="en-US" sz="1200" dirty="0"/>
          </a:p>
        </p:txBody>
      </p:sp>
      <p:sp>
        <p:nvSpPr>
          <p:cNvPr id="16" name="Text 14"/>
          <p:cNvSpPr txBox="1"/>
          <p:nvPr/>
        </p:nvSpPr>
        <p:spPr>
          <a:xfrm>
            <a:off x="182880" y="4187952"/>
            <a:ext cx="2834640" cy="256032"/>
          </a:xfrm>
          <a:prstGeom prst="rect">
            <a:avLst/>
          </a:prstGeom>
          <a:noFill/>
          <a:ln/>
        </p:spPr>
        <p:txBody>
          <a:bodyPr wrap="square" lIns="0" tIns="0" rIns="0" bIns="0" rtlCol="0" anchor="t"/>
          <a:lstStyle/>
          <a:p>
            <a:pPr marL="0" indent="0" algn="l">
              <a:buNone/>
            </a:pPr>
            <a:r>
              <a:rPr lang="en-US" sz="1000" dirty="0">
                <a:solidFill>
                  <a:srgbClr val="8892B0"/>
                </a:solidFill>
                <a:latin typeface="Calibri" pitchFamily="34" charset="0"/>
                <a:ea typeface="Calibri" pitchFamily="34" charset="-122"/>
                <a:cs typeface="Calibri" pitchFamily="34" charset="-120"/>
              </a:rPr>
              <a:t>Browser fill suggestions</a:t>
            </a:r>
            <a:endParaRPr lang="en-US" sz="1000" dirty="0"/>
          </a:p>
        </p:txBody>
      </p:sp>
      <p:sp>
        <p:nvSpPr>
          <p:cNvPr id="17" name="Shape 15"/>
          <p:cNvSpPr/>
          <p:nvPr/>
        </p:nvSpPr>
        <p:spPr>
          <a:xfrm>
            <a:off x="3337560" y="182880"/>
            <a:ext cx="5577840" cy="4754880"/>
          </a:xfrm>
          <a:prstGeom prst="rect">
            <a:avLst/>
          </a:prstGeom>
          <a:solidFill>
            <a:srgbClr val="1E2336"/>
          </a:solidFill>
          <a:ln w="12700">
            <a:solidFill>
              <a:srgbClr val="2D3250"/>
            </a:solidFill>
            <a:prstDash val="solid"/>
          </a:ln>
        </p:spPr>
      </p:sp>
      <p:sp>
        <p:nvSpPr>
          <p:cNvPr id="18" name="Shape 16"/>
          <p:cNvSpPr/>
          <p:nvPr/>
        </p:nvSpPr>
        <p:spPr>
          <a:xfrm>
            <a:off x="3456432" y="283464"/>
            <a:ext cx="118872" cy="118872"/>
          </a:xfrm>
          <a:prstGeom prst="ellipse">
            <a:avLst/>
          </a:prstGeom>
          <a:solidFill>
            <a:srgbClr val="FF5F56"/>
          </a:solidFill>
          <a:ln w="12700">
            <a:solidFill>
              <a:srgbClr val="FF5F56"/>
            </a:solidFill>
            <a:prstDash val="solid"/>
          </a:ln>
        </p:spPr>
      </p:sp>
      <p:sp>
        <p:nvSpPr>
          <p:cNvPr id="19" name="Shape 17"/>
          <p:cNvSpPr/>
          <p:nvPr/>
        </p:nvSpPr>
        <p:spPr>
          <a:xfrm>
            <a:off x="3657600" y="283464"/>
            <a:ext cx="118872" cy="118872"/>
          </a:xfrm>
          <a:prstGeom prst="ellipse">
            <a:avLst/>
          </a:prstGeom>
          <a:solidFill>
            <a:srgbClr val="FFBD2E"/>
          </a:solidFill>
          <a:ln w="12700">
            <a:solidFill>
              <a:srgbClr val="FFBD2E"/>
            </a:solidFill>
            <a:prstDash val="solid"/>
          </a:ln>
        </p:spPr>
      </p:sp>
      <p:sp>
        <p:nvSpPr>
          <p:cNvPr id="20" name="Shape 18"/>
          <p:cNvSpPr/>
          <p:nvPr/>
        </p:nvSpPr>
        <p:spPr>
          <a:xfrm>
            <a:off x="3858768" y="283464"/>
            <a:ext cx="118872" cy="118872"/>
          </a:xfrm>
          <a:prstGeom prst="ellipse">
            <a:avLst/>
          </a:prstGeom>
          <a:solidFill>
            <a:srgbClr val="27C93F"/>
          </a:solidFill>
          <a:ln w="12700">
            <a:solidFill>
              <a:srgbClr val="27C93F"/>
            </a:solidFill>
            <a:prstDash val="solid"/>
          </a:ln>
        </p:spPr>
      </p:sp>
      <p:sp>
        <p:nvSpPr>
          <p:cNvPr id="21" name="Text 19"/>
          <p:cNvSpPr txBox="1"/>
          <p:nvPr/>
        </p:nvSpPr>
        <p:spPr>
          <a:xfrm>
            <a:off x="3474720" y="475488"/>
            <a:ext cx="5303520" cy="4343400"/>
          </a:xfrm>
          <a:prstGeom prst="rect">
            <a:avLst/>
          </a:prstGeom>
          <a:noFill/>
          <a:ln/>
        </p:spPr>
        <p:txBody>
          <a:bodyPr wrap="square" lIns="0" tIns="0" rIns="0" bIns="0" rtlCol="0" anchor="t"/>
          <a:lstStyle/>
          <a:p>
            <a:pPr marL="0" indent="0" algn="l">
              <a:buNone/>
            </a:pPr>
            <a:r>
              <a:rPr lang="en-US" sz="1000" dirty="0">
                <a:solidFill>
                  <a:srgbClr val="64FFDA"/>
                </a:solidFill>
                <a:latin typeface="Courier New" pitchFamily="34" charset="0"/>
                <a:ea typeface="Courier New" pitchFamily="34" charset="-122"/>
                <a:cs typeface="Courier New" pitchFamily="34" charset="-120"/>
              </a:rPr>
              <a:t>&lt;!-- Basic form skeleton --&gt;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&lt;form</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action="/register"</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method="POST"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id="reg-form"</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autocomplete="on"&gt;</a:t>
            </a:r>
            <a:endParaRPr lang="en-US" sz="1000" dirty="0"/>
          </a:p>
          <a:p>
            <a:pPr marL="0" indent="0" algn="l">
              <a:buNone/>
            </a:pP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&lt;label for="name"&gt;Full Name&lt;/label&gt;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&lt;input type="text" id="name" name="name"&gt;</a:t>
            </a:r>
            <a:endParaRPr lang="en-US" sz="1000" dirty="0"/>
          </a:p>
          <a:p>
            <a:pPr marL="0" indent="0" algn="l">
              <a:buNone/>
            </a:pP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&lt;label for="email"&gt;Email&lt;/label&gt;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&lt;input type="email" id="email" name="email"&gt;</a:t>
            </a:r>
            <a:endParaRPr lang="en-US" sz="1000" dirty="0"/>
          </a:p>
          <a:p>
            <a:pPr marL="0" indent="0" algn="l">
              <a:buNone/>
            </a:pP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&lt;button type="submit"&gt;Register&lt;/button&gt;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&lt;/form&gt;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9144000" cy="64008"/>
          </a:xfrm>
          <a:prstGeom prst="rect">
            <a:avLst/>
          </a:prstGeom>
          <a:solidFill>
            <a:srgbClr val="F7DF1E"/>
          </a:solidFill>
          <a:ln w="12700">
            <a:solidFill>
              <a:srgbClr val="F7DF1E"/>
            </a:solidFill>
            <a:prstDash val="solid"/>
          </a:ln>
        </p:spPr>
      </p:sp>
      <p:sp>
        <p:nvSpPr>
          <p:cNvPr id="4" name="Text 2"/>
          <p:cNvSpPr txBox="1"/>
          <p:nvPr/>
        </p:nvSpPr>
        <p:spPr>
          <a:xfrm>
            <a:off x="457200" y="182880"/>
            <a:ext cx="8229600" cy="548640"/>
          </a:xfrm>
          <a:prstGeom prst="rect">
            <a:avLst/>
          </a:prstGeom>
          <a:noFill/>
          <a:ln/>
        </p:spPr>
        <p:txBody>
          <a:bodyPr wrap="square" lIns="0" tIns="0" rIns="0" bIns="0" rtlCol="0" anchor="ctr"/>
          <a:lstStyle/>
          <a:p>
            <a:pPr marL="0" indent="0" algn="l">
              <a:buNone/>
            </a:pPr>
            <a:r>
              <a:rPr lang="en-US" sz="2800" b="1" dirty="0">
                <a:solidFill>
                  <a:srgbClr val="1A2540"/>
                </a:solidFill>
                <a:latin typeface="Calibri" pitchFamily="34" charset="0"/>
                <a:ea typeface="Calibri" pitchFamily="34" charset="-122"/>
                <a:cs typeface="Calibri" pitchFamily="34" charset="-120"/>
              </a:rPr>
              <a:t>GET vs POST — Which to Use?</a:t>
            </a:r>
            <a:endParaRPr lang="en-US" sz="2800" dirty="0"/>
          </a:p>
        </p:txBody>
      </p:sp>
      <p:sp>
        <p:nvSpPr>
          <p:cNvPr id="5" name="Shape 3"/>
          <p:cNvSpPr/>
          <p:nvPr/>
        </p:nvSpPr>
        <p:spPr>
          <a:xfrm>
            <a:off x="457200" y="758952"/>
            <a:ext cx="8229600" cy="36576"/>
          </a:xfrm>
          <a:prstGeom prst="rect">
            <a:avLst/>
          </a:prstGeom>
          <a:solidFill>
            <a:srgbClr val="F7DF1E"/>
          </a:solidFill>
          <a:ln w="12700">
            <a:solidFill>
              <a:srgbClr val="F7DF1E"/>
            </a:solidFill>
            <a:prstDash val="solid"/>
          </a:ln>
        </p:spPr>
      </p:sp>
      <p:sp>
        <p:nvSpPr>
          <p:cNvPr id="6" name="Shape 4"/>
          <p:cNvSpPr/>
          <p:nvPr/>
        </p:nvSpPr>
        <p:spPr>
          <a:xfrm>
            <a:off x="457200" y="914400"/>
            <a:ext cx="3840480" cy="3749040"/>
          </a:xfrm>
          <a:prstGeom prst="rect">
            <a:avLst/>
          </a:prstGeom>
          <a:solidFill>
            <a:srgbClr val="E8F5E9"/>
          </a:solidFill>
          <a:ln w="12700">
            <a:solidFill>
              <a:srgbClr val="A5D6A7"/>
            </a:solidFill>
            <a:prstDash val="solid"/>
          </a:ln>
        </p:spPr>
      </p:sp>
      <p:sp>
        <p:nvSpPr>
          <p:cNvPr id="7" name="Text 5"/>
          <p:cNvSpPr txBox="1"/>
          <p:nvPr/>
        </p:nvSpPr>
        <p:spPr>
          <a:xfrm>
            <a:off x="457200" y="914400"/>
            <a:ext cx="3840480" cy="502920"/>
          </a:xfrm>
          <a:prstGeom prst="rect">
            <a:avLst/>
          </a:prstGeom>
          <a:noFill/>
          <a:ln/>
        </p:spPr>
        <p:txBody>
          <a:bodyPr wrap="square" lIns="0" tIns="0" rIns="0" bIns="0" rtlCol="0" anchor="ctr"/>
          <a:lstStyle/>
          <a:p>
            <a:pPr marL="0" indent="0" algn="ctr">
              <a:buNone/>
            </a:pPr>
            <a:r>
              <a:rPr lang="en-US" sz="2200" b="1" dirty="0">
                <a:solidFill>
                  <a:srgbClr val="2E7D32"/>
                </a:solidFill>
                <a:latin typeface="Calibri" pitchFamily="34" charset="0"/>
                <a:ea typeface="Calibri" pitchFamily="34" charset="-122"/>
                <a:cs typeface="Calibri" pitchFamily="34" charset="-120"/>
              </a:rPr>
              <a:t>GET</a:t>
            </a:r>
            <a:endParaRPr lang="en-US" sz="2200" dirty="0"/>
          </a:p>
        </p:txBody>
      </p:sp>
      <p:sp>
        <p:nvSpPr>
          <p:cNvPr id="8" name="Text 6"/>
          <p:cNvSpPr txBox="1"/>
          <p:nvPr/>
        </p:nvSpPr>
        <p:spPr>
          <a:xfrm>
            <a:off x="594360" y="1508760"/>
            <a:ext cx="3566160" cy="384048"/>
          </a:xfrm>
          <a:prstGeom prst="rect">
            <a:avLst/>
          </a:prstGeom>
          <a:noFill/>
          <a:ln/>
        </p:spPr>
        <p:txBody>
          <a:bodyPr wrap="square" lIns="0" tIns="0" rIns="0" bIns="0" rtlCol="0" anchor="ctr"/>
          <a:lstStyle/>
          <a:p>
            <a:pPr marL="0" indent="0" algn="l">
              <a:buNone/>
            </a:pPr>
            <a:r>
              <a:rPr lang="en-US" sz="1200" dirty="0">
                <a:solidFill>
                  <a:srgbClr val="1A2540"/>
                </a:solidFill>
                <a:latin typeface="Calibri" pitchFamily="34" charset="0"/>
                <a:ea typeface="Calibri" pitchFamily="34" charset="-122"/>
                <a:cs typeface="Calibri" pitchFamily="34" charset="-120"/>
              </a:rPr>
              <a:t>✔ Data visible in the URL</a:t>
            </a:r>
            <a:endParaRPr lang="en-US" sz="1200" dirty="0"/>
          </a:p>
        </p:txBody>
      </p:sp>
      <p:sp>
        <p:nvSpPr>
          <p:cNvPr id="9" name="Text 7"/>
          <p:cNvSpPr txBox="1"/>
          <p:nvPr/>
        </p:nvSpPr>
        <p:spPr>
          <a:xfrm>
            <a:off x="594360" y="1965960"/>
            <a:ext cx="3566160" cy="384048"/>
          </a:xfrm>
          <a:prstGeom prst="rect">
            <a:avLst/>
          </a:prstGeom>
          <a:noFill/>
          <a:ln/>
        </p:spPr>
        <p:txBody>
          <a:bodyPr wrap="square" lIns="0" tIns="0" rIns="0" bIns="0" rtlCol="0" anchor="ctr"/>
          <a:lstStyle/>
          <a:p>
            <a:pPr marL="0" indent="0" algn="l">
              <a:buNone/>
            </a:pPr>
            <a:r>
              <a:rPr lang="en-US" sz="1200" dirty="0">
                <a:solidFill>
                  <a:srgbClr val="1A2540"/>
                </a:solidFill>
                <a:latin typeface="Calibri" pitchFamily="34" charset="0"/>
                <a:ea typeface="Calibri" pitchFamily="34" charset="-122"/>
                <a:cs typeface="Calibri" pitchFamily="34" charset="-120"/>
              </a:rPr>
              <a:t>✔ Bookmarkable, shareable</a:t>
            </a:r>
            <a:endParaRPr lang="en-US" sz="1200" dirty="0"/>
          </a:p>
        </p:txBody>
      </p:sp>
      <p:sp>
        <p:nvSpPr>
          <p:cNvPr id="10" name="Text 8"/>
          <p:cNvSpPr txBox="1"/>
          <p:nvPr/>
        </p:nvSpPr>
        <p:spPr>
          <a:xfrm>
            <a:off x="594360" y="2423160"/>
            <a:ext cx="3566160" cy="384048"/>
          </a:xfrm>
          <a:prstGeom prst="rect">
            <a:avLst/>
          </a:prstGeom>
          <a:noFill/>
          <a:ln/>
        </p:spPr>
        <p:txBody>
          <a:bodyPr wrap="square" lIns="0" tIns="0" rIns="0" bIns="0" rtlCol="0" anchor="ctr"/>
          <a:lstStyle/>
          <a:p>
            <a:pPr marL="0" indent="0" algn="l">
              <a:buNone/>
            </a:pPr>
            <a:r>
              <a:rPr lang="en-US" sz="1200" dirty="0">
                <a:solidFill>
                  <a:srgbClr val="1A2540"/>
                </a:solidFill>
                <a:latin typeface="Calibri" pitchFamily="34" charset="0"/>
                <a:ea typeface="Calibri" pitchFamily="34" charset="-122"/>
                <a:cs typeface="Calibri" pitchFamily="34" charset="-120"/>
              </a:rPr>
              <a:t>✔ Cached by browsers</a:t>
            </a:r>
            <a:endParaRPr lang="en-US" sz="1200" dirty="0"/>
          </a:p>
        </p:txBody>
      </p:sp>
      <p:sp>
        <p:nvSpPr>
          <p:cNvPr id="11" name="Text 9"/>
          <p:cNvSpPr txBox="1"/>
          <p:nvPr/>
        </p:nvSpPr>
        <p:spPr>
          <a:xfrm>
            <a:off x="594360" y="2880360"/>
            <a:ext cx="3566160" cy="384048"/>
          </a:xfrm>
          <a:prstGeom prst="rect">
            <a:avLst/>
          </a:prstGeom>
          <a:noFill/>
          <a:ln/>
        </p:spPr>
        <p:txBody>
          <a:bodyPr wrap="square" lIns="0" tIns="0" rIns="0" bIns="0" rtlCol="0" anchor="ctr"/>
          <a:lstStyle/>
          <a:p>
            <a:pPr marL="0" indent="0" algn="l">
              <a:buNone/>
            </a:pPr>
            <a:r>
              <a:rPr lang="en-US" sz="1200" dirty="0">
                <a:solidFill>
                  <a:srgbClr val="1A2540"/>
                </a:solidFill>
                <a:latin typeface="Calibri" pitchFamily="34" charset="0"/>
                <a:ea typeface="Calibri" pitchFamily="34" charset="-122"/>
                <a:cs typeface="Calibri" pitchFamily="34" charset="-120"/>
              </a:rPr>
              <a:t>✔ Great for search forms</a:t>
            </a:r>
            <a:endParaRPr lang="en-US" sz="1200" dirty="0"/>
          </a:p>
        </p:txBody>
      </p:sp>
      <p:sp>
        <p:nvSpPr>
          <p:cNvPr id="12" name="Text 10"/>
          <p:cNvSpPr txBox="1"/>
          <p:nvPr/>
        </p:nvSpPr>
        <p:spPr>
          <a:xfrm>
            <a:off x="594360" y="3337560"/>
            <a:ext cx="3566160" cy="384048"/>
          </a:xfrm>
          <a:prstGeom prst="rect">
            <a:avLst/>
          </a:prstGeom>
          <a:noFill/>
          <a:ln/>
        </p:spPr>
        <p:txBody>
          <a:bodyPr wrap="square" lIns="0" tIns="0" rIns="0" bIns="0" rtlCol="0" anchor="ctr"/>
          <a:lstStyle/>
          <a:p>
            <a:pPr marL="0" indent="0" algn="l">
              <a:buNone/>
            </a:pPr>
            <a:r>
              <a:rPr lang="en-US" sz="1200" dirty="0">
                <a:solidFill>
                  <a:srgbClr val="1A2540"/>
                </a:solidFill>
                <a:latin typeface="Calibri" pitchFamily="34" charset="0"/>
                <a:ea typeface="Calibri" pitchFamily="34" charset="-122"/>
                <a:cs typeface="Calibri" pitchFamily="34" charset="-120"/>
              </a:rPr>
              <a:t>✘ Bad for passwords / private data</a:t>
            </a:r>
            <a:endParaRPr lang="en-US" sz="1200" dirty="0"/>
          </a:p>
        </p:txBody>
      </p:sp>
      <p:sp>
        <p:nvSpPr>
          <p:cNvPr id="13" name="Text 11"/>
          <p:cNvSpPr txBox="1"/>
          <p:nvPr/>
        </p:nvSpPr>
        <p:spPr>
          <a:xfrm>
            <a:off x="594360" y="3794760"/>
            <a:ext cx="3566160" cy="384048"/>
          </a:xfrm>
          <a:prstGeom prst="rect">
            <a:avLst/>
          </a:prstGeom>
          <a:noFill/>
          <a:ln/>
        </p:spPr>
        <p:txBody>
          <a:bodyPr wrap="square" lIns="0" tIns="0" rIns="0" bIns="0" rtlCol="0" anchor="ctr"/>
          <a:lstStyle/>
          <a:p>
            <a:pPr marL="0" indent="0" algn="l">
              <a:buNone/>
            </a:pPr>
            <a:r>
              <a:rPr lang="en-US" sz="1200" dirty="0">
                <a:solidFill>
                  <a:srgbClr val="1A2540"/>
                </a:solidFill>
                <a:latin typeface="Calibri" pitchFamily="34" charset="0"/>
                <a:ea typeface="Calibri" pitchFamily="34" charset="-122"/>
                <a:cs typeface="Calibri" pitchFamily="34" charset="-120"/>
              </a:rPr>
              <a:t>✘ URL length limited (~2000 chars)</a:t>
            </a:r>
            <a:endParaRPr lang="en-US" sz="1200" dirty="0"/>
          </a:p>
        </p:txBody>
      </p:sp>
      <p:sp>
        <p:nvSpPr>
          <p:cNvPr id="14" name="Shape 12"/>
          <p:cNvSpPr/>
          <p:nvPr/>
        </p:nvSpPr>
        <p:spPr>
          <a:xfrm>
            <a:off x="4846320" y="914400"/>
            <a:ext cx="3840480" cy="3749040"/>
          </a:xfrm>
          <a:prstGeom prst="rect">
            <a:avLst/>
          </a:prstGeom>
          <a:solidFill>
            <a:srgbClr val="FFF3E0"/>
          </a:solidFill>
          <a:ln w="12700">
            <a:solidFill>
              <a:srgbClr val="FFCC80"/>
            </a:solidFill>
            <a:prstDash val="solid"/>
          </a:ln>
        </p:spPr>
      </p:sp>
      <p:sp>
        <p:nvSpPr>
          <p:cNvPr id="15" name="Text 13"/>
          <p:cNvSpPr txBox="1"/>
          <p:nvPr/>
        </p:nvSpPr>
        <p:spPr>
          <a:xfrm>
            <a:off x="4846320" y="914400"/>
            <a:ext cx="3840480" cy="502920"/>
          </a:xfrm>
          <a:prstGeom prst="rect">
            <a:avLst/>
          </a:prstGeom>
          <a:noFill/>
          <a:ln/>
        </p:spPr>
        <p:txBody>
          <a:bodyPr wrap="square" lIns="0" tIns="0" rIns="0" bIns="0" rtlCol="0" anchor="ctr"/>
          <a:lstStyle/>
          <a:p>
            <a:pPr marL="0" indent="0" algn="ctr">
              <a:buNone/>
            </a:pPr>
            <a:r>
              <a:rPr lang="en-US" sz="2200" b="1" dirty="0">
                <a:solidFill>
                  <a:srgbClr val="E65100"/>
                </a:solidFill>
                <a:latin typeface="Calibri" pitchFamily="34" charset="0"/>
                <a:ea typeface="Calibri" pitchFamily="34" charset="-122"/>
                <a:cs typeface="Calibri" pitchFamily="34" charset="-120"/>
              </a:rPr>
              <a:t>POST</a:t>
            </a:r>
            <a:endParaRPr lang="en-US" sz="2200" dirty="0"/>
          </a:p>
        </p:txBody>
      </p:sp>
      <p:sp>
        <p:nvSpPr>
          <p:cNvPr id="16" name="Text 14"/>
          <p:cNvSpPr txBox="1"/>
          <p:nvPr/>
        </p:nvSpPr>
        <p:spPr>
          <a:xfrm>
            <a:off x="4983480" y="1508760"/>
            <a:ext cx="3566160" cy="384048"/>
          </a:xfrm>
          <a:prstGeom prst="rect">
            <a:avLst/>
          </a:prstGeom>
          <a:noFill/>
          <a:ln/>
        </p:spPr>
        <p:txBody>
          <a:bodyPr wrap="square" lIns="0" tIns="0" rIns="0" bIns="0" rtlCol="0" anchor="ctr"/>
          <a:lstStyle/>
          <a:p>
            <a:pPr marL="0" indent="0" algn="l">
              <a:buNone/>
            </a:pPr>
            <a:r>
              <a:rPr lang="en-US" sz="1200" dirty="0">
                <a:solidFill>
                  <a:srgbClr val="1A2540"/>
                </a:solidFill>
                <a:latin typeface="Calibri" pitchFamily="34" charset="0"/>
                <a:ea typeface="Calibri" pitchFamily="34" charset="-122"/>
                <a:cs typeface="Calibri" pitchFamily="34" charset="-120"/>
              </a:rPr>
              <a:t>✔ Data hidden in request body</a:t>
            </a:r>
            <a:endParaRPr lang="en-US" sz="1200" dirty="0"/>
          </a:p>
        </p:txBody>
      </p:sp>
      <p:sp>
        <p:nvSpPr>
          <p:cNvPr id="17" name="Text 15"/>
          <p:cNvSpPr txBox="1"/>
          <p:nvPr/>
        </p:nvSpPr>
        <p:spPr>
          <a:xfrm>
            <a:off x="4983480" y="1965960"/>
            <a:ext cx="3566160" cy="384048"/>
          </a:xfrm>
          <a:prstGeom prst="rect">
            <a:avLst/>
          </a:prstGeom>
          <a:noFill/>
          <a:ln/>
        </p:spPr>
        <p:txBody>
          <a:bodyPr wrap="square" lIns="0" tIns="0" rIns="0" bIns="0" rtlCol="0" anchor="ctr"/>
          <a:lstStyle/>
          <a:p>
            <a:pPr marL="0" indent="0" algn="l">
              <a:buNone/>
            </a:pPr>
            <a:r>
              <a:rPr lang="en-US" sz="1200" dirty="0">
                <a:solidFill>
                  <a:srgbClr val="1A2540"/>
                </a:solidFill>
                <a:latin typeface="Calibri" pitchFamily="34" charset="0"/>
                <a:ea typeface="Calibri" pitchFamily="34" charset="-122"/>
                <a:cs typeface="Calibri" pitchFamily="34" charset="-120"/>
              </a:rPr>
              <a:t>✔ Handles large payloads</a:t>
            </a:r>
            <a:endParaRPr lang="en-US" sz="1200" dirty="0"/>
          </a:p>
        </p:txBody>
      </p:sp>
      <p:sp>
        <p:nvSpPr>
          <p:cNvPr id="18" name="Text 16"/>
          <p:cNvSpPr txBox="1"/>
          <p:nvPr/>
        </p:nvSpPr>
        <p:spPr>
          <a:xfrm>
            <a:off x="4983480" y="2423160"/>
            <a:ext cx="3566160" cy="384048"/>
          </a:xfrm>
          <a:prstGeom prst="rect">
            <a:avLst/>
          </a:prstGeom>
          <a:noFill/>
          <a:ln/>
        </p:spPr>
        <p:txBody>
          <a:bodyPr wrap="square" lIns="0" tIns="0" rIns="0" bIns="0" rtlCol="0" anchor="ctr"/>
          <a:lstStyle/>
          <a:p>
            <a:pPr marL="0" indent="0" algn="l">
              <a:buNone/>
            </a:pPr>
            <a:r>
              <a:rPr lang="en-US" sz="1200" dirty="0">
                <a:solidFill>
                  <a:srgbClr val="1A2540"/>
                </a:solidFill>
                <a:latin typeface="Calibri" pitchFamily="34" charset="0"/>
                <a:ea typeface="Calibri" pitchFamily="34" charset="-122"/>
                <a:cs typeface="Calibri" pitchFamily="34" charset="-120"/>
              </a:rPr>
              <a:t>✔ Supports file uploads</a:t>
            </a:r>
            <a:endParaRPr lang="en-US" sz="1200" dirty="0"/>
          </a:p>
        </p:txBody>
      </p:sp>
      <p:sp>
        <p:nvSpPr>
          <p:cNvPr id="19" name="Text 17"/>
          <p:cNvSpPr txBox="1"/>
          <p:nvPr/>
        </p:nvSpPr>
        <p:spPr>
          <a:xfrm>
            <a:off x="4983480" y="2880360"/>
            <a:ext cx="3566160" cy="384048"/>
          </a:xfrm>
          <a:prstGeom prst="rect">
            <a:avLst/>
          </a:prstGeom>
          <a:noFill/>
          <a:ln/>
        </p:spPr>
        <p:txBody>
          <a:bodyPr wrap="square" lIns="0" tIns="0" rIns="0" bIns="0" rtlCol="0" anchor="ctr"/>
          <a:lstStyle/>
          <a:p>
            <a:pPr marL="0" indent="0" algn="l">
              <a:buNone/>
            </a:pPr>
            <a:r>
              <a:rPr lang="en-US" sz="1200" dirty="0">
                <a:solidFill>
                  <a:srgbClr val="1A2540"/>
                </a:solidFill>
                <a:latin typeface="Calibri" pitchFamily="34" charset="0"/>
                <a:ea typeface="Calibri" pitchFamily="34" charset="-122"/>
                <a:cs typeface="Calibri" pitchFamily="34" charset="-120"/>
              </a:rPr>
              <a:t>✔ Correct for login / signup</a:t>
            </a:r>
            <a:endParaRPr lang="en-US" sz="1200" dirty="0"/>
          </a:p>
        </p:txBody>
      </p:sp>
      <p:sp>
        <p:nvSpPr>
          <p:cNvPr id="20" name="Text 18"/>
          <p:cNvSpPr txBox="1"/>
          <p:nvPr/>
        </p:nvSpPr>
        <p:spPr>
          <a:xfrm>
            <a:off x="4983480" y="3337560"/>
            <a:ext cx="3566160" cy="384048"/>
          </a:xfrm>
          <a:prstGeom prst="rect">
            <a:avLst/>
          </a:prstGeom>
          <a:noFill/>
          <a:ln/>
        </p:spPr>
        <p:txBody>
          <a:bodyPr wrap="square" lIns="0" tIns="0" rIns="0" bIns="0" rtlCol="0" anchor="ctr"/>
          <a:lstStyle/>
          <a:p>
            <a:pPr marL="0" indent="0" algn="l">
              <a:buNone/>
            </a:pPr>
            <a:r>
              <a:rPr lang="en-US" sz="1200" dirty="0">
                <a:solidFill>
                  <a:srgbClr val="1A2540"/>
                </a:solidFill>
                <a:latin typeface="Calibri" pitchFamily="34" charset="0"/>
                <a:ea typeface="Calibri" pitchFamily="34" charset="-122"/>
                <a:cs typeface="Calibri" pitchFamily="34" charset="-120"/>
              </a:rPr>
              <a:t>✘ Not cacheable</a:t>
            </a:r>
            <a:endParaRPr lang="en-US" sz="1200" dirty="0"/>
          </a:p>
        </p:txBody>
      </p:sp>
      <p:sp>
        <p:nvSpPr>
          <p:cNvPr id="21" name="Text 19"/>
          <p:cNvSpPr txBox="1"/>
          <p:nvPr/>
        </p:nvSpPr>
        <p:spPr>
          <a:xfrm>
            <a:off x="4983480" y="3794760"/>
            <a:ext cx="3566160" cy="384048"/>
          </a:xfrm>
          <a:prstGeom prst="rect">
            <a:avLst/>
          </a:prstGeom>
          <a:noFill/>
          <a:ln/>
        </p:spPr>
        <p:txBody>
          <a:bodyPr wrap="square" lIns="0" tIns="0" rIns="0" bIns="0" rtlCol="0" anchor="ctr"/>
          <a:lstStyle/>
          <a:p>
            <a:pPr marL="0" indent="0" algn="l">
              <a:buNone/>
            </a:pPr>
            <a:r>
              <a:rPr lang="en-US" sz="1200" dirty="0">
                <a:solidFill>
                  <a:srgbClr val="1A2540"/>
                </a:solidFill>
                <a:latin typeface="Calibri" pitchFamily="34" charset="0"/>
                <a:ea typeface="Calibri" pitchFamily="34" charset="-122"/>
                <a:cs typeface="Calibri" pitchFamily="34" charset="-120"/>
              </a:rPr>
              <a:t>✘ Back-button re-submits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9144000" cy="64008"/>
          </a:xfrm>
          <a:prstGeom prst="rect">
            <a:avLst/>
          </a:prstGeom>
          <a:solidFill>
            <a:srgbClr val="F7DF1E"/>
          </a:solidFill>
          <a:ln w="12700">
            <a:solidFill>
              <a:srgbClr val="F7DF1E"/>
            </a:solidFill>
            <a:prstDash val="solid"/>
          </a:ln>
        </p:spPr>
      </p:sp>
      <p:sp>
        <p:nvSpPr>
          <p:cNvPr id="4" name="Text 2"/>
          <p:cNvSpPr txBox="1"/>
          <p:nvPr/>
        </p:nvSpPr>
        <p:spPr>
          <a:xfrm>
            <a:off x="457200" y="182880"/>
            <a:ext cx="8229600" cy="548640"/>
          </a:xfrm>
          <a:prstGeom prst="rect">
            <a:avLst/>
          </a:prstGeom>
          <a:noFill/>
          <a:ln/>
        </p:spPr>
        <p:txBody>
          <a:bodyPr wrap="square" lIns="0" tIns="0" rIns="0" bIns="0" rtlCol="0" anchor="ctr"/>
          <a:lstStyle/>
          <a:p>
            <a:pPr marL="0" indent="0" algn="l">
              <a:buNone/>
            </a:pPr>
            <a:r>
              <a:rPr lang="en-US" sz="2800" b="1" dirty="0">
                <a:solidFill>
                  <a:srgbClr val="1A2540"/>
                </a:solidFill>
                <a:latin typeface="Calibri" pitchFamily="34" charset="0"/>
                <a:ea typeface="Calibri" pitchFamily="34" charset="-122"/>
                <a:cs typeface="Calibri" pitchFamily="34" charset="-120"/>
              </a:rPr>
              <a:t>Input Types — HTML5 Gives You Many</a:t>
            </a:r>
            <a:endParaRPr lang="en-US" sz="2800" dirty="0"/>
          </a:p>
        </p:txBody>
      </p:sp>
      <p:sp>
        <p:nvSpPr>
          <p:cNvPr id="5" name="Shape 3"/>
          <p:cNvSpPr/>
          <p:nvPr/>
        </p:nvSpPr>
        <p:spPr>
          <a:xfrm>
            <a:off x="457200" y="758952"/>
            <a:ext cx="8229600" cy="36576"/>
          </a:xfrm>
          <a:prstGeom prst="rect">
            <a:avLst/>
          </a:prstGeom>
          <a:solidFill>
            <a:srgbClr val="F7DF1E"/>
          </a:solidFill>
          <a:ln w="12700">
            <a:solidFill>
              <a:srgbClr val="F7DF1E"/>
            </a:solidFill>
            <a:prstDash val="solid"/>
          </a:ln>
        </p:spPr>
      </p:sp>
      <p:sp>
        <p:nvSpPr>
          <p:cNvPr id="6" name="Shape 4"/>
          <p:cNvSpPr/>
          <p:nvPr/>
        </p:nvSpPr>
        <p:spPr>
          <a:xfrm>
            <a:off x="365760" y="1005840"/>
            <a:ext cx="2743200" cy="1170432"/>
          </a:xfrm>
          <a:prstGeom prst="rect">
            <a:avLst/>
          </a:prstGeom>
          <a:solidFill>
            <a:srgbClr val="E8EDFF"/>
          </a:solidFill>
          <a:ln w="12700">
            <a:solidFill>
              <a:srgbClr val="CBD5FF"/>
            </a:solidFill>
            <a:prstDash val="solid"/>
          </a:ln>
        </p:spPr>
      </p:sp>
      <p:sp>
        <p:nvSpPr>
          <p:cNvPr id="7" name="Text 5"/>
          <p:cNvSpPr txBox="1"/>
          <p:nvPr/>
        </p:nvSpPr>
        <p:spPr>
          <a:xfrm>
            <a:off x="457200" y="1078992"/>
            <a:ext cx="2560320" cy="347472"/>
          </a:xfrm>
          <a:prstGeom prst="rect">
            <a:avLst/>
          </a:prstGeom>
          <a:noFill/>
          <a:ln/>
        </p:spPr>
        <p:txBody>
          <a:bodyPr wrap="square" lIns="0" tIns="0" rIns="0" bIns="0" rtlCol="0" anchor="ctr"/>
          <a:lstStyle/>
          <a:p>
            <a:pPr marL="0" indent="0" algn="l">
              <a:buNone/>
            </a:pPr>
            <a:r>
              <a:rPr lang="en-US" sz="1300" b="1" dirty="0">
                <a:solidFill>
                  <a:srgbClr val="1A2540"/>
                </a:solidFill>
                <a:latin typeface="Courier New" pitchFamily="34" charset="0"/>
                <a:ea typeface="Courier New" pitchFamily="34" charset="-122"/>
                <a:cs typeface="Courier New" pitchFamily="34" charset="-120"/>
              </a:rPr>
              <a:t>type="text"</a:t>
            </a:r>
            <a:endParaRPr lang="en-US" sz="1300" dirty="0"/>
          </a:p>
        </p:txBody>
      </p:sp>
      <p:sp>
        <p:nvSpPr>
          <p:cNvPr id="8" name="Text 6"/>
          <p:cNvSpPr txBox="1"/>
          <p:nvPr/>
        </p:nvSpPr>
        <p:spPr>
          <a:xfrm>
            <a:off x="457200" y="1426464"/>
            <a:ext cx="2560320" cy="274320"/>
          </a:xfrm>
          <a:prstGeom prst="rect">
            <a:avLst/>
          </a:prstGeom>
          <a:noFill/>
          <a:ln/>
        </p:spPr>
        <p:txBody>
          <a:bodyPr wrap="square" lIns="0" tIns="0" rIns="0" bIns="0" rtlCol="0" anchor="ctr"/>
          <a:lstStyle/>
          <a:p>
            <a:pPr marL="0" indent="0" algn="l">
              <a:buNone/>
            </a:pPr>
            <a:r>
              <a:rPr lang="en-US" sz="1100" dirty="0">
                <a:solidFill>
                  <a:srgbClr val="1A2540"/>
                </a:solidFill>
                <a:latin typeface="Calibri" pitchFamily="34" charset="0"/>
                <a:ea typeface="Calibri" pitchFamily="34" charset="-122"/>
                <a:cs typeface="Calibri" pitchFamily="34" charset="-120"/>
              </a:rPr>
              <a:t>Single-line text</a:t>
            </a:r>
            <a:endParaRPr lang="en-US" sz="1100" dirty="0"/>
          </a:p>
        </p:txBody>
      </p:sp>
      <p:sp>
        <p:nvSpPr>
          <p:cNvPr id="9" name="Text 7"/>
          <p:cNvSpPr txBox="1"/>
          <p:nvPr/>
        </p:nvSpPr>
        <p:spPr>
          <a:xfrm>
            <a:off x="457200" y="1700784"/>
            <a:ext cx="2560320" cy="256032"/>
          </a:xfrm>
          <a:prstGeom prst="rect">
            <a:avLst/>
          </a:prstGeom>
          <a:noFill/>
          <a:ln/>
        </p:spPr>
        <p:txBody>
          <a:bodyPr wrap="square" lIns="0" tIns="0" rIns="0" bIns="0" rtlCol="0" anchor="ctr"/>
          <a:lstStyle/>
          <a:p>
            <a:pPr marL="0" indent="0" algn="l">
              <a:buNone/>
            </a:pPr>
            <a:r>
              <a:rPr lang="en-US" sz="1000" dirty="0">
                <a:solidFill>
                  <a:srgbClr val="8892B0"/>
                </a:solidFill>
                <a:latin typeface="Calibri" pitchFamily="34" charset="0"/>
                <a:ea typeface="Calibri" pitchFamily="34" charset="-122"/>
                <a:cs typeface="Calibri" pitchFamily="34" charset="-120"/>
              </a:rPr>
              <a:t>e.g. name, city</a:t>
            </a:r>
            <a:endParaRPr lang="en-US" sz="1000" dirty="0"/>
          </a:p>
        </p:txBody>
      </p:sp>
      <p:sp>
        <p:nvSpPr>
          <p:cNvPr id="10" name="Shape 8"/>
          <p:cNvSpPr/>
          <p:nvPr/>
        </p:nvSpPr>
        <p:spPr>
          <a:xfrm>
            <a:off x="3291840" y="1005840"/>
            <a:ext cx="2743200" cy="1170432"/>
          </a:xfrm>
          <a:prstGeom prst="rect">
            <a:avLst/>
          </a:prstGeom>
          <a:solidFill>
            <a:srgbClr val="E8EDFF"/>
          </a:solidFill>
          <a:ln w="12700">
            <a:solidFill>
              <a:srgbClr val="CBD5FF"/>
            </a:solidFill>
            <a:prstDash val="solid"/>
          </a:ln>
        </p:spPr>
      </p:sp>
      <p:sp>
        <p:nvSpPr>
          <p:cNvPr id="11" name="Text 9"/>
          <p:cNvSpPr txBox="1"/>
          <p:nvPr/>
        </p:nvSpPr>
        <p:spPr>
          <a:xfrm>
            <a:off x="3383280" y="1078992"/>
            <a:ext cx="2560320" cy="347472"/>
          </a:xfrm>
          <a:prstGeom prst="rect">
            <a:avLst/>
          </a:prstGeom>
          <a:noFill/>
          <a:ln/>
        </p:spPr>
        <p:txBody>
          <a:bodyPr wrap="square" lIns="0" tIns="0" rIns="0" bIns="0" rtlCol="0" anchor="ctr"/>
          <a:lstStyle/>
          <a:p>
            <a:pPr marL="0" indent="0" algn="l">
              <a:buNone/>
            </a:pPr>
            <a:r>
              <a:rPr lang="en-US" sz="1300" b="1" dirty="0">
                <a:solidFill>
                  <a:srgbClr val="1A2540"/>
                </a:solidFill>
                <a:latin typeface="Courier New" pitchFamily="34" charset="0"/>
                <a:ea typeface="Courier New" pitchFamily="34" charset="-122"/>
                <a:cs typeface="Courier New" pitchFamily="34" charset="-120"/>
              </a:rPr>
              <a:t>type="email"</a:t>
            </a:r>
            <a:endParaRPr lang="en-US" sz="1300" dirty="0"/>
          </a:p>
        </p:txBody>
      </p:sp>
      <p:sp>
        <p:nvSpPr>
          <p:cNvPr id="12" name="Text 10"/>
          <p:cNvSpPr txBox="1"/>
          <p:nvPr/>
        </p:nvSpPr>
        <p:spPr>
          <a:xfrm>
            <a:off x="3383280" y="1426464"/>
            <a:ext cx="2560320" cy="274320"/>
          </a:xfrm>
          <a:prstGeom prst="rect">
            <a:avLst/>
          </a:prstGeom>
          <a:noFill/>
          <a:ln/>
        </p:spPr>
        <p:txBody>
          <a:bodyPr wrap="square" lIns="0" tIns="0" rIns="0" bIns="0" rtlCol="0" anchor="ctr"/>
          <a:lstStyle/>
          <a:p>
            <a:pPr marL="0" indent="0" algn="l">
              <a:buNone/>
            </a:pPr>
            <a:r>
              <a:rPr lang="en-US" sz="1100" dirty="0">
                <a:solidFill>
                  <a:srgbClr val="1A2540"/>
                </a:solidFill>
                <a:latin typeface="Calibri" pitchFamily="34" charset="0"/>
                <a:ea typeface="Calibri" pitchFamily="34" charset="-122"/>
                <a:cs typeface="Calibri" pitchFamily="34" charset="-120"/>
              </a:rPr>
              <a:t>Validates @ syntax</a:t>
            </a:r>
            <a:endParaRPr lang="en-US" sz="1100" dirty="0"/>
          </a:p>
        </p:txBody>
      </p:sp>
      <p:sp>
        <p:nvSpPr>
          <p:cNvPr id="13" name="Text 11"/>
          <p:cNvSpPr txBox="1"/>
          <p:nvPr/>
        </p:nvSpPr>
        <p:spPr>
          <a:xfrm>
            <a:off x="3383280" y="1700784"/>
            <a:ext cx="2560320" cy="256032"/>
          </a:xfrm>
          <a:prstGeom prst="rect">
            <a:avLst/>
          </a:prstGeom>
          <a:noFill/>
          <a:ln/>
        </p:spPr>
        <p:txBody>
          <a:bodyPr wrap="square" lIns="0" tIns="0" rIns="0" bIns="0" rtlCol="0" anchor="ctr"/>
          <a:lstStyle/>
          <a:p>
            <a:pPr marL="0" indent="0" algn="l">
              <a:buNone/>
            </a:pPr>
            <a:r>
              <a:rPr lang="en-US" sz="1000" dirty="0">
                <a:solidFill>
                  <a:srgbClr val="8892B0"/>
                </a:solidFill>
                <a:latin typeface="Calibri" pitchFamily="34" charset="0"/>
                <a:ea typeface="Calibri" pitchFamily="34" charset="-122"/>
                <a:cs typeface="Calibri" pitchFamily="34" charset="-120"/>
              </a:rPr>
              <a:t>e.g. user@domain.com</a:t>
            </a:r>
            <a:endParaRPr lang="en-US" sz="1000" dirty="0"/>
          </a:p>
        </p:txBody>
      </p:sp>
      <p:sp>
        <p:nvSpPr>
          <p:cNvPr id="14" name="Shape 12"/>
          <p:cNvSpPr/>
          <p:nvPr/>
        </p:nvSpPr>
        <p:spPr>
          <a:xfrm>
            <a:off x="6217920" y="1005840"/>
            <a:ext cx="2743200" cy="1170432"/>
          </a:xfrm>
          <a:prstGeom prst="rect">
            <a:avLst/>
          </a:prstGeom>
          <a:solidFill>
            <a:srgbClr val="E8EDFF"/>
          </a:solidFill>
          <a:ln w="12700">
            <a:solidFill>
              <a:srgbClr val="CBD5FF"/>
            </a:solidFill>
            <a:prstDash val="solid"/>
          </a:ln>
        </p:spPr>
      </p:sp>
      <p:sp>
        <p:nvSpPr>
          <p:cNvPr id="15" name="Text 13"/>
          <p:cNvSpPr txBox="1"/>
          <p:nvPr/>
        </p:nvSpPr>
        <p:spPr>
          <a:xfrm>
            <a:off x="6309360" y="1078992"/>
            <a:ext cx="2560320" cy="347472"/>
          </a:xfrm>
          <a:prstGeom prst="rect">
            <a:avLst/>
          </a:prstGeom>
          <a:noFill/>
          <a:ln/>
        </p:spPr>
        <p:txBody>
          <a:bodyPr wrap="square" lIns="0" tIns="0" rIns="0" bIns="0" rtlCol="0" anchor="ctr"/>
          <a:lstStyle/>
          <a:p>
            <a:pPr marL="0" indent="0" algn="l">
              <a:buNone/>
            </a:pPr>
            <a:r>
              <a:rPr lang="en-US" sz="1300" b="1" dirty="0">
                <a:solidFill>
                  <a:srgbClr val="1A2540"/>
                </a:solidFill>
                <a:latin typeface="Courier New" pitchFamily="34" charset="0"/>
                <a:ea typeface="Courier New" pitchFamily="34" charset="-122"/>
                <a:cs typeface="Courier New" pitchFamily="34" charset="-120"/>
              </a:rPr>
              <a:t>type="password"</a:t>
            </a:r>
            <a:endParaRPr lang="en-US" sz="1300" dirty="0"/>
          </a:p>
        </p:txBody>
      </p:sp>
      <p:sp>
        <p:nvSpPr>
          <p:cNvPr id="16" name="Text 14"/>
          <p:cNvSpPr txBox="1"/>
          <p:nvPr/>
        </p:nvSpPr>
        <p:spPr>
          <a:xfrm>
            <a:off x="6309360" y="1426464"/>
            <a:ext cx="2560320" cy="274320"/>
          </a:xfrm>
          <a:prstGeom prst="rect">
            <a:avLst/>
          </a:prstGeom>
          <a:noFill/>
          <a:ln/>
        </p:spPr>
        <p:txBody>
          <a:bodyPr wrap="square" lIns="0" tIns="0" rIns="0" bIns="0" rtlCol="0" anchor="ctr"/>
          <a:lstStyle/>
          <a:p>
            <a:pPr marL="0" indent="0" algn="l">
              <a:buNone/>
            </a:pPr>
            <a:r>
              <a:rPr lang="en-US" sz="1100" dirty="0">
                <a:solidFill>
                  <a:srgbClr val="1A2540"/>
                </a:solidFill>
                <a:latin typeface="Calibri" pitchFamily="34" charset="0"/>
                <a:ea typeface="Calibri" pitchFamily="34" charset="-122"/>
                <a:cs typeface="Calibri" pitchFamily="34" charset="-120"/>
              </a:rPr>
              <a:t>Masks characters</a:t>
            </a:r>
            <a:endParaRPr lang="en-US" sz="1100" dirty="0"/>
          </a:p>
        </p:txBody>
      </p:sp>
      <p:sp>
        <p:nvSpPr>
          <p:cNvPr id="17" name="Text 15"/>
          <p:cNvSpPr txBox="1"/>
          <p:nvPr/>
        </p:nvSpPr>
        <p:spPr>
          <a:xfrm>
            <a:off x="6309360" y="1700784"/>
            <a:ext cx="2560320" cy="256032"/>
          </a:xfrm>
          <a:prstGeom prst="rect">
            <a:avLst/>
          </a:prstGeom>
          <a:noFill/>
          <a:ln/>
        </p:spPr>
        <p:txBody>
          <a:bodyPr wrap="square" lIns="0" tIns="0" rIns="0" bIns="0" rtlCol="0" anchor="ctr"/>
          <a:lstStyle/>
          <a:p>
            <a:pPr marL="0" indent="0" algn="l">
              <a:buNone/>
            </a:pPr>
            <a:r>
              <a:rPr lang="en-US" sz="1000" dirty="0">
                <a:solidFill>
                  <a:srgbClr val="8892B0"/>
                </a:solidFill>
                <a:latin typeface="Calibri" pitchFamily="34" charset="0"/>
                <a:ea typeface="Calibri" pitchFamily="34" charset="-122"/>
                <a:cs typeface="Calibri" pitchFamily="34" charset="-120"/>
              </a:rPr>
              <a:t>e.g. ••••••••</a:t>
            </a:r>
            <a:endParaRPr lang="en-US" sz="1000" dirty="0"/>
          </a:p>
        </p:txBody>
      </p:sp>
      <p:sp>
        <p:nvSpPr>
          <p:cNvPr id="18" name="Shape 16"/>
          <p:cNvSpPr/>
          <p:nvPr/>
        </p:nvSpPr>
        <p:spPr>
          <a:xfrm>
            <a:off x="365760" y="2304288"/>
            <a:ext cx="2743200" cy="1170432"/>
          </a:xfrm>
          <a:prstGeom prst="rect">
            <a:avLst/>
          </a:prstGeom>
          <a:solidFill>
            <a:srgbClr val="E8EDFF"/>
          </a:solidFill>
          <a:ln w="12700">
            <a:solidFill>
              <a:srgbClr val="CBD5FF"/>
            </a:solidFill>
            <a:prstDash val="solid"/>
          </a:ln>
        </p:spPr>
      </p:sp>
      <p:sp>
        <p:nvSpPr>
          <p:cNvPr id="19" name="Text 17"/>
          <p:cNvSpPr txBox="1"/>
          <p:nvPr/>
        </p:nvSpPr>
        <p:spPr>
          <a:xfrm>
            <a:off x="457200" y="2377440"/>
            <a:ext cx="2560320" cy="347472"/>
          </a:xfrm>
          <a:prstGeom prst="rect">
            <a:avLst/>
          </a:prstGeom>
          <a:noFill/>
          <a:ln/>
        </p:spPr>
        <p:txBody>
          <a:bodyPr wrap="square" lIns="0" tIns="0" rIns="0" bIns="0" rtlCol="0" anchor="ctr"/>
          <a:lstStyle/>
          <a:p>
            <a:pPr marL="0" indent="0" algn="l">
              <a:buNone/>
            </a:pPr>
            <a:r>
              <a:rPr lang="en-US" sz="1300" b="1" dirty="0">
                <a:solidFill>
                  <a:srgbClr val="1A2540"/>
                </a:solidFill>
                <a:latin typeface="Courier New" pitchFamily="34" charset="0"/>
                <a:ea typeface="Courier New" pitchFamily="34" charset="-122"/>
                <a:cs typeface="Courier New" pitchFamily="34" charset="-120"/>
              </a:rPr>
              <a:t>type="number"</a:t>
            </a:r>
            <a:endParaRPr lang="en-US" sz="1300" dirty="0"/>
          </a:p>
        </p:txBody>
      </p:sp>
      <p:sp>
        <p:nvSpPr>
          <p:cNvPr id="20" name="Text 18"/>
          <p:cNvSpPr txBox="1"/>
          <p:nvPr/>
        </p:nvSpPr>
        <p:spPr>
          <a:xfrm>
            <a:off x="457200" y="2724912"/>
            <a:ext cx="2560320" cy="274320"/>
          </a:xfrm>
          <a:prstGeom prst="rect">
            <a:avLst/>
          </a:prstGeom>
          <a:noFill/>
          <a:ln/>
        </p:spPr>
        <p:txBody>
          <a:bodyPr wrap="square" lIns="0" tIns="0" rIns="0" bIns="0" rtlCol="0" anchor="ctr"/>
          <a:lstStyle/>
          <a:p>
            <a:pPr marL="0" indent="0" algn="l">
              <a:buNone/>
            </a:pPr>
            <a:r>
              <a:rPr lang="en-US" sz="1100" dirty="0">
                <a:solidFill>
                  <a:srgbClr val="1A2540"/>
                </a:solidFill>
                <a:latin typeface="Calibri" pitchFamily="34" charset="0"/>
                <a:ea typeface="Calibri" pitchFamily="34" charset="-122"/>
                <a:cs typeface="Calibri" pitchFamily="34" charset="-120"/>
              </a:rPr>
              <a:t>Numeric spinner</a:t>
            </a:r>
            <a:endParaRPr lang="en-US" sz="1100" dirty="0"/>
          </a:p>
        </p:txBody>
      </p:sp>
      <p:sp>
        <p:nvSpPr>
          <p:cNvPr id="21" name="Text 19"/>
          <p:cNvSpPr txBox="1"/>
          <p:nvPr/>
        </p:nvSpPr>
        <p:spPr>
          <a:xfrm>
            <a:off x="457200" y="2999232"/>
            <a:ext cx="2560320" cy="256032"/>
          </a:xfrm>
          <a:prstGeom prst="rect">
            <a:avLst/>
          </a:prstGeom>
          <a:noFill/>
          <a:ln/>
        </p:spPr>
        <p:txBody>
          <a:bodyPr wrap="square" lIns="0" tIns="0" rIns="0" bIns="0" rtlCol="0" anchor="ctr"/>
          <a:lstStyle/>
          <a:p>
            <a:pPr marL="0" indent="0" algn="l">
              <a:buNone/>
            </a:pPr>
            <a:r>
              <a:rPr lang="en-US" sz="1000" dirty="0">
                <a:solidFill>
                  <a:srgbClr val="8892B0"/>
                </a:solidFill>
                <a:latin typeface="Calibri" pitchFamily="34" charset="0"/>
                <a:ea typeface="Calibri" pitchFamily="34" charset="-122"/>
                <a:cs typeface="Calibri" pitchFamily="34" charset="-120"/>
              </a:rPr>
              <a:t>e.g. age: 1–120</a:t>
            </a:r>
            <a:endParaRPr lang="en-US" sz="1000" dirty="0"/>
          </a:p>
        </p:txBody>
      </p:sp>
      <p:sp>
        <p:nvSpPr>
          <p:cNvPr id="22" name="Shape 20"/>
          <p:cNvSpPr/>
          <p:nvPr/>
        </p:nvSpPr>
        <p:spPr>
          <a:xfrm>
            <a:off x="3291840" y="2304288"/>
            <a:ext cx="2743200" cy="1170432"/>
          </a:xfrm>
          <a:prstGeom prst="rect">
            <a:avLst/>
          </a:prstGeom>
          <a:solidFill>
            <a:srgbClr val="E8EDFF"/>
          </a:solidFill>
          <a:ln w="12700">
            <a:solidFill>
              <a:srgbClr val="CBD5FF"/>
            </a:solidFill>
            <a:prstDash val="solid"/>
          </a:ln>
        </p:spPr>
      </p:sp>
      <p:sp>
        <p:nvSpPr>
          <p:cNvPr id="23" name="Text 21"/>
          <p:cNvSpPr txBox="1"/>
          <p:nvPr/>
        </p:nvSpPr>
        <p:spPr>
          <a:xfrm>
            <a:off x="3383280" y="2377440"/>
            <a:ext cx="2560320" cy="347472"/>
          </a:xfrm>
          <a:prstGeom prst="rect">
            <a:avLst/>
          </a:prstGeom>
          <a:noFill/>
          <a:ln/>
        </p:spPr>
        <p:txBody>
          <a:bodyPr wrap="square" lIns="0" tIns="0" rIns="0" bIns="0" rtlCol="0" anchor="ctr"/>
          <a:lstStyle/>
          <a:p>
            <a:pPr marL="0" indent="0" algn="l">
              <a:buNone/>
            </a:pPr>
            <a:r>
              <a:rPr lang="en-US" sz="1300" b="1" dirty="0">
                <a:solidFill>
                  <a:srgbClr val="1A2540"/>
                </a:solidFill>
                <a:latin typeface="Courier New" pitchFamily="34" charset="0"/>
                <a:ea typeface="Courier New" pitchFamily="34" charset="-122"/>
                <a:cs typeface="Courier New" pitchFamily="34" charset="-120"/>
              </a:rPr>
              <a:t>type="date"</a:t>
            </a:r>
            <a:endParaRPr lang="en-US" sz="1300" dirty="0"/>
          </a:p>
        </p:txBody>
      </p:sp>
      <p:sp>
        <p:nvSpPr>
          <p:cNvPr id="24" name="Text 22"/>
          <p:cNvSpPr txBox="1"/>
          <p:nvPr/>
        </p:nvSpPr>
        <p:spPr>
          <a:xfrm>
            <a:off x="3383280" y="2724912"/>
            <a:ext cx="2560320" cy="274320"/>
          </a:xfrm>
          <a:prstGeom prst="rect">
            <a:avLst/>
          </a:prstGeom>
          <a:noFill/>
          <a:ln/>
        </p:spPr>
        <p:txBody>
          <a:bodyPr wrap="square" lIns="0" tIns="0" rIns="0" bIns="0" rtlCol="0" anchor="ctr"/>
          <a:lstStyle/>
          <a:p>
            <a:pPr marL="0" indent="0" algn="l">
              <a:buNone/>
            </a:pPr>
            <a:r>
              <a:rPr lang="en-US" sz="1100" dirty="0">
                <a:solidFill>
                  <a:srgbClr val="1A2540"/>
                </a:solidFill>
                <a:latin typeface="Calibri" pitchFamily="34" charset="0"/>
                <a:ea typeface="Calibri" pitchFamily="34" charset="-122"/>
                <a:cs typeface="Calibri" pitchFamily="34" charset="-120"/>
              </a:rPr>
              <a:t>Date picker UI</a:t>
            </a:r>
            <a:endParaRPr lang="en-US" sz="1100" dirty="0"/>
          </a:p>
        </p:txBody>
      </p:sp>
      <p:sp>
        <p:nvSpPr>
          <p:cNvPr id="25" name="Text 23"/>
          <p:cNvSpPr txBox="1"/>
          <p:nvPr/>
        </p:nvSpPr>
        <p:spPr>
          <a:xfrm>
            <a:off x="3383280" y="2999232"/>
            <a:ext cx="2560320" cy="256032"/>
          </a:xfrm>
          <a:prstGeom prst="rect">
            <a:avLst/>
          </a:prstGeom>
          <a:noFill/>
          <a:ln/>
        </p:spPr>
        <p:txBody>
          <a:bodyPr wrap="square" lIns="0" tIns="0" rIns="0" bIns="0" rtlCol="0" anchor="ctr"/>
          <a:lstStyle/>
          <a:p>
            <a:pPr marL="0" indent="0" algn="l">
              <a:buNone/>
            </a:pPr>
            <a:r>
              <a:rPr lang="en-US" sz="1000" dirty="0">
                <a:solidFill>
                  <a:srgbClr val="8892B0"/>
                </a:solidFill>
                <a:latin typeface="Calibri" pitchFamily="34" charset="0"/>
                <a:ea typeface="Calibri" pitchFamily="34" charset="-122"/>
                <a:cs typeface="Calibri" pitchFamily="34" charset="-120"/>
              </a:rPr>
              <a:t>e.g. 2026-03-15</a:t>
            </a:r>
            <a:endParaRPr lang="en-US" sz="1000" dirty="0"/>
          </a:p>
        </p:txBody>
      </p:sp>
      <p:sp>
        <p:nvSpPr>
          <p:cNvPr id="26" name="Shape 24"/>
          <p:cNvSpPr/>
          <p:nvPr/>
        </p:nvSpPr>
        <p:spPr>
          <a:xfrm>
            <a:off x="6217920" y="2304288"/>
            <a:ext cx="2743200" cy="1170432"/>
          </a:xfrm>
          <a:prstGeom prst="rect">
            <a:avLst/>
          </a:prstGeom>
          <a:solidFill>
            <a:srgbClr val="E8EDFF"/>
          </a:solidFill>
          <a:ln w="12700">
            <a:solidFill>
              <a:srgbClr val="CBD5FF"/>
            </a:solidFill>
            <a:prstDash val="solid"/>
          </a:ln>
        </p:spPr>
      </p:sp>
      <p:sp>
        <p:nvSpPr>
          <p:cNvPr id="27" name="Text 25"/>
          <p:cNvSpPr txBox="1"/>
          <p:nvPr/>
        </p:nvSpPr>
        <p:spPr>
          <a:xfrm>
            <a:off x="6309360" y="2377440"/>
            <a:ext cx="2560320" cy="347472"/>
          </a:xfrm>
          <a:prstGeom prst="rect">
            <a:avLst/>
          </a:prstGeom>
          <a:noFill/>
          <a:ln/>
        </p:spPr>
        <p:txBody>
          <a:bodyPr wrap="square" lIns="0" tIns="0" rIns="0" bIns="0" rtlCol="0" anchor="ctr"/>
          <a:lstStyle/>
          <a:p>
            <a:pPr marL="0" indent="0" algn="l">
              <a:buNone/>
            </a:pPr>
            <a:r>
              <a:rPr lang="en-US" sz="1300" b="1" dirty="0">
                <a:solidFill>
                  <a:srgbClr val="1A2540"/>
                </a:solidFill>
                <a:latin typeface="Courier New" pitchFamily="34" charset="0"/>
                <a:ea typeface="Courier New" pitchFamily="34" charset="-122"/>
                <a:cs typeface="Courier New" pitchFamily="34" charset="-120"/>
              </a:rPr>
              <a:t>type="range"</a:t>
            </a:r>
            <a:endParaRPr lang="en-US" sz="1300" dirty="0"/>
          </a:p>
        </p:txBody>
      </p:sp>
      <p:sp>
        <p:nvSpPr>
          <p:cNvPr id="28" name="Text 26"/>
          <p:cNvSpPr txBox="1"/>
          <p:nvPr/>
        </p:nvSpPr>
        <p:spPr>
          <a:xfrm>
            <a:off x="6309360" y="2724912"/>
            <a:ext cx="2560320" cy="274320"/>
          </a:xfrm>
          <a:prstGeom prst="rect">
            <a:avLst/>
          </a:prstGeom>
          <a:noFill/>
          <a:ln/>
        </p:spPr>
        <p:txBody>
          <a:bodyPr wrap="square" lIns="0" tIns="0" rIns="0" bIns="0" rtlCol="0" anchor="ctr"/>
          <a:lstStyle/>
          <a:p>
            <a:pPr marL="0" indent="0" algn="l">
              <a:buNone/>
            </a:pPr>
            <a:r>
              <a:rPr lang="en-US" sz="1100" dirty="0">
                <a:solidFill>
                  <a:srgbClr val="1A2540"/>
                </a:solidFill>
                <a:latin typeface="Calibri" pitchFamily="34" charset="0"/>
                <a:ea typeface="Calibri" pitchFamily="34" charset="-122"/>
                <a:cs typeface="Calibri" pitchFamily="34" charset="-120"/>
              </a:rPr>
              <a:t>Slider control</a:t>
            </a:r>
            <a:endParaRPr lang="en-US" sz="1100" dirty="0"/>
          </a:p>
        </p:txBody>
      </p:sp>
      <p:sp>
        <p:nvSpPr>
          <p:cNvPr id="29" name="Text 27"/>
          <p:cNvSpPr txBox="1"/>
          <p:nvPr/>
        </p:nvSpPr>
        <p:spPr>
          <a:xfrm>
            <a:off x="6309360" y="2999232"/>
            <a:ext cx="2560320" cy="256032"/>
          </a:xfrm>
          <a:prstGeom prst="rect">
            <a:avLst/>
          </a:prstGeom>
          <a:noFill/>
          <a:ln/>
        </p:spPr>
        <p:txBody>
          <a:bodyPr wrap="square" lIns="0" tIns="0" rIns="0" bIns="0" rtlCol="0" anchor="ctr"/>
          <a:lstStyle/>
          <a:p>
            <a:pPr marL="0" indent="0" algn="l">
              <a:buNone/>
            </a:pPr>
            <a:r>
              <a:rPr lang="en-US" sz="1000" dirty="0">
                <a:solidFill>
                  <a:srgbClr val="8892B0"/>
                </a:solidFill>
                <a:latin typeface="Calibri" pitchFamily="34" charset="0"/>
                <a:ea typeface="Calibri" pitchFamily="34" charset="-122"/>
                <a:cs typeface="Calibri" pitchFamily="34" charset="-120"/>
              </a:rPr>
              <a:t>e.g. volume 0–100</a:t>
            </a:r>
            <a:endParaRPr lang="en-US" sz="1000" dirty="0"/>
          </a:p>
        </p:txBody>
      </p:sp>
      <p:sp>
        <p:nvSpPr>
          <p:cNvPr id="30" name="Shape 28"/>
          <p:cNvSpPr/>
          <p:nvPr/>
        </p:nvSpPr>
        <p:spPr>
          <a:xfrm>
            <a:off x="365760" y="3602736"/>
            <a:ext cx="2743200" cy="1170432"/>
          </a:xfrm>
          <a:prstGeom prst="rect">
            <a:avLst/>
          </a:prstGeom>
          <a:solidFill>
            <a:srgbClr val="E8EDFF"/>
          </a:solidFill>
          <a:ln w="12700">
            <a:solidFill>
              <a:srgbClr val="CBD5FF"/>
            </a:solidFill>
            <a:prstDash val="solid"/>
          </a:ln>
        </p:spPr>
      </p:sp>
      <p:sp>
        <p:nvSpPr>
          <p:cNvPr id="31" name="Text 29"/>
          <p:cNvSpPr txBox="1"/>
          <p:nvPr/>
        </p:nvSpPr>
        <p:spPr>
          <a:xfrm>
            <a:off x="457200" y="3675888"/>
            <a:ext cx="2560320" cy="347472"/>
          </a:xfrm>
          <a:prstGeom prst="rect">
            <a:avLst/>
          </a:prstGeom>
          <a:noFill/>
          <a:ln/>
        </p:spPr>
        <p:txBody>
          <a:bodyPr wrap="square" lIns="0" tIns="0" rIns="0" bIns="0" rtlCol="0" anchor="ctr"/>
          <a:lstStyle/>
          <a:p>
            <a:pPr marL="0" indent="0" algn="l">
              <a:buNone/>
            </a:pPr>
            <a:r>
              <a:rPr lang="en-US" sz="1300" b="1" dirty="0">
                <a:solidFill>
                  <a:srgbClr val="1A2540"/>
                </a:solidFill>
                <a:latin typeface="Courier New" pitchFamily="34" charset="0"/>
                <a:ea typeface="Courier New" pitchFamily="34" charset="-122"/>
                <a:cs typeface="Courier New" pitchFamily="34" charset="-120"/>
              </a:rPr>
              <a:t>type="checkbox"</a:t>
            </a:r>
            <a:endParaRPr lang="en-US" sz="1300" dirty="0"/>
          </a:p>
        </p:txBody>
      </p:sp>
      <p:sp>
        <p:nvSpPr>
          <p:cNvPr id="32" name="Text 30"/>
          <p:cNvSpPr txBox="1"/>
          <p:nvPr/>
        </p:nvSpPr>
        <p:spPr>
          <a:xfrm>
            <a:off x="457200" y="4023360"/>
            <a:ext cx="2560320" cy="274320"/>
          </a:xfrm>
          <a:prstGeom prst="rect">
            <a:avLst/>
          </a:prstGeom>
          <a:noFill/>
          <a:ln/>
        </p:spPr>
        <p:txBody>
          <a:bodyPr wrap="square" lIns="0" tIns="0" rIns="0" bIns="0" rtlCol="0" anchor="ctr"/>
          <a:lstStyle/>
          <a:p>
            <a:pPr marL="0" indent="0" algn="l">
              <a:buNone/>
            </a:pPr>
            <a:r>
              <a:rPr lang="en-US" sz="1100" dirty="0">
                <a:solidFill>
                  <a:srgbClr val="1A2540"/>
                </a:solidFill>
                <a:latin typeface="Calibri" pitchFamily="34" charset="0"/>
                <a:ea typeface="Calibri" pitchFamily="34" charset="-122"/>
                <a:cs typeface="Calibri" pitchFamily="34" charset="-120"/>
              </a:rPr>
              <a:t>Multi-select (boolean)</a:t>
            </a:r>
            <a:endParaRPr lang="en-US" sz="1100" dirty="0"/>
          </a:p>
        </p:txBody>
      </p:sp>
      <p:sp>
        <p:nvSpPr>
          <p:cNvPr id="33" name="Text 31"/>
          <p:cNvSpPr txBox="1"/>
          <p:nvPr/>
        </p:nvSpPr>
        <p:spPr>
          <a:xfrm>
            <a:off x="457200" y="4297680"/>
            <a:ext cx="2560320" cy="256032"/>
          </a:xfrm>
          <a:prstGeom prst="rect">
            <a:avLst/>
          </a:prstGeom>
          <a:noFill/>
          <a:ln/>
        </p:spPr>
        <p:txBody>
          <a:bodyPr wrap="square" lIns="0" tIns="0" rIns="0" bIns="0" rtlCol="0" anchor="ctr"/>
          <a:lstStyle/>
          <a:p>
            <a:pPr marL="0" indent="0" algn="l">
              <a:buNone/>
            </a:pPr>
            <a:r>
              <a:rPr lang="en-US" sz="1000" dirty="0">
                <a:solidFill>
                  <a:srgbClr val="8892B0"/>
                </a:solidFill>
                <a:latin typeface="Calibri" pitchFamily="34" charset="0"/>
                <a:ea typeface="Calibri" pitchFamily="34" charset="-122"/>
                <a:cs typeface="Calibri" pitchFamily="34" charset="-120"/>
              </a:rPr>
              <a:t>e.g. interests</a:t>
            </a:r>
            <a:endParaRPr lang="en-US" sz="1000" dirty="0"/>
          </a:p>
        </p:txBody>
      </p:sp>
      <p:sp>
        <p:nvSpPr>
          <p:cNvPr id="34" name="Shape 32"/>
          <p:cNvSpPr/>
          <p:nvPr/>
        </p:nvSpPr>
        <p:spPr>
          <a:xfrm>
            <a:off x="3291840" y="3602736"/>
            <a:ext cx="2743200" cy="1170432"/>
          </a:xfrm>
          <a:prstGeom prst="rect">
            <a:avLst/>
          </a:prstGeom>
          <a:solidFill>
            <a:srgbClr val="E8EDFF"/>
          </a:solidFill>
          <a:ln w="12700">
            <a:solidFill>
              <a:srgbClr val="CBD5FF"/>
            </a:solidFill>
            <a:prstDash val="solid"/>
          </a:ln>
        </p:spPr>
      </p:sp>
      <p:sp>
        <p:nvSpPr>
          <p:cNvPr id="35" name="Text 33"/>
          <p:cNvSpPr txBox="1"/>
          <p:nvPr/>
        </p:nvSpPr>
        <p:spPr>
          <a:xfrm>
            <a:off x="3383280" y="3675888"/>
            <a:ext cx="2560320" cy="347472"/>
          </a:xfrm>
          <a:prstGeom prst="rect">
            <a:avLst/>
          </a:prstGeom>
          <a:noFill/>
          <a:ln/>
        </p:spPr>
        <p:txBody>
          <a:bodyPr wrap="square" lIns="0" tIns="0" rIns="0" bIns="0" rtlCol="0" anchor="ctr"/>
          <a:lstStyle/>
          <a:p>
            <a:pPr marL="0" indent="0" algn="l">
              <a:buNone/>
            </a:pPr>
            <a:r>
              <a:rPr lang="en-US" sz="1300" b="1" dirty="0">
                <a:solidFill>
                  <a:srgbClr val="1A2540"/>
                </a:solidFill>
                <a:latin typeface="Courier New" pitchFamily="34" charset="0"/>
                <a:ea typeface="Courier New" pitchFamily="34" charset="-122"/>
                <a:cs typeface="Courier New" pitchFamily="34" charset="-120"/>
              </a:rPr>
              <a:t>type="radio"</a:t>
            </a:r>
            <a:endParaRPr lang="en-US" sz="1300" dirty="0"/>
          </a:p>
        </p:txBody>
      </p:sp>
      <p:sp>
        <p:nvSpPr>
          <p:cNvPr id="36" name="Text 34"/>
          <p:cNvSpPr txBox="1"/>
          <p:nvPr/>
        </p:nvSpPr>
        <p:spPr>
          <a:xfrm>
            <a:off x="3383280" y="4023360"/>
            <a:ext cx="2560320" cy="274320"/>
          </a:xfrm>
          <a:prstGeom prst="rect">
            <a:avLst/>
          </a:prstGeom>
          <a:noFill/>
          <a:ln/>
        </p:spPr>
        <p:txBody>
          <a:bodyPr wrap="square" lIns="0" tIns="0" rIns="0" bIns="0" rtlCol="0" anchor="ctr"/>
          <a:lstStyle/>
          <a:p>
            <a:pPr marL="0" indent="0" algn="l">
              <a:buNone/>
            </a:pPr>
            <a:r>
              <a:rPr lang="en-US" sz="1100" dirty="0">
                <a:solidFill>
                  <a:srgbClr val="1A2540"/>
                </a:solidFill>
                <a:latin typeface="Calibri" pitchFamily="34" charset="0"/>
                <a:ea typeface="Calibri" pitchFamily="34" charset="-122"/>
                <a:cs typeface="Calibri" pitchFamily="34" charset="-120"/>
              </a:rPr>
              <a:t>Single-select group</a:t>
            </a:r>
            <a:endParaRPr lang="en-US" sz="1100" dirty="0"/>
          </a:p>
        </p:txBody>
      </p:sp>
      <p:sp>
        <p:nvSpPr>
          <p:cNvPr id="37" name="Text 35"/>
          <p:cNvSpPr txBox="1"/>
          <p:nvPr/>
        </p:nvSpPr>
        <p:spPr>
          <a:xfrm>
            <a:off x="3383280" y="4297680"/>
            <a:ext cx="2560320" cy="256032"/>
          </a:xfrm>
          <a:prstGeom prst="rect">
            <a:avLst/>
          </a:prstGeom>
          <a:noFill/>
          <a:ln/>
        </p:spPr>
        <p:txBody>
          <a:bodyPr wrap="square" lIns="0" tIns="0" rIns="0" bIns="0" rtlCol="0" anchor="ctr"/>
          <a:lstStyle/>
          <a:p>
            <a:pPr marL="0" indent="0" algn="l">
              <a:buNone/>
            </a:pPr>
            <a:r>
              <a:rPr lang="en-US" sz="1000" dirty="0">
                <a:solidFill>
                  <a:srgbClr val="8892B0"/>
                </a:solidFill>
                <a:latin typeface="Calibri" pitchFamily="34" charset="0"/>
                <a:ea typeface="Calibri" pitchFamily="34" charset="-122"/>
                <a:cs typeface="Calibri" pitchFamily="34" charset="-120"/>
              </a:rPr>
              <a:t>e.g. gender</a:t>
            </a:r>
            <a:endParaRPr lang="en-US" sz="1000" dirty="0"/>
          </a:p>
        </p:txBody>
      </p:sp>
      <p:sp>
        <p:nvSpPr>
          <p:cNvPr id="38" name="Shape 36"/>
          <p:cNvSpPr/>
          <p:nvPr/>
        </p:nvSpPr>
        <p:spPr>
          <a:xfrm>
            <a:off x="6217920" y="3602736"/>
            <a:ext cx="2743200" cy="1170432"/>
          </a:xfrm>
          <a:prstGeom prst="rect">
            <a:avLst/>
          </a:prstGeom>
          <a:solidFill>
            <a:srgbClr val="E8EDFF"/>
          </a:solidFill>
          <a:ln w="12700">
            <a:solidFill>
              <a:srgbClr val="CBD5FF"/>
            </a:solidFill>
            <a:prstDash val="solid"/>
          </a:ln>
        </p:spPr>
      </p:sp>
      <p:sp>
        <p:nvSpPr>
          <p:cNvPr id="39" name="Text 37"/>
          <p:cNvSpPr txBox="1"/>
          <p:nvPr/>
        </p:nvSpPr>
        <p:spPr>
          <a:xfrm>
            <a:off x="6309360" y="3675888"/>
            <a:ext cx="2560320" cy="347472"/>
          </a:xfrm>
          <a:prstGeom prst="rect">
            <a:avLst/>
          </a:prstGeom>
          <a:noFill/>
          <a:ln/>
        </p:spPr>
        <p:txBody>
          <a:bodyPr wrap="square" lIns="0" tIns="0" rIns="0" bIns="0" rtlCol="0" anchor="ctr"/>
          <a:lstStyle/>
          <a:p>
            <a:pPr marL="0" indent="0" algn="l">
              <a:buNone/>
            </a:pPr>
            <a:r>
              <a:rPr lang="en-US" sz="1300" b="1" dirty="0">
                <a:solidFill>
                  <a:srgbClr val="1A2540"/>
                </a:solidFill>
                <a:latin typeface="Courier New" pitchFamily="34" charset="0"/>
                <a:ea typeface="Courier New" pitchFamily="34" charset="-122"/>
                <a:cs typeface="Courier New" pitchFamily="34" charset="-120"/>
              </a:rPr>
              <a:t>type="select"</a:t>
            </a:r>
            <a:endParaRPr lang="en-US" sz="1300" dirty="0"/>
          </a:p>
        </p:txBody>
      </p:sp>
      <p:sp>
        <p:nvSpPr>
          <p:cNvPr id="40" name="Text 38"/>
          <p:cNvSpPr txBox="1"/>
          <p:nvPr/>
        </p:nvSpPr>
        <p:spPr>
          <a:xfrm>
            <a:off x="6309360" y="4023360"/>
            <a:ext cx="2560320" cy="274320"/>
          </a:xfrm>
          <a:prstGeom prst="rect">
            <a:avLst/>
          </a:prstGeom>
          <a:noFill/>
          <a:ln/>
        </p:spPr>
        <p:txBody>
          <a:bodyPr wrap="square" lIns="0" tIns="0" rIns="0" bIns="0" rtlCol="0" anchor="ctr"/>
          <a:lstStyle/>
          <a:p>
            <a:pPr marL="0" indent="0" algn="l">
              <a:buNone/>
            </a:pPr>
            <a:r>
              <a:rPr lang="en-US" sz="1100" dirty="0">
                <a:solidFill>
                  <a:srgbClr val="1A2540"/>
                </a:solidFill>
                <a:latin typeface="Calibri" pitchFamily="34" charset="0"/>
                <a:ea typeface="Calibri" pitchFamily="34" charset="-122"/>
                <a:cs typeface="Calibri" pitchFamily="34" charset="-120"/>
              </a:rPr>
              <a:t>Dropdown list (&lt;select&gt;)</a:t>
            </a:r>
            <a:endParaRPr lang="en-US" sz="1100" dirty="0"/>
          </a:p>
        </p:txBody>
      </p:sp>
      <p:sp>
        <p:nvSpPr>
          <p:cNvPr id="41" name="Text 39"/>
          <p:cNvSpPr txBox="1"/>
          <p:nvPr/>
        </p:nvSpPr>
        <p:spPr>
          <a:xfrm>
            <a:off x="6309360" y="4297680"/>
            <a:ext cx="2560320" cy="256032"/>
          </a:xfrm>
          <a:prstGeom prst="rect">
            <a:avLst/>
          </a:prstGeom>
          <a:noFill/>
          <a:ln/>
        </p:spPr>
        <p:txBody>
          <a:bodyPr wrap="square" lIns="0" tIns="0" rIns="0" bIns="0" rtlCol="0" anchor="ctr"/>
          <a:lstStyle/>
          <a:p>
            <a:pPr marL="0" indent="0" algn="l">
              <a:buNone/>
            </a:pPr>
            <a:r>
              <a:rPr lang="en-US" sz="1000" dirty="0">
                <a:solidFill>
                  <a:srgbClr val="8892B0"/>
                </a:solidFill>
                <a:latin typeface="Calibri" pitchFamily="34" charset="0"/>
                <a:ea typeface="Calibri" pitchFamily="34" charset="-122"/>
                <a:cs typeface="Calibri" pitchFamily="34" charset="-120"/>
              </a:rPr>
              <a:t>e.g. country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3200400" cy="5143500"/>
          </a:xfrm>
          <a:prstGeom prst="rect">
            <a:avLst/>
          </a:prstGeom>
          <a:solidFill>
            <a:srgbClr val="1A2540"/>
          </a:solidFill>
          <a:ln w="12700">
            <a:solidFill>
              <a:srgbClr val="1A2540"/>
            </a:solidFill>
            <a:prstDash val="solid"/>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marL="0" indent="0" algn="l">
              <a:buNone/>
            </a:pPr>
            <a:r>
              <a:rPr lang="en-US" sz="2000" b="1" dirty="0">
                <a:solidFill>
                  <a:srgbClr val="FFFFFF"/>
                </a:solidFill>
                <a:latin typeface="Calibri" pitchFamily="34" charset="0"/>
                <a:ea typeface="Calibri" pitchFamily="34" charset="-122"/>
                <a:cs typeface="Calibri" pitchFamily="34" charset="-120"/>
              </a:rPr>
              <a:t>HTML5 Validation</a:t>
            </a:r>
            <a:endParaRPr lang="en-US" sz="2000" dirty="0"/>
          </a:p>
          <a:p>
            <a:pPr marL="0" indent="0" algn="l">
              <a:buNone/>
            </a:pPr>
            <a:r>
              <a:rPr lang="en-US" sz="2000" b="1" dirty="0">
                <a:solidFill>
                  <a:srgbClr val="FFFFFF"/>
                </a:solidFill>
                <a:latin typeface="Calibri" pitchFamily="34" charset="0"/>
                <a:ea typeface="Calibri" pitchFamily="34" charset="-122"/>
                <a:cs typeface="Calibri" pitchFamily="34" charset="-120"/>
              </a:rPr>
              <a:t>Attributes</a:t>
            </a:r>
            <a:endParaRPr lang="en-US" sz="2000" dirty="0"/>
          </a:p>
        </p:txBody>
      </p:sp>
      <p:sp>
        <p:nvSpPr>
          <p:cNvPr id="5" name="Shape 3"/>
          <p:cNvSpPr/>
          <p:nvPr/>
        </p:nvSpPr>
        <p:spPr>
          <a:xfrm>
            <a:off x="182880" y="1188720"/>
            <a:ext cx="2560320" cy="45720"/>
          </a:xfrm>
          <a:prstGeom prst="rect">
            <a:avLst/>
          </a:prstGeom>
          <a:solidFill>
            <a:srgbClr val="F7DF1E"/>
          </a:solidFill>
          <a:ln w="12700">
            <a:solidFill>
              <a:srgbClr val="F7DF1E"/>
            </a:solidFill>
            <a:prstDash val="solid"/>
          </a:ln>
        </p:spPr>
      </p:sp>
      <p:sp>
        <p:nvSpPr>
          <p:cNvPr id="6" name="Text 4"/>
          <p:cNvSpPr txBox="1"/>
          <p:nvPr/>
        </p:nvSpPr>
        <p:spPr>
          <a:xfrm>
            <a:off x="182880" y="1261872"/>
            <a:ext cx="2834640" cy="365760"/>
          </a:xfrm>
          <a:prstGeom prst="rect">
            <a:avLst/>
          </a:prstGeom>
          <a:noFill/>
          <a:ln/>
        </p:spPr>
        <p:txBody>
          <a:bodyPr wrap="square" lIns="0" tIns="0" rIns="0" bIns="0" rtlCol="0" anchor="t"/>
          <a:lstStyle/>
          <a:p>
            <a:pPr marL="0" indent="0" algn="l">
              <a:buNone/>
            </a:pPr>
            <a:r>
              <a:rPr lang="en-US" sz="1100" dirty="0">
                <a:solidFill>
                  <a:srgbClr val="CDD6F4"/>
                </a:solidFill>
                <a:latin typeface="Calibri" pitchFamily="34" charset="0"/>
                <a:ea typeface="Calibri" pitchFamily="34" charset="-122"/>
                <a:cs typeface="Calibri" pitchFamily="34" charset="-120"/>
              </a:rPr>
              <a:t>No JS required!</a:t>
            </a:r>
            <a:endParaRPr lang="en-US" sz="1100" dirty="0"/>
          </a:p>
        </p:txBody>
      </p:sp>
      <p:sp>
        <p:nvSpPr>
          <p:cNvPr id="7" name="Text 5"/>
          <p:cNvSpPr txBox="1"/>
          <p:nvPr/>
        </p:nvSpPr>
        <p:spPr>
          <a:xfrm>
            <a:off x="182880" y="1359745"/>
            <a:ext cx="2834640" cy="274320"/>
          </a:xfrm>
          <a:prstGeom prst="rect">
            <a:avLst/>
          </a:prstGeom>
          <a:noFill/>
          <a:ln/>
        </p:spPr>
        <p:txBody>
          <a:bodyPr wrap="square" lIns="0" tIns="0" rIns="0" bIns="0" rtlCol="0" anchor="t"/>
          <a:lstStyle/>
          <a:p>
            <a:pPr marL="0" indent="0" algn="l">
              <a:buNone/>
            </a:pPr>
            <a:r>
              <a:rPr lang="en-US" sz="1200" b="1" dirty="0">
                <a:solidFill>
                  <a:srgbClr val="F7DF1E"/>
                </a:solidFill>
                <a:latin typeface="Courier New" pitchFamily="34" charset="0"/>
                <a:ea typeface="Courier New" pitchFamily="34" charset="-122"/>
                <a:cs typeface="Courier New" pitchFamily="34" charset="-120"/>
              </a:rPr>
              <a:t>required</a:t>
            </a:r>
            <a:endParaRPr lang="en-US" sz="1200" dirty="0"/>
          </a:p>
        </p:txBody>
      </p:sp>
      <p:sp>
        <p:nvSpPr>
          <p:cNvPr id="8" name="Text 6"/>
          <p:cNvSpPr txBox="1"/>
          <p:nvPr/>
        </p:nvSpPr>
        <p:spPr>
          <a:xfrm>
            <a:off x="182880" y="1627632"/>
            <a:ext cx="2834640" cy="256032"/>
          </a:xfrm>
          <a:prstGeom prst="rect">
            <a:avLst/>
          </a:prstGeom>
          <a:noFill/>
          <a:ln/>
        </p:spPr>
        <p:txBody>
          <a:bodyPr wrap="square" lIns="0" tIns="0" rIns="0" bIns="0" rtlCol="0" anchor="t"/>
          <a:lstStyle/>
          <a:p>
            <a:pPr marL="0" indent="0" algn="l">
              <a:buNone/>
            </a:pPr>
            <a:r>
              <a:rPr lang="en-US" sz="1000" dirty="0">
                <a:solidFill>
                  <a:srgbClr val="8892B0"/>
                </a:solidFill>
                <a:latin typeface="Calibri" pitchFamily="34" charset="0"/>
                <a:ea typeface="Calibri" pitchFamily="34" charset="-122"/>
                <a:cs typeface="Calibri" pitchFamily="34" charset="-120"/>
              </a:rPr>
              <a:t>Field cannot be empty</a:t>
            </a:r>
            <a:endParaRPr lang="en-US" sz="1000" dirty="0"/>
          </a:p>
        </p:txBody>
      </p:sp>
      <p:sp>
        <p:nvSpPr>
          <p:cNvPr id="9" name="Text 7"/>
          <p:cNvSpPr txBox="1"/>
          <p:nvPr/>
        </p:nvSpPr>
        <p:spPr>
          <a:xfrm>
            <a:off x="182880" y="1965960"/>
            <a:ext cx="2834640" cy="274320"/>
          </a:xfrm>
          <a:prstGeom prst="rect">
            <a:avLst/>
          </a:prstGeom>
          <a:noFill/>
          <a:ln/>
        </p:spPr>
        <p:txBody>
          <a:bodyPr wrap="square" lIns="0" tIns="0" rIns="0" bIns="0" rtlCol="0" anchor="t"/>
          <a:lstStyle/>
          <a:p>
            <a:pPr marL="0" indent="0" algn="l">
              <a:buNone/>
            </a:pPr>
            <a:r>
              <a:rPr lang="en-US" sz="1200" b="1" dirty="0">
                <a:solidFill>
                  <a:srgbClr val="F7DF1E"/>
                </a:solidFill>
                <a:latin typeface="Courier New" pitchFamily="34" charset="0"/>
                <a:ea typeface="Courier New" pitchFamily="34" charset="-122"/>
                <a:cs typeface="Courier New" pitchFamily="34" charset="-120"/>
              </a:rPr>
              <a:t>pattern</a:t>
            </a:r>
            <a:endParaRPr lang="en-US" sz="1200" dirty="0"/>
          </a:p>
        </p:txBody>
      </p:sp>
      <p:sp>
        <p:nvSpPr>
          <p:cNvPr id="10" name="Text 8"/>
          <p:cNvSpPr txBox="1"/>
          <p:nvPr/>
        </p:nvSpPr>
        <p:spPr>
          <a:xfrm>
            <a:off x="182880" y="2267712"/>
            <a:ext cx="2834640" cy="256032"/>
          </a:xfrm>
          <a:prstGeom prst="rect">
            <a:avLst/>
          </a:prstGeom>
          <a:noFill/>
          <a:ln/>
        </p:spPr>
        <p:txBody>
          <a:bodyPr wrap="square" lIns="0" tIns="0" rIns="0" bIns="0" rtlCol="0" anchor="t"/>
          <a:lstStyle/>
          <a:p>
            <a:pPr marL="0" indent="0" algn="l">
              <a:buNone/>
            </a:pPr>
            <a:r>
              <a:rPr lang="en-US" sz="1000" dirty="0">
                <a:solidFill>
                  <a:srgbClr val="8892B0"/>
                </a:solidFill>
                <a:latin typeface="Calibri" pitchFamily="34" charset="0"/>
                <a:ea typeface="Calibri" pitchFamily="34" charset="-122"/>
                <a:cs typeface="Calibri" pitchFamily="34" charset="-120"/>
              </a:rPr>
              <a:t>RegEx must match</a:t>
            </a:r>
            <a:endParaRPr lang="en-US" sz="1000" dirty="0"/>
          </a:p>
        </p:txBody>
      </p:sp>
      <p:sp>
        <p:nvSpPr>
          <p:cNvPr id="11" name="Text 9"/>
          <p:cNvSpPr txBox="1"/>
          <p:nvPr/>
        </p:nvSpPr>
        <p:spPr>
          <a:xfrm>
            <a:off x="182880" y="2606040"/>
            <a:ext cx="2834640" cy="274320"/>
          </a:xfrm>
          <a:prstGeom prst="rect">
            <a:avLst/>
          </a:prstGeom>
          <a:noFill/>
          <a:ln/>
        </p:spPr>
        <p:txBody>
          <a:bodyPr wrap="square" lIns="0" tIns="0" rIns="0" bIns="0" rtlCol="0" anchor="t"/>
          <a:lstStyle/>
          <a:p>
            <a:pPr marL="0" indent="0" algn="l">
              <a:buNone/>
            </a:pPr>
            <a:r>
              <a:rPr lang="en-US" sz="1200" b="1" dirty="0">
                <a:solidFill>
                  <a:srgbClr val="F7DF1E"/>
                </a:solidFill>
                <a:latin typeface="Courier New" pitchFamily="34" charset="0"/>
                <a:ea typeface="Courier New" pitchFamily="34" charset="-122"/>
                <a:cs typeface="Courier New" pitchFamily="34" charset="-120"/>
              </a:rPr>
              <a:t>min / max</a:t>
            </a:r>
            <a:endParaRPr lang="en-US" sz="1200" dirty="0"/>
          </a:p>
        </p:txBody>
      </p:sp>
      <p:sp>
        <p:nvSpPr>
          <p:cNvPr id="12" name="Text 10"/>
          <p:cNvSpPr txBox="1"/>
          <p:nvPr/>
        </p:nvSpPr>
        <p:spPr>
          <a:xfrm>
            <a:off x="182880" y="2907792"/>
            <a:ext cx="2834640" cy="256032"/>
          </a:xfrm>
          <a:prstGeom prst="rect">
            <a:avLst/>
          </a:prstGeom>
          <a:noFill/>
          <a:ln/>
        </p:spPr>
        <p:txBody>
          <a:bodyPr wrap="square" lIns="0" tIns="0" rIns="0" bIns="0" rtlCol="0" anchor="t"/>
          <a:lstStyle/>
          <a:p>
            <a:pPr marL="0" indent="0" algn="l">
              <a:buNone/>
            </a:pPr>
            <a:r>
              <a:rPr lang="en-US" sz="1000" dirty="0">
                <a:solidFill>
                  <a:srgbClr val="8892B0"/>
                </a:solidFill>
                <a:latin typeface="Calibri" pitchFamily="34" charset="0"/>
                <a:ea typeface="Calibri" pitchFamily="34" charset="-122"/>
                <a:cs typeface="Calibri" pitchFamily="34" charset="-120"/>
              </a:rPr>
              <a:t>Number or date range</a:t>
            </a:r>
            <a:endParaRPr lang="en-US" sz="1000" dirty="0"/>
          </a:p>
        </p:txBody>
      </p:sp>
      <p:sp>
        <p:nvSpPr>
          <p:cNvPr id="13" name="Text 11"/>
          <p:cNvSpPr txBox="1"/>
          <p:nvPr/>
        </p:nvSpPr>
        <p:spPr>
          <a:xfrm>
            <a:off x="182880" y="3246120"/>
            <a:ext cx="2834640" cy="274320"/>
          </a:xfrm>
          <a:prstGeom prst="rect">
            <a:avLst/>
          </a:prstGeom>
          <a:noFill/>
          <a:ln/>
        </p:spPr>
        <p:txBody>
          <a:bodyPr wrap="square" lIns="0" tIns="0" rIns="0" bIns="0" rtlCol="0" anchor="t"/>
          <a:lstStyle/>
          <a:p>
            <a:pPr marL="0" indent="0" algn="l">
              <a:buNone/>
            </a:pPr>
            <a:r>
              <a:rPr lang="en-US" sz="1200" b="1" dirty="0">
                <a:solidFill>
                  <a:srgbClr val="F7DF1E"/>
                </a:solidFill>
                <a:latin typeface="Courier New" pitchFamily="34" charset="0"/>
                <a:ea typeface="Courier New" pitchFamily="34" charset="-122"/>
                <a:cs typeface="Courier New" pitchFamily="34" charset="-120"/>
              </a:rPr>
              <a:t>maxlength</a:t>
            </a:r>
            <a:endParaRPr lang="en-US" sz="1200" dirty="0"/>
          </a:p>
        </p:txBody>
      </p:sp>
      <p:sp>
        <p:nvSpPr>
          <p:cNvPr id="14" name="Text 12"/>
          <p:cNvSpPr txBox="1"/>
          <p:nvPr/>
        </p:nvSpPr>
        <p:spPr>
          <a:xfrm>
            <a:off x="182880" y="3547872"/>
            <a:ext cx="2834640" cy="256032"/>
          </a:xfrm>
          <a:prstGeom prst="rect">
            <a:avLst/>
          </a:prstGeom>
          <a:noFill/>
          <a:ln/>
        </p:spPr>
        <p:txBody>
          <a:bodyPr wrap="square" lIns="0" tIns="0" rIns="0" bIns="0" rtlCol="0" anchor="t"/>
          <a:lstStyle/>
          <a:p>
            <a:pPr marL="0" indent="0" algn="l">
              <a:buNone/>
            </a:pPr>
            <a:r>
              <a:rPr lang="en-US" sz="1000" dirty="0">
                <a:solidFill>
                  <a:srgbClr val="8892B0"/>
                </a:solidFill>
                <a:latin typeface="Calibri" pitchFamily="34" charset="0"/>
                <a:ea typeface="Calibri" pitchFamily="34" charset="-122"/>
                <a:cs typeface="Calibri" pitchFamily="34" charset="-120"/>
              </a:rPr>
              <a:t>Cap character count</a:t>
            </a:r>
            <a:endParaRPr lang="en-US" sz="1000" dirty="0"/>
          </a:p>
        </p:txBody>
      </p:sp>
      <p:sp>
        <p:nvSpPr>
          <p:cNvPr id="15" name="Text 13"/>
          <p:cNvSpPr txBox="1"/>
          <p:nvPr/>
        </p:nvSpPr>
        <p:spPr>
          <a:xfrm>
            <a:off x="182880" y="3886200"/>
            <a:ext cx="2834640" cy="274320"/>
          </a:xfrm>
          <a:prstGeom prst="rect">
            <a:avLst/>
          </a:prstGeom>
          <a:noFill/>
          <a:ln/>
        </p:spPr>
        <p:txBody>
          <a:bodyPr wrap="square" lIns="0" tIns="0" rIns="0" bIns="0" rtlCol="0" anchor="t"/>
          <a:lstStyle/>
          <a:p>
            <a:pPr marL="0" indent="0" algn="l">
              <a:buNone/>
            </a:pPr>
            <a:r>
              <a:rPr lang="en-US" sz="1200" b="1" dirty="0">
                <a:solidFill>
                  <a:srgbClr val="F7DF1E"/>
                </a:solidFill>
                <a:latin typeface="Courier New" pitchFamily="34" charset="0"/>
                <a:ea typeface="Courier New" pitchFamily="34" charset="-122"/>
                <a:cs typeface="Courier New" pitchFamily="34" charset="-120"/>
              </a:rPr>
              <a:t>minlength</a:t>
            </a:r>
            <a:endParaRPr lang="en-US" sz="1200" dirty="0"/>
          </a:p>
        </p:txBody>
      </p:sp>
      <p:sp>
        <p:nvSpPr>
          <p:cNvPr id="16" name="Text 14"/>
          <p:cNvSpPr txBox="1"/>
          <p:nvPr/>
        </p:nvSpPr>
        <p:spPr>
          <a:xfrm>
            <a:off x="182880" y="4187952"/>
            <a:ext cx="2834640" cy="256032"/>
          </a:xfrm>
          <a:prstGeom prst="rect">
            <a:avLst/>
          </a:prstGeom>
          <a:noFill/>
          <a:ln/>
        </p:spPr>
        <p:txBody>
          <a:bodyPr wrap="square" lIns="0" tIns="0" rIns="0" bIns="0" rtlCol="0" anchor="t"/>
          <a:lstStyle/>
          <a:p>
            <a:pPr marL="0" indent="0" algn="l">
              <a:buNone/>
            </a:pPr>
            <a:r>
              <a:rPr lang="en-US" sz="1000" dirty="0">
                <a:solidFill>
                  <a:srgbClr val="8892B0"/>
                </a:solidFill>
                <a:latin typeface="Calibri" pitchFamily="34" charset="0"/>
                <a:ea typeface="Calibri" pitchFamily="34" charset="-122"/>
                <a:cs typeface="Calibri" pitchFamily="34" charset="-120"/>
              </a:rPr>
              <a:t>Minimum character count</a:t>
            </a:r>
            <a:endParaRPr lang="en-US" sz="1000" dirty="0"/>
          </a:p>
        </p:txBody>
      </p:sp>
      <p:sp>
        <p:nvSpPr>
          <p:cNvPr id="17" name="Shape 15"/>
          <p:cNvSpPr/>
          <p:nvPr/>
        </p:nvSpPr>
        <p:spPr>
          <a:xfrm>
            <a:off x="3337560" y="182880"/>
            <a:ext cx="5577840" cy="4754880"/>
          </a:xfrm>
          <a:prstGeom prst="rect">
            <a:avLst/>
          </a:prstGeom>
          <a:solidFill>
            <a:srgbClr val="1E2336"/>
          </a:solidFill>
          <a:ln w="12700">
            <a:solidFill>
              <a:srgbClr val="2D3250"/>
            </a:solidFill>
            <a:prstDash val="solid"/>
          </a:ln>
        </p:spPr>
      </p:sp>
      <p:sp>
        <p:nvSpPr>
          <p:cNvPr id="18" name="Shape 16"/>
          <p:cNvSpPr/>
          <p:nvPr/>
        </p:nvSpPr>
        <p:spPr>
          <a:xfrm>
            <a:off x="3456432" y="283464"/>
            <a:ext cx="118872" cy="118872"/>
          </a:xfrm>
          <a:prstGeom prst="ellipse">
            <a:avLst/>
          </a:prstGeom>
          <a:solidFill>
            <a:srgbClr val="FF5F56"/>
          </a:solidFill>
          <a:ln w="12700">
            <a:solidFill>
              <a:srgbClr val="FF5F56"/>
            </a:solidFill>
            <a:prstDash val="solid"/>
          </a:ln>
        </p:spPr>
      </p:sp>
      <p:sp>
        <p:nvSpPr>
          <p:cNvPr id="19" name="Shape 17"/>
          <p:cNvSpPr/>
          <p:nvPr/>
        </p:nvSpPr>
        <p:spPr>
          <a:xfrm>
            <a:off x="3657600" y="283464"/>
            <a:ext cx="118872" cy="118872"/>
          </a:xfrm>
          <a:prstGeom prst="ellipse">
            <a:avLst/>
          </a:prstGeom>
          <a:solidFill>
            <a:srgbClr val="FFBD2E"/>
          </a:solidFill>
          <a:ln w="12700">
            <a:solidFill>
              <a:srgbClr val="FFBD2E"/>
            </a:solidFill>
            <a:prstDash val="solid"/>
          </a:ln>
        </p:spPr>
      </p:sp>
      <p:sp>
        <p:nvSpPr>
          <p:cNvPr id="20" name="Shape 18"/>
          <p:cNvSpPr/>
          <p:nvPr/>
        </p:nvSpPr>
        <p:spPr>
          <a:xfrm>
            <a:off x="3858768" y="283464"/>
            <a:ext cx="118872" cy="118872"/>
          </a:xfrm>
          <a:prstGeom prst="ellipse">
            <a:avLst/>
          </a:prstGeom>
          <a:solidFill>
            <a:srgbClr val="27C93F"/>
          </a:solidFill>
          <a:ln w="12700">
            <a:solidFill>
              <a:srgbClr val="27C93F"/>
            </a:solidFill>
            <a:prstDash val="solid"/>
          </a:ln>
        </p:spPr>
      </p:sp>
      <p:sp>
        <p:nvSpPr>
          <p:cNvPr id="21" name="Text 19"/>
          <p:cNvSpPr txBox="1"/>
          <p:nvPr/>
        </p:nvSpPr>
        <p:spPr>
          <a:xfrm>
            <a:off x="3474720" y="475488"/>
            <a:ext cx="5303520" cy="4343400"/>
          </a:xfrm>
          <a:prstGeom prst="rect">
            <a:avLst/>
          </a:prstGeom>
          <a:noFill/>
          <a:ln/>
        </p:spPr>
        <p:txBody>
          <a:bodyPr wrap="square" lIns="0" tIns="0" rIns="0" bIns="0" rtlCol="0" anchor="t"/>
          <a:lstStyle/>
          <a:p>
            <a:pPr marL="0" indent="0" algn="l">
              <a:buNone/>
            </a:pPr>
            <a:r>
              <a:rPr lang="en-US" sz="1000" dirty="0">
                <a:solidFill>
                  <a:srgbClr val="64FFDA"/>
                </a:solidFill>
                <a:latin typeface="Courier New" pitchFamily="34" charset="0"/>
                <a:ea typeface="Courier New" pitchFamily="34" charset="-122"/>
                <a:cs typeface="Courier New" pitchFamily="34" charset="-120"/>
              </a:rPr>
              <a:t>&lt;!-- required: cannot submit empty --&gt;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&lt;input type="text" name="name"</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required&gt;</a:t>
            </a:r>
            <a:endParaRPr lang="en-US" sz="1000" dirty="0"/>
          </a:p>
          <a:p>
            <a:pPr marL="0" indent="0" algn="l">
              <a:buNone/>
            </a:pP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&lt;!-- pattern: 9-digit student ID --&gt;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&lt;input type="text" name="sid"</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pattern="\d{9}"</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title="9-digit student ID"</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required&gt;</a:t>
            </a:r>
            <a:endParaRPr lang="en-US" sz="1000" dirty="0"/>
          </a:p>
          <a:p>
            <a:pPr marL="0" indent="0" algn="l">
              <a:buNone/>
            </a:pP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&lt;!-- min/max: age 18-99 --&gt;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&lt;input type="number" name="age"</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min="18" max="99" required&gt;</a:t>
            </a:r>
            <a:endParaRPr lang="en-US" sz="1000" dirty="0"/>
          </a:p>
          <a:p>
            <a:pPr marL="0" indent="0" algn="l">
              <a:buNone/>
            </a:pP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&lt;!-- maxlength: bio limit --&gt;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&lt;textarea name="bio"</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maxlength="200"&gt;&lt;/textarea&gt;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3200400" cy="5143500"/>
          </a:xfrm>
          <a:prstGeom prst="rect">
            <a:avLst/>
          </a:prstGeom>
          <a:solidFill>
            <a:srgbClr val="1A2540"/>
          </a:solidFill>
          <a:ln w="12700">
            <a:solidFill>
              <a:srgbClr val="1A2540"/>
            </a:solidFill>
            <a:prstDash val="solid"/>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marL="0" indent="0" algn="l">
              <a:buNone/>
            </a:pPr>
            <a:r>
              <a:rPr lang="en-US" sz="2000" b="1" dirty="0">
                <a:solidFill>
                  <a:srgbClr val="FFFFFF"/>
                </a:solidFill>
                <a:latin typeface="Calibri" pitchFamily="34" charset="0"/>
                <a:ea typeface="Calibri" pitchFamily="34" charset="-122"/>
                <a:cs typeface="Calibri" pitchFamily="34" charset="-120"/>
              </a:rPr>
              <a:t>The &lt;label&gt;</a:t>
            </a:r>
            <a:endParaRPr lang="en-US" sz="2000" dirty="0"/>
          </a:p>
          <a:p>
            <a:pPr marL="0" indent="0" algn="l">
              <a:buNone/>
            </a:pPr>
            <a:r>
              <a:rPr lang="en-US" sz="2000" b="1" dirty="0">
                <a:solidFill>
                  <a:srgbClr val="FFFFFF"/>
                </a:solidFill>
                <a:latin typeface="Calibri" pitchFamily="34" charset="0"/>
                <a:ea typeface="Calibri" pitchFamily="34" charset="-122"/>
                <a:cs typeface="Calibri" pitchFamily="34" charset="-120"/>
              </a:rPr>
              <a:t>Element</a:t>
            </a:r>
            <a:endParaRPr lang="en-US" sz="2000" dirty="0"/>
          </a:p>
        </p:txBody>
      </p:sp>
      <p:sp>
        <p:nvSpPr>
          <p:cNvPr id="5" name="Shape 3"/>
          <p:cNvSpPr/>
          <p:nvPr/>
        </p:nvSpPr>
        <p:spPr>
          <a:xfrm>
            <a:off x="182880" y="1188720"/>
            <a:ext cx="2560320" cy="45720"/>
          </a:xfrm>
          <a:prstGeom prst="rect">
            <a:avLst/>
          </a:prstGeom>
          <a:solidFill>
            <a:srgbClr val="F7DF1E"/>
          </a:solidFill>
          <a:ln w="12700">
            <a:solidFill>
              <a:srgbClr val="F7DF1E"/>
            </a:solidFill>
            <a:prstDash val="solid"/>
          </a:ln>
        </p:spPr>
      </p:sp>
      <p:sp>
        <p:nvSpPr>
          <p:cNvPr id="6" name="Text 4"/>
          <p:cNvSpPr txBox="1"/>
          <p:nvPr/>
        </p:nvSpPr>
        <p:spPr>
          <a:xfrm>
            <a:off x="182880" y="1261872"/>
            <a:ext cx="2834640" cy="365760"/>
          </a:xfrm>
          <a:prstGeom prst="rect">
            <a:avLst/>
          </a:prstGeom>
          <a:noFill/>
          <a:ln/>
        </p:spPr>
        <p:txBody>
          <a:bodyPr wrap="square" lIns="0" tIns="0" rIns="0" bIns="0" rtlCol="0" anchor="t"/>
          <a:lstStyle/>
          <a:p>
            <a:pPr marL="0" indent="0" algn="l">
              <a:buNone/>
            </a:pPr>
            <a:r>
              <a:rPr lang="en-US" sz="1100" dirty="0">
                <a:solidFill>
                  <a:srgbClr val="CDD6F4"/>
                </a:solidFill>
                <a:latin typeface="Calibri" pitchFamily="34" charset="0"/>
                <a:ea typeface="Calibri" pitchFamily="34" charset="-122"/>
                <a:cs typeface="Calibri" pitchFamily="34" charset="-120"/>
              </a:rPr>
              <a:t>Critical for accessibility</a:t>
            </a:r>
            <a:endParaRPr lang="en-US" sz="1100" dirty="0"/>
          </a:p>
        </p:txBody>
      </p:sp>
      <p:sp>
        <p:nvSpPr>
          <p:cNvPr id="7" name="Text 5"/>
          <p:cNvSpPr txBox="1"/>
          <p:nvPr/>
        </p:nvSpPr>
        <p:spPr>
          <a:xfrm>
            <a:off x="182880" y="1410783"/>
            <a:ext cx="2834640" cy="274320"/>
          </a:xfrm>
          <a:prstGeom prst="rect">
            <a:avLst/>
          </a:prstGeom>
          <a:noFill/>
          <a:ln/>
        </p:spPr>
        <p:txBody>
          <a:bodyPr wrap="square" lIns="0" tIns="0" rIns="0" bIns="0" rtlCol="0" anchor="t"/>
          <a:lstStyle/>
          <a:p>
            <a:pPr marL="0" indent="0" algn="l">
              <a:buNone/>
            </a:pPr>
            <a:r>
              <a:rPr lang="en-US" sz="1200" b="1" dirty="0">
                <a:solidFill>
                  <a:srgbClr val="F7DF1E"/>
                </a:solidFill>
                <a:latin typeface="Courier New" pitchFamily="34" charset="0"/>
                <a:ea typeface="Courier New" pitchFamily="34" charset="-122"/>
                <a:cs typeface="Courier New" pitchFamily="34" charset="-120"/>
              </a:rPr>
              <a:t>for="id"</a:t>
            </a:r>
            <a:endParaRPr lang="en-US" sz="1200" dirty="0"/>
          </a:p>
        </p:txBody>
      </p:sp>
      <p:sp>
        <p:nvSpPr>
          <p:cNvPr id="8" name="Text 6"/>
          <p:cNvSpPr txBox="1"/>
          <p:nvPr/>
        </p:nvSpPr>
        <p:spPr>
          <a:xfrm>
            <a:off x="182880" y="1627632"/>
            <a:ext cx="2834640" cy="256032"/>
          </a:xfrm>
          <a:prstGeom prst="rect">
            <a:avLst/>
          </a:prstGeom>
          <a:noFill/>
          <a:ln/>
        </p:spPr>
        <p:txBody>
          <a:bodyPr wrap="square" lIns="0" tIns="0" rIns="0" bIns="0" rtlCol="0" anchor="t"/>
          <a:lstStyle/>
          <a:p>
            <a:pPr marL="0" indent="0" algn="l">
              <a:buNone/>
            </a:pPr>
            <a:r>
              <a:rPr lang="en-US" sz="1000" dirty="0">
                <a:solidFill>
                  <a:srgbClr val="8892B0"/>
                </a:solidFill>
                <a:latin typeface="Calibri" pitchFamily="34" charset="0"/>
                <a:ea typeface="Calibri" pitchFamily="34" charset="-122"/>
                <a:cs typeface="Calibri" pitchFamily="34" charset="-120"/>
              </a:rPr>
              <a:t>Links label to input</a:t>
            </a:r>
            <a:endParaRPr lang="en-US" sz="1000" dirty="0"/>
          </a:p>
        </p:txBody>
      </p:sp>
      <p:sp>
        <p:nvSpPr>
          <p:cNvPr id="9" name="Text 7"/>
          <p:cNvSpPr txBox="1"/>
          <p:nvPr/>
        </p:nvSpPr>
        <p:spPr>
          <a:xfrm>
            <a:off x="182880" y="1965960"/>
            <a:ext cx="2834640" cy="274320"/>
          </a:xfrm>
          <a:prstGeom prst="rect">
            <a:avLst/>
          </a:prstGeom>
          <a:noFill/>
          <a:ln/>
        </p:spPr>
        <p:txBody>
          <a:bodyPr wrap="square" lIns="0" tIns="0" rIns="0" bIns="0" rtlCol="0" anchor="t"/>
          <a:lstStyle/>
          <a:p>
            <a:pPr marL="0" indent="0" algn="l">
              <a:buNone/>
            </a:pPr>
            <a:r>
              <a:rPr lang="en-US" sz="1200" b="1" dirty="0">
                <a:solidFill>
                  <a:srgbClr val="F7DF1E"/>
                </a:solidFill>
                <a:latin typeface="Courier New" pitchFamily="34" charset="0"/>
                <a:ea typeface="Courier New" pitchFamily="34" charset="-122"/>
                <a:cs typeface="Courier New" pitchFamily="34" charset="-120"/>
              </a:rPr>
              <a:t>click area</a:t>
            </a:r>
            <a:endParaRPr lang="en-US" sz="1200" dirty="0"/>
          </a:p>
        </p:txBody>
      </p:sp>
      <p:sp>
        <p:nvSpPr>
          <p:cNvPr id="10" name="Text 8"/>
          <p:cNvSpPr txBox="1"/>
          <p:nvPr/>
        </p:nvSpPr>
        <p:spPr>
          <a:xfrm>
            <a:off x="182880" y="2267712"/>
            <a:ext cx="2834640" cy="256032"/>
          </a:xfrm>
          <a:prstGeom prst="rect">
            <a:avLst/>
          </a:prstGeom>
          <a:noFill/>
          <a:ln/>
        </p:spPr>
        <p:txBody>
          <a:bodyPr wrap="square" lIns="0" tIns="0" rIns="0" bIns="0" rtlCol="0" anchor="t"/>
          <a:lstStyle/>
          <a:p>
            <a:pPr marL="0" indent="0" algn="l">
              <a:buNone/>
            </a:pPr>
            <a:r>
              <a:rPr lang="en-US" sz="1000" dirty="0">
                <a:solidFill>
                  <a:srgbClr val="8892B0"/>
                </a:solidFill>
                <a:latin typeface="Calibri" pitchFamily="34" charset="0"/>
                <a:ea typeface="Calibri" pitchFamily="34" charset="-122"/>
                <a:cs typeface="Calibri" pitchFamily="34" charset="-120"/>
              </a:rPr>
              <a:t>Click label to focus input</a:t>
            </a:r>
            <a:endParaRPr lang="en-US" sz="1000" dirty="0"/>
          </a:p>
        </p:txBody>
      </p:sp>
      <p:sp>
        <p:nvSpPr>
          <p:cNvPr id="11" name="Text 9"/>
          <p:cNvSpPr txBox="1"/>
          <p:nvPr/>
        </p:nvSpPr>
        <p:spPr>
          <a:xfrm>
            <a:off x="182880" y="2606040"/>
            <a:ext cx="2834640" cy="274320"/>
          </a:xfrm>
          <a:prstGeom prst="rect">
            <a:avLst/>
          </a:prstGeom>
          <a:noFill/>
          <a:ln/>
        </p:spPr>
        <p:txBody>
          <a:bodyPr wrap="square" lIns="0" tIns="0" rIns="0" bIns="0" rtlCol="0" anchor="t"/>
          <a:lstStyle/>
          <a:p>
            <a:pPr marL="0" indent="0" algn="l">
              <a:buNone/>
            </a:pPr>
            <a:r>
              <a:rPr lang="en-US" sz="1200" b="1" dirty="0">
                <a:solidFill>
                  <a:srgbClr val="F7DF1E"/>
                </a:solidFill>
                <a:latin typeface="Courier New" pitchFamily="34" charset="0"/>
                <a:ea typeface="Courier New" pitchFamily="34" charset="-122"/>
                <a:cs typeface="Courier New" pitchFamily="34" charset="-120"/>
              </a:rPr>
              <a:t>screen readers</a:t>
            </a:r>
            <a:endParaRPr lang="en-US" sz="1200" dirty="0"/>
          </a:p>
        </p:txBody>
      </p:sp>
      <p:sp>
        <p:nvSpPr>
          <p:cNvPr id="12" name="Text 10"/>
          <p:cNvSpPr txBox="1"/>
          <p:nvPr/>
        </p:nvSpPr>
        <p:spPr>
          <a:xfrm>
            <a:off x="182880" y="2907792"/>
            <a:ext cx="2834640" cy="256032"/>
          </a:xfrm>
          <a:prstGeom prst="rect">
            <a:avLst/>
          </a:prstGeom>
          <a:noFill/>
          <a:ln/>
        </p:spPr>
        <p:txBody>
          <a:bodyPr wrap="square" lIns="0" tIns="0" rIns="0" bIns="0" rtlCol="0" anchor="t"/>
          <a:lstStyle/>
          <a:p>
            <a:pPr marL="0" indent="0" algn="l">
              <a:buNone/>
            </a:pPr>
            <a:r>
              <a:rPr lang="en-US" sz="1000" dirty="0">
                <a:solidFill>
                  <a:srgbClr val="8892B0"/>
                </a:solidFill>
                <a:latin typeface="Calibri" pitchFamily="34" charset="0"/>
                <a:ea typeface="Calibri" pitchFamily="34" charset="-122"/>
                <a:cs typeface="Calibri" pitchFamily="34" charset="-120"/>
              </a:rPr>
              <a:t>Reads label text aloud</a:t>
            </a:r>
            <a:endParaRPr lang="en-US" sz="1000" dirty="0"/>
          </a:p>
        </p:txBody>
      </p:sp>
      <p:sp>
        <p:nvSpPr>
          <p:cNvPr id="13" name="Text 11"/>
          <p:cNvSpPr txBox="1"/>
          <p:nvPr/>
        </p:nvSpPr>
        <p:spPr>
          <a:xfrm>
            <a:off x="182880" y="3246120"/>
            <a:ext cx="2834640" cy="274320"/>
          </a:xfrm>
          <a:prstGeom prst="rect">
            <a:avLst/>
          </a:prstGeom>
          <a:noFill/>
          <a:ln/>
        </p:spPr>
        <p:txBody>
          <a:bodyPr wrap="square" lIns="0" tIns="0" rIns="0" bIns="0" rtlCol="0" anchor="t"/>
          <a:lstStyle/>
          <a:p>
            <a:pPr marL="0" indent="0" algn="l">
              <a:buNone/>
            </a:pPr>
            <a:r>
              <a:rPr lang="en-US" sz="1200" b="1" dirty="0">
                <a:solidFill>
                  <a:srgbClr val="F7DF1E"/>
                </a:solidFill>
                <a:latin typeface="Courier New" pitchFamily="34" charset="0"/>
                <a:ea typeface="Courier New" pitchFamily="34" charset="-122"/>
                <a:cs typeface="Courier New" pitchFamily="34" charset="-120"/>
              </a:rPr>
              <a:t>implicit wrap</a:t>
            </a:r>
            <a:endParaRPr lang="en-US" sz="1200" dirty="0"/>
          </a:p>
        </p:txBody>
      </p:sp>
      <p:sp>
        <p:nvSpPr>
          <p:cNvPr id="14" name="Text 12"/>
          <p:cNvSpPr txBox="1"/>
          <p:nvPr/>
        </p:nvSpPr>
        <p:spPr>
          <a:xfrm>
            <a:off x="182880" y="3547872"/>
            <a:ext cx="2834640" cy="256032"/>
          </a:xfrm>
          <a:prstGeom prst="rect">
            <a:avLst/>
          </a:prstGeom>
          <a:noFill/>
          <a:ln/>
        </p:spPr>
        <p:txBody>
          <a:bodyPr wrap="square" lIns="0" tIns="0" rIns="0" bIns="0" rtlCol="0" anchor="t"/>
          <a:lstStyle/>
          <a:p>
            <a:pPr marL="0" indent="0" algn="l">
              <a:buNone/>
            </a:pPr>
            <a:r>
              <a:rPr lang="en-US" sz="1000" dirty="0">
                <a:solidFill>
                  <a:srgbClr val="8892B0"/>
                </a:solidFill>
                <a:latin typeface="Calibri" pitchFamily="34" charset="0"/>
                <a:ea typeface="Calibri" pitchFamily="34" charset="-122"/>
                <a:cs typeface="Calibri" pitchFamily="34" charset="-120"/>
              </a:rPr>
              <a:t>Wrap input inside label</a:t>
            </a:r>
            <a:endParaRPr lang="en-US" sz="1000" dirty="0"/>
          </a:p>
        </p:txBody>
      </p:sp>
      <p:sp>
        <p:nvSpPr>
          <p:cNvPr id="15" name="Shape 13"/>
          <p:cNvSpPr/>
          <p:nvPr/>
        </p:nvSpPr>
        <p:spPr>
          <a:xfrm>
            <a:off x="3337560" y="182880"/>
            <a:ext cx="5577840" cy="4754880"/>
          </a:xfrm>
          <a:prstGeom prst="rect">
            <a:avLst/>
          </a:prstGeom>
          <a:solidFill>
            <a:srgbClr val="1E2336"/>
          </a:solidFill>
          <a:ln w="12700">
            <a:solidFill>
              <a:srgbClr val="2D3250"/>
            </a:solidFill>
            <a:prstDash val="solid"/>
          </a:ln>
        </p:spPr>
      </p:sp>
      <p:sp>
        <p:nvSpPr>
          <p:cNvPr id="16" name="Shape 14"/>
          <p:cNvSpPr/>
          <p:nvPr/>
        </p:nvSpPr>
        <p:spPr>
          <a:xfrm>
            <a:off x="3456432" y="283464"/>
            <a:ext cx="118872" cy="118872"/>
          </a:xfrm>
          <a:prstGeom prst="ellipse">
            <a:avLst/>
          </a:prstGeom>
          <a:solidFill>
            <a:srgbClr val="FF5F56"/>
          </a:solidFill>
          <a:ln w="12700">
            <a:solidFill>
              <a:srgbClr val="FF5F56"/>
            </a:solidFill>
            <a:prstDash val="solid"/>
          </a:ln>
        </p:spPr>
      </p:sp>
      <p:sp>
        <p:nvSpPr>
          <p:cNvPr id="17" name="Shape 15"/>
          <p:cNvSpPr/>
          <p:nvPr/>
        </p:nvSpPr>
        <p:spPr>
          <a:xfrm>
            <a:off x="3657600" y="283464"/>
            <a:ext cx="118872" cy="118872"/>
          </a:xfrm>
          <a:prstGeom prst="ellipse">
            <a:avLst/>
          </a:prstGeom>
          <a:solidFill>
            <a:srgbClr val="FFBD2E"/>
          </a:solidFill>
          <a:ln w="12700">
            <a:solidFill>
              <a:srgbClr val="FFBD2E"/>
            </a:solidFill>
            <a:prstDash val="solid"/>
          </a:ln>
        </p:spPr>
      </p:sp>
      <p:sp>
        <p:nvSpPr>
          <p:cNvPr id="18" name="Shape 16"/>
          <p:cNvSpPr/>
          <p:nvPr/>
        </p:nvSpPr>
        <p:spPr>
          <a:xfrm>
            <a:off x="3858768" y="283464"/>
            <a:ext cx="118872" cy="118872"/>
          </a:xfrm>
          <a:prstGeom prst="ellipse">
            <a:avLst/>
          </a:prstGeom>
          <a:solidFill>
            <a:srgbClr val="27C93F"/>
          </a:solidFill>
          <a:ln w="12700">
            <a:solidFill>
              <a:srgbClr val="27C93F"/>
            </a:solidFill>
            <a:prstDash val="solid"/>
          </a:ln>
        </p:spPr>
      </p:sp>
      <p:sp>
        <p:nvSpPr>
          <p:cNvPr id="19" name="Text 17"/>
          <p:cNvSpPr txBox="1"/>
          <p:nvPr/>
        </p:nvSpPr>
        <p:spPr>
          <a:xfrm>
            <a:off x="3474720" y="475488"/>
            <a:ext cx="5303520" cy="4343400"/>
          </a:xfrm>
          <a:prstGeom prst="rect">
            <a:avLst/>
          </a:prstGeom>
          <a:noFill/>
          <a:ln/>
        </p:spPr>
        <p:txBody>
          <a:bodyPr wrap="square" lIns="0" tIns="0" rIns="0" bIns="0" rtlCol="0" anchor="t"/>
          <a:lstStyle/>
          <a:p>
            <a:pPr marL="0" indent="0" algn="l">
              <a:buNone/>
            </a:pPr>
            <a:r>
              <a:rPr lang="en-US" sz="1000" dirty="0">
                <a:solidFill>
                  <a:srgbClr val="64FFDA"/>
                </a:solidFill>
                <a:latin typeface="Courier New" pitchFamily="34" charset="0"/>
                <a:ea typeface="Courier New" pitchFamily="34" charset="-122"/>
                <a:cs typeface="Courier New" pitchFamily="34" charset="-120"/>
              </a:rPr>
              <a:t>&lt;!-- ✅ EXPLICIT linking (preferred) --&gt;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&lt;!-- for= must match id= exactly   --&gt;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&lt;label for="email"&gt;Email address&lt;/label&gt;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&lt;input type="email" id="email"</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name="email" required&gt;</a:t>
            </a:r>
            <a:endParaRPr lang="en-US" sz="1000" dirty="0"/>
          </a:p>
          <a:p>
            <a:pPr marL="0" indent="0" algn="l">
              <a:buNone/>
            </a:pP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&lt;!-- ✅ IMPLICIT wrapping --&gt;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&lt;label&gt;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Email address</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&lt;input type="email" name="email"&gt;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&lt;/label&gt;</a:t>
            </a:r>
            <a:endParaRPr lang="en-US" sz="1000" dirty="0"/>
          </a:p>
          <a:p>
            <a:pPr marL="0" indent="0" algn="l">
              <a:buNone/>
            </a:pP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&lt;!-- ❌ NO label — screen readers --&gt;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&lt;!--    announce as "edit text"   --&gt;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&lt;input type="email" name="email"</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placeholder="Email"&gt;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3200400" cy="5143500"/>
          </a:xfrm>
          <a:prstGeom prst="rect">
            <a:avLst/>
          </a:prstGeom>
          <a:solidFill>
            <a:srgbClr val="1A2540"/>
          </a:solidFill>
          <a:ln w="12700">
            <a:solidFill>
              <a:srgbClr val="1A2540"/>
            </a:solidFill>
            <a:prstDash val="solid"/>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marL="0" indent="0" algn="l">
              <a:buNone/>
            </a:pPr>
            <a:r>
              <a:rPr lang="en-US" sz="2000" b="1" dirty="0">
                <a:solidFill>
                  <a:srgbClr val="FFFFFF"/>
                </a:solidFill>
                <a:latin typeface="Calibri" pitchFamily="34" charset="0"/>
                <a:ea typeface="Calibri" pitchFamily="34" charset="-122"/>
                <a:cs typeface="Calibri" pitchFamily="34" charset="-120"/>
              </a:rPr>
              <a:t>&lt;fieldset&gt;</a:t>
            </a:r>
            <a:endParaRPr lang="en-US" sz="2000" dirty="0"/>
          </a:p>
          <a:p>
            <a:pPr marL="0" indent="0" algn="l">
              <a:buNone/>
            </a:pPr>
            <a:r>
              <a:rPr lang="en-US" sz="2000" b="1" dirty="0">
                <a:solidFill>
                  <a:srgbClr val="FFFFFF"/>
                </a:solidFill>
                <a:latin typeface="Calibri" pitchFamily="34" charset="0"/>
                <a:ea typeface="Calibri" pitchFamily="34" charset="-122"/>
                <a:cs typeface="Calibri" pitchFamily="34" charset="-120"/>
              </a:rPr>
              <a:t>+ &lt;legend&gt;</a:t>
            </a:r>
            <a:endParaRPr lang="en-US" sz="2000" dirty="0"/>
          </a:p>
        </p:txBody>
      </p:sp>
      <p:sp>
        <p:nvSpPr>
          <p:cNvPr id="5" name="Shape 3"/>
          <p:cNvSpPr/>
          <p:nvPr/>
        </p:nvSpPr>
        <p:spPr>
          <a:xfrm>
            <a:off x="182880" y="960120"/>
            <a:ext cx="2560320" cy="45720"/>
          </a:xfrm>
          <a:prstGeom prst="rect">
            <a:avLst/>
          </a:prstGeom>
          <a:solidFill>
            <a:srgbClr val="F7DF1E"/>
          </a:solidFill>
          <a:ln w="12700">
            <a:solidFill>
              <a:srgbClr val="F7DF1E"/>
            </a:solidFill>
            <a:prstDash val="solid"/>
          </a:ln>
        </p:spPr>
      </p:sp>
      <p:sp>
        <p:nvSpPr>
          <p:cNvPr id="6" name="Text 4"/>
          <p:cNvSpPr txBox="1"/>
          <p:nvPr/>
        </p:nvSpPr>
        <p:spPr>
          <a:xfrm>
            <a:off x="182880" y="1148715"/>
            <a:ext cx="2834640" cy="365760"/>
          </a:xfrm>
          <a:prstGeom prst="rect">
            <a:avLst/>
          </a:prstGeom>
          <a:noFill/>
          <a:ln/>
        </p:spPr>
        <p:txBody>
          <a:bodyPr wrap="square" lIns="0" tIns="0" rIns="0" bIns="0" rtlCol="0" anchor="t"/>
          <a:lstStyle/>
          <a:p>
            <a:pPr marL="0" indent="0" algn="l">
              <a:buNone/>
            </a:pPr>
            <a:r>
              <a:rPr lang="en-US" sz="1100" dirty="0">
                <a:solidFill>
                  <a:srgbClr val="CDD6F4"/>
                </a:solidFill>
                <a:latin typeface="Calibri" pitchFamily="34" charset="0"/>
                <a:ea typeface="Calibri" pitchFamily="34" charset="-122"/>
                <a:cs typeface="Calibri" pitchFamily="34" charset="-120"/>
              </a:rPr>
              <a:t>Group related fields</a:t>
            </a:r>
            <a:endParaRPr lang="en-US" sz="1100" dirty="0"/>
          </a:p>
        </p:txBody>
      </p:sp>
      <p:sp>
        <p:nvSpPr>
          <p:cNvPr id="7" name="Text 5"/>
          <p:cNvSpPr txBox="1"/>
          <p:nvPr/>
        </p:nvSpPr>
        <p:spPr>
          <a:xfrm>
            <a:off x="182880" y="1401318"/>
            <a:ext cx="2834640" cy="274320"/>
          </a:xfrm>
          <a:prstGeom prst="rect">
            <a:avLst/>
          </a:prstGeom>
          <a:noFill/>
          <a:ln/>
        </p:spPr>
        <p:txBody>
          <a:bodyPr wrap="square" lIns="0" tIns="0" rIns="0" bIns="0" rtlCol="0" anchor="t"/>
          <a:lstStyle/>
          <a:p>
            <a:pPr marL="0" indent="0" algn="l">
              <a:buNone/>
            </a:pPr>
            <a:r>
              <a:rPr lang="en-US" sz="1200" b="1" dirty="0">
                <a:solidFill>
                  <a:srgbClr val="F7DF1E"/>
                </a:solidFill>
                <a:latin typeface="Courier New" pitchFamily="34" charset="0"/>
                <a:ea typeface="Courier New" pitchFamily="34" charset="-122"/>
                <a:cs typeface="Courier New" pitchFamily="34" charset="-120"/>
              </a:rPr>
              <a:t>&lt;fieldset&gt;</a:t>
            </a:r>
            <a:endParaRPr lang="en-US" sz="1200" dirty="0"/>
          </a:p>
        </p:txBody>
      </p:sp>
      <p:sp>
        <p:nvSpPr>
          <p:cNvPr id="8" name="Text 6"/>
          <p:cNvSpPr txBox="1"/>
          <p:nvPr/>
        </p:nvSpPr>
        <p:spPr>
          <a:xfrm>
            <a:off x="182880" y="1627632"/>
            <a:ext cx="2834640" cy="256032"/>
          </a:xfrm>
          <a:prstGeom prst="rect">
            <a:avLst/>
          </a:prstGeom>
          <a:noFill/>
          <a:ln/>
        </p:spPr>
        <p:txBody>
          <a:bodyPr wrap="square" lIns="0" tIns="0" rIns="0" bIns="0" rtlCol="0" anchor="t"/>
          <a:lstStyle/>
          <a:p>
            <a:pPr marL="0" indent="0" algn="l">
              <a:buNone/>
            </a:pPr>
            <a:r>
              <a:rPr lang="en-US" sz="1000" dirty="0">
                <a:solidFill>
                  <a:srgbClr val="8892B0"/>
                </a:solidFill>
                <a:latin typeface="Calibri" pitchFamily="34" charset="0"/>
                <a:ea typeface="Calibri" pitchFamily="34" charset="-122"/>
                <a:cs typeface="Calibri" pitchFamily="34" charset="-120"/>
              </a:rPr>
              <a:t>Draws a box around a group</a:t>
            </a:r>
            <a:endParaRPr lang="en-US" sz="1000" dirty="0"/>
          </a:p>
        </p:txBody>
      </p:sp>
      <p:sp>
        <p:nvSpPr>
          <p:cNvPr id="9" name="Text 7"/>
          <p:cNvSpPr txBox="1"/>
          <p:nvPr/>
        </p:nvSpPr>
        <p:spPr>
          <a:xfrm>
            <a:off x="182880" y="1965960"/>
            <a:ext cx="2834640" cy="274320"/>
          </a:xfrm>
          <a:prstGeom prst="rect">
            <a:avLst/>
          </a:prstGeom>
          <a:noFill/>
          <a:ln/>
        </p:spPr>
        <p:txBody>
          <a:bodyPr wrap="square" lIns="0" tIns="0" rIns="0" bIns="0" rtlCol="0" anchor="t"/>
          <a:lstStyle/>
          <a:p>
            <a:pPr marL="0" indent="0" algn="l">
              <a:buNone/>
            </a:pPr>
            <a:r>
              <a:rPr lang="en-US" sz="1200" b="1" dirty="0">
                <a:solidFill>
                  <a:srgbClr val="F7DF1E"/>
                </a:solidFill>
                <a:latin typeface="Courier New" pitchFamily="34" charset="0"/>
                <a:ea typeface="Courier New" pitchFamily="34" charset="-122"/>
                <a:cs typeface="Courier New" pitchFamily="34" charset="-120"/>
              </a:rPr>
              <a:t>&lt;legend&gt;</a:t>
            </a:r>
            <a:endParaRPr lang="en-US" sz="1200" dirty="0"/>
          </a:p>
        </p:txBody>
      </p:sp>
      <p:sp>
        <p:nvSpPr>
          <p:cNvPr id="10" name="Text 8"/>
          <p:cNvSpPr txBox="1"/>
          <p:nvPr/>
        </p:nvSpPr>
        <p:spPr>
          <a:xfrm>
            <a:off x="182880" y="2267712"/>
            <a:ext cx="2834640" cy="256032"/>
          </a:xfrm>
          <a:prstGeom prst="rect">
            <a:avLst/>
          </a:prstGeom>
          <a:noFill/>
          <a:ln/>
        </p:spPr>
        <p:txBody>
          <a:bodyPr wrap="square" lIns="0" tIns="0" rIns="0" bIns="0" rtlCol="0" anchor="t"/>
          <a:lstStyle/>
          <a:p>
            <a:pPr marL="0" indent="0" algn="l">
              <a:buNone/>
            </a:pPr>
            <a:r>
              <a:rPr lang="en-US" sz="1000" dirty="0">
                <a:solidFill>
                  <a:srgbClr val="8892B0"/>
                </a:solidFill>
                <a:latin typeface="Calibri" pitchFamily="34" charset="0"/>
                <a:ea typeface="Calibri" pitchFamily="34" charset="-122"/>
                <a:cs typeface="Calibri" pitchFamily="34" charset="-120"/>
              </a:rPr>
              <a:t>Label for the group</a:t>
            </a:r>
            <a:endParaRPr lang="en-US" sz="1000" dirty="0"/>
          </a:p>
        </p:txBody>
      </p:sp>
      <p:sp>
        <p:nvSpPr>
          <p:cNvPr id="11" name="Text 9"/>
          <p:cNvSpPr txBox="1"/>
          <p:nvPr/>
        </p:nvSpPr>
        <p:spPr>
          <a:xfrm>
            <a:off x="182880" y="2606040"/>
            <a:ext cx="2834640" cy="274320"/>
          </a:xfrm>
          <a:prstGeom prst="rect">
            <a:avLst/>
          </a:prstGeom>
          <a:noFill/>
          <a:ln/>
        </p:spPr>
        <p:txBody>
          <a:bodyPr wrap="square" lIns="0" tIns="0" rIns="0" bIns="0" rtlCol="0" anchor="t"/>
          <a:lstStyle/>
          <a:p>
            <a:pPr marL="0" indent="0" algn="l">
              <a:buNone/>
            </a:pPr>
            <a:r>
              <a:rPr lang="en-US" sz="1200" b="1" dirty="0">
                <a:solidFill>
                  <a:srgbClr val="F7DF1E"/>
                </a:solidFill>
                <a:latin typeface="Courier New" pitchFamily="34" charset="0"/>
                <a:ea typeface="Courier New" pitchFamily="34" charset="-122"/>
                <a:cs typeface="Courier New" pitchFamily="34" charset="-120"/>
              </a:rPr>
              <a:t>disabled</a:t>
            </a:r>
            <a:endParaRPr lang="en-US" sz="1200" dirty="0"/>
          </a:p>
        </p:txBody>
      </p:sp>
      <p:sp>
        <p:nvSpPr>
          <p:cNvPr id="12" name="Text 10"/>
          <p:cNvSpPr txBox="1"/>
          <p:nvPr/>
        </p:nvSpPr>
        <p:spPr>
          <a:xfrm>
            <a:off x="182880" y="2907792"/>
            <a:ext cx="2834640" cy="256032"/>
          </a:xfrm>
          <a:prstGeom prst="rect">
            <a:avLst/>
          </a:prstGeom>
          <a:noFill/>
          <a:ln/>
        </p:spPr>
        <p:txBody>
          <a:bodyPr wrap="square" lIns="0" tIns="0" rIns="0" bIns="0" rtlCol="0" anchor="t"/>
          <a:lstStyle/>
          <a:p>
            <a:pPr marL="0" indent="0" algn="l">
              <a:buNone/>
            </a:pPr>
            <a:r>
              <a:rPr lang="en-US" sz="1000" dirty="0">
                <a:solidFill>
                  <a:srgbClr val="8892B0"/>
                </a:solidFill>
                <a:latin typeface="Calibri" pitchFamily="34" charset="0"/>
                <a:ea typeface="Calibri" pitchFamily="34" charset="-122"/>
                <a:cs typeface="Calibri" pitchFamily="34" charset="-120"/>
              </a:rPr>
              <a:t>Disables all fields inside</a:t>
            </a:r>
            <a:endParaRPr lang="en-US" sz="1000" dirty="0"/>
          </a:p>
        </p:txBody>
      </p:sp>
      <p:sp>
        <p:nvSpPr>
          <p:cNvPr id="13" name="Text 11"/>
          <p:cNvSpPr txBox="1"/>
          <p:nvPr/>
        </p:nvSpPr>
        <p:spPr>
          <a:xfrm>
            <a:off x="182880" y="3246120"/>
            <a:ext cx="2834640" cy="274320"/>
          </a:xfrm>
          <a:prstGeom prst="rect">
            <a:avLst/>
          </a:prstGeom>
          <a:noFill/>
          <a:ln/>
        </p:spPr>
        <p:txBody>
          <a:bodyPr wrap="square" lIns="0" tIns="0" rIns="0" bIns="0" rtlCol="0" anchor="t"/>
          <a:lstStyle/>
          <a:p>
            <a:pPr marL="0" indent="0" algn="l">
              <a:buNone/>
            </a:pPr>
            <a:r>
              <a:rPr lang="en-US" sz="1200" b="1" dirty="0">
                <a:solidFill>
                  <a:srgbClr val="F7DF1E"/>
                </a:solidFill>
                <a:latin typeface="Courier New" pitchFamily="34" charset="0"/>
                <a:ea typeface="Courier New" pitchFamily="34" charset="-122"/>
                <a:cs typeface="Courier New" pitchFamily="34" charset="-120"/>
              </a:rPr>
              <a:t>form=</a:t>
            </a:r>
            <a:endParaRPr lang="en-US" sz="1200" dirty="0"/>
          </a:p>
        </p:txBody>
      </p:sp>
      <p:sp>
        <p:nvSpPr>
          <p:cNvPr id="14" name="Text 12"/>
          <p:cNvSpPr txBox="1"/>
          <p:nvPr/>
        </p:nvSpPr>
        <p:spPr>
          <a:xfrm>
            <a:off x="182880" y="3547872"/>
            <a:ext cx="2834640" cy="256032"/>
          </a:xfrm>
          <a:prstGeom prst="rect">
            <a:avLst/>
          </a:prstGeom>
          <a:noFill/>
          <a:ln/>
        </p:spPr>
        <p:txBody>
          <a:bodyPr wrap="square" lIns="0" tIns="0" rIns="0" bIns="0" rtlCol="0" anchor="t"/>
          <a:lstStyle/>
          <a:p>
            <a:pPr marL="0" indent="0" algn="l">
              <a:buNone/>
            </a:pPr>
            <a:r>
              <a:rPr lang="en-US" sz="1000" dirty="0">
                <a:solidFill>
                  <a:srgbClr val="8892B0"/>
                </a:solidFill>
                <a:latin typeface="Calibri" pitchFamily="34" charset="0"/>
                <a:ea typeface="Calibri" pitchFamily="34" charset="-122"/>
                <a:cs typeface="Calibri" pitchFamily="34" charset="-120"/>
              </a:rPr>
              <a:t>Associate with external form</a:t>
            </a:r>
            <a:endParaRPr lang="en-US" sz="1000" dirty="0"/>
          </a:p>
        </p:txBody>
      </p:sp>
      <p:sp>
        <p:nvSpPr>
          <p:cNvPr id="15" name="Shape 13"/>
          <p:cNvSpPr/>
          <p:nvPr/>
        </p:nvSpPr>
        <p:spPr>
          <a:xfrm>
            <a:off x="3337560" y="182880"/>
            <a:ext cx="5577840" cy="4754880"/>
          </a:xfrm>
          <a:prstGeom prst="rect">
            <a:avLst/>
          </a:prstGeom>
          <a:solidFill>
            <a:srgbClr val="1E2336"/>
          </a:solidFill>
          <a:ln w="12700">
            <a:solidFill>
              <a:srgbClr val="2D3250"/>
            </a:solidFill>
            <a:prstDash val="solid"/>
          </a:ln>
        </p:spPr>
      </p:sp>
      <p:sp>
        <p:nvSpPr>
          <p:cNvPr id="16" name="Shape 14"/>
          <p:cNvSpPr/>
          <p:nvPr/>
        </p:nvSpPr>
        <p:spPr>
          <a:xfrm>
            <a:off x="3456432" y="283464"/>
            <a:ext cx="118872" cy="118872"/>
          </a:xfrm>
          <a:prstGeom prst="ellipse">
            <a:avLst/>
          </a:prstGeom>
          <a:solidFill>
            <a:srgbClr val="FF5F56"/>
          </a:solidFill>
          <a:ln w="12700">
            <a:solidFill>
              <a:srgbClr val="FF5F56"/>
            </a:solidFill>
            <a:prstDash val="solid"/>
          </a:ln>
        </p:spPr>
      </p:sp>
      <p:sp>
        <p:nvSpPr>
          <p:cNvPr id="17" name="Shape 15"/>
          <p:cNvSpPr/>
          <p:nvPr/>
        </p:nvSpPr>
        <p:spPr>
          <a:xfrm>
            <a:off x="3657600" y="283464"/>
            <a:ext cx="118872" cy="118872"/>
          </a:xfrm>
          <a:prstGeom prst="ellipse">
            <a:avLst/>
          </a:prstGeom>
          <a:solidFill>
            <a:srgbClr val="FFBD2E"/>
          </a:solidFill>
          <a:ln w="12700">
            <a:solidFill>
              <a:srgbClr val="FFBD2E"/>
            </a:solidFill>
            <a:prstDash val="solid"/>
          </a:ln>
        </p:spPr>
      </p:sp>
      <p:sp>
        <p:nvSpPr>
          <p:cNvPr id="18" name="Shape 16"/>
          <p:cNvSpPr/>
          <p:nvPr/>
        </p:nvSpPr>
        <p:spPr>
          <a:xfrm>
            <a:off x="3858768" y="283464"/>
            <a:ext cx="118872" cy="118872"/>
          </a:xfrm>
          <a:prstGeom prst="ellipse">
            <a:avLst/>
          </a:prstGeom>
          <a:solidFill>
            <a:srgbClr val="27C93F"/>
          </a:solidFill>
          <a:ln w="12700">
            <a:solidFill>
              <a:srgbClr val="27C93F"/>
            </a:solidFill>
            <a:prstDash val="solid"/>
          </a:ln>
        </p:spPr>
      </p:sp>
      <p:sp>
        <p:nvSpPr>
          <p:cNvPr id="19" name="Text 17"/>
          <p:cNvSpPr txBox="1"/>
          <p:nvPr/>
        </p:nvSpPr>
        <p:spPr>
          <a:xfrm>
            <a:off x="3474720" y="475488"/>
            <a:ext cx="5303520" cy="4343400"/>
          </a:xfrm>
          <a:prstGeom prst="rect">
            <a:avLst/>
          </a:prstGeom>
          <a:noFill/>
          <a:ln/>
        </p:spPr>
        <p:txBody>
          <a:bodyPr wrap="square" lIns="0" tIns="0" rIns="0" bIns="0" rtlCol="0" anchor="t"/>
          <a:lstStyle/>
          <a:p>
            <a:pPr marL="0" indent="0" algn="l">
              <a:buNone/>
            </a:pPr>
            <a:r>
              <a:rPr lang="en-US" sz="1000" dirty="0">
                <a:solidFill>
                  <a:srgbClr val="64FFDA"/>
                </a:solidFill>
                <a:latin typeface="Courier New" pitchFamily="34" charset="0"/>
                <a:ea typeface="Courier New" pitchFamily="34" charset="-122"/>
                <a:cs typeface="Courier New" pitchFamily="34" charset="-120"/>
              </a:rPr>
              <a:t>&lt;!-- Grouping personal info --&gt;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&lt;fieldset&gt;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&lt;legend&gt;Personal Information&lt;/legend&gt;</a:t>
            </a:r>
            <a:endParaRPr lang="en-US" sz="1000" dirty="0"/>
          </a:p>
          <a:p>
            <a:pPr marL="0" indent="0" algn="l">
              <a:buNone/>
            </a:pP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&lt;label for="fname"&gt;First Name&lt;/label&gt;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&lt;input type="text" id="fname"</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name="fname" required&gt;</a:t>
            </a:r>
            <a:endParaRPr lang="en-US" sz="1000" dirty="0"/>
          </a:p>
          <a:p>
            <a:pPr marL="0" indent="0" algn="l">
              <a:buNone/>
            </a:pP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&lt;label for="lname"&gt;Last Name&lt;/label&gt;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&lt;input type="text" id="lname"</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name="lname" required&gt;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&lt;/fieldset&gt;</a:t>
            </a:r>
            <a:endParaRPr lang="en-US" sz="1000" dirty="0"/>
          </a:p>
          <a:p>
            <a:pPr marL="0" indent="0" algn="l">
              <a:buNone/>
            </a:pP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&lt;fieldset&gt;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&lt;legend&gt;Contact Details&lt;/legend&gt;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&lt;!-- email, phone here --&gt;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&lt;/fieldset&gt;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3200400" cy="5143500"/>
          </a:xfrm>
          <a:prstGeom prst="rect">
            <a:avLst/>
          </a:prstGeom>
          <a:solidFill>
            <a:srgbClr val="1A2540"/>
          </a:solidFill>
          <a:ln w="12700">
            <a:solidFill>
              <a:srgbClr val="1A2540"/>
            </a:solidFill>
            <a:prstDash val="solid"/>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marL="0" indent="0" algn="l">
              <a:buNone/>
            </a:pPr>
            <a:r>
              <a:rPr lang="en-US" sz="2000" b="1" dirty="0">
                <a:solidFill>
                  <a:srgbClr val="FFFFFF"/>
                </a:solidFill>
                <a:latin typeface="Calibri" pitchFamily="34" charset="0"/>
                <a:ea typeface="Calibri" pitchFamily="34" charset="-122"/>
                <a:cs typeface="Calibri" pitchFamily="34" charset="-120"/>
              </a:rPr>
              <a:t>CSS Pseudo-</a:t>
            </a:r>
            <a:endParaRPr lang="en-US" sz="2000" dirty="0"/>
          </a:p>
          <a:p>
            <a:pPr marL="0" indent="0" algn="l">
              <a:buNone/>
            </a:pPr>
            <a:r>
              <a:rPr lang="en-US" sz="2000" b="1" dirty="0">
                <a:solidFill>
                  <a:srgbClr val="FFFFFF"/>
                </a:solidFill>
                <a:latin typeface="Calibri" pitchFamily="34" charset="0"/>
                <a:ea typeface="Calibri" pitchFamily="34" charset="-122"/>
                <a:cs typeface="Calibri" pitchFamily="34" charset="-120"/>
              </a:rPr>
              <a:t>classes for Forms</a:t>
            </a:r>
            <a:endParaRPr lang="en-US" sz="2000" dirty="0"/>
          </a:p>
        </p:txBody>
      </p:sp>
      <p:sp>
        <p:nvSpPr>
          <p:cNvPr id="5" name="Shape 3"/>
          <p:cNvSpPr/>
          <p:nvPr/>
        </p:nvSpPr>
        <p:spPr>
          <a:xfrm>
            <a:off x="146486" y="1005840"/>
            <a:ext cx="2560320" cy="45720"/>
          </a:xfrm>
          <a:prstGeom prst="rect">
            <a:avLst/>
          </a:prstGeom>
          <a:solidFill>
            <a:srgbClr val="F7DF1E"/>
          </a:solidFill>
          <a:ln w="12700">
            <a:solidFill>
              <a:srgbClr val="F7DF1E"/>
            </a:solidFill>
            <a:prstDash val="solid"/>
          </a:ln>
        </p:spPr>
      </p:sp>
      <p:sp>
        <p:nvSpPr>
          <p:cNvPr id="6" name="Text 4"/>
          <p:cNvSpPr txBox="1"/>
          <p:nvPr/>
        </p:nvSpPr>
        <p:spPr>
          <a:xfrm>
            <a:off x="182880" y="1261872"/>
            <a:ext cx="2834640" cy="365760"/>
          </a:xfrm>
          <a:prstGeom prst="rect">
            <a:avLst/>
          </a:prstGeom>
          <a:noFill/>
          <a:ln/>
        </p:spPr>
        <p:txBody>
          <a:bodyPr wrap="square" lIns="0" tIns="0" rIns="0" bIns="0" rtlCol="0" anchor="t"/>
          <a:lstStyle/>
          <a:p>
            <a:pPr marL="0" indent="0" algn="l">
              <a:buNone/>
            </a:pPr>
            <a:r>
              <a:rPr lang="en-US" sz="1100" dirty="0">
                <a:solidFill>
                  <a:srgbClr val="CDD6F4"/>
                </a:solidFill>
                <a:latin typeface="Calibri" pitchFamily="34" charset="0"/>
                <a:ea typeface="Calibri" pitchFamily="34" charset="-122"/>
                <a:cs typeface="Calibri" pitchFamily="34" charset="-120"/>
              </a:rPr>
              <a:t>Style validity states</a:t>
            </a:r>
            <a:endParaRPr lang="en-US" sz="1100" dirty="0"/>
          </a:p>
        </p:txBody>
      </p:sp>
      <p:sp>
        <p:nvSpPr>
          <p:cNvPr id="7" name="Text 5"/>
          <p:cNvSpPr txBox="1"/>
          <p:nvPr/>
        </p:nvSpPr>
        <p:spPr>
          <a:xfrm>
            <a:off x="182880" y="1408176"/>
            <a:ext cx="2834640" cy="274320"/>
          </a:xfrm>
          <a:prstGeom prst="rect">
            <a:avLst/>
          </a:prstGeom>
          <a:noFill/>
          <a:ln/>
        </p:spPr>
        <p:txBody>
          <a:bodyPr wrap="square" lIns="0" tIns="0" rIns="0" bIns="0" rtlCol="0" anchor="t"/>
          <a:lstStyle/>
          <a:p>
            <a:pPr marL="0" indent="0" algn="l">
              <a:buNone/>
            </a:pPr>
            <a:r>
              <a:rPr lang="en-US" sz="1200" b="1" dirty="0">
                <a:solidFill>
                  <a:srgbClr val="F7DF1E"/>
                </a:solidFill>
                <a:latin typeface="Courier New" pitchFamily="34" charset="0"/>
                <a:ea typeface="Courier New" pitchFamily="34" charset="-122"/>
                <a:cs typeface="Courier New" pitchFamily="34" charset="-120"/>
              </a:rPr>
              <a:t>:valid</a:t>
            </a:r>
            <a:endParaRPr lang="en-US" sz="1200" dirty="0"/>
          </a:p>
        </p:txBody>
      </p:sp>
      <p:sp>
        <p:nvSpPr>
          <p:cNvPr id="8" name="Text 6"/>
          <p:cNvSpPr txBox="1"/>
          <p:nvPr/>
        </p:nvSpPr>
        <p:spPr>
          <a:xfrm>
            <a:off x="182880" y="1627632"/>
            <a:ext cx="2834640" cy="256032"/>
          </a:xfrm>
          <a:prstGeom prst="rect">
            <a:avLst/>
          </a:prstGeom>
          <a:noFill/>
          <a:ln/>
        </p:spPr>
        <p:txBody>
          <a:bodyPr wrap="square" lIns="0" tIns="0" rIns="0" bIns="0" rtlCol="0" anchor="t"/>
          <a:lstStyle/>
          <a:p>
            <a:pPr marL="0" indent="0" algn="l">
              <a:buNone/>
            </a:pPr>
            <a:r>
              <a:rPr lang="en-US" sz="1000" dirty="0">
                <a:solidFill>
                  <a:srgbClr val="8892B0"/>
                </a:solidFill>
                <a:latin typeface="Calibri" pitchFamily="34" charset="0"/>
                <a:ea typeface="Calibri" pitchFamily="34" charset="-122"/>
                <a:cs typeface="Calibri" pitchFamily="34" charset="-120"/>
              </a:rPr>
              <a:t>Input passes all constraints</a:t>
            </a:r>
            <a:endParaRPr lang="en-US" sz="1000" dirty="0"/>
          </a:p>
        </p:txBody>
      </p:sp>
      <p:sp>
        <p:nvSpPr>
          <p:cNvPr id="9" name="Text 7"/>
          <p:cNvSpPr txBox="1"/>
          <p:nvPr/>
        </p:nvSpPr>
        <p:spPr>
          <a:xfrm>
            <a:off x="182880" y="1965960"/>
            <a:ext cx="2834640" cy="274320"/>
          </a:xfrm>
          <a:prstGeom prst="rect">
            <a:avLst/>
          </a:prstGeom>
          <a:noFill/>
          <a:ln/>
        </p:spPr>
        <p:txBody>
          <a:bodyPr wrap="square" lIns="0" tIns="0" rIns="0" bIns="0" rtlCol="0" anchor="t"/>
          <a:lstStyle/>
          <a:p>
            <a:pPr marL="0" indent="0" algn="l">
              <a:buNone/>
            </a:pPr>
            <a:r>
              <a:rPr lang="en-US" sz="1200" b="1" dirty="0">
                <a:solidFill>
                  <a:srgbClr val="F7DF1E"/>
                </a:solidFill>
                <a:latin typeface="Courier New" pitchFamily="34" charset="0"/>
                <a:ea typeface="Courier New" pitchFamily="34" charset="-122"/>
                <a:cs typeface="Courier New" pitchFamily="34" charset="-120"/>
              </a:rPr>
              <a:t>:invalid</a:t>
            </a:r>
            <a:endParaRPr lang="en-US" sz="1200" dirty="0"/>
          </a:p>
        </p:txBody>
      </p:sp>
      <p:sp>
        <p:nvSpPr>
          <p:cNvPr id="10" name="Text 8"/>
          <p:cNvSpPr txBox="1"/>
          <p:nvPr/>
        </p:nvSpPr>
        <p:spPr>
          <a:xfrm>
            <a:off x="182880" y="2267712"/>
            <a:ext cx="2834640" cy="256032"/>
          </a:xfrm>
          <a:prstGeom prst="rect">
            <a:avLst/>
          </a:prstGeom>
          <a:noFill/>
          <a:ln/>
        </p:spPr>
        <p:txBody>
          <a:bodyPr wrap="square" lIns="0" tIns="0" rIns="0" bIns="0" rtlCol="0" anchor="t"/>
          <a:lstStyle/>
          <a:p>
            <a:pPr marL="0" indent="0" algn="l">
              <a:buNone/>
            </a:pPr>
            <a:r>
              <a:rPr lang="en-US" sz="1000" dirty="0">
                <a:solidFill>
                  <a:srgbClr val="8892B0"/>
                </a:solidFill>
                <a:latin typeface="Calibri" pitchFamily="34" charset="0"/>
                <a:ea typeface="Calibri" pitchFamily="34" charset="-122"/>
                <a:cs typeface="Calibri" pitchFamily="34" charset="-120"/>
              </a:rPr>
              <a:t>Input fails a constraint</a:t>
            </a:r>
            <a:endParaRPr lang="en-US" sz="1000" dirty="0"/>
          </a:p>
        </p:txBody>
      </p:sp>
      <p:sp>
        <p:nvSpPr>
          <p:cNvPr id="11" name="Text 9"/>
          <p:cNvSpPr txBox="1"/>
          <p:nvPr/>
        </p:nvSpPr>
        <p:spPr>
          <a:xfrm>
            <a:off x="182880" y="2606040"/>
            <a:ext cx="2834640" cy="274320"/>
          </a:xfrm>
          <a:prstGeom prst="rect">
            <a:avLst/>
          </a:prstGeom>
          <a:noFill/>
          <a:ln/>
        </p:spPr>
        <p:txBody>
          <a:bodyPr wrap="square" lIns="0" tIns="0" rIns="0" bIns="0" rtlCol="0" anchor="t"/>
          <a:lstStyle/>
          <a:p>
            <a:pPr marL="0" indent="0" algn="l">
              <a:buNone/>
            </a:pPr>
            <a:r>
              <a:rPr lang="en-US" sz="1200" b="1" dirty="0">
                <a:solidFill>
                  <a:srgbClr val="F7DF1E"/>
                </a:solidFill>
                <a:latin typeface="Courier New" pitchFamily="34" charset="0"/>
                <a:ea typeface="Courier New" pitchFamily="34" charset="-122"/>
                <a:cs typeface="Courier New" pitchFamily="34" charset="-120"/>
              </a:rPr>
              <a:t>:focus</a:t>
            </a:r>
            <a:endParaRPr lang="en-US" sz="1200" dirty="0"/>
          </a:p>
        </p:txBody>
      </p:sp>
      <p:sp>
        <p:nvSpPr>
          <p:cNvPr id="12" name="Text 10"/>
          <p:cNvSpPr txBox="1"/>
          <p:nvPr/>
        </p:nvSpPr>
        <p:spPr>
          <a:xfrm>
            <a:off x="182880" y="2907792"/>
            <a:ext cx="2834640" cy="256032"/>
          </a:xfrm>
          <a:prstGeom prst="rect">
            <a:avLst/>
          </a:prstGeom>
          <a:noFill/>
          <a:ln/>
        </p:spPr>
        <p:txBody>
          <a:bodyPr wrap="square" lIns="0" tIns="0" rIns="0" bIns="0" rtlCol="0" anchor="t"/>
          <a:lstStyle/>
          <a:p>
            <a:pPr marL="0" indent="0" algn="l">
              <a:buNone/>
            </a:pPr>
            <a:r>
              <a:rPr lang="en-US" sz="1000" dirty="0">
                <a:solidFill>
                  <a:srgbClr val="8892B0"/>
                </a:solidFill>
                <a:latin typeface="Calibri" pitchFamily="34" charset="0"/>
                <a:ea typeface="Calibri" pitchFamily="34" charset="-122"/>
                <a:cs typeface="Calibri" pitchFamily="34" charset="-120"/>
              </a:rPr>
              <a:t>Input is currently active</a:t>
            </a:r>
            <a:endParaRPr lang="en-US" sz="1000" dirty="0"/>
          </a:p>
        </p:txBody>
      </p:sp>
      <p:sp>
        <p:nvSpPr>
          <p:cNvPr id="13" name="Text 11"/>
          <p:cNvSpPr txBox="1"/>
          <p:nvPr/>
        </p:nvSpPr>
        <p:spPr>
          <a:xfrm>
            <a:off x="182880" y="3246120"/>
            <a:ext cx="2834640" cy="274320"/>
          </a:xfrm>
          <a:prstGeom prst="rect">
            <a:avLst/>
          </a:prstGeom>
          <a:noFill/>
          <a:ln/>
        </p:spPr>
        <p:txBody>
          <a:bodyPr wrap="square" lIns="0" tIns="0" rIns="0" bIns="0" rtlCol="0" anchor="t"/>
          <a:lstStyle/>
          <a:p>
            <a:pPr marL="0" indent="0" algn="l">
              <a:buNone/>
            </a:pPr>
            <a:r>
              <a:rPr lang="en-US" sz="1200" b="1" dirty="0">
                <a:solidFill>
                  <a:srgbClr val="F7DF1E"/>
                </a:solidFill>
                <a:latin typeface="Courier New" pitchFamily="34" charset="0"/>
                <a:ea typeface="Courier New" pitchFamily="34" charset="-122"/>
                <a:cs typeface="Courier New" pitchFamily="34" charset="-120"/>
              </a:rPr>
              <a:t>:placeholder-shown</a:t>
            </a:r>
            <a:endParaRPr lang="en-US" sz="1200" dirty="0"/>
          </a:p>
        </p:txBody>
      </p:sp>
      <p:sp>
        <p:nvSpPr>
          <p:cNvPr id="14" name="Text 12"/>
          <p:cNvSpPr txBox="1"/>
          <p:nvPr/>
        </p:nvSpPr>
        <p:spPr>
          <a:xfrm>
            <a:off x="182880" y="3547872"/>
            <a:ext cx="2834640" cy="256032"/>
          </a:xfrm>
          <a:prstGeom prst="rect">
            <a:avLst/>
          </a:prstGeom>
          <a:noFill/>
          <a:ln/>
        </p:spPr>
        <p:txBody>
          <a:bodyPr wrap="square" lIns="0" tIns="0" rIns="0" bIns="0" rtlCol="0" anchor="t"/>
          <a:lstStyle/>
          <a:p>
            <a:pPr marL="0" indent="0" algn="l">
              <a:buNone/>
            </a:pPr>
            <a:r>
              <a:rPr lang="en-US" sz="1000" dirty="0">
                <a:solidFill>
                  <a:srgbClr val="8892B0"/>
                </a:solidFill>
                <a:latin typeface="Calibri" pitchFamily="34" charset="0"/>
                <a:ea typeface="Calibri" pitchFamily="34" charset="-122"/>
                <a:cs typeface="Calibri" pitchFamily="34" charset="-120"/>
              </a:rPr>
              <a:t>Placeholder visible (empty)</a:t>
            </a:r>
            <a:endParaRPr lang="en-US" sz="1000" dirty="0"/>
          </a:p>
        </p:txBody>
      </p:sp>
      <p:sp>
        <p:nvSpPr>
          <p:cNvPr id="15" name="Text 13"/>
          <p:cNvSpPr txBox="1"/>
          <p:nvPr/>
        </p:nvSpPr>
        <p:spPr>
          <a:xfrm>
            <a:off x="182880" y="3886200"/>
            <a:ext cx="2834640" cy="274320"/>
          </a:xfrm>
          <a:prstGeom prst="rect">
            <a:avLst/>
          </a:prstGeom>
          <a:noFill/>
          <a:ln/>
        </p:spPr>
        <p:txBody>
          <a:bodyPr wrap="square" lIns="0" tIns="0" rIns="0" bIns="0" rtlCol="0" anchor="t"/>
          <a:lstStyle/>
          <a:p>
            <a:pPr marL="0" indent="0" algn="l">
              <a:buNone/>
            </a:pPr>
            <a:r>
              <a:rPr lang="en-US" sz="1200" b="1" dirty="0">
                <a:solidFill>
                  <a:srgbClr val="F7DF1E"/>
                </a:solidFill>
                <a:latin typeface="Courier New" pitchFamily="34" charset="0"/>
                <a:ea typeface="Courier New" pitchFamily="34" charset="-122"/>
                <a:cs typeface="Courier New" pitchFamily="34" charset="-120"/>
              </a:rPr>
              <a:t>:required</a:t>
            </a:r>
            <a:endParaRPr lang="en-US" sz="1200" dirty="0"/>
          </a:p>
        </p:txBody>
      </p:sp>
      <p:sp>
        <p:nvSpPr>
          <p:cNvPr id="16" name="Text 14"/>
          <p:cNvSpPr txBox="1"/>
          <p:nvPr/>
        </p:nvSpPr>
        <p:spPr>
          <a:xfrm>
            <a:off x="182880" y="4187952"/>
            <a:ext cx="2834640" cy="256032"/>
          </a:xfrm>
          <a:prstGeom prst="rect">
            <a:avLst/>
          </a:prstGeom>
          <a:noFill/>
          <a:ln/>
        </p:spPr>
        <p:txBody>
          <a:bodyPr wrap="square" lIns="0" tIns="0" rIns="0" bIns="0" rtlCol="0" anchor="t"/>
          <a:lstStyle/>
          <a:p>
            <a:pPr marL="0" indent="0" algn="l">
              <a:buNone/>
            </a:pPr>
            <a:r>
              <a:rPr lang="en-US" sz="1000" dirty="0">
                <a:solidFill>
                  <a:srgbClr val="8892B0"/>
                </a:solidFill>
                <a:latin typeface="Calibri" pitchFamily="34" charset="0"/>
                <a:ea typeface="Calibri" pitchFamily="34" charset="-122"/>
                <a:cs typeface="Calibri" pitchFamily="34" charset="-120"/>
              </a:rPr>
              <a:t>Has required attribute</a:t>
            </a:r>
            <a:endParaRPr lang="en-US" sz="1000" dirty="0"/>
          </a:p>
        </p:txBody>
      </p:sp>
      <p:sp>
        <p:nvSpPr>
          <p:cNvPr id="17" name="Shape 15"/>
          <p:cNvSpPr/>
          <p:nvPr/>
        </p:nvSpPr>
        <p:spPr>
          <a:xfrm>
            <a:off x="3337560" y="182880"/>
            <a:ext cx="5577840" cy="4754880"/>
          </a:xfrm>
          <a:prstGeom prst="rect">
            <a:avLst/>
          </a:prstGeom>
          <a:solidFill>
            <a:srgbClr val="1E2336"/>
          </a:solidFill>
          <a:ln w="12700">
            <a:solidFill>
              <a:srgbClr val="2D3250"/>
            </a:solidFill>
            <a:prstDash val="solid"/>
          </a:ln>
        </p:spPr>
      </p:sp>
      <p:sp>
        <p:nvSpPr>
          <p:cNvPr id="18" name="Shape 16"/>
          <p:cNvSpPr/>
          <p:nvPr/>
        </p:nvSpPr>
        <p:spPr>
          <a:xfrm>
            <a:off x="3456432" y="283464"/>
            <a:ext cx="118872" cy="118872"/>
          </a:xfrm>
          <a:prstGeom prst="ellipse">
            <a:avLst/>
          </a:prstGeom>
          <a:solidFill>
            <a:srgbClr val="FF5F56"/>
          </a:solidFill>
          <a:ln w="12700">
            <a:solidFill>
              <a:srgbClr val="FF5F56"/>
            </a:solidFill>
            <a:prstDash val="solid"/>
          </a:ln>
        </p:spPr>
      </p:sp>
      <p:sp>
        <p:nvSpPr>
          <p:cNvPr id="19" name="Shape 17"/>
          <p:cNvSpPr/>
          <p:nvPr/>
        </p:nvSpPr>
        <p:spPr>
          <a:xfrm>
            <a:off x="3657600" y="283464"/>
            <a:ext cx="118872" cy="118872"/>
          </a:xfrm>
          <a:prstGeom prst="ellipse">
            <a:avLst/>
          </a:prstGeom>
          <a:solidFill>
            <a:srgbClr val="FFBD2E"/>
          </a:solidFill>
          <a:ln w="12700">
            <a:solidFill>
              <a:srgbClr val="FFBD2E"/>
            </a:solidFill>
            <a:prstDash val="solid"/>
          </a:ln>
        </p:spPr>
      </p:sp>
      <p:sp>
        <p:nvSpPr>
          <p:cNvPr id="20" name="Shape 18"/>
          <p:cNvSpPr/>
          <p:nvPr/>
        </p:nvSpPr>
        <p:spPr>
          <a:xfrm>
            <a:off x="3858768" y="283464"/>
            <a:ext cx="118872" cy="118872"/>
          </a:xfrm>
          <a:prstGeom prst="ellipse">
            <a:avLst/>
          </a:prstGeom>
          <a:solidFill>
            <a:srgbClr val="27C93F"/>
          </a:solidFill>
          <a:ln w="12700">
            <a:solidFill>
              <a:srgbClr val="27C93F"/>
            </a:solidFill>
            <a:prstDash val="solid"/>
          </a:ln>
        </p:spPr>
      </p:sp>
      <p:sp>
        <p:nvSpPr>
          <p:cNvPr id="21" name="Text 19"/>
          <p:cNvSpPr txBox="1"/>
          <p:nvPr/>
        </p:nvSpPr>
        <p:spPr>
          <a:xfrm>
            <a:off x="3474720" y="475488"/>
            <a:ext cx="5303520" cy="4343400"/>
          </a:xfrm>
          <a:prstGeom prst="rect">
            <a:avLst/>
          </a:prstGeom>
          <a:noFill/>
          <a:ln/>
        </p:spPr>
        <p:txBody>
          <a:bodyPr wrap="square" lIns="0" tIns="0" rIns="0" bIns="0" rtlCol="0" anchor="t"/>
          <a:lstStyle/>
          <a:p>
            <a:pPr marL="0" indent="0" algn="l">
              <a:buNone/>
            </a:pPr>
            <a:r>
              <a:rPr lang="en-US" sz="1000" dirty="0">
                <a:solidFill>
                  <a:srgbClr val="64FFDA"/>
                </a:solidFill>
                <a:latin typeface="Courier New" pitchFamily="34" charset="0"/>
                <a:ea typeface="Courier New" pitchFamily="34" charset="-122"/>
                <a:cs typeface="Courier New" pitchFamily="34" charset="-120"/>
              </a:rPr>
              <a:t>/* Green border when valid */  </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input:valid {</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border: 2px solid #27C93F;</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a:t>
            </a:r>
            <a:endParaRPr lang="en-US" sz="1000" dirty="0"/>
          </a:p>
          <a:p>
            <a:pPr marL="0" indent="0" algn="l">
              <a:buNone/>
            </a:pP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Red border + icon when invalid */</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input:invalid {</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border: 2px solid #FF5F56;</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background: url("x.svg")</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no-repeat right 0.5rem center;</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a:t>
            </a:r>
            <a:endParaRPr lang="en-US" sz="1000" dirty="0"/>
          </a:p>
          <a:p>
            <a:pPr marL="0" indent="0" algn="l">
              <a:buNone/>
            </a:pP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Focus ring for keyboard nav */</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input:focus {</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outline: 3px solid #F7DF1E;</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outline-offset: 2px;</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a:t>
            </a:r>
            <a:endParaRPr lang="en-US" sz="1000" dirty="0"/>
          </a:p>
          <a:p>
            <a:pPr marL="0" indent="0" algn="l">
              <a:buNone/>
            </a:pP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Hide error until touched */</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input:placeholder-shown { border: none; }</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w="12700">
            <a:solidFill>
              <a:srgbClr val="1A2540"/>
            </a:solidFill>
            <a:prstDash val="solid"/>
          </a:ln>
        </p:spPr>
      </p:sp>
      <p:sp>
        <p:nvSpPr>
          <p:cNvPr id="3" name="Shape 1"/>
          <p:cNvSpPr/>
          <p:nvPr/>
        </p:nvSpPr>
        <p:spPr>
          <a:xfrm>
            <a:off x="0" y="0"/>
            <a:ext cx="228600" cy="5143500"/>
          </a:xfrm>
          <a:prstGeom prst="rect">
            <a:avLst/>
          </a:prstGeom>
          <a:solidFill>
            <a:srgbClr val="F7DF1E"/>
          </a:solidFill>
          <a:ln w="12700">
            <a:solidFill>
              <a:srgbClr val="F7DF1E"/>
            </a:solidFill>
            <a:prstDash val="solid"/>
          </a:ln>
        </p:spPr>
      </p:sp>
      <p:sp>
        <p:nvSpPr>
          <p:cNvPr id="4" name="Text 2"/>
          <p:cNvSpPr txBox="1"/>
          <p:nvPr/>
        </p:nvSpPr>
        <p:spPr>
          <a:xfrm>
            <a:off x="457200" y="1371600"/>
            <a:ext cx="8229600" cy="365760"/>
          </a:xfrm>
          <a:prstGeom prst="rect">
            <a:avLst/>
          </a:prstGeom>
          <a:noFill/>
          <a:ln/>
        </p:spPr>
        <p:txBody>
          <a:bodyPr wrap="square" lIns="0" tIns="0" rIns="0" bIns="0" rtlCol="0" anchor="ctr"/>
          <a:lstStyle/>
          <a:p>
            <a:pPr marL="0" indent="0" algn="l">
              <a:buNone/>
            </a:pPr>
            <a:r>
              <a:rPr lang="en-US" sz="1100" b="1" kern="0" spc="600" dirty="0">
                <a:solidFill>
                  <a:srgbClr val="F7DF1E"/>
                </a:solidFill>
                <a:latin typeface="Calibri" pitchFamily="34" charset="0"/>
                <a:ea typeface="Calibri" pitchFamily="34" charset="-122"/>
                <a:cs typeface="Calibri" pitchFamily="34" charset="-120"/>
              </a:rPr>
              <a:t>CHAPTER</a:t>
            </a:r>
            <a:endParaRPr lang="en-US" sz="1100" dirty="0"/>
          </a:p>
        </p:txBody>
      </p:sp>
      <p:sp>
        <p:nvSpPr>
          <p:cNvPr id="5" name="Text 3"/>
          <p:cNvSpPr txBox="1"/>
          <p:nvPr/>
        </p:nvSpPr>
        <p:spPr>
          <a:xfrm>
            <a:off x="457200" y="1783080"/>
            <a:ext cx="365760" cy="548640"/>
          </a:xfrm>
          <a:prstGeom prst="rect">
            <a:avLst/>
          </a:prstGeom>
          <a:noFill/>
          <a:ln/>
        </p:spPr>
        <p:txBody>
          <a:bodyPr wrap="square" lIns="0" tIns="0" rIns="0" bIns="0" rtlCol="0" anchor="ctr"/>
          <a:lstStyle/>
          <a:p>
            <a:pPr marL="0" indent="0" algn="l">
              <a:buNone/>
            </a:pPr>
            <a:r>
              <a:rPr lang="en-US" sz="2200" b="1" dirty="0">
                <a:solidFill>
                  <a:srgbClr val="F7DF1E"/>
                </a:solidFill>
                <a:latin typeface="Calibri" pitchFamily="34" charset="0"/>
                <a:ea typeface="Calibri" pitchFamily="34" charset="-122"/>
                <a:cs typeface="Calibri" pitchFamily="34" charset="-120"/>
              </a:rPr>
              <a:t>&gt;</a:t>
            </a:r>
            <a:endParaRPr lang="en-US" sz="2200" dirty="0"/>
          </a:p>
        </p:txBody>
      </p:sp>
      <p:sp>
        <p:nvSpPr>
          <p:cNvPr id="6" name="Text 4"/>
          <p:cNvSpPr txBox="1"/>
          <p:nvPr/>
        </p:nvSpPr>
        <p:spPr>
          <a:xfrm>
            <a:off x="914400" y="1737360"/>
            <a:ext cx="7772400" cy="822960"/>
          </a:xfrm>
          <a:prstGeom prst="rect">
            <a:avLst/>
          </a:prstGeom>
          <a:noFill/>
          <a:ln/>
        </p:spPr>
        <p:txBody>
          <a:bodyPr wrap="square" lIns="0" tIns="0" rIns="0" bIns="0"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Live Demo</a:t>
            </a:r>
            <a:endParaRPr lang="en-US" sz="3600" dirty="0"/>
          </a:p>
        </p:txBody>
      </p:sp>
      <p:sp>
        <p:nvSpPr>
          <p:cNvPr id="7" name="Text 5"/>
          <p:cNvSpPr txBox="1"/>
          <p:nvPr/>
        </p:nvSpPr>
        <p:spPr>
          <a:xfrm>
            <a:off x="914400" y="2606040"/>
            <a:ext cx="7772400" cy="457200"/>
          </a:xfrm>
          <a:prstGeom prst="rect">
            <a:avLst/>
          </a:prstGeom>
          <a:noFill/>
          <a:ln/>
        </p:spPr>
        <p:txBody>
          <a:bodyPr wrap="square" lIns="0" tIns="0" rIns="0" bIns="0" rtlCol="0" anchor="ctr"/>
          <a:lstStyle/>
          <a:p>
            <a:pPr marL="0" indent="0" algn="l">
              <a:buNone/>
            </a:pPr>
            <a:r>
              <a:rPr lang="en-US" sz="1600" dirty="0">
                <a:solidFill>
                  <a:srgbClr val="CDD6F4"/>
                </a:solidFill>
                <a:latin typeface="Calibri" pitchFamily="34" charset="0"/>
                <a:ea typeface="Calibri" pitchFamily="34" charset="-122"/>
                <a:cs typeface="Calibri" pitchFamily="34" charset="-120"/>
              </a:rPr>
              <a:t>Build a student registration form together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3200400" cy="5143500"/>
          </a:xfrm>
          <a:prstGeom prst="rect">
            <a:avLst/>
          </a:prstGeom>
          <a:solidFill>
            <a:srgbClr val="1A2540"/>
          </a:solidFill>
          <a:ln w="12700">
            <a:solidFill>
              <a:srgbClr val="1A2540"/>
            </a:solidFill>
            <a:prstDash val="solid"/>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marL="0" indent="0" algn="l">
              <a:buNone/>
            </a:pPr>
            <a:r>
              <a:rPr lang="en-US" sz="2000" b="1" dirty="0">
                <a:solidFill>
                  <a:srgbClr val="FFFFFF"/>
                </a:solidFill>
                <a:latin typeface="Calibri" pitchFamily="34" charset="0"/>
                <a:ea typeface="Calibri" pitchFamily="34" charset="-122"/>
                <a:cs typeface="Calibri" pitchFamily="34" charset="-120"/>
              </a:rPr>
              <a:t>Student</a:t>
            </a:r>
            <a:endParaRPr lang="en-US" sz="2000" dirty="0"/>
          </a:p>
          <a:p>
            <a:pPr marL="0" indent="0" algn="l">
              <a:buNone/>
            </a:pPr>
            <a:r>
              <a:rPr lang="en-US" sz="2000" b="1" dirty="0">
                <a:solidFill>
                  <a:srgbClr val="FFFFFF"/>
                </a:solidFill>
                <a:latin typeface="Calibri" pitchFamily="34" charset="0"/>
                <a:ea typeface="Calibri" pitchFamily="34" charset="-122"/>
                <a:cs typeface="Calibri" pitchFamily="34" charset="-120"/>
              </a:rPr>
              <a:t>Registration</a:t>
            </a:r>
            <a:endParaRPr lang="en-US" sz="2000" dirty="0"/>
          </a:p>
          <a:p>
            <a:pPr marL="0" indent="0" algn="l">
              <a:buNone/>
            </a:pPr>
            <a:r>
              <a:rPr lang="en-US" sz="2000" b="1" dirty="0">
                <a:solidFill>
                  <a:srgbClr val="FFFFFF"/>
                </a:solidFill>
                <a:latin typeface="Calibri" pitchFamily="34" charset="0"/>
                <a:ea typeface="Calibri" pitchFamily="34" charset="-122"/>
                <a:cs typeface="Calibri" pitchFamily="34" charset="-120"/>
              </a:rPr>
              <a:t>Form</a:t>
            </a:r>
            <a:endParaRPr lang="en-US" sz="2000" dirty="0"/>
          </a:p>
        </p:txBody>
      </p:sp>
      <p:sp>
        <p:nvSpPr>
          <p:cNvPr id="5" name="Shape 3"/>
          <p:cNvSpPr/>
          <p:nvPr/>
        </p:nvSpPr>
        <p:spPr>
          <a:xfrm>
            <a:off x="182880" y="1188720"/>
            <a:ext cx="2560320" cy="45720"/>
          </a:xfrm>
          <a:prstGeom prst="rect">
            <a:avLst/>
          </a:prstGeom>
          <a:solidFill>
            <a:srgbClr val="F7DF1E"/>
          </a:solidFill>
          <a:ln w="12700">
            <a:solidFill>
              <a:srgbClr val="F7DF1E"/>
            </a:solidFill>
            <a:prstDash val="solid"/>
          </a:ln>
        </p:spPr>
      </p:sp>
      <p:sp>
        <p:nvSpPr>
          <p:cNvPr id="6" name="Text 4"/>
          <p:cNvSpPr txBox="1"/>
          <p:nvPr/>
        </p:nvSpPr>
        <p:spPr>
          <a:xfrm>
            <a:off x="182880" y="1261872"/>
            <a:ext cx="2834640" cy="365760"/>
          </a:xfrm>
          <a:prstGeom prst="rect">
            <a:avLst/>
          </a:prstGeom>
          <a:noFill/>
          <a:ln/>
        </p:spPr>
        <p:txBody>
          <a:bodyPr wrap="square" lIns="0" tIns="0" rIns="0" bIns="0" rtlCol="0" anchor="t"/>
          <a:lstStyle/>
          <a:p>
            <a:pPr marL="0" indent="0" algn="l">
              <a:buNone/>
            </a:pPr>
            <a:r>
              <a:rPr lang="en-US" sz="1100" dirty="0">
                <a:solidFill>
                  <a:srgbClr val="CDD6F4"/>
                </a:solidFill>
                <a:latin typeface="Calibri" pitchFamily="34" charset="0"/>
                <a:ea typeface="Calibri" pitchFamily="34" charset="-122"/>
                <a:cs typeface="Calibri" pitchFamily="34" charset="-120"/>
              </a:rPr>
              <a:t>Follow along!</a:t>
            </a:r>
            <a:endParaRPr lang="en-US" sz="1100" dirty="0"/>
          </a:p>
        </p:txBody>
      </p:sp>
      <p:sp>
        <p:nvSpPr>
          <p:cNvPr id="7" name="Shape 5"/>
          <p:cNvSpPr/>
          <p:nvPr/>
        </p:nvSpPr>
        <p:spPr>
          <a:xfrm>
            <a:off x="3337560" y="182880"/>
            <a:ext cx="5577840" cy="4754880"/>
          </a:xfrm>
          <a:prstGeom prst="rect">
            <a:avLst/>
          </a:prstGeom>
          <a:solidFill>
            <a:srgbClr val="1E2336"/>
          </a:solidFill>
          <a:ln w="12700">
            <a:solidFill>
              <a:srgbClr val="2D3250"/>
            </a:solidFill>
            <a:prstDash val="solid"/>
          </a:ln>
        </p:spPr>
      </p:sp>
      <p:sp>
        <p:nvSpPr>
          <p:cNvPr id="8" name="Shape 6"/>
          <p:cNvSpPr/>
          <p:nvPr/>
        </p:nvSpPr>
        <p:spPr>
          <a:xfrm>
            <a:off x="3456432" y="283464"/>
            <a:ext cx="118872" cy="118872"/>
          </a:xfrm>
          <a:prstGeom prst="ellipse">
            <a:avLst/>
          </a:prstGeom>
          <a:solidFill>
            <a:srgbClr val="FF5F56"/>
          </a:solidFill>
          <a:ln w="12700">
            <a:solidFill>
              <a:srgbClr val="FF5F56"/>
            </a:solidFill>
            <a:prstDash val="solid"/>
          </a:ln>
        </p:spPr>
      </p:sp>
      <p:sp>
        <p:nvSpPr>
          <p:cNvPr id="9" name="Shape 7"/>
          <p:cNvSpPr/>
          <p:nvPr/>
        </p:nvSpPr>
        <p:spPr>
          <a:xfrm>
            <a:off x="3657600" y="283464"/>
            <a:ext cx="118872" cy="118872"/>
          </a:xfrm>
          <a:prstGeom prst="ellipse">
            <a:avLst/>
          </a:prstGeom>
          <a:solidFill>
            <a:srgbClr val="FFBD2E"/>
          </a:solidFill>
          <a:ln w="12700">
            <a:solidFill>
              <a:srgbClr val="FFBD2E"/>
            </a:solidFill>
            <a:prstDash val="solid"/>
          </a:ln>
        </p:spPr>
      </p:sp>
      <p:sp>
        <p:nvSpPr>
          <p:cNvPr id="10" name="Shape 8"/>
          <p:cNvSpPr/>
          <p:nvPr/>
        </p:nvSpPr>
        <p:spPr>
          <a:xfrm>
            <a:off x="3858768" y="283464"/>
            <a:ext cx="118872" cy="118872"/>
          </a:xfrm>
          <a:prstGeom prst="ellipse">
            <a:avLst/>
          </a:prstGeom>
          <a:solidFill>
            <a:srgbClr val="27C93F"/>
          </a:solidFill>
          <a:ln w="12700">
            <a:solidFill>
              <a:srgbClr val="27C93F"/>
            </a:solidFill>
            <a:prstDash val="solid"/>
          </a:ln>
        </p:spPr>
      </p:sp>
      <p:sp>
        <p:nvSpPr>
          <p:cNvPr id="11" name="Text 9"/>
          <p:cNvSpPr txBox="1"/>
          <p:nvPr/>
        </p:nvSpPr>
        <p:spPr>
          <a:xfrm>
            <a:off x="3474720" y="475488"/>
            <a:ext cx="5303520" cy="4343400"/>
          </a:xfrm>
          <a:prstGeom prst="rect">
            <a:avLst/>
          </a:prstGeom>
          <a:noFill/>
          <a:ln/>
        </p:spPr>
        <p:txBody>
          <a:bodyPr wrap="square" lIns="0" tIns="0" rIns="0" bIns="0" rtlCol="0" anchor="t"/>
          <a:lstStyle/>
          <a:p>
            <a:pPr marL="0" indent="0" algn="l">
              <a:buNone/>
            </a:pPr>
            <a:r>
              <a:rPr lang="en-US" sz="1000" dirty="0">
                <a:solidFill>
                  <a:srgbClr val="64FFDA"/>
                </a:solidFill>
                <a:latin typeface="Courier New" pitchFamily="34" charset="0"/>
                <a:ea typeface="Courier New" pitchFamily="34" charset="-122"/>
                <a:cs typeface="Courier New" pitchFamily="34" charset="-120"/>
              </a:rPr>
              <a:t>&lt;form action="/register" method="POST"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id="reg-form" novalidate&gt;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&lt;fieldset&gt;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&lt;legend&gt;Student Info&lt;/legend&gt;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&lt;label for="sname"&gt;Full Name&lt;/label&gt;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&lt;input type="text" id="sname"</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name="sname" required</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minlength="2" maxlength="50"&gt;</a:t>
            </a:r>
            <a:endParaRPr lang="en-US" sz="1000" dirty="0"/>
          </a:p>
          <a:p>
            <a:pPr marL="0" indent="0" algn="l">
              <a:buNone/>
            </a:pP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&lt;label for="sid"&gt;Student ID&lt;/label&gt;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&lt;input type="text" id="sid"</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name="sid" required</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pattern="\d{9}"</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title="9-digit number"&gt;</a:t>
            </a:r>
            <a:endParaRPr lang="en-US" sz="1000" dirty="0"/>
          </a:p>
          <a:p>
            <a:pPr marL="0" indent="0" algn="l">
              <a:buNone/>
            </a:pP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&lt;label for="semail"&gt;Gachon Email&lt;/label&gt;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&lt;input type="email" id="semail"</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name="semail" required&gt;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&lt;/fieldset&gt;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  &lt;button type="submit"&gt;Submit&lt;/button&gt;</a:t>
            </a:r>
            <a:endParaRPr lang="en-US" sz="1000" dirty="0"/>
          </a:p>
          <a:p>
            <a:pPr marL="0" indent="0" algn="l">
              <a:buNone/>
            </a:pPr>
            <a:r>
              <a:rPr lang="en-US" sz="1000" dirty="0">
                <a:solidFill>
                  <a:srgbClr val="64FFDA"/>
                </a:solidFill>
                <a:latin typeface="Courier New" pitchFamily="34" charset="0"/>
                <a:ea typeface="Courier New" pitchFamily="34" charset="-122"/>
                <a:cs typeface="Courier New" pitchFamily="34" charset="-120"/>
              </a:rPr>
              <a:t>&lt;/form&gt;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9144000" cy="64008"/>
          </a:xfrm>
          <a:prstGeom prst="rect">
            <a:avLst/>
          </a:prstGeom>
          <a:solidFill>
            <a:srgbClr val="F7DF1E"/>
          </a:solidFill>
          <a:ln w="12700">
            <a:solidFill>
              <a:srgbClr val="F7DF1E"/>
            </a:solidFill>
            <a:prstDash val="solid"/>
          </a:ln>
        </p:spPr>
      </p:sp>
      <p:sp>
        <p:nvSpPr>
          <p:cNvPr id="4" name="Text 2"/>
          <p:cNvSpPr txBox="1"/>
          <p:nvPr/>
        </p:nvSpPr>
        <p:spPr>
          <a:xfrm>
            <a:off x="457200" y="182880"/>
            <a:ext cx="8229600" cy="548640"/>
          </a:xfrm>
          <a:prstGeom prst="rect">
            <a:avLst/>
          </a:prstGeom>
          <a:noFill/>
          <a:ln/>
        </p:spPr>
        <p:txBody>
          <a:bodyPr wrap="square" lIns="0" tIns="0" rIns="0" bIns="0" rtlCol="0" anchor="ctr"/>
          <a:lstStyle/>
          <a:p>
            <a:pPr marL="0" indent="0" algn="l">
              <a:buNone/>
            </a:pPr>
            <a:r>
              <a:rPr lang="en-US" sz="2800" b="1" dirty="0">
                <a:solidFill>
                  <a:srgbClr val="1A2540"/>
                </a:solidFill>
                <a:latin typeface="Calibri" pitchFamily="34" charset="0"/>
                <a:ea typeface="Calibri" pitchFamily="34" charset="-122"/>
                <a:cs typeface="Calibri" pitchFamily="34" charset="-120"/>
              </a:rPr>
              <a:t>Form Accessibility Quick-Wins</a:t>
            </a:r>
            <a:endParaRPr lang="en-US" sz="2800" dirty="0"/>
          </a:p>
        </p:txBody>
      </p:sp>
      <p:sp>
        <p:nvSpPr>
          <p:cNvPr id="5" name="Shape 3"/>
          <p:cNvSpPr/>
          <p:nvPr/>
        </p:nvSpPr>
        <p:spPr>
          <a:xfrm>
            <a:off x="457200" y="758952"/>
            <a:ext cx="8229600" cy="36576"/>
          </a:xfrm>
          <a:prstGeom prst="rect">
            <a:avLst/>
          </a:prstGeom>
          <a:solidFill>
            <a:srgbClr val="F7DF1E"/>
          </a:solidFill>
          <a:ln w="12700">
            <a:solidFill>
              <a:srgbClr val="F7DF1E"/>
            </a:solidFill>
            <a:prstDash val="solid"/>
          </a:ln>
        </p:spPr>
      </p:sp>
      <p:sp>
        <p:nvSpPr>
          <p:cNvPr id="6" name="Shape 4"/>
          <p:cNvSpPr/>
          <p:nvPr/>
        </p:nvSpPr>
        <p:spPr>
          <a:xfrm>
            <a:off x="365760" y="1005840"/>
            <a:ext cx="3840480" cy="1600200"/>
          </a:xfrm>
          <a:prstGeom prst="rect">
            <a:avLst/>
          </a:prstGeom>
          <a:solidFill>
            <a:srgbClr val="E8EDFF"/>
          </a:solidFill>
          <a:ln w="12700">
            <a:solidFill>
              <a:srgbClr val="CBD5FF"/>
            </a:solidFill>
            <a:prstDash val="solid"/>
          </a:ln>
        </p:spPr>
      </p:sp>
      <p:sp>
        <p:nvSpPr>
          <p:cNvPr id="7" name="Text 5"/>
          <p:cNvSpPr txBox="1"/>
          <p:nvPr/>
        </p:nvSpPr>
        <p:spPr>
          <a:xfrm>
            <a:off x="457200" y="1097280"/>
            <a:ext cx="548640" cy="548640"/>
          </a:xfrm>
          <a:prstGeom prst="rect">
            <a:avLst/>
          </a:prstGeom>
          <a:noFill/>
          <a:ln/>
        </p:spPr>
        <p:txBody>
          <a:bodyPr wrap="square" lIns="0" tIns="0" rIns="0" bIns="0" rtlCol="0" anchor="ctr"/>
          <a:lstStyle/>
          <a:p>
            <a:pPr marL="0" indent="0" algn="l">
              <a:buNone/>
            </a:pPr>
            <a:r>
              <a:rPr lang="en-US" sz="2200" dirty="0">
                <a:solidFill>
                  <a:srgbClr val="000000"/>
                </a:solidFill>
              </a:rPr>
              <a:t>🏷️</a:t>
            </a:r>
            <a:endParaRPr lang="en-US" sz="2200" dirty="0"/>
          </a:p>
        </p:txBody>
      </p:sp>
      <p:sp>
        <p:nvSpPr>
          <p:cNvPr id="8" name="Text 6"/>
          <p:cNvSpPr txBox="1"/>
          <p:nvPr/>
        </p:nvSpPr>
        <p:spPr>
          <a:xfrm>
            <a:off x="1051560" y="1097280"/>
            <a:ext cx="3063240" cy="411480"/>
          </a:xfrm>
          <a:prstGeom prst="rect">
            <a:avLst/>
          </a:prstGeom>
          <a:noFill/>
          <a:ln/>
        </p:spPr>
        <p:txBody>
          <a:bodyPr wrap="square" lIns="0" tIns="0" rIns="0" bIns="0" rtlCol="0" anchor="ctr"/>
          <a:lstStyle/>
          <a:p>
            <a:pPr marL="0" indent="0" algn="l">
              <a:buNone/>
            </a:pPr>
            <a:r>
              <a:rPr lang="en-US" sz="1400" b="1" dirty="0">
                <a:solidFill>
                  <a:srgbClr val="1A2540"/>
                </a:solidFill>
                <a:latin typeface="Calibri" pitchFamily="34" charset="0"/>
                <a:ea typeface="Calibri" pitchFamily="34" charset="-122"/>
                <a:cs typeface="Calibri" pitchFamily="34" charset="-120"/>
              </a:rPr>
              <a:t>Always use &lt;label&gt;</a:t>
            </a:r>
            <a:endParaRPr lang="en-US" sz="1400" dirty="0"/>
          </a:p>
        </p:txBody>
      </p:sp>
      <p:sp>
        <p:nvSpPr>
          <p:cNvPr id="9" name="Text 7"/>
          <p:cNvSpPr txBox="1"/>
          <p:nvPr/>
        </p:nvSpPr>
        <p:spPr>
          <a:xfrm>
            <a:off x="457200" y="1600200"/>
            <a:ext cx="3611880" cy="822960"/>
          </a:xfrm>
          <a:prstGeom prst="rect">
            <a:avLst/>
          </a:prstGeom>
          <a:noFill/>
          <a:ln/>
        </p:spPr>
        <p:txBody>
          <a:bodyPr wrap="square" lIns="0" tIns="0" rIns="0" bIns="0" rtlCol="0" anchor="t"/>
          <a:lstStyle/>
          <a:p>
            <a:pPr marL="0" indent="0" algn="l">
              <a:buNone/>
            </a:pPr>
            <a:r>
              <a:rPr lang="en-US" sz="1100" dirty="0">
                <a:solidFill>
                  <a:srgbClr val="8892B0"/>
                </a:solidFill>
                <a:latin typeface="Calibri" pitchFamily="34" charset="0"/>
                <a:ea typeface="Calibri" pitchFamily="34" charset="-122"/>
                <a:cs typeface="Calibri" pitchFamily="34" charset="-120"/>
              </a:rPr>
              <a:t>Link with for/id. Never rely on placeholder alone.</a:t>
            </a:r>
            <a:endParaRPr lang="en-US" sz="1100" dirty="0"/>
          </a:p>
        </p:txBody>
      </p:sp>
      <p:sp>
        <p:nvSpPr>
          <p:cNvPr id="10" name="Shape 8"/>
          <p:cNvSpPr/>
          <p:nvPr/>
        </p:nvSpPr>
        <p:spPr>
          <a:xfrm>
            <a:off x="4572000" y="1005840"/>
            <a:ext cx="3840480" cy="1600200"/>
          </a:xfrm>
          <a:prstGeom prst="rect">
            <a:avLst/>
          </a:prstGeom>
          <a:solidFill>
            <a:srgbClr val="E8EDFF"/>
          </a:solidFill>
          <a:ln w="12700">
            <a:solidFill>
              <a:srgbClr val="CBD5FF"/>
            </a:solidFill>
            <a:prstDash val="solid"/>
          </a:ln>
        </p:spPr>
      </p:sp>
      <p:sp>
        <p:nvSpPr>
          <p:cNvPr id="11" name="Text 9"/>
          <p:cNvSpPr txBox="1"/>
          <p:nvPr/>
        </p:nvSpPr>
        <p:spPr>
          <a:xfrm>
            <a:off x="4663440" y="1097280"/>
            <a:ext cx="548640" cy="548640"/>
          </a:xfrm>
          <a:prstGeom prst="rect">
            <a:avLst/>
          </a:prstGeom>
          <a:noFill/>
          <a:ln/>
        </p:spPr>
        <p:txBody>
          <a:bodyPr wrap="square" lIns="0" tIns="0" rIns="0" bIns="0" rtlCol="0" anchor="ctr"/>
          <a:lstStyle/>
          <a:p>
            <a:pPr marL="0" indent="0" algn="l">
              <a:buNone/>
            </a:pPr>
            <a:r>
              <a:rPr lang="en-US" sz="2200" dirty="0">
                <a:solidFill>
                  <a:srgbClr val="000000"/>
                </a:solidFill>
              </a:rPr>
              <a:t>⌨️</a:t>
            </a:r>
            <a:endParaRPr lang="en-US" sz="2200" dirty="0"/>
          </a:p>
        </p:txBody>
      </p:sp>
      <p:sp>
        <p:nvSpPr>
          <p:cNvPr id="12" name="Text 10"/>
          <p:cNvSpPr txBox="1"/>
          <p:nvPr/>
        </p:nvSpPr>
        <p:spPr>
          <a:xfrm>
            <a:off x="5257800" y="1097280"/>
            <a:ext cx="3063240" cy="411480"/>
          </a:xfrm>
          <a:prstGeom prst="rect">
            <a:avLst/>
          </a:prstGeom>
          <a:noFill/>
          <a:ln/>
        </p:spPr>
        <p:txBody>
          <a:bodyPr wrap="square" lIns="0" tIns="0" rIns="0" bIns="0" rtlCol="0" anchor="ctr"/>
          <a:lstStyle/>
          <a:p>
            <a:pPr marL="0" indent="0" algn="l">
              <a:buNone/>
            </a:pPr>
            <a:r>
              <a:rPr lang="en-US" sz="1400" b="1" dirty="0">
                <a:solidFill>
                  <a:srgbClr val="1A2540"/>
                </a:solidFill>
                <a:latin typeface="Calibri" pitchFamily="34" charset="0"/>
                <a:ea typeface="Calibri" pitchFamily="34" charset="-122"/>
                <a:cs typeface="Calibri" pitchFamily="34" charset="-120"/>
              </a:rPr>
              <a:t>Keyboard navigation</a:t>
            </a:r>
            <a:endParaRPr lang="en-US" sz="1400" dirty="0"/>
          </a:p>
        </p:txBody>
      </p:sp>
      <p:sp>
        <p:nvSpPr>
          <p:cNvPr id="13" name="Text 11"/>
          <p:cNvSpPr txBox="1"/>
          <p:nvPr/>
        </p:nvSpPr>
        <p:spPr>
          <a:xfrm>
            <a:off x="4663440" y="1600200"/>
            <a:ext cx="3611880" cy="822960"/>
          </a:xfrm>
          <a:prstGeom prst="rect">
            <a:avLst/>
          </a:prstGeom>
          <a:noFill/>
          <a:ln/>
        </p:spPr>
        <p:txBody>
          <a:bodyPr wrap="square" lIns="0" tIns="0" rIns="0" bIns="0" rtlCol="0" anchor="t"/>
          <a:lstStyle/>
          <a:p>
            <a:pPr marL="0" indent="0" algn="l">
              <a:buNone/>
            </a:pPr>
            <a:r>
              <a:rPr lang="en-US" sz="1100" dirty="0">
                <a:solidFill>
                  <a:srgbClr val="8892B0"/>
                </a:solidFill>
                <a:latin typeface="Calibri" pitchFamily="34" charset="0"/>
                <a:ea typeface="Calibri" pitchFamily="34" charset="-122"/>
                <a:cs typeface="Calibri" pitchFamily="34" charset="-120"/>
              </a:rPr>
              <a:t>Tab through all fields, Enter submits. Test it!</a:t>
            </a:r>
            <a:endParaRPr lang="en-US" sz="1100" dirty="0"/>
          </a:p>
        </p:txBody>
      </p:sp>
      <p:sp>
        <p:nvSpPr>
          <p:cNvPr id="14" name="Shape 12"/>
          <p:cNvSpPr/>
          <p:nvPr/>
        </p:nvSpPr>
        <p:spPr>
          <a:xfrm>
            <a:off x="365760" y="2834640"/>
            <a:ext cx="3840480" cy="1600200"/>
          </a:xfrm>
          <a:prstGeom prst="rect">
            <a:avLst/>
          </a:prstGeom>
          <a:solidFill>
            <a:srgbClr val="E8EDFF"/>
          </a:solidFill>
          <a:ln w="12700">
            <a:solidFill>
              <a:srgbClr val="CBD5FF"/>
            </a:solidFill>
            <a:prstDash val="solid"/>
          </a:ln>
        </p:spPr>
      </p:sp>
      <p:sp>
        <p:nvSpPr>
          <p:cNvPr id="15" name="Text 13"/>
          <p:cNvSpPr txBox="1"/>
          <p:nvPr/>
        </p:nvSpPr>
        <p:spPr>
          <a:xfrm>
            <a:off x="457200" y="2926080"/>
            <a:ext cx="548640" cy="548640"/>
          </a:xfrm>
          <a:prstGeom prst="rect">
            <a:avLst/>
          </a:prstGeom>
          <a:noFill/>
          <a:ln/>
        </p:spPr>
        <p:txBody>
          <a:bodyPr wrap="square" lIns="0" tIns="0" rIns="0" bIns="0" rtlCol="0" anchor="ctr"/>
          <a:lstStyle/>
          <a:p>
            <a:pPr marL="0" indent="0" algn="l">
              <a:buNone/>
            </a:pPr>
            <a:r>
              <a:rPr lang="en-US" sz="2200" dirty="0">
                <a:solidFill>
                  <a:srgbClr val="000000"/>
                </a:solidFill>
              </a:rPr>
              <a:t>🔤</a:t>
            </a:r>
            <a:endParaRPr lang="en-US" sz="2200" dirty="0"/>
          </a:p>
        </p:txBody>
      </p:sp>
      <p:sp>
        <p:nvSpPr>
          <p:cNvPr id="16" name="Text 14"/>
          <p:cNvSpPr txBox="1"/>
          <p:nvPr/>
        </p:nvSpPr>
        <p:spPr>
          <a:xfrm>
            <a:off x="1051560" y="2926080"/>
            <a:ext cx="3063240" cy="411480"/>
          </a:xfrm>
          <a:prstGeom prst="rect">
            <a:avLst/>
          </a:prstGeom>
          <a:noFill/>
          <a:ln/>
        </p:spPr>
        <p:txBody>
          <a:bodyPr wrap="square" lIns="0" tIns="0" rIns="0" bIns="0" rtlCol="0" anchor="ctr"/>
          <a:lstStyle/>
          <a:p>
            <a:pPr marL="0" indent="0" algn="l">
              <a:buNone/>
            </a:pPr>
            <a:r>
              <a:rPr lang="en-US" sz="1400" b="1" dirty="0">
                <a:solidFill>
                  <a:srgbClr val="1A2540"/>
                </a:solidFill>
                <a:latin typeface="Calibri" pitchFamily="34" charset="0"/>
                <a:ea typeface="Calibri" pitchFamily="34" charset="-122"/>
                <a:cs typeface="Calibri" pitchFamily="34" charset="-120"/>
              </a:rPr>
              <a:t>Error messages</a:t>
            </a:r>
            <a:endParaRPr lang="en-US" sz="1400" dirty="0"/>
          </a:p>
        </p:txBody>
      </p:sp>
      <p:sp>
        <p:nvSpPr>
          <p:cNvPr id="17" name="Text 15"/>
          <p:cNvSpPr txBox="1"/>
          <p:nvPr/>
        </p:nvSpPr>
        <p:spPr>
          <a:xfrm>
            <a:off x="457200" y="3429000"/>
            <a:ext cx="3611880" cy="822960"/>
          </a:xfrm>
          <a:prstGeom prst="rect">
            <a:avLst/>
          </a:prstGeom>
          <a:noFill/>
          <a:ln/>
        </p:spPr>
        <p:txBody>
          <a:bodyPr wrap="square" lIns="0" tIns="0" rIns="0" bIns="0" rtlCol="0" anchor="t"/>
          <a:lstStyle/>
          <a:p>
            <a:pPr marL="0" indent="0" algn="l">
              <a:buNone/>
            </a:pPr>
            <a:r>
              <a:rPr lang="en-US" sz="1100" dirty="0">
                <a:solidFill>
                  <a:srgbClr val="8892B0"/>
                </a:solidFill>
                <a:latin typeface="Calibri" pitchFamily="34" charset="0"/>
                <a:ea typeface="Calibri" pitchFamily="34" charset="-122"/>
                <a:cs typeface="Calibri" pitchFamily="34" charset="-120"/>
              </a:rPr>
              <a:t>Describe the problem: "Must be a valid email address".</a:t>
            </a:r>
            <a:endParaRPr lang="en-US" sz="1100" dirty="0"/>
          </a:p>
        </p:txBody>
      </p:sp>
      <p:sp>
        <p:nvSpPr>
          <p:cNvPr id="18" name="Shape 16"/>
          <p:cNvSpPr/>
          <p:nvPr/>
        </p:nvSpPr>
        <p:spPr>
          <a:xfrm>
            <a:off x="4572000" y="2834640"/>
            <a:ext cx="3840480" cy="1600200"/>
          </a:xfrm>
          <a:prstGeom prst="rect">
            <a:avLst/>
          </a:prstGeom>
          <a:solidFill>
            <a:srgbClr val="E8EDFF"/>
          </a:solidFill>
          <a:ln w="12700">
            <a:solidFill>
              <a:srgbClr val="CBD5FF"/>
            </a:solidFill>
            <a:prstDash val="solid"/>
          </a:ln>
        </p:spPr>
      </p:sp>
      <p:sp>
        <p:nvSpPr>
          <p:cNvPr id="19" name="Text 17"/>
          <p:cNvSpPr txBox="1"/>
          <p:nvPr/>
        </p:nvSpPr>
        <p:spPr>
          <a:xfrm>
            <a:off x="4663440" y="2926080"/>
            <a:ext cx="548640" cy="548640"/>
          </a:xfrm>
          <a:prstGeom prst="rect">
            <a:avLst/>
          </a:prstGeom>
          <a:noFill/>
          <a:ln/>
        </p:spPr>
        <p:txBody>
          <a:bodyPr wrap="square" lIns="0" tIns="0" rIns="0" bIns="0" rtlCol="0" anchor="ctr"/>
          <a:lstStyle/>
          <a:p>
            <a:pPr marL="0" indent="0" algn="l">
              <a:buNone/>
            </a:pPr>
            <a:r>
              <a:rPr lang="en-US" sz="2200" dirty="0">
                <a:solidFill>
                  <a:srgbClr val="000000"/>
                </a:solidFill>
              </a:rPr>
              <a:t>📱</a:t>
            </a:r>
            <a:endParaRPr lang="en-US" sz="2200" dirty="0"/>
          </a:p>
        </p:txBody>
      </p:sp>
      <p:sp>
        <p:nvSpPr>
          <p:cNvPr id="20" name="Text 18"/>
          <p:cNvSpPr txBox="1"/>
          <p:nvPr/>
        </p:nvSpPr>
        <p:spPr>
          <a:xfrm>
            <a:off x="5257800" y="2926080"/>
            <a:ext cx="3063240" cy="411480"/>
          </a:xfrm>
          <a:prstGeom prst="rect">
            <a:avLst/>
          </a:prstGeom>
          <a:noFill/>
          <a:ln/>
        </p:spPr>
        <p:txBody>
          <a:bodyPr wrap="square" lIns="0" tIns="0" rIns="0" bIns="0" rtlCol="0" anchor="ctr"/>
          <a:lstStyle/>
          <a:p>
            <a:pPr marL="0" indent="0" algn="l">
              <a:buNone/>
            </a:pPr>
            <a:r>
              <a:rPr lang="en-US" sz="1400" b="1" dirty="0">
                <a:solidFill>
                  <a:srgbClr val="1A2540"/>
                </a:solidFill>
                <a:latin typeface="Calibri" pitchFamily="34" charset="0"/>
                <a:ea typeface="Calibri" pitchFamily="34" charset="-122"/>
                <a:cs typeface="Calibri" pitchFamily="34" charset="-120"/>
              </a:rPr>
              <a:t>Mobile input types</a:t>
            </a:r>
            <a:endParaRPr lang="en-US" sz="1400" dirty="0"/>
          </a:p>
        </p:txBody>
      </p:sp>
      <p:sp>
        <p:nvSpPr>
          <p:cNvPr id="21" name="Text 19"/>
          <p:cNvSpPr txBox="1"/>
          <p:nvPr/>
        </p:nvSpPr>
        <p:spPr>
          <a:xfrm>
            <a:off x="4663440" y="3429000"/>
            <a:ext cx="3611880" cy="822960"/>
          </a:xfrm>
          <a:prstGeom prst="rect">
            <a:avLst/>
          </a:prstGeom>
          <a:noFill/>
          <a:ln/>
        </p:spPr>
        <p:txBody>
          <a:bodyPr wrap="square" lIns="0" tIns="0" rIns="0" bIns="0" rtlCol="0" anchor="t"/>
          <a:lstStyle/>
          <a:p>
            <a:pPr marL="0" indent="0" algn="l">
              <a:buNone/>
            </a:pPr>
            <a:r>
              <a:rPr lang="en-US" sz="1100" dirty="0">
                <a:solidFill>
                  <a:srgbClr val="8892B0"/>
                </a:solidFill>
                <a:latin typeface="Calibri" pitchFamily="34" charset="0"/>
                <a:ea typeface="Calibri" pitchFamily="34" charset="-122"/>
                <a:cs typeface="Calibri" pitchFamily="34" charset="-120"/>
              </a:rPr>
              <a:t>type="email" gives the @ keyboard on smartphones.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w="12700">
            <a:solidFill>
              <a:srgbClr val="1A2540"/>
            </a:solidFill>
            <a:prstDash val="solid"/>
          </a:ln>
        </p:spPr>
      </p:sp>
      <p:sp>
        <p:nvSpPr>
          <p:cNvPr id="3" name="Shape 1"/>
          <p:cNvSpPr/>
          <p:nvPr/>
        </p:nvSpPr>
        <p:spPr>
          <a:xfrm>
            <a:off x="0" y="0"/>
            <a:ext cx="9144000" cy="109728"/>
          </a:xfrm>
          <a:prstGeom prst="rect">
            <a:avLst/>
          </a:prstGeom>
          <a:solidFill>
            <a:srgbClr val="F7DF1E"/>
          </a:solidFill>
          <a:ln w="12700">
            <a:solidFill>
              <a:srgbClr val="F7DF1E"/>
            </a:solidFill>
            <a:prstDash val="solid"/>
          </a:ln>
        </p:spPr>
      </p:sp>
      <p:sp>
        <p:nvSpPr>
          <p:cNvPr id="4" name="Text 2"/>
          <p:cNvSpPr txBox="1"/>
          <p:nvPr/>
        </p:nvSpPr>
        <p:spPr>
          <a:xfrm>
            <a:off x="457200" y="228600"/>
            <a:ext cx="8229600" cy="54864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Summary &amp; Homework</a:t>
            </a:r>
            <a:endParaRPr lang="en-US" sz="2600" dirty="0"/>
          </a:p>
        </p:txBody>
      </p:sp>
      <p:sp>
        <p:nvSpPr>
          <p:cNvPr id="5" name="Shape 3"/>
          <p:cNvSpPr/>
          <p:nvPr/>
        </p:nvSpPr>
        <p:spPr>
          <a:xfrm>
            <a:off x="457200" y="1005840"/>
            <a:ext cx="3931920" cy="777240"/>
          </a:xfrm>
          <a:prstGeom prst="rect">
            <a:avLst/>
          </a:prstGeom>
          <a:solidFill>
            <a:srgbClr val="243055"/>
          </a:solidFill>
          <a:ln w="12700">
            <a:solidFill>
              <a:srgbClr val="3A4F7A"/>
            </a:solidFill>
            <a:prstDash val="solid"/>
          </a:ln>
        </p:spPr>
      </p:sp>
      <p:sp>
        <p:nvSpPr>
          <p:cNvPr id="6" name="Text 4"/>
          <p:cNvSpPr txBox="1"/>
          <p:nvPr/>
        </p:nvSpPr>
        <p:spPr>
          <a:xfrm>
            <a:off x="594360" y="1051560"/>
            <a:ext cx="3657600" cy="320040"/>
          </a:xfrm>
          <a:prstGeom prst="rect">
            <a:avLst/>
          </a:prstGeom>
          <a:noFill/>
          <a:ln/>
        </p:spPr>
        <p:txBody>
          <a:bodyPr wrap="square" lIns="0" tIns="0" rIns="0" bIns="0" rtlCol="0" anchor="ctr"/>
          <a:lstStyle/>
          <a:p>
            <a:pPr marL="0" indent="0" algn="l">
              <a:buNone/>
            </a:pPr>
            <a:r>
              <a:rPr lang="en-US" sz="1300" b="1" dirty="0">
                <a:solidFill>
                  <a:srgbClr val="F7DF1E"/>
                </a:solidFill>
                <a:latin typeface="Courier New" pitchFamily="34" charset="0"/>
                <a:ea typeface="Courier New" pitchFamily="34" charset="-122"/>
                <a:cs typeface="Courier New" pitchFamily="34" charset="-120"/>
              </a:rPr>
              <a:t>&lt;form&gt;</a:t>
            </a:r>
            <a:endParaRPr lang="en-US" sz="1300" dirty="0"/>
          </a:p>
        </p:txBody>
      </p:sp>
      <p:sp>
        <p:nvSpPr>
          <p:cNvPr id="7" name="Text 5"/>
          <p:cNvSpPr txBox="1"/>
          <p:nvPr/>
        </p:nvSpPr>
        <p:spPr>
          <a:xfrm>
            <a:off x="594360" y="1389888"/>
            <a:ext cx="3657600" cy="274320"/>
          </a:xfrm>
          <a:prstGeom prst="rect">
            <a:avLst/>
          </a:prstGeom>
          <a:noFill/>
          <a:ln/>
        </p:spPr>
        <p:txBody>
          <a:bodyPr wrap="square" lIns="0" tIns="0" rIns="0" bIns="0" rtlCol="0" anchor="ctr"/>
          <a:lstStyle/>
          <a:p>
            <a:pPr marL="0" indent="0" algn="l">
              <a:buNone/>
            </a:pPr>
            <a:r>
              <a:rPr lang="en-US" sz="1100" dirty="0">
                <a:solidFill>
                  <a:srgbClr val="CDD6F4"/>
                </a:solidFill>
                <a:latin typeface="Calibri" pitchFamily="34" charset="0"/>
                <a:ea typeface="Calibri" pitchFamily="34" charset="-122"/>
                <a:cs typeface="Calibri" pitchFamily="34" charset="-120"/>
              </a:rPr>
              <a:t>action + method (GET/POST)</a:t>
            </a:r>
            <a:endParaRPr lang="en-US" sz="1100" dirty="0"/>
          </a:p>
        </p:txBody>
      </p:sp>
      <p:sp>
        <p:nvSpPr>
          <p:cNvPr id="8" name="Shape 6"/>
          <p:cNvSpPr/>
          <p:nvPr/>
        </p:nvSpPr>
        <p:spPr>
          <a:xfrm>
            <a:off x="4663440" y="1005840"/>
            <a:ext cx="3931920" cy="777240"/>
          </a:xfrm>
          <a:prstGeom prst="rect">
            <a:avLst/>
          </a:prstGeom>
          <a:solidFill>
            <a:srgbClr val="243055"/>
          </a:solidFill>
          <a:ln w="12700">
            <a:solidFill>
              <a:srgbClr val="3A4F7A"/>
            </a:solidFill>
            <a:prstDash val="solid"/>
          </a:ln>
        </p:spPr>
      </p:sp>
      <p:sp>
        <p:nvSpPr>
          <p:cNvPr id="9" name="Text 7"/>
          <p:cNvSpPr txBox="1"/>
          <p:nvPr/>
        </p:nvSpPr>
        <p:spPr>
          <a:xfrm>
            <a:off x="4800600" y="1051560"/>
            <a:ext cx="3657600" cy="320040"/>
          </a:xfrm>
          <a:prstGeom prst="rect">
            <a:avLst/>
          </a:prstGeom>
          <a:noFill/>
          <a:ln/>
        </p:spPr>
        <p:txBody>
          <a:bodyPr wrap="square" lIns="0" tIns="0" rIns="0" bIns="0" rtlCol="0" anchor="ctr"/>
          <a:lstStyle/>
          <a:p>
            <a:pPr marL="0" indent="0" algn="l">
              <a:buNone/>
            </a:pPr>
            <a:r>
              <a:rPr lang="en-US" sz="1300" b="1" dirty="0">
                <a:solidFill>
                  <a:srgbClr val="F7DF1E"/>
                </a:solidFill>
                <a:latin typeface="Courier New" pitchFamily="34" charset="0"/>
                <a:ea typeface="Courier New" pitchFamily="34" charset="-122"/>
                <a:cs typeface="Courier New" pitchFamily="34" charset="-120"/>
              </a:rPr>
              <a:t>Input types</a:t>
            </a:r>
            <a:endParaRPr lang="en-US" sz="1300" dirty="0"/>
          </a:p>
        </p:txBody>
      </p:sp>
      <p:sp>
        <p:nvSpPr>
          <p:cNvPr id="10" name="Text 8"/>
          <p:cNvSpPr txBox="1"/>
          <p:nvPr/>
        </p:nvSpPr>
        <p:spPr>
          <a:xfrm>
            <a:off x="4800600" y="1389888"/>
            <a:ext cx="3657600" cy="274320"/>
          </a:xfrm>
          <a:prstGeom prst="rect">
            <a:avLst/>
          </a:prstGeom>
          <a:noFill/>
          <a:ln/>
        </p:spPr>
        <p:txBody>
          <a:bodyPr wrap="square" lIns="0" tIns="0" rIns="0" bIns="0" rtlCol="0" anchor="ctr"/>
          <a:lstStyle/>
          <a:p>
            <a:pPr marL="0" indent="0" algn="l">
              <a:buNone/>
            </a:pPr>
            <a:r>
              <a:rPr lang="en-US" sz="1100" dirty="0">
                <a:solidFill>
                  <a:srgbClr val="CDD6F4"/>
                </a:solidFill>
                <a:latin typeface="Calibri" pitchFamily="34" charset="0"/>
                <a:ea typeface="Calibri" pitchFamily="34" charset="-122"/>
                <a:cs typeface="Calibri" pitchFamily="34" charset="-120"/>
              </a:rPr>
              <a:t>text, email, password, date…</a:t>
            </a:r>
            <a:endParaRPr lang="en-US" sz="1100" dirty="0"/>
          </a:p>
        </p:txBody>
      </p:sp>
      <p:sp>
        <p:nvSpPr>
          <p:cNvPr id="11" name="Shape 9"/>
          <p:cNvSpPr/>
          <p:nvPr/>
        </p:nvSpPr>
        <p:spPr>
          <a:xfrm>
            <a:off x="457200" y="1920240"/>
            <a:ext cx="3931920" cy="777240"/>
          </a:xfrm>
          <a:prstGeom prst="rect">
            <a:avLst/>
          </a:prstGeom>
          <a:solidFill>
            <a:srgbClr val="243055"/>
          </a:solidFill>
          <a:ln w="12700">
            <a:solidFill>
              <a:srgbClr val="3A4F7A"/>
            </a:solidFill>
            <a:prstDash val="solid"/>
          </a:ln>
        </p:spPr>
      </p:sp>
      <p:sp>
        <p:nvSpPr>
          <p:cNvPr id="12" name="Text 10"/>
          <p:cNvSpPr txBox="1"/>
          <p:nvPr/>
        </p:nvSpPr>
        <p:spPr>
          <a:xfrm>
            <a:off x="594360" y="1965960"/>
            <a:ext cx="3657600" cy="320040"/>
          </a:xfrm>
          <a:prstGeom prst="rect">
            <a:avLst/>
          </a:prstGeom>
          <a:noFill/>
          <a:ln/>
        </p:spPr>
        <p:txBody>
          <a:bodyPr wrap="square" lIns="0" tIns="0" rIns="0" bIns="0" rtlCol="0" anchor="ctr"/>
          <a:lstStyle/>
          <a:p>
            <a:pPr marL="0" indent="0" algn="l">
              <a:buNone/>
            </a:pPr>
            <a:r>
              <a:rPr lang="en-US" sz="1300" b="1" dirty="0">
                <a:solidFill>
                  <a:srgbClr val="F7DF1E"/>
                </a:solidFill>
                <a:latin typeface="Courier New" pitchFamily="34" charset="0"/>
                <a:ea typeface="Courier New" pitchFamily="34" charset="-122"/>
                <a:cs typeface="Courier New" pitchFamily="34" charset="-120"/>
              </a:rPr>
              <a:t>Validation attrs</a:t>
            </a:r>
            <a:endParaRPr lang="en-US" sz="1300" dirty="0"/>
          </a:p>
        </p:txBody>
      </p:sp>
      <p:sp>
        <p:nvSpPr>
          <p:cNvPr id="13" name="Text 11"/>
          <p:cNvSpPr txBox="1"/>
          <p:nvPr/>
        </p:nvSpPr>
        <p:spPr>
          <a:xfrm>
            <a:off x="594360" y="2304288"/>
            <a:ext cx="3657600" cy="274320"/>
          </a:xfrm>
          <a:prstGeom prst="rect">
            <a:avLst/>
          </a:prstGeom>
          <a:noFill/>
          <a:ln/>
        </p:spPr>
        <p:txBody>
          <a:bodyPr wrap="square" lIns="0" tIns="0" rIns="0" bIns="0" rtlCol="0" anchor="ctr"/>
          <a:lstStyle/>
          <a:p>
            <a:pPr marL="0" indent="0" algn="l">
              <a:buNone/>
            </a:pPr>
            <a:r>
              <a:rPr lang="en-US" sz="1100" dirty="0">
                <a:solidFill>
                  <a:srgbClr val="CDD6F4"/>
                </a:solidFill>
                <a:latin typeface="Calibri" pitchFamily="34" charset="0"/>
                <a:ea typeface="Calibri" pitchFamily="34" charset="-122"/>
                <a:cs typeface="Calibri" pitchFamily="34" charset="-120"/>
              </a:rPr>
              <a:t>required, pattern, min/max</a:t>
            </a:r>
            <a:endParaRPr lang="en-US" sz="1100" dirty="0"/>
          </a:p>
        </p:txBody>
      </p:sp>
      <p:sp>
        <p:nvSpPr>
          <p:cNvPr id="14" name="Shape 12"/>
          <p:cNvSpPr/>
          <p:nvPr/>
        </p:nvSpPr>
        <p:spPr>
          <a:xfrm>
            <a:off x="4663440" y="1920240"/>
            <a:ext cx="3931920" cy="777240"/>
          </a:xfrm>
          <a:prstGeom prst="rect">
            <a:avLst/>
          </a:prstGeom>
          <a:solidFill>
            <a:srgbClr val="243055"/>
          </a:solidFill>
          <a:ln w="12700">
            <a:solidFill>
              <a:srgbClr val="3A4F7A"/>
            </a:solidFill>
            <a:prstDash val="solid"/>
          </a:ln>
        </p:spPr>
      </p:sp>
      <p:sp>
        <p:nvSpPr>
          <p:cNvPr id="15" name="Text 13"/>
          <p:cNvSpPr txBox="1"/>
          <p:nvPr/>
        </p:nvSpPr>
        <p:spPr>
          <a:xfrm>
            <a:off x="4800600" y="1965960"/>
            <a:ext cx="3657600" cy="320040"/>
          </a:xfrm>
          <a:prstGeom prst="rect">
            <a:avLst/>
          </a:prstGeom>
          <a:noFill/>
          <a:ln/>
        </p:spPr>
        <p:txBody>
          <a:bodyPr wrap="square" lIns="0" tIns="0" rIns="0" bIns="0" rtlCol="0" anchor="ctr"/>
          <a:lstStyle/>
          <a:p>
            <a:pPr marL="0" indent="0" algn="l">
              <a:buNone/>
            </a:pPr>
            <a:r>
              <a:rPr lang="en-US" sz="1300" b="1" dirty="0">
                <a:solidFill>
                  <a:srgbClr val="F7DF1E"/>
                </a:solidFill>
                <a:latin typeface="Courier New" pitchFamily="34" charset="0"/>
                <a:ea typeface="Courier New" pitchFamily="34" charset="-122"/>
                <a:cs typeface="Courier New" pitchFamily="34" charset="-120"/>
              </a:rPr>
              <a:t>&lt;label&gt;</a:t>
            </a:r>
            <a:endParaRPr lang="en-US" sz="1300" dirty="0"/>
          </a:p>
        </p:txBody>
      </p:sp>
      <p:sp>
        <p:nvSpPr>
          <p:cNvPr id="16" name="Text 14"/>
          <p:cNvSpPr txBox="1"/>
          <p:nvPr/>
        </p:nvSpPr>
        <p:spPr>
          <a:xfrm>
            <a:off x="4800600" y="2304288"/>
            <a:ext cx="3657600" cy="274320"/>
          </a:xfrm>
          <a:prstGeom prst="rect">
            <a:avLst/>
          </a:prstGeom>
          <a:noFill/>
          <a:ln/>
        </p:spPr>
        <p:txBody>
          <a:bodyPr wrap="square" lIns="0" tIns="0" rIns="0" bIns="0" rtlCol="0" anchor="ctr"/>
          <a:lstStyle/>
          <a:p>
            <a:pPr marL="0" indent="0" algn="l">
              <a:buNone/>
            </a:pPr>
            <a:r>
              <a:rPr lang="en-US" sz="1100" dirty="0">
                <a:solidFill>
                  <a:srgbClr val="CDD6F4"/>
                </a:solidFill>
                <a:latin typeface="Calibri" pitchFamily="34" charset="0"/>
                <a:ea typeface="Calibri" pitchFamily="34" charset="-122"/>
                <a:cs typeface="Calibri" pitchFamily="34" charset="-120"/>
              </a:rPr>
              <a:t>for/id linking — always!</a:t>
            </a:r>
            <a:endParaRPr lang="en-US" sz="1100" dirty="0"/>
          </a:p>
        </p:txBody>
      </p:sp>
      <p:sp>
        <p:nvSpPr>
          <p:cNvPr id="17" name="Shape 15"/>
          <p:cNvSpPr/>
          <p:nvPr/>
        </p:nvSpPr>
        <p:spPr>
          <a:xfrm>
            <a:off x="457200" y="2834640"/>
            <a:ext cx="3931920" cy="777240"/>
          </a:xfrm>
          <a:prstGeom prst="rect">
            <a:avLst/>
          </a:prstGeom>
          <a:solidFill>
            <a:srgbClr val="243055"/>
          </a:solidFill>
          <a:ln w="12700">
            <a:solidFill>
              <a:srgbClr val="3A4F7A"/>
            </a:solidFill>
            <a:prstDash val="solid"/>
          </a:ln>
        </p:spPr>
      </p:sp>
      <p:sp>
        <p:nvSpPr>
          <p:cNvPr id="18" name="Text 16"/>
          <p:cNvSpPr txBox="1"/>
          <p:nvPr/>
        </p:nvSpPr>
        <p:spPr>
          <a:xfrm>
            <a:off x="594360" y="2880360"/>
            <a:ext cx="3657600" cy="320040"/>
          </a:xfrm>
          <a:prstGeom prst="rect">
            <a:avLst/>
          </a:prstGeom>
          <a:noFill/>
          <a:ln/>
        </p:spPr>
        <p:txBody>
          <a:bodyPr wrap="square" lIns="0" tIns="0" rIns="0" bIns="0" rtlCol="0" anchor="ctr"/>
          <a:lstStyle/>
          <a:p>
            <a:pPr marL="0" indent="0" algn="l">
              <a:buNone/>
            </a:pPr>
            <a:r>
              <a:rPr lang="en-US" sz="1300" b="1" dirty="0">
                <a:solidFill>
                  <a:srgbClr val="F7DF1E"/>
                </a:solidFill>
                <a:latin typeface="Courier New" pitchFamily="34" charset="0"/>
                <a:ea typeface="Courier New" pitchFamily="34" charset="-122"/>
                <a:cs typeface="Courier New" pitchFamily="34" charset="-120"/>
              </a:rPr>
              <a:t>&lt;fieldset&gt;</a:t>
            </a:r>
            <a:endParaRPr lang="en-US" sz="1300" dirty="0"/>
          </a:p>
        </p:txBody>
      </p:sp>
      <p:sp>
        <p:nvSpPr>
          <p:cNvPr id="19" name="Text 17"/>
          <p:cNvSpPr txBox="1"/>
          <p:nvPr/>
        </p:nvSpPr>
        <p:spPr>
          <a:xfrm>
            <a:off x="594360" y="3218688"/>
            <a:ext cx="3657600" cy="274320"/>
          </a:xfrm>
          <a:prstGeom prst="rect">
            <a:avLst/>
          </a:prstGeom>
          <a:noFill/>
          <a:ln/>
        </p:spPr>
        <p:txBody>
          <a:bodyPr wrap="square" lIns="0" tIns="0" rIns="0" bIns="0" rtlCol="0" anchor="ctr"/>
          <a:lstStyle/>
          <a:p>
            <a:pPr marL="0" indent="0" algn="l">
              <a:buNone/>
            </a:pPr>
            <a:r>
              <a:rPr lang="en-US" sz="1100" dirty="0">
                <a:solidFill>
                  <a:srgbClr val="CDD6F4"/>
                </a:solidFill>
                <a:latin typeface="Calibri" pitchFamily="34" charset="0"/>
                <a:ea typeface="Calibri" pitchFamily="34" charset="-122"/>
                <a:cs typeface="Calibri" pitchFamily="34" charset="-120"/>
              </a:rPr>
              <a:t>Group related controls</a:t>
            </a:r>
            <a:endParaRPr lang="en-US" sz="1100" dirty="0"/>
          </a:p>
        </p:txBody>
      </p:sp>
      <p:sp>
        <p:nvSpPr>
          <p:cNvPr id="20" name="Shape 18"/>
          <p:cNvSpPr/>
          <p:nvPr/>
        </p:nvSpPr>
        <p:spPr>
          <a:xfrm>
            <a:off x="4663440" y="2834640"/>
            <a:ext cx="3931920" cy="777240"/>
          </a:xfrm>
          <a:prstGeom prst="rect">
            <a:avLst/>
          </a:prstGeom>
          <a:solidFill>
            <a:srgbClr val="243055"/>
          </a:solidFill>
          <a:ln w="12700">
            <a:solidFill>
              <a:srgbClr val="3A4F7A"/>
            </a:solidFill>
            <a:prstDash val="solid"/>
          </a:ln>
        </p:spPr>
      </p:sp>
      <p:sp>
        <p:nvSpPr>
          <p:cNvPr id="21" name="Text 19"/>
          <p:cNvSpPr txBox="1"/>
          <p:nvPr/>
        </p:nvSpPr>
        <p:spPr>
          <a:xfrm>
            <a:off x="4800600" y="2880360"/>
            <a:ext cx="3657600" cy="320040"/>
          </a:xfrm>
          <a:prstGeom prst="rect">
            <a:avLst/>
          </a:prstGeom>
          <a:noFill/>
          <a:ln/>
        </p:spPr>
        <p:txBody>
          <a:bodyPr wrap="square" lIns="0" tIns="0" rIns="0" bIns="0" rtlCol="0" anchor="ctr"/>
          <a:lstStyle/>
          <a:p>
            <a:pPr marL="0" indent="0" algn="l">
              <a:buNone/>
            </a:pPr>
            <a:r>
              <a:rPr lang="en-US" sz="1300" b="1" dirty="0">
                <a:solidFill>
                  <a:srgbClr val="F7DF1E"/>
                </a:solidFill>
                <a:latin typeface="Courier New" pitchFamily="34" charset="0"/>
                <a:ea typeface="Courier New" pitchFamily="34" charset="-122"/>
                <a:cs typeface="Courier New" pitchFamily="34" charset="-120"/>
              </a:rPr>
              <a:t>CSS pseudo-classes</a:t>
            </a:r>
            <a:endParaRPr lang="en-US" sz="1300" dirty="0"/>
          </a:p>
        </p:txBody>
      </p:sp>
      <p:sp>
        <p:nvSpPr>
          <p:cNvPr id="22" name="Text 20"/>
          <p:cNvSpPr txBox="1"/>
          <p:nvPr/>
        </p:nvSpPr>
        <p:spPr>
          <a:xfrm>
            <a:off x="4800600" y="3218688"/>
            <a:ext cx="3657600" cy="274320"/>
          </a:xfrm>
          <a:prstGeom prst="rect">
            <a:avLst/>
          </a:prstGeom>
          <a:noFill/>
          <a:ln/>
        </p:spPr>
        <p:txBody>
          <a:bodyPr wrap="square" lIns="0" tIns="0" rIns="0" bIns="0" rtlCol="0" anchor="ctr"/>
          <a:lstStyle/>
          <a:p>
            <a:pPr marL="0" indent="0" algn="l">
              <a:buNone/>
            </a:pPr>
            <a:r>
              <a:rPr lang="en-US" sz="1100" dirty="0">
                <a:solidFill>
                  <a:srgbClr val="CDD6F4"/>
                </a:solidFill>
                <a:latin typeface="Calibri" pitchFamily="34" charset="0"/>
                <a:ea typeface="Calibri" pitchFamily="34" charset="-122"/>
                <a:cs typeface="Calibri" pitchFamily="34" charset="-120"/>
              </a:rPr>
              <a:t>:valid, :invalid, :focus</a:t>
            </a:r>
            <a:endParaRPr lang="en-US" sz="1100" dirty="0"/>
          </a:p>
        </p:txBody>
      </p:sp>
      <p:sp>
        <p:nvSpPr>
          <p:cNvPr id="23" name="Shape 21"/>
          <p:cNvSpPr/>
          <p:nvPr/>
        </p:nvSpPr>
        <p:spPr>
          <a:xfrm>
            <a:off x="457200" y="3886200"/>
            <a:ext cx="8229600" cy="960120"/>
          </a:xfrm>
          <a:prstGeom prst="rect">
            <a:avLst/>
          </a:prstGeom>
          <a:solidFill>
            <a:srgbClr val="162030"/>
          </a:solidFill>
          <a:ln w="12700">
            <a:solidFill>
              <a:srgbClr val="F7DF1E"/>
            </a:solidFill>
            <a:prstDash val="solid"/>
          </a:ln>
        </p:spPr>
      </p:sp>
      <p:sp>
        <p:nvSpPr>
          <p:cNvPr id="24" name="Text 22"/>
          <p:cNvSpPr txBox="1"/>
          <p:nvPr/>
        </p:nvSpPr>
        <p:spPr>
          <a:xfrm>
            <a:off x="548640" y="3931920"/>
            <a:ext cx="1280160" cy="320040"/>
          </a:xfrm>
          <a:prstGeom prst="rect">
            <a:avLst/>
          </a:prstGeom>
          <a:noFill/>
          <a:ln/>
        </p:spPr>
        <p:txBody>
          <a:bodyPr wrap="square" lIns="0" tIns="0" rIns="0" bIns="0" rtlCol="0" anchor="ctr"/>
          <a:lstStyle/>
          <a:p>
            <a:pPr marL="0" indent="0" algn="l">
              <a:buNone/>
            </a:pPr>
            <a:r>
              <a:rPr lang="en-US" sz="900" b="1" dirty="0">
                <a:solidFill>
                  <a:srgbClr val="F7DF1E"/>
                </a:solidFill>
                <a:latin typeface="Calibri" pitchFamily="34" charset="0"/>
                <a:ea typeface="Calibri" pitchFamily="34" charset="-122"/>
                <a:cs typeface="Calibri" pitchFamily="34" charset="-120"/>
              </a:rPr>
              <a:t>HOMEWORK</a:t>
            </a:r>
            <a:endParaRPr lang="en-US" sz="900" dirty="0"/>
          </a:p>
        </p:txBody>
      </p:sp>
      <p:sp>
        <p:nvSpPr>
          <p:cNvPr id="25" name="Text 23"/>
          <p:cNvSpPr txBox="1"/>
          <p:nvPr/>
        </p:nvSpPr>
        <p:spPr>
          <a:xfrm>
            <a:off x="548640" y="4251960"/>
            <a:ext cx="7955280" cy="502920"/>
          </a:xfrm>
          <a:prstGeom prst="rect">
            <a:avLst/>
          </a:prstGeom>
          <a:noFill/>
          <a:ln/>
        </p:spPr>
        <p:txBody>
          <a:bodyPr wrap="square" lIns="0" tIns="0" rIns="0" bIns="0" rtlCol="0" anchor="t"/>
          <a:lstStyle/>
          <a:p>
            <a:pPr marL="0" indent="0" algn="l">
              <a:buNone/>
            </a:pPr>
            <a:r>
              <a:rPr lang="en-US" sz="1050" dirty="0">
                <a:solidFill>
                  <a:srgbClr val="FFFFFF"/>
                </a:solidFill>
                <a:latin typeface="Calibri" pitchFamily="34" charset="0"/>
                <a:ea typeface="Calibri" pitchFamily="34" charset="-122"/>
                <a:cs typeface="Calibri" pitchFamily="34" charset="-120"/>
              </a:rPr>
              <a:t>Add a contact form to your personal site: name, email, subject, message (textarea), and a send button. Apply at least 3 HTML5 validation attributes and style :valid/:invalid states with CSS.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394</TotalTime>
  <Words>2120</Words>
  <Application>Microsoft Office PowerPoint</Application>
  <PresentationFormat>On-screen Show (16:9)</PresentationFormat>
  <Paragraphs>292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Gachon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Forms &amp; Validation</dc:title>
  <dc:subject>Web Programming K0126002</dc:subject>
  <dc:creator>Dr. Toshpulatov</dc:creator>
  <cp:lastModifiedBy>Mukhiddin Toshpulatov</cp:lastModifiedBy>
  <cp:revision>4</cp:revision>
  <dcterms:created xsi:type="dcterms:W3CDTF">2026-10-21T09:38:05Z</dcterms:created>
  <dcterms:modified xsi:type="dcterms:W3CDTF">2026-10-22T03:37:02Z</dcterms:modified>
</cp:coreProperties>
</file>