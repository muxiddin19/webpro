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932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move from HTML5 browser validation to custom JavaScript validation. We'll see why JS gives us more control — better UX, custom messages, real-time feedback, and ARIA accessibility.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HTML5 validation works, but browser error tooltips are browser-specific, can't be styled, and only appear on submit. JS lets us: (1) show errors as the user types, (2) write custom messages in Korean or English, (3) add ARIA so screen readers announce errors.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`novalidate` to the form tells the browser: don't show your built-in error bubbles. We are taking responsibility for validation in JavaScript. Without it, both the browser AND your JS would show errors — double messages.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event.preventDefault() is the most important line. Without it, the browser would send the form and reload the page — and your validation code would never run. preventDefault() pauses the submit so your JS decides what happens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event fires every time the field value changes — every keystroke, paste, delete. This is what enables real-time feedback. Compare: with submit-only validation, a user who fills 5 fields then clicks Submit learns the first field was wrong — frustrating. With input-event validation, they see the green checkmark as they finish each field.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`validity` object has properties for every HTML5 constraint: `valueMissing` (required + empty), `typeMismatch` (email/url format wrong), `tooShort` (minlength not met), `patternMismatch` (pattern regex fails). For custom patterns not in HTML5 (like a phone format), use regex `.test()`. Both approaches work — mix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ARIA attributes make validation accessible: (1) `aria-describedby` links the input to its error span — screen readers read the error when the user focuses the field. (2) `aria-invalid='true'` tells assistive tech this field has a problem. (3) `role='alert'` on the span makes the screen reader announce changes immediately. Without these, blind users get no validation feedback at 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setCustomValidity() is the bridge between your JS logic and the browser's validity API. When you pass a non-empty string, the field becomes invalid — `checkValidity()` returns false for it, and the submit button disabled trick works. Pass an empty string to clear the error. This is the ONLY way to make custom comparisons (like password matching) work with the HTML5 validity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Disabling the submit button is a great UX pattern — users see at a glance that the form isn't complete yet. `form.checkValidity()` returns true only when every field passes its constraints (required filled, pattern matched, setCustomValidity cleared). The button turns blue as soon as all fields are valid. Important: always ALSO validate on submit — the disabled state can be bypassed in DevTools.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pattern you'll use for every project that needs a validated form. Three parts: helper functions (markValid/markInvalid), per-field validator functions, and event listener setup. Keep each field's validator in its own function — it makes the code easy to reuse and test. The real-time `input` listener calls the same function the submit handler uses.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Friday homework builds directly on Monday's hw.html file. Add novalidate to the form, write a validateField() function for each input, hook them up to the input event, add password confirmation with setCustomValidity(), and add ARIA attributes. The bonus is disabling Submit until the form is valid.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muxiddin19/WebPro/blob/main/week7/WebPro_Week6_Fri_StudyGuide_v2.html"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github.com/muxiddin19/WebPro/blob/main/week7/WebPro_Week6_Fri_FormValidation_v3.pdf" TargetMode="External"/><Relationship Id="rId4" Type="http://schemas.openxmlformats.org/officeDocument/2006/relationships/hyperlink" Target="https://github.com/muxiddin19/WebPro/blob/main/week7/WebPro_Week6_Fri_VideoLectur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1463040"/>
            <a:ext cx="8229600" cy="1005840"/>
          </a:xfrm>
          <a:prstGeom prst="rect">
            <a:avLst/>
          </a:prstGeom>
          <a:noFill/>
          <a:ln/>
        </p:spPr>
        <p:txBody>
          <a:bodyPr wrap="square" rtlCol="0" anchor="ctr"/>
          <a:lstStyle/>
          <a:p>
            <a:pPr marL="0" indent="0" algn="ctr">
              <a:buNone/>
            </a:pPr>
            <a:r>
              <a:rPr lang="en-US" sz="4400" b="1" dirty="0">
                <a:solidFill>
                  <a:srgbClr val="F7DF1E"/>
                </a:solidFill>
                <a:latin typeface="Cambria" pitchFamily="34" charset="0"/>
                <a:ea typeface="Cambria" pitchFamily="34" charset="-122"/>
                <a:cs typeface="Cambria" pitchFamily="34" charset="-120"/>
              </a:rPr>
              <a:t>JS Form Validation</a:t>
            </a:r>
            <a:endParaRPr lang="en-US" sz="4400" dirty="0"/>
          </a:p>
        </p:txBody>
      </p:sp>
      <p:sp>
        <p:nvSpPr>
          <p:cNvPr id="3" name="Text 1"/>
          <p:cNvSpPr txBox="1"/>
          <p:nvPr/>
        </p:nvSpPr>
        <p:spPr>
          <a:xfrm>
            <a:off x="457200" y="2606040"/>
            <a:ext cx="8229600" cy="457200"/>
          </a:xfrm>
          <a:prstGeom prst="rect">
            <a:avLst/>
          </a:prstGeom>
          <a:noFill/>
          <a:ln/>
        </p:spPr>
        <p:txBody>
          <a:bodyPr wrap="square" rtlCol="0" anchor="ctr"/>
          <a:lstStyle/>
          <a:p>
            <a:pPr marL="0" indent="0" algn="ctr">
              <a:buNone/>
            </a:pPr>
            <a:r>
              <a:rPr lang="en-US" sz="1800">
                <a:solidFill>
                  <a:srgbClr val="FFFFFF"/>
                </a:solidFill>
                <a:latin typeface="Calibri" pitchFamily="34" charset="0"/>
                <a:ea typeface="Calibri" pitchFamily="34" charset="-122"/>
                <a:cs typeface="Calibri" pitchFamily="34" charset="-120"/>
              </a:rPr>
              <a:t> </a:t>
            </a:r>
            <a:r>
              <a:rPr lang="en-US" sz="1800" dirty="0">
                <a:solidFill>
                  <a:srgbClr val="FFFFFF"/>
                </a:solidFill>
                <a:latin typeface="Calibri" pitchFamily="34" charset="0"/>
                <a:ea typeface="Calibri" pitchFamily="34" charset="-122"/>
                <a:cs typeface="Calibri" pitchFamily="34" charset="-120"/>
              </a:rPr>
              <a:t>K0126002 Web Programming</a:t>
            </a:r>
            <a:endParaRPr lang="en-US" sz="1800" dirty="0"/>
          </a:p>
        </p:txBody>
      </p:sp>
      <p:sp>
        <p:nvSpPr>
          <p:cNvPr id="4" name="Text 2"/>
          <p:cNvSpPr txBox="1"/>
          <p:nvPr/>
        </p:nvSpPr>
        <p:spPr>
          <a:xfrm>
            <a:off x="457200" y="3154680"/>
            <a:ext cx="8229600" cy="320040"/>
          </a:xfrm>
          <a:prstGeom prst="rect">
            <a:avLst/>
          </a:prstGeom>
          <a:noFill/>
          <a:ln/>
        </p:spPr>
        <p:txBody>
          <a:bodyPr wrap="square"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Gachon University  ·  2026 Fall  ·  Dr. Toshpulatov</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1188720"/>
            <a:ext cx="8229600" cy="822960"/>
          </a:xfrm>
          <a:prstGeom prst="rect">
            <a:avLst/>
          </a:prstGeom>
          <a:noFill/>
          <a:ln/>
        </p:spPr>
        <p:txBody>
          <a:bodyPr wrap="square" rtlCol="0" anchor="ctr"/>
          <a:lstStyle/>
          <a:p>
            <a:pPr marL="0" indent="0" algn="ctr">
              <a:buNone/>
            </a:pPr>
            <a:r>
              <a:rPr lang="en-US" sz="3600" b="1" dirty="0">
                <a:solidFill>
                  <a:srgbClr val="F7DF1E"/>
                </a:solidFill>
                <a:latin typeface="Cambria" pitchFamily="34" charset="0"/>
                <a:ea typeface="Cambria" pitchFamily="34" charset="-122"/>
                <a:cs typeface="Cambria" pitchFamily="34" charset="-120"/>
              </a:rPr>
              <a:t>Why isn't HTML5 enough?</a:t>
            </a:r>
            <a:endParaRPr lang="en-US" sz="3600" dirty="0"/>
          </a:p>
        </p:txBody>
      </p:sp>
      <p:sp>
        <p:nvSpPr>
          <p:cNvPr id="3" name="Text 1"/>
          <p:cNvSpPr txBox="1"/>
          <p:nvPr/>
        </p:nvSpPr>
        <p:spPr>
          <a:xfrm>
            <a:off x="1371600" y="2194560"/>
            <a:ext cx="6400800" cy="1097280"/>
          </a:xfrm>
          <a:prstGeom prst="rect">
            <a:avLst/>
          </a:prstGeom>
          <a:noFill/>
          <a:ln/>
        </p:spPr>
        <p:txBody>
          <a:bodyPr wrap="square" rtlCol="0" anchor="ctr"/>
          <a:lstStyle/>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Browser messages are ugly and not translatable</a:t>
            </a:r>
            <a:endParaRPr lang="en-US" sz="1600" dirty="0"/>
          </a:p>
          <a:p>
            <a:pPr marL="342900" indent="-342900">
              <a:spcAft>
                <a:spcPts val="1000"/>
              </a:spcAft>
              <a:buSzPct val="100000"/>
              <a:buChar char="•"/>
            </a:pPr>
            <a:r>
              <a:rPr lang="en-US" sz="1600" dirty="0">
                <a:solidFill>
                  <a:srgbClr val="FFFFFF"/>
                </a:solidFill>
                <a:latin typeface="Calibri" pitchFamily="34" charset="0"/>
                <a:ea typeface="Calibri" pitchFamily="34" charset="-122"/>
                <a:cs typeface="Calibri" pitchFamily="34" charset="-120"/>
              </a:rPr>
              <a:t>No real-time feedback — only on submit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The novalidate Attribute</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WITHOUT JS (browser controls everything)</a:t>
            </a:r>
            <a:endParaRPr lang="en-US" sz="1000" dirty="0"/>
          </a:p>
        </p:txBody>
      </p:sp>
      <p:sp>
        <p:nvSpPr>
          <p:cNvPr id="4" name="Shape 2"/>
          <p:cNvSpPr/>
          <p:nvPr/>
        </p:nvSpPr>
        <p:spPr>
          <a:xfrm>
            <a:off x="274320" y="1051560"/>
            <a:ext cx="4160520" cy="2011680"/>
          </a:xfrm>
          <a:prstGeom prst="rect">
            <a:avLst/>
          </a:prstGeom>
          <a:solidFill>
            <a:srgbClr val="0D1321"/>
          </a:solidFill>
          <a:ln/>
        </p:spPr>
      </p:sp>
      <p:sp>
        <p:nvSpPr>
          <p:cNvPr id="5" name="Text 3"/>
          <p:cNvSpPr txBox="1"/>
          <p:nvPr/>
        </p:nvSpPr>
        <p:spPr>
          <a:xfrm>
            <a:off x="365760" y="1088136"/>
            <a:ext cx="3977640" cy="193852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&lt;!-- Browser handles everything — no JS control --&gt;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&lt;form action="/register" method="post"&gt;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&lt;input type="email" required&gt;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&lt;button&gt;Submit&lt;/button&gt;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&lt;/form&gt;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WITH JS (novalidate — JS takes over)</a:t>
            </a:r>
            <a:endParaRPr lang="en-US" sz="1000" dirty="0"/>
          </a:p>
        </p:txBody>
      </p:sp>
      <p:sp>
        <p:nvSpPr>
          <p:cNvPr id="7" name="Shape 5"/>
          <p:cNvSpPr/>
          <p:nvPr/>
        </p:nvSpPr>
        <p:spPr>
          <a:xfrm>
            <a:off x="4709160" y="1051560"/>
            <a:ext cx="4160520" cy="2011680"/>
          </a:xfrm>
          <a:prstGeom prst="rect">
            <a:avLst/>
          </a:prstGeom>
          <a:solidFill>
            <a:srgbClr val="0D1321"/>
          </a:solidFill>
          <a:ln/>
        </p:spPr>
      </p:sp>
      <p:sp>
        <p:nvSpPr>
          <p:cNvPr id="8" name="Text 6"/>
          <p:cNvSpPr txBox="1"/>
          <p:nvPr/>
        </p:nvSpPr>
        <p:spPr>
          <a:xfrm>
            <a:off x="4800600" y="1088136"/>
            <a:ext cx="3977640" cy="193852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&lt;!-- novalidate disables browser UI — JS takes over --&gt;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&lt;form action="/register" method="post" novalidate&gt;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&lt;input type="email" id="email" required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aria-describedby="err-email"&gt;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&lt;span id="err-email" role="alert"&gt;&lt;/span&gt;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&lt;button&gt;Submit&lt;/button&gt;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&lt;/form&gt;</a:t>
            </a:r>
            <a:endParaRPr lang="en-US" sz="850" dirty="0"/>
          </a:p>
        </p:txBody>
      </p:sp>
      <p:sp>
        <p:nvSpPr>
          <p:cNvPr id="9" name="Shape 7"/>
          <p:cNvSpPr/>
          <p:nvPr/>
        </p:nvSpPr>
        <p:spPr>
          <a:xfrm>
            <a:off x="274320" y="2926080"/>
            <a:ext cx="4160520" cy="1691640"/>
          </a:xfrm>
          <a:prstGeom prst="rect">
            <a:avLst/>
          </a:prstGeom>
          <a:solidFill>
            <a:srgbClr val="0D1321"/>
          </a:solidFill>
          <a:ln/>
        </p:spPr>
      </p:sp>
      <p:sp>
        <p:nvSpPr>
          <p:cNvPr id="10" name="Text 8"/>
          <p:cNvSpPr txBox="1"/>
          <p:nvPr/>
        </p:nvSpPr>
        <p:spPr>
          <a:xfrm>
            <a:off x="365760" y="2971800"/>
            <a:ext cx="3977640" cy="1600200"/>
          </a:xfrm>
          <a:prstGeom prst="rect">
            <a:avLst/>
          </a:prstGeom>
          <a:noFill/>
          <a:ln/>
        </p:spPr>
        <p:txBody>
          <a:bodyPr wrap="square" lIns="0" tIns="0" rIns="0" bIns="0" rtlCol="0" anchor="t"/>
          <a:lstStyle/>
          <a:p>
            <a:pPr marL="0" indent="0">
              <a:buNone/>
            </a:pPr>
            <a:r>
              <a:rPr lang="en-US" sz="1050" dirty="0">
                <a:solidFill>
                  <a:srgbClr val="FCA5A5"/>
                </a:solidFill>
                <a:latin typeface="Calibri" pitchFamily="34" charset="0"/>
                <a:ea typeface="Calibri" pitchFamily="34" charset="-122"/>
                <a:cs typeface="Calibri" pitchFamily="34" charset="-120"/>
              </a:rPr>
              <a:t>Without novalidate:</a:t>
            </a:r>
            <a:endParaRPr lang="en-US" sz="1050" dirty="0"/>
          </a:p>
          <a:p>
            <a:pPr marL="0" indent="0">
              <a:buNone/>
            </a:pPr>
            <a:r>
              <a:rPr lang="en-US" sz="1050" dirty="0">
                <a:solidFill>
                  <a:srgbClr val="FCA5A5"/>
                </a:solidFill>
                <a:latin typeface="Calibri" pitchFamily="34" charset="0"/>
                <a:ea typeface="Calibri" pitchFamily="34" charset="-122"/>
                <a:cs typeface="Calibri" pitchFamily="34" charset="-120"/>
              </a:rPr>
              <a:t>• Browser shows its own error bubbles</a:t>
            </a:r>
            <a:endParaRPr lang="en-US" sz="1050" dirty="0"/>
          </a:p>
          <a:p>
            <a:pPr marL="0" indent="0">
              <a:buNone/>
            </a:pPr>
            <a:r>
              <a:rPr lang="en-US" sz="1050" dirty="0">
                <a:solidFill>
                  <a:srgbClr val="FCA5A5"/>
                </a:solidFill>
                <a:latin typeface="Calibri" pitchFamily="34" charset="0"/>
                <a:ea typeface="Calibri" pitchFamily="34" charset="-122"/>
                <a:cs typeface="Calibri" pitchFamily="34" charset="-120"/>
              </a:rPr>
              <a:t>• Your JS errors also show</a:t>
            </a:r>
            <a:endParaRPr lang="en-US" sz="1050" dirty="0"/>
          </a:p>
          <a:p>
            <a:pPr marL="0" indent="0">
              <a:buNone/>
            </a:pPr>
            <a:r>
              <a:rPr lang="en-US" sz="1050" dirty="0">
                <a:solidFill>
                  <a:srgbClr val="FCA5A5"/>
                </a:solidFill>
                <a:latin typeface="Calibri" pitchFamily="34" charset="0"/>
                <a:ea typeface="Calibri" pitchFamily="34" charset="-122"/>
                <a:cs typeface="Calibri" pitchFamily="34" charset="-120"/>
              </a:rPr>
              <a:t>• User sees duplicate messages</a:t>
            </a:r>
            <a:endParaRPr lang="en-US" sz="1050" dirty="0"/>
          </a:p>
          <a:p>
            <a:pPr marL="0" indent="0">
              <a:buNone/>
            </a:pPr>
            <a:r>
              <a:rPr lang="en-US" sz="1050" dirty="0">
                <a:solidFill>
                  <a:srgbClr val="FCA5A5"/>
                </a:solidFill>
                <a:latin typeface="Calibri" pitchFamily="34" charset="0"/>
                <a:ea typeface="Calibri" pitchFamily="34" charset="-122"/>
                <a:cs typeface="Calibri" pitchFamily="34" charset="-120"/>
              </a:rPr>
              <a:t>• No CSS control over the tooltip</a:t>
            </a:r>
            <a:endParaRPr lang="en-US" sz="1050" dirty="0"/>
          </a:p>
        </p:txBody>
      </p:sp>
      <p:sp>
        <p:nvSpPr>
          <p:cNvPr id="11" name="Shape 9"/>
          <p:cNvSpPr/>
          <p:nvPr/>
        </p:nvSpPr>
        <p:spPr>
          <a:xfrm>
            <a:off x="4709160" y="2926080"/>
            <a:ext cx="4160520" cy="1691640"/>
          </a:xfrm>
          <a:prstGeom prst="rect">
            <a:avLst/>
          </a:prstGeom>
          <a:solidFill>
            <a:srgbClr val="0D1321"/>
          </a:solidFill>
          <a:ln/>
        </p:spPr>
      </p:sp>
      <p:sp>
        <p:nvSpPr>
          <p:cNvPr id="12" name="Text 10"/>
          <p:cNvSpPr txBox="1"/>
          <p:nvPr/>
        </p:nvSpPr>
        <p:spPr>
          <a:xfrm>
            <a:off x="4800600" y="2971800"/>
            <a:ext cx="3977640" cy="1600200"/>
          </a:xfrm>
          <a:prstGeom prst="rect">
            <a:avLst/>
          </a:prstGeom>
          <a:noFill/>
          <a:ln/>
        </p:spPr>
        <p:txBody>
          <a:bodyPr wrap="square" lIns="0" tIns="0" rIns="0" bIns="0" rtlCol="0" anchor="t"/>
          <a:lstStyle/>
          <a:p>
            <a:pPr marL="0" indent="0">
              <a:buNone/>
            </a:pPr>
            <a:r>
              <a:rPr lang="en-US" sz="1050" dirty="0">
                <a:solidFill>
                  <a:srgbClr val="86EFAC"/>
                </a:solidFill>
                <a:latin typeface="Calibri" pitchFamily="34" charset="0"/>
                <a:ea typeface="Calibri" pitchFamily="34" charset="-122"/>
                <a:cs typeface="Calibri" pitchFamily="34" charset="-120"/>
              </a:rPr>
              <a:t>With novalidate:</a:t>
            </a:r>
            <a:endParaRPr lang="en-US" sz="1050" dirty="0"/>
          </a:p>
          <a:p>
            <a:pPr marL="0" indent="0">
              <a:buNone/>
            </a:pPr>
            <a:r>
              <a:rPr lang="en-US" sz="1050" dirty="0">
                <a:solidFill>
                  <a:srgbClr val="86EFAC"/>
                </a:solidFill>
                <a:latin typeface="Calibri" pitchFamily="34" charset="0"/>
                <a:ea typeface="Calibri" pitchFamily="34" charset="-122"/>
                <a:cs typeface="Calibri" pitchFamily="34" charset="-120"/>
              </a:rPr>
              <a:t>• Browser stays silent — no tooltip bubbles</a:t>
            </a:r>
            <a:endParaRPr lang="en-US" sz="1050" dirty="0"/>
          </a:p>
          <a:p>
            <a:pPr marL="0" indent="0">
              <a:buNone/>
            </a:pPr>
            <a:r>
              <a:rPr lang="en-US" sz="1050" dirty="0">
                <a:solidFill>
                  <a:srgbClr val="86EFAC"/>
                </a:solidFill>
                <a:latin typeface="Calibri" pitchFamily="34" charset="0"/>
                <a:ea typeface="Calibri" pitchFamily="34" charset="-122"/>
                <a:cs typeface="Calibri" pitchFamily="34" charset="-120"/>
              </a:rPr>
              <a:t>• Only your styled &lt;span&gt; error appears</a:t>
            </a:r>
            <a:endParaRPr lang="en-US" sz="1050" dirty="0"/>
          </a:p>
          <a:p>
            <a:pPr marL="0" indent="0">
              <a:buNone/>
            </a:pPr>
            <a:r>
              <a:rPr lang="en-US" sz="1050" dirty="0">
                <a:solidFill>
                  <a:srgbClr val="86EFAC"/>
                </a:solidFill>
                <a:latin typeface="Calibri" pitchFamily="34" charset="0"/>
                <a:ea typeface="Calibri" pitchFamily="34" charset="-122"/>
                <a:cs typeface="Calibri" pitchFamily="34" charset="-120"/>
              </a:rPr>
              <a:t>• checkValidity() still works normally</a:t>
            </a:r>
            <a:endParaRPr lang="en-US" sz="1050" dirty="0"/>
          </a:p>
          <a:p>
            <a:pPr marL="0" indent="0">
              <a:buNone/>
            </a:pPr>
            <a:r>
              <a:rPr lang="en-US" sz="1050" dirty="0">
                <a:solidFill>
                  <a:srgbClr val="86EFAC"/>
                </a:solidFill>
                <a:latin typeface="Calibri" pitchFamily="34" charset="0"/>
                <a:ea typeface="Calibri" pitchFamily="34" charset="-122"/>
                <a:cs typeface="Calibri" pitchFamily="34" charset="-120"/>
              </a:rPr>
              <a:t>• Full CSS/design control over errors</a:t>
            </a:r>
            <a:endParaRPr lang="en-US" sz="1050" dirty="0"/>
          </a:p>
        </p:txBody>
      </p:sp>
      <p:sp>
        <p:nvSpPr>
          <p:cNvPr id="13" name="Text 11"/>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preventDefault() + submit event</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WITHOUT JS — form submits immediately</a:t>
            </a:r>
            <a:endParaRPr lang="en-US" sz="1000" dirty="0"/>
          </a:p>
        </p:txBody>
      </p:sp>
      <p:sp>
        <p:nvSpPr>
          <p:cNvPr id="4" name="Shape 2"/>
          <p:cNvSpPr/>
          <p:nvPr/>
        </p:nvSpPr>
        <p:spPr>
          <a:xfrm>
            <a:off x="274320" y="1051560"/>
            <a:ext cx="4160520" cy="2286000"/>
          </a:xfrm>
          <a:prstGeom prst="rect">
            <a:avLst/>
          </a:prstGeom>
          <a:solidFill>
            <a:srgbClr val="0D1321"/>
          </a:solidFill>
          <a:ln/>
        </p:spPr>
      </p:sp>
      <p:sp>
        <p:nvSpPr>
          <p:cNvPr id="5" name="Text 3"/>
          <p:cNvSpPr txBox="1"/>
          <p:nvPr/>
        </p:nvSpPr>
        <p:spPr>
          <a:xfrm>
            <a:off x="365760" y="1088136"/>
            <a:ext cx="3977640" cy="221284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&lt;!-- Form submits immediately on button click --&gt;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&lt;form action="/register" method="post"&gt;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&lt;input type="text" name="name" required&gt;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&lt;button type="submit"&gt;Register&lt;/button&gt;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&lt;/form&gt;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 No JS = no validation = page reloads --&gt;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WITH JS — preventDefault stops the reload</a:t>
            </a:r>
            <a:endParaRPr lang="en-US" sz="1000" dirty="0"/>
          </a:p>
        </p:txBody>
      </p:sp>
      <p:sp>
        <p:nvSpPr>
          <p:cNvPr id="7" name="Shape 5"/>
          <p:cNvSpPr/>
          <p:nvPr/>
        </p:nvSpPr>
        <p:spPr>
          <a:xfrm>
            <a:off x="4709160" y="1051560"/>
            <a:ext cx="4160520" cy="2286000"/>
          </a:xfrm>
          <a:prstGeom prst="rect">
            <a:avLst/>
          </a:prstGeom>
          <a:solidFill>
            <a:srgbClr val="0D1321"/>
          </a:solidFill>
          <a:ln/>
        </p:spPr>
      </p:sp>
      <p:sp>
        <p:nvSpPr>
          <p:cNvPr id="8" name="Text 6"/>
          <p:cNvSpPr txBox="1"/>
          <p:nvPr/>
        </p:nvSpPr>
        <p:spPr>
          <a:xfrm>
            <a:off x="4800600" y="1088136"/>
            <a:ext cx="3977640" cy="221284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const form = document.getElementById('regForm');</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form.addEventListener('submit', function(event)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event.preventDefault(); // STOP the page reload</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if (validateAll())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All fields valid — safe to submit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form.submit();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else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showErrors(); // Show what needs fixing</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p:txBody>
      </p:sp>
      <p:sp>
        <p:nvSpPr>
          <p:cNvPr id="9" name="Shape 7"/>
          <p:cNvSpPr/>
          <p:nvPr/>
        </p:nvSpPr>
        <p:spPr>
          <a:xfrm>
            <a:off x="274320" y="3200400"/>
            <a:ext cx="8595360" cy="1371600"/>
          </a:xfrm>
          <a:prstGeom prst="rect">
            <a:avLst/>
          </a:prstGeom>
          <a:solidFill>
            <a:srgbClr val="0D1321"/>
          </a:solidFill>
          <a:ln/>
        </p:spPr>
      </p:sp>
      <p:sp>
        <p:nvSpPr>
          <p:cNvPr id="10" name="Text 8"/>
          <p:cNvSpPr txBox="1"/>
          <p:nvPr/>
        </p:nvSpPr>
        <p:spPr>
          <a:xfrm>
            <a:off x="411480" y="3246120"/>
            <a:ext cx="8321040" cy="1280160"/>
          </a:xfrm>
          <a:prstGeom prst="rect">
            <a:avLst/>
          </a:prstGeom>
          <a:noFill/>
          <a:ln/>
        </p:spPr>
        <p:txBody>
          <a:bodyPr wrap="square" lIns="0" tIns="0" rIns="0" bIns="0" rtlCol="0" anchor="t"/>
          <a:lstStyle/>
          <a:p>
            <a:pPr marL="0" indent="0">
              <a:buNone/>
            </a:pPr>
            <a:r>
              <a:rPr lang="en-US" sz="1100" b="1" dirty="0">
                <a:solidFill>
                  <a:srgbClr val="F7DF1E"/>
                </a:solidFill>
                <a:latin typeface="Calibri" pitchFamily="34" charset="0"/>
                <a:ea typeface="Calibri" pitchFamily="34" charset="-122"/>
                <a:cs typeface="Calibri" pitchFamily="34" charset="-120"/>
              </a:rPr>
              <a:t>Key concepts: </a:t>
            </a:r>
            <a:r>
              <a:rPr lang="en-US" sz="1100" b="1" dirty="0">
                <a:solidFill>
                  <a:srgbClr val="86EFAC"/>
                </a:solidFill>
                <a:latin typeface="Calibri" pitchFamily="34" charset="0"/>
                <a:ea typeface="Calibri" pitchFamily="34" charset="-122"/>
                <a:cs typeface="Calibri" pitchFamily="34" charset="-120"/>
              </a:rPr>
              <a:t>submit event</a:t>
            </a:r>
            <a:r>
              <a:rPr lang="en-US" sz="1100" dirty="0">
                <a:solidFill>
                  <a:srgbClr val="FFFFFF"/>
                </a:solidFill>
                <a:latin typeface="Calibri" pitchFamily="34" charset="0"/>
                <a:ea typeface="Calibri" pitchFamily="34" charset="-122"/>
                <a:cs typeface="Calibri" pitchFamily="34" charset="-120"/>
              </a:rPr>
              <a:t> fires when form is submitted  |  </a:t>
            </a:r>
            <a:r>
              <a:rPr lang="en-US" sz="1100" b="1" dirty="0">
                <a:solidFill>
                  <a:srgbClr val="86EFAC"/>
                </a:solidFill>
                <a:latin typeface="Calibri" pitchFamily="34" charset="0"/>
                <a:ea typeface="Calibri" pitchFamily="34" charset="-122"/>
                <a:cs typeface="Calibri" pitchFamily="34" charset="-120"/>
              </a:rPr>
              <a:t>preventDefault()</a:t>
            </a:r>
            <a:r>
              <a:rPr lang="en-US" sz="1100" dirty="0">
                <a:solidFill>
                  <a:srgbClr val="FFFFFF"/>
                </a:solidFill>
                <a:latin typeface="Calibri" pitchFamily="34" charset="0"/>
                <a:ea typeface="Calibri" pitchFamily="34" charset="-122"/>
                <a:cs typeface="Calibri" pitchFamily="34" charset="-120"/>
              </a:rPr>
              <a:t> stops the page from reloading  |  Without it, the browser sends the form BEFORE your JS validation runs.</a:t>
            </a:r>
            <a:endParaRPr lang="en-US" sz="1100" dirty="0"/>
          </a:p>
        </p:txBody>
      </p:sp>
      <p:sp>
        <p:nvSpPr>
          <p:cNvPr id="11" name="Text 9"/>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Real-time Validation: the input Event</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SUBMIT-ONLY — bad UX, user waits until submit</a:t>
            </a:r>
            <a:endParaRPr lang="en-US" sz="1000" dirty="0"/>
          </a:p>
        </p:txBody>
      </p:sp>
      <p:sp>
        <p:nvSpPr>
          <p:cNvPr id="4" name="Shape 2"/>
          <p:cNvSpPr/>
          <p:nvPr/>
        </p:nvSpPr>
        <p:spPr>
          <a:xfrm>
            <a:off x="274320" y="1051560"/>
            <a:ext cx="4160520" cy="2331720"/>
          </a:xfrm>
          <a:prstGeom prst="rect">
            <a:avLst/>
          </a:prstGeom>
          <a:solidFill>
            <a:srgbClr val="0D1321"/>
          </a:solidFill>
          <a:ln/>
        </p:spPr>
      </p:sp>
      <p:sp>
        <p:nvSpPr>
          <p:cNvPr id="5" name="Text 3"/>
          <p:cNvSpPr txBox="1"/>
          <p:nvPr/>
        </p:nvSpPr>
        <p:spPr>
          <a:xfrm>
            <a:off x="365760" y="1088136"/>
            <a:ext cx="3977640" cy="225856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form.addEventListener('submit', (e) =&gt; {</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 Only checked when user clicks Submit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 Bad UX: user fills 10 fields, submits,</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 then sees the first field was wrong</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e.preventDefault();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if (!sid.value.match(/^\d{9}$/)) {</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showError(sid, 'Must be 9 digits');</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REAL-TIME — feedback on every keystroke</a:t>
            </a:r>
            <a:endParaRPr lang="en-US" sz="1000" dirty="0"/>
          </a:p>
        </p:txBody>
      </p:sp>
      <p:sp>
        <p:nvSpPr>
          <p:cNvPr id="7" name="Shape 5"/>
          <p:cNvSpPr/>
          <p:nvPr/>
        </p:nvSpPr>
        <p:spPr>
          <a:xfrm>
            <a:off x="4709160" y="1051560"/>
            <a:ext cx="4160520" cy="2331720"/>
          </a:xfrm>
          <a:prstGeom prst="rect">
            <a:avLst/>
          </a:prstGeom>
          <a:solidFill>
            <a:srgbClr val="0D1321"/>
          </a:solidFill>
          <a:ln/>
        </p:spPr>
      </p:sp>
      <p:sp>
        <p:nvSpPr>
          <p:cNvPr id="8" name="Text 6"/>
          <p:cNvSpPr txBox="1"/>
          <p:nvPr/>
        </p:nvSpPr>
        <p:spPr>
          <a:xfrm>
            <a:off x="4800600" y="1088136"/>
            <a:ext cx="3977640" cy="225856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const sid = document.getElementById('sid');</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'input' event fires on every keystroke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sid.addEventListener('input', function()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if (/^\d{9}$/.test(this.value))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markValid(this);       // green border</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else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markInvalid(this,      // red border</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'Must be exactly 9 digits');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p:txBody>
      </p:sp>
      <p:sp>
        <p:nvSpPr>
          <p:cNvPr id="9" name="Shape 7"/>
          <p:cNvSpPr/>
          <p:nvPr/>
        </p:nvSpPr>
        <p:spPr>
          <a:xfrm>
            <a:off x="274320" y="3246120"/>
            <a:ext cx="8595360" cy="1325880"/>
          </a:xfrm>
          <a:prstGeom prst="rect">
            <a:avLst/>
          </a:prstGeom>
          <a:solidFill>
            <a:srgbClr val="0D1321"/>
          </a:solidFill>
          <a:ln/>
        </p:spPr>
      </p:sp>
      <p:sp>
        <p:nvSpPr>
          <p:cNvPr id="10" name="Text 8"/>
          <p:cNvSpPr txBox="1"/>
          <p:nvPr/>
        </p:nvSpPr>
        <p:spPr>
          <a:xfrm>
            <a:off x="411480" y="3291840"/>
            <a:ext cx="8321040" cy="1234440"/>
          </a:xfrm>
          <a:prstGeom prst="rect">
            <a:avLst/>
          </a:prstGeom>
          <a:noFill/>
          <a:ln/>
        </p:spPr>
        <p:txBody>
          <a:bodyPr wrap="square" lIns="0" tIns="0" rIns="0" bIns="0" rtlCol="0" anchor="t"/>
          <a:lstStyle/>
          <a:p>
            <a:pPr marL="0" indent="0">
              <a:buNone/>
            </a:pPr>
            <a:r>
              <a:rPr lang="en-US" sz="1100" b="1" dirty="0">
                <a:solidFill>
                  <a:srgbClr val="F7DF1E"/>
                </a:solidFill>
                <a:latin typeface="Calibri" pitchFamily="34" charset="0"/>
                <a:ea typeface="Calibri" pitchFamily="34" charset="-122"/>
                <a:cs typeface="Calibri" pitchFamily="34" charset="-120"/>
              </a:rPr>
              <a:t>input event</a:t>
            </a:r>
            <a:r>
              <a:rPr lang="en-US" sz="1100" dirty="0">
                <a:solidFill>
                  <a:srgbClr val="FFFFFF"/>
                </a:solidFill>
                <a:latin typeface="Calibri" pitchFamily="34" charset="0"/>
                <a:ea typeface="Calibri" pitchFamily="34" charset="-122"/>
                <a:cs typeface="Calibri" pitchFamily="34" charset="-120"/>
              </a:rPr>
              <a:t> fires on every keystroke, paste, delete — enabling real-time feedback.
</a:t>
            </a:r>
            <a:r>
              <a:rPr lang="en-US" sz="1100" b="1" dirty="0">
                <a:solidFill>
                  <a:srgbClr val="94A3B8"/>
                </a:solidFill>
                <a:latin typeface="Calibri" pitchFamily="34" charset="0"/>
                <a:ea typeface="Calibri" pitchFamily="34" charset="-122"/>
                <a:cs typeface="Calibri" pitchFamily="34" charset="-120"/>
              </a:rPr>
              <a:t>blur event</a:t>
            </a:r>
            <a:r>
              <a:rPr lang="en-US" sz="1100" dirty="0">
                <a:solidFill>
                  <a:srgbClr val="94A3B8"/>
                </a:solidFill>
                <a:latin typeface="Calibri" pitchFamily="34" charset="0"/>
                <a:ea typeface="Calibri" pitchFamily="34" charset="-122"/>
                <a:cs typeface="Calibri" pitchFamily="34" charset="-120"/>
              </a:rPr>
              <a:t> fires when user leaves a field — good for "did they fill it?"   </a:t>
            </a:r>
            <a:r>
              <a:rPr lang="en-US" sz="1100" b="1" dirty="0">
                <a:solidFill>
                  <a:srgbClr val="94A3B8"/>
                </a:solidFill>
                <a:latin typeface="Calibri" pitchFamily="34" charset="0"/>
                <a:ea typeface="Calibri" pitchFamily="34" charset="-122"/>
                <a:cs typeface="Calibri" pitchFamily="34" charset="-120"/>
              </a:rPr>
              <a:t>change event</a:t>
            </a:r>
            <a:r>
              <a:rPr lang="en-US" sz="1100" dirty="0">
                <a:solidFill>
                  <a:srgbClr val="94A3B8"/>
                </a:solidFill>
                <a:latin typeface="Calibri" pitchFamily="34" charset="0"/>
                <a:ea typeface="Calibri" pitchFamily="34" charset="-122"/>
                <a:cs typeface="Calibri" pitchFamily="34" charset="-120"/>
              </a:rPr>
              <a:t> fires after value changes and field loses focus.</a:t>
            </a:r>
            <a:endParaRPr lang="en-US" sz="1100" dirty="0"/>
          </a:p>
        </p:txBody>
      </p:sp>
      <p:sp>
        <p:nvSpPr>
          <p:cNvPr id="11" name="Text 9"/>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Validation Checks: regex vs validity API</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VAGUE — only checks empty, misses format</a:t>
            </a:r>
            <a:endParaRPr lang="en-US" sz="1000" dirty="0"/>
          </a:p>
        </p:txBody>
      </p:sp>
      <p:sp>
        <p:nvSpPr>
          <p:cNvPr id="4" name="Shape 2"/>
          <p:cNvSpPr/>
          <p:nvPr/>
        </p:nvSpPr>
        <p:spPr>
          <a:xfrm>
            <a:off x="274320" y="1051560"/>
            <a:ext cx="4160520" cy="1645920"/>
          </a:xfrm>
          <a:prstGeom prst="rect">
            <a:avLst/>
          </a:prstGeom>
          <a:solidFill>
            <a:srgbClr val="0D1321"/>
          </a:solidFill>
          <a:ln/>
        </p:spPr>
      </p:sp>
      <p:sp>
        <p:nvSpPr>
          <p:cNvPr id="5" name="Text 3"/>
          <p:cNvSpPr txBox="1"/>
          <p:nvPr/>
        </p:nvSpPr>
        <p:spPr>
          <a:xfrm>
            <a:off x="365760" y="1088136"/>
            <a:ext cx="3977640" cy="157276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 Only checks if field is empty — not format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if (!emailField.value) {</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showError('Email is required');</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Misses: "hello" (not an email format)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Misses: "a@b" (incomplete domain)</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SPECIFIC — validity API + regex patterns</a:t>
            </a:r>
            <a:endParaRPr lang="en-US" sz="1000" dirty="0"/>
          </a:p>
        </p:txBody>
      </p:sp>
      <p:sp>
        <p:nvSpPr>
          <p:cNvPr id="7" name="Shape 5"/>
          <p:cNvSpPr/>
          <p:nvPr/>
        </p:nvSpPr>
        <p:spPr>
          <a:xfrm>
            <a:off x="4709160" y="1051560"/>
            <a:ext cx="4160520" cy="2331720"/>
          </a:xfrm>
          <a:prstGeom prst="rect">
            <a:avLst/>
          </a:prstGeom>
          <a:solidFill>
            <a:srgbClr val="0D1321"/>
          </a:solidFill>
          <a:ln/>
        </p:spPr>
      </p:sp>
      <p:sp>
        <p:nvSpPr>
          <p:cNvPr id="8" name="Text 6"/>
          <p:cNvSpPr txBox="1"/>
          <p:nvPr/>
        </p:nvSpPr>
        <p:spPr>
          <a:xfrm>
            <a:off x="4800600" y="1088136"/>
            <a:ext cx="3977640" cy="225856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 Approach 1: HTML5 validity API</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const email = document.getElementById('v-email');</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if (email.validity.valueMissing)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showError(email, 'Email is required');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else if (email.validity.typeMismatch)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showError(email, 'Enter a valid email');</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Approach 2: Regex for custom patterns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const sid = document.getElementById('sid');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if (!/^\d{9}$/.test(sid.value))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showError(sid, 'Must be exactly 9 digits');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p:txBody>
      </p:sp>
      <p:sp>
        <p:nvSpPr>
          <p:cNvPr id="9" name="Shape 7"/>
          <p:cNvSpPr/>
          <p:nvPr/>
        </p:nvSpPr>
        <p:spPr>
          <a:xfrm>
            <a:off x="274320" y="2542032"/>
            <a:ext cx="4160520" cy="2057400"/>
          </a:xfrm>
          <a:prstGeom prst="rect">
            <a:avLst/>
          </a:prstGeom>
          <a:solidFill>
            <a:srgbClr val="0D1321"/>
          </a:solidFill>
          <a:ln/>
        </p:spPr>
      </p:sp>
      <p:sp>
        <p:nvSpPr>
          <p:cNvPr id="10" name="Text 8"/>
          <p:cNvSpPr txBox="1"/>
          <p:nvPr/>
        </p:nvSpPr>
        <p:spPr>
          <a:xfrm>
            <a:off x="365760" y="2587752"/>
            <a:ext cx="3977640" cy="347472"/>
          </a:xfrm>
          <a:prstGeom prst="rect">
            <a:avLst/>
          </a:prstGeom>
          <a:noFill/>
          <a:ln/>
        </p:spPr>
        <p:txBody>
          <a:bodyPr wrap="square" lIns="0" tIns="0" rIns="0" bIns="0" rtlCol="0" anchor="ctr"/>
          <a:lstStyle/>
          <a:p>
            <a:pPr marL="0" indent="0">
              <a:buNone/>
            </a:pPr>
            <a:r>
              <a:rPr lang="en-US" sz="1000" dirty="0">
                <a:solidFill>
                  <a:srgbClr val="F7DF1E"/>
                </a:solidFill>
                <a:latin typeface="Courier New" pitchFamily="34" charset="0"/>
                <a:ea typeface="Courier New" pitchFamily="34" charset="-122"/>
                <a:cs typeface="Courier New" pitchFamily="34" charset="-120"/>
              </a:rPr>
              <a:t>valueMissing</a:t>
            </a:r>
            <a:r>
              <a:rPr lang="en-US" sz="1000" dirty="0">
                <a:solidFill>
                  <a:srgbClr val="FFFFFF"/>
                </a:solidFill>
                <a:latin typeface="Calibri" pitchFamily="34" charset="0"/>
                <a:ea typeface="Calibri" pitchFamily="34" charset="-122"/>
                <a:cs typeface="Calibri" pitchFamily="34" charset="-120"/>
              </a:rPr>
              <a:t>  required + empty</a:t>
            </a:r>
            <a:endParaRPr lang="en-US" sz="1000" dirty="0"/>
          </a:p>
        </p:txBody>
      </p:sp>
      <p:sp>
        <p:nvSpPr>
          <p:cNvPr id="11" name="Text 9"/>
          <p:cNvSpPr txBox="1"/>
          <p:nvPr/>
        </p:nvSpPr>
        <p:spPr>
          <a:xfrm>
            <a:off x="365760" y="2971800"/>
            <a:ext cx="3977640" cy="347472"/>
          </a:xfrm>
          <a:prstGeom prst="rect">
            <a:avLst/>
          </a:prstGeom>
          <a:noFill/>
          <a:ln/>
        </p:spPr>
        <p:txBody>
          <a:bodyPr wrap="square" lIns="0" tIns="0" rIns="0" bIns="0" rtlCol="0" anchor="ctr"/>
          <a:lstStyle/>
          <a:p>
            <a:pPr marL="0" indent="0">
              <a:buNone/>
            </a:pPr>
            <a:r>
              <a:rPr lang="en-US" sz="1000" dirty="0">
                <a:solidFill>
                  <a:srgbClr val="F7DF1E"/>
                </a:solidFill>
                <a:latin typeface="Courier New" pitchFamily="34" charset="0"/>
                <a:ea typeface="Courier New" pitchFamily="34" charset="-122"/>
                <a:cs typeface="Courier New" pitchFamily="34" charset="-120"/>
              </a:rPr>
              <a:t>typeMismatch</a:t>
            </a:r>
            <a:r>
              <a:rPr lang="en-US" sz="1000" dirty="0">
                <a:solidFill>
                  <a:srgbClr val="FFFFFF"/>
                </a:solidFill>
                <a:latin typeface="Calibri" pitchFamily="34" charset="0"/>
                <a:ea typeface="Calibri" pitchFamily="34" charset="-122"/>
                <a:cs typeface="Calibri" pitchFamily="34" charset="-120"/>
              </a:rPr>
              <a:t>  email / url format wrong</a:t>
            </a:r>
            <a:endParaRPr lang="en-US" sz="1000" dirty="0"/>
          </a:p>
        </p:txBody>
      </p:sp>
      <p:sp>
        <p:nvSpPr>
          <p:cNvPr id="12" name="Text 10"/>
          <p:cNvSpPr txBox="1"/>
          <p:nvPr/>
        </p:nvSpPr>
        <p:spPr>
          <a:xfrm>
            <a:off x="365760" y="3355848"/>
            <a:ext cx="3977640" cy="347472"/>
          </a:xfrm>
          <a:prstGeom prst="rect">
            <a:avLst/>
          </a:prstGeom>
          <a:noFill/>
          <a:ln/>
        </p:spPr>
        <p:txBody>
          <a:bodyPr wrap="square" lIns="0" tIns="0" rIns="0" bIns="0" rtlCol="0" anchor="ctr"/>
          <a:lstStyle/>
          <a:p>
            <a:pPr marL="0" indent="0">
              <a:buNone/>
            </a:pPr>
            <a:r>
              <a:rPr lang="en-US" sz="1000" dirty="0">
                <a:solidFill>
                  <a:srgbClr val="F7DF1E"/>
                </a:solidFill>
                <a:latin typeface="Courier New" pitchFamily="34" charset="0"/>
                <a:ea typeface="Courier New" pitchFamily="34" charset="-122"/>
                <a:cs typeface="Courier New" pitchFamily="34" charset="-120"/>
              </a:rPr>
              <a:t>tooShort</a:t>
            </a:r>
            <a:r>
              <a:rPr lang="en-US" sz="1000" dirty="0">
                <a:solidFill>
                  <a:srgbClr val="FFFFFF"/>
                </a:solidFill>
                <a:latin typeface="Calibri" pitchFamily="34" charset="0"/>
                <a:ea typeface="Calibri" pitchFamily="34" charset="-122"/>
                <a:cs typeface="Calibri" pitchFamily="34" charset="-120"/>
              </a:rPr>
              <a:t>  minlength not met</a:t>
            </a:r>
            <a:endParaRPr lang="en-US" sz="1000" dirty="0"/>
          </a:p>
        </p:txBody>
      </p:sp>
      <p:sp>
        <p:nvSpPr>
          <p:cNvPr id="13" name="Text 11"/>
          <p:cNvSpPr txBox="1"/>
          <p:nvPr/>
        </p:nvSpPr>
        <p:spPr>
          <a:xfrm>
            <a:off x="365760" y="3739896"/>
            <a:ext cx="3977640" cy="347472"/>
          </a:xfrm>
          <a:prstGeom prst="rect">
            <a:avLst/>
          </a:prstGeom>
          <a:noFill/>
          <a:ln/>
        </p:spPr>
        <p:txBody>
          <a:bodyPr wrap="square" lIns="0" tIns="0" rIns="0" bIns="0" rtlCol="0" anchor="ctr"/>
          <a:lstStyle/>
          <a:p>
            <a:pPr marL="0" indent="0">
              <a:buNone/>
            </a:pPr>
            <a:r>
              <a:rPr lang="en-US" sz="1000" dirty="0">
                <a:solidFill>
                  <a:srgbClr val="F7DF1E"/>
                </a:solidFill>
                <a:latin typeface="Courier New" pitchFamily="34" charset="0"/>
                <a:ea typeface="Courier New" pitchFamily="34" charset="-122"/>
                <a:cs typeface="Courier New" pitchFamily="34" charset="-120"/>
              </a:rPr>
              <a:t>patternMismatch</a:t>
            </a:r>
            <a:r>
              <a:rPr lang="en-US" sz="1000" dirty="0">
                <a:solidFill>
                  <a:srgbClr val="FFFFFF"/>
                </a:solidFill>
                <a:latin typeface="Calibri" pitchFamily="34" charset="0"/>
                <a:ea typeface="Calibri" pitchFamily="34" charset="-122"/>
                <a:cs typeface="Calibri" pitchFamily="34" charset="-120"/>
              </a:rPr>
              <a:t>  pattern regex fails</a:t>
            </a:r>
            <a:endParaRPr lang="en-US" sz="1000" dirty="0"/>
          </a:p>
        </p:txBody>
      </p:sp>
      <p:sp>
        <p:nvSpPr>
          <p:cNvPr id="14" name="Text 12"/>
          <p:cNvSpPr txBox="1"/>
          <p:nvPr/>
        </p:nvSpPr>
        <p:spPr>
          <a:xfrm>
            <a:off x="365760" y="4123944"/>
            <a:ext cx="3977640" cy="347472"/>
          </a:xfrm>
          <a:prstGeom prst="rect">
            <a:avLst/>
          </a:prstGeom>
          <a:noFill/>
          <a:ln/>
        </p:spPr>
        <p:txBody>
          <a:bodyPr wrap="square" lIns="0" tIns="0" rIns="0" bIns="0" rtlCol="0" anchor="ctr"/>
          <a:lstStyle/>
          <a:p>
            <a:pPr marL="0" indent="0">
              <a:buNone/>
            </a:pPr>
            <a:r>
              <a:rPr lang="en-US" sz="1000" dirty="0">
                <a:solidFill>
                  <a:srgbClr val="F7DF1E"/>
                </a:solidFill>
                <a:latin typeface="Courier New" pitchFamily="34" charset="0"/>
                <a:ea typeface="Courier New" pitchFamily="34" charset="-122"/>
                <a:cs typeface="Courier New" pitchFamily="34" charset="-120"/>
              </a:rPr>
              <a:t>rangeUnderflow</a:t>
            </a:r>
            <a:r>
              <a:rPr lang="en-US" sz="1000" dirty="0">
                <a:solidFill>
                  <a:srgbClr val="FFFFFF"/>
                </a:solidFill>
                <a:latin typeface="Calibri" pitchFamily="34" charset="0"/>
                <a:ea typeface="Calibri" pitchFamily="34" charset="-122"/>
                <a:cs typeface="Calibri" pitchFamily="34" charset="-120"/>
              </a:rPr>
              <a:t>  below min= value</a:t>
            </a:r>
            <a:endParaRPr lang="en-US" sz="1000" dirty="0"/>
          </a:p>
        </p:txBody>
      </p:sp>
      <p:sp>
        <p:nvSpPr>
          <p:cNvPr id="15" name="Text 13"/>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F7DF1E"/>
                </a:solidFill>
                <a:latin typeface="Calibri" pitchFamily="34" charset="0"/>
                <a:ea typeface="Calibri" pitchFamily="34" charset="-122"/>
                <a:cs typeface="Calibri" pitchFamily="34" charset="-120"/>
              </a:rPr>
              <a:t>⚡ QUICK QUIZ</a:t>
            </a:r>
            <a:endParaRPr lang="en-US" sz="2000" dirty="0"/>
          </a:p>
        </p:txBody>
      </p:sp>
      <p:sp>
        <p:nvSpPr>
          <p:cNvPr id="3" name="Text 1"/>
          <p:cNvSpPr txBox="1"/>
          <p:nvPr/>
        </p:nvSpPr>
        <p:spPr>
          <a:xfrm>
            <a:off x="457200" y="731520"/>
            <a:ext cx="8229600" cy="64008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What does event.preventDefault() do when called inside a form's submit handler?</a:t>
            </a:r>
            <a:endParaRPr lang="en-US" sz="1500" dirty="0"/>
          </a:p>
        </p:txBody>
      </p:sp>
      <p:sp>
        <p:nvSpPr>
          <p:cNvPr id="4" name="Shape 2"/>
          <p:cNvSpPr/>
          <p:nvPr/>
        </p:nvSpPr>
        <p:spPr>
          <a:xfrm>
            <a:off x="457200" y="1508760"/>
            <a:ext cx="4023360" cy="777240"/>
          </a:xfrm>
          <a:prstGeom prst="rect">
            <a:avLst/>
          </a:prstGeom>
          <a:solidFill>
            <a:srgbClr val="1E3060"/>
          </a:solidFill>
          <a:ln w="12700">
            <a:solidFill>
              <a:srgbClr val="2D4A8A"/>
            </a:solidFill>
            <a:prstDash val="solid"/>
          </a:ln>
        </p:spPr>
      </p:sp>
      <p:sp>
        <p:nvSpPr>
          <p:cNvPr id="5" name="Text 3"/>
          <p:cNvSpPr txBox="1"/>
          <p:nvPr/>
        </p:nvSpPr>
        <p:spPr>
          <a:xfrm>
            <a:off x="5486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Deletes the form data</a:t>
            </a:r>
            <a:endParaRPr lang="en-US" sz="1300" dirty="0"/>
          </a:p>
        </p:txBody>
      </p:sp>
      <p:sp>
        <p:nvSpPr>
          <p:cNvPr id="6" name="Shape 4"/>
          <p:cNvSpPr/>
          <p:nvPr/>
        </p:nvSpPr>
        <p:spPr>
          <a:xfrm>
            <a:off x="4800600" y="1508760"/>
            <a:ext cx="4023360" cy="777240"/>
          </a:xfrm>
          <a:prstGeom prst="rect">
            <a:avLst/>
          </a:prstGeom>
          <a:solidFill>
            <a:srgbClr val="1E3060"/>
          </a:solidFill>
          <a:ln w="12700">
            <a:solidFill>
              <a:srgbClr val="2D4A8A"/>
            </a:solidFill>
            <a:prstDash val="solid"/>
          </a:ln>
        </p:spPr>
      </p:sp>
      <p:sp>
        <p:nvSpPr>
          <p:cNvPr id="7" name="Text 5"/>
          <p:cNvSpPr txBox="1"/>
          <p:nvPr/>
        </p:nvSpPr>
        <p:spPr>
          <a:xfrm>
            <a:off x="48920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   Stops the form from reloading the page</a:t>
            </a:r>
            <a:endParaRPr lang="en-US" sz="1300" dirty="0"/>
          </a:p>
        </p:txBody>
      </p:sp>
      <p:sp>
        <p:nvSpPr>
          <p:cNvPr id="8" name="Shape 6"/>
          <p:cNvSpPr/>
          <p:nvPr/>
        </p:nvSpPr>
        <p:spPr>
          <a:xfrm>
            <a:off x="457200" y="2468880"/>
            <a:ext cx="4023360" cy="777240"/>
          </a:xfrm>
          <a:prstGeom prst="rect">
            <a:avLst/>
          </a:prstGeom>
          <a:solidFill>
            <a:srgbClr val="1E3060"/>
          </a:solidFill>
          <a:ln w="12700">
            <a:solidFill>
              <a:srgbClr val="2D4A8A"/>
            </a:solidFill>
            <a:prstDash val="solid"/>
          </a:ln>
        </p:spPr>
      </p:sp>
      <p:sp>
        <p:nvSpPr>
          <p:cNvPr id="9" name="Text 7"/>
          <p:cNvSpPr txBox="1"/>
          <p:nvPr/>
        </p:nvSpPr>
        <p:spPr>
          <a:xfrm>
            <a:off x="5486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   Validates all fields automatically</a:t>
            </a:r>
            <a:endParaRPr lang="en-US" sz="1300" dirty="0"/>
          </a:p>
        </p:txBody>
      </p:sp>
      <p:sp>
        <p:nvSpPr>
          <p:cNvPr id="10" name="Shape 8"/>
          <p:cNvSpPr/>
          <p:nvPr/>
        </p:nvSpPr>
        <p:spPr>
          <a:xfrm>
            <a:off x="4800600" y="2468880"/>
            <a:ext cx="4023360" cy="777240"/>
          </a:xfrm>
          <a:prstGeom prst="rect">
            <a:avLst/>
          </a:prstGeom>
          <a:solidFill>
            <a:srgbClr val="1E3060"/>
          </a:solidFill>
          <a:ln w="12700">
            <a:solidFill>
              <a:srgbClr val="2D4A8A"/>
            </a:solidFill>
            <a:prstDash val="solid"/>
          </a:ln>
        </p:spPr>
      </p:sp>
      <p:sp>
        <p:nvSpPr>
          <p:cNvPr id="11" name="Text 9"/>
          <p:cNvSpPr txBox="1"/>
          <p:nvPr/>
        </p:nvSpPr>
        <p:spPr>
          <a:xfrm>
            <a:off x="48920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   Hides the form</a:t>
            </a:r>
            <a:endParaRPr lang="en-US" sz="1300" dirty="0"/>
          </a:p>
        </p:txBody>
      </p:sp>
      <p:sp>
        <p:nvSpPr>
          <p:cNvPr id="12" name="Text 10"/>
          <p:cNvSpPr txBox="1"/>
          <p:nvPr/>
        </p:nvSpPr>
        <p:spPr>
          <a:xfrm>
            <a:off x="457200" y="4434840"/>
            <a:ext cx="8229600" cy="32004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 Discuss with your neighbor — then we'll reveal the answer!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86EFAC"/>
                </a:solidFill>
                <a:latin typeface="Calibri" pitchFamily="34" charset="0"/>
                <a:ea typeface="Calibri" pitchFamily="34" charset="-122"/>
                <a:cs typeface="Calibri" pitchFamily="34" charset="-120"/>
              </a:rPr>
              <a:t>✅ ANSWER</a:t>
            </a:r>
            <a:endParaRPr lang="en-US" sz="2000" dirty="0"/>
          </a:p>
        </p:txBody>
      </p:sp>
      <p:sp>
        <p:nvSpPr>
          <p:cNvPr id="3" name="Text 1"/>
          <p:cNvSpPr txBox="1"/>
          <p:nvPr/>
        </p:nvSpPr>
        <p:spPr>
          <a:xfrm>
            <a:off x="457200" y="731520"/>
            <a:ext cx="8229600" cy="5486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What does event.preventDefault() do when called inside a form's submit handler?</a:t>
            </a:r>
            <a:endParaRPr lang="en-US" sz="1400" dirty="0"/>
          </a:p>
        </p:txBody>
      </p:sp>
      <p:sp>
        <p:nvSpPr>
          <p:cNvPr id="4" name="Shape 2"/>
          <p:cNvSpPr/>
          <p:nvPr/>
        </p:nvSpPr>
        <p:spPr>
          <a:xfrm>
            <a:off x="457200" y="1417320"/>
            <a:ext cx="4023360" cy="731520"/>
          </a:xfrm>
          <a:prstGeom prst="rect">
            <a:avLst/>
          </a:prstGeom>
          <a:solidFill>
            <a:srgbClr val="1E3060"/>
          </a:solidFill>
          <a:ln w="12700">
            <a:solidFill>
              <a:srgbClr val="2D4A8A"/>
            </a:solidFill>
            <a:prstDash val="solid"/>
          </a:ln>
        </p:spPr>
      </p:sp>
      <p:sp>
        <p:nvSpPr>
          <p:cNvPr id="5" name="Text 3"/>
          <p:cNvSpPr txBox="1"/>
          <p:nvPr/>
        </p:nvSpPr>
        <p:spPr>
          <a:xfrm>
            <a:off x="548640" y="149047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   Deletes the form data</a:t>
            </a:r>
            <a:endParaRPr lang="en-US" sz="1300" dirty="0"/>
          </a:p>
        </p:txBody>
      </p:sp>
      <p:sp>
        <p:nvSpPr>
          <p:cNvPr id="6" name="Shape 4"/>
          <p:cNvSpPr/>
          <p:nvPr/>
        </p:nvSpPr>
        <p:spPr>
          <a:xfrm>
            <a:off x="4800600" y="1417320"/>
            <a:ext cx="4023360" cy="731520"/>
          </a:xfrm>
          <a:prstGeom prst="rect">
            <a:avLst/>
          </a:prstGeom>
          <a:solidFill>
            <a:srgbClr val="1A5C30"/>
          </a:solidFill>
          <a:ln w="25400">
            <a:solidFill>
              <a:srgbClr val="86EFAC"/>
            </a:solidFill>
            <a:prstDash val="solid"/>
          </a:ln>
        </p:spPr>
      </p:sp>
      <p:sp>
        <p:nvSpPr>
          <p:cNvPr id="7" name="Text 5"/>
          <p:cNvSpPr txBox="1"/>
          <p:nvPr/>
        </p:nvSpPr>
        <p:spPr>
          <a:xfrm>
            <a:off x="4892040" y="1490472"/>
            <a:ext cx="3840480" cy="585216"/>
          </a:xfrm>
          <a:prstGeom prst="rect">
            <a:avLst/>
          </a:prstGeom>
          <a:noFill/>
          <a:ln/>
        </p:spPr>
        <p:txBody>
          <a:bodyPr wrap="square" lIns="0" tIns="0" rIns="0" bIns="0" rtlCol="0" anchor="ctr"/>
          <a:lstStyle/>
          <a:p>
            <a:pPr marL="0" indent="0">
              <a:buNone/>
            </a:pPr>
            <a:r>
              <a:rPr lang="en-US" sz="1300" b="1" dirty="0">
                <a:solidFill>
                  <a:srgbClr val="86EFAC"/>
                </a:solidFill>
                <a:latin typeface="Calibri" pitchFamily="34" charset="0"/>
                <a:ea typeface="Calibri" pitchFamily="34" charset="-122"/>
                <a:cs typeface="Calibri" pitchFamily="34" charset="-120"/>
              </a:rPr>
              <a:t>B   Stops the form from reloading the page</a:t>
            </a:r>
            <a:endParaRPr lang="en-US" sz="1300" dirty="0"/>
          </a:p>
        </p:txBody>
      </p:sp>
      <p:sp>
        <p:nvSpPr>
          <p:cNvPr id="8" name="Shape 6"/>
          <p:cNvSpPr/>
          <p:nvPr/>
        </p:nvSpPr>
        <p:spPr>
          <a:xfrm>
            <a:off x="457200" y="2286000"/>
            <a:ext cx="4023360" cy="731520"/>
          </a:xfrm>
          <a:prstGeom prst="rect">
            <a:avLst/>
          </a:prstGeom>
          <a:solidFill>
            <a:srgbClr val="1E3060"/>
          </a:solidFill>
          <a:ln w="12700">
            <a:solidFill>
              <a:srgbClr val="2D4A8A"/>
            </a:solidFill>
            <a:prstDash val="solid"/>
          </a:ln>
        </p:spPr>
      </p:sp>
      <p:sp>
        <p:nvSpPr>
          <p:cNvPr id="9" name="Text 7"/>
          <p:cNvSpPr txBox="1"/>
          <p:nvPr/>
        </p:nvSpPr>
        <p:spPr>
          <a:xfrm>
            <a:off x="5486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C   Validates all fields automatically</a:t>
            </a:r>
            <a:endParaRPr lang="en-US" sz="1300" dirty="0"/>
          </a:p>
        </p:txBody>
      </p:sp>
      <p:sp>
        <p:nvSpPr>
          <p:cNvPr id="10" name="Shape 8"/>
          <p:cNvSpPr/>
          <p:nvPr/>
        </p:nvSpPr>
        <p:spPr>
          <a:xfrm>
            <a:off x="4800600" y="2286000"/>
            <a:ext cx="4023360" cy="731520"/>
          </a:xfrm>
          <a:prstGeom prst="rect">
            <a:avLst/>
          </a:prstGeom>
          <a:solidFill>
            <a:srgbClr val="1E3060"/>
          </a:solidFill>
          <a:ln w="12700">
            <a:solidFill>
              <a:srgbClr val="2D4A8A"/>
            </a:solidFill>
            <a:prstDash val="solid"/>
          </a:ln>
        </p:spPr>
      </p:sp>
      <p:sp>
        <p:nvSpPr>
          <p:cNvPr id="11" name="Text 9"/>
          <p:cNvSpPr txBox="1"/>
          <p:nvPr/>
        </p:nvSpPr>
        <p:spPr>
          <a:xfrm>
            <a:off x="48920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   Hides the form</a:t>
            </a:r>
            <a:endParaRPr lang="en-US" sz="1300" dirty="0"/>
          </a:p>
        </p:txBody>
      </p:sp>
      <p:sp>
        <p:nvSpPr>
          <p:cNvPr id="12" name="Shape 10"/>
          <p:cNvSpPr/>
          <p:nvPr/>
        </p:nvSpPr>
        <p:spPr>
          <a:xfrm>
            <a:off x="320040" y="3246120"/>
            <a:ext cx="8503920" cy="1600200"/>
          </a:xfrm>
          <a:prstGeom prst="rect">
            <a:avLst/>
          </a:prstGeom>
          <a:solidFill>
            <a:srgbClr val="152035"/>
          </a:solidFill>
          <a:ln/>
        </p:spPr>
      </p:sp>
      <p:sp>
        <p:nvSpPr>
          <p:cNvPr id="13" name="Text 11"/>
          <p:cNvSpPr txBox="1"/>
          <p:nvPr/>
        </p:nvSpPr>
        <p:spPr>
          <a:xfrm>
            <a:off x="457200" y="3310128"/>
            <a:ext cx="8229600" cy="1463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It cancels the default browser action (page reload + HTTP request), letting your JS handle submission instead. Without it, the page reloads before your JS validation code ever runs — so your checks are bypassed entirely.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Error Messages + ARIA Accessibility</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WITHOUT ARIA — inaccessible</a:t>
            </a:r>
            <a:endParaRPr lang="en-US" sz="1000" dirty="0"/>
          </a:p>
        </p:txBody>
      </p:sp>
      <p:sp>
        <p:nvSpPr>
          <p:cNvPr id="4" name="Shape 2"/>
          <p:cNvSpPr/>
          <p:nvPr/>
        </p:nvSpPr>
        <p:spPr>
          <a:xfrm>
            <a:off x="274320" y="1051560"/>
            <a:ext cx="4160520" cy="2103120"/>
          </a:xfrm>
          <a:prstGeom prst="rect">
            <a:avLst/>
          </a:prstGeom>
          <a:solidFill>
            <a:srgbClr val="0D1321"/>
          </a:solidFill>
          <a:ln/>
        </p:spPr>
      </p:sp>
      <p:sp>
        <p:nvSpPr>
          <p:cNvPr id="5" name="Text 3"/>
          <p:cNvSpPr txBox="1"/>
          <p:nvPr/>
        </p:nvSpPr>
        <p:spPr>
          <a:xfrm>
            <a:off x="365760" y="1088136"/>
            <a:ext cx="3977640" cy="202996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&lt;label for="sid"&gt;Student ID&lt;/label&gt;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&lt;input type="text" id="sid"&gt;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 Error with no ARIA link — screen</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readers cannot find this message --&gt;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&lt;p class="err" id="err-sid"&gt;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Must be 9 digits</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&lt;/p&gt;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WITH ARIA — screen reader friendly</a:t>
            </a:r>
            <a:endParaRPr lang="en-US" sz="1000" dirty="0"/>
          </a:p>
        </p:txBody>
      </p:sp>
      <p:sp>
        <p:nvSpPr>
          <p:cNvPr id="7" name="Shape 5"/>
          <p:cNvSpPr/>
          <p:nvPr/>
        </p:nvSpPr>
        <p:spPr>
          <a:xfrm>
            <a:off x="4709160" y="1051560"/>
            <a:ext cx="4160520" cy="2103120"/>
          </a:xfrm>
          <a:prstGeom prst="rect">
            <a:avLst/>
          </a:prstGeom>
          <a:solidFill>
            <a:srgbClr val="0D1321"/>
          </a:solidFill>
          <a:ln/>
        </p:spPr>
      </p:sp>
      <p:sp>
        <p:nvSpPr>
          <p:cNvPr id="8" name="Text 6"/>
          <p:cNvSpPr txBox="1"/>
          <p:nvPr/>
        </p:nvSpPr>
        <p:spPr>
          <a:xfrm>
            <a:off x="4800600" y="1088136"/>
            <a:ext cx="3977640" cy="202996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&lt;label for="sid"&gt;Student ID&lt;/label&gt;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&lt;input type="text" id="sid"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aria-describedby="err-sid"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aria-invalid="true"&gt;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&lt;span class="err" id="err-sid" role="alert"&gt;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Must be exactly 9 digits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&lt;/span&gt;</a:t>
            </a:r>
            <a:endParaRPr lang="en-US" sz="850" dirty="0"/>
          </a:p>
        </p:txBody>
      </p:sp>
      <p:sp>
        <p:nvSpPr>
          <p:cNvPr id="9" name="Text 7"/>
          <p:cNvSpPr txBox="1"/>
          <p:nvPr/>
        </p:nvSpPr>
        <p:spPr>
          <a:xfrm>
            <a:off x="4709160" y="2999232"/>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JS helper</a:t>
            </a:r>
            <a:endParaRPr lang="en-US" sz="1000" dirty="0"/>
          </a:p>
        </p:txBody>
      </p:sp>
      <p:sp>
        <p:nvSpPr>
          <p:cNvPr id="10" name="Shape 8"/>
          <p:cNvSpPr/>
          <p:nvPr/>
        </p:nvSpPr>
        <p:spPr>
          <a:xfrm>
            <a:off x="4709160" y="3273552"/>
            <a:ext cx="4160520" cy="1481328"/>
          </a:xfrm>
          <a:prstGeom prst="rect">
            <a:avLst/>
          </a:prstGeom>
          <a:solidFill>
            <a:srgbClr val="0D1321"/>
          </a:solidFill>
          <a:ln/>
        </p:spPr>
      </p:sp>
      <p:sp>
        <p:nvSpPr>
          <p:cNvPr id="11" name="Text 9"/>
          <p:cNvSpPr txBox="1"/>
          <p:nvPr/>
        </p:nvSpPr>
        <p:spPr>
          <a:xfrm>
            <a:off x="4800600" y="3310128"/>
            <a:ext cx="3977640" cy="1408176"/>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function markInvalid(input, errSpan, msg)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input.setAttribute('aria-invalid','true');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errSpan.textContent = msg;</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role="alert" makes screen reader</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announce the change immediately</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p:txBody>
      </p:sp>
      <p:sp>
        <p:nvSpPr>
          <p:cNvPr id="12" name="Shape 10"/>
          <p:cNvSpPr/>
          <p:nvPr/>
        </p:nvSpPr>
        <p:spPr>
          <a:xfrm>
            <a:off x="274320" y="2999232"/>
            <a:ext cx="4160520" cy="1481328"/>
          </a:xfrm>
          <a:prstGeom prst="rect">
            <a:avLst/>
          </a:prstGeom>
          <a:solidFill>
            <a:srgbClr val="0D1321"/>
          </a:solidFill>
          <a:ln/>
        </p:spPr>
      </p:sp>
      <p:sp>
        <p:nvSpPr>
          <p:cNvPr id="13" name="Text 11"/>
          <p:cNvSpPr txBox="1"/>
          <p:nvPr/>
        </p:nvSpPr>
        <p:spPr>
          <a:xfrm>
            <a:off x="365760" y="3063240"/>
            <a:ext cx="3977640" cy="402336"/>
          </a:xfrm>
          <a:prstGeom prst="rect">
            <a:avLst/>
          </a:prstGeom>
          <a:noFill/>
          <a:ln/>
        </p:spPr>
        <p:txBody>
          <a:bodyPr wrap="square" lIns="0" tIns="0" rIns="0" bIns="0" rtlCol="0" anchor="ctr"/>
          <a:lstStyle/>
          <a:p>
            <a:pPr marL="0" indent="0">
              <a:buNone/>
            </a:pPr>
            <a:r>
              <a:rPr lang="en-US" sz="950" dirty="0">
                <a:solidFill>
                  <a:srgbClr val="F7DF1E"/>
                </a:solidFill>
                <a:latin typeface="Courier New" pitchFamily="34" charset="0"/>
                <a:ea typeface="Courier New" pitchFamily="34" charset="-122"/>
                <a:cs typeface="Courier New" pitchFamily="34" charset="-120"/>
              </a:rPr>
              <a:t>aria-describedby  </a:t>
            </a:r>
            <a:r>
              <a:rPr lang="en-US" sz="1000" dirty="0">
                <a:solidFill>
                  <a:srgbClr val="FFFFFF"/>
                </a:solidFill>
                <a:latin typeface="Calibri" pitchFamily="34" charset="0"/>
                <a:ea typeface="Calibri" pitchFamily="34" charset="-122"/>
                <a:cs typeface="Calibri" pitchFamily="34" charset="-120"/>
              </a:rPr>
              <a:t>links input to its error span</a:t>
            </a:r>
            <a:endParaRPr lang="en-US" sz="950" dirty="0"/>
          </a:p>
        </p:txBody>
      </p:sp>
      <p:sp>
        <p:nvSpPr>
          <p:cNvPr id="14" name="Text 12"/>
          <p:cNvSpPr txBox="1"/>
          <p:nvPr/>
        </p:nvSpPr>
        <p:spPr>
          <a:xfrm>
            <a:off x="365760" y="3502152"/>
            <a:ext cx="3977640" cy="402336"/>
          </a:xfrm>
          <a:prstGeom prst="rect">
            <a:avLst/>
          </a:prstGeom>
          <a:noFill/>
          <a:ln/>
        </p:spPr>
        <p:txBody>
          <a:bodyPr wrap="square" lIns="0" tIns="0" rIns="0" bIns="0" rtlCol="0" anchor="ctr"/>
          <a:lstStyle/>
          <a:p>
            <a:pPr marL="0" indent="0">
              <a:buNone/>
            </a:pPr>
            <a:r>
              <a:rPr lang="en-US" sz="950" dirty="0">
                <a:solidFill>
                  <a:srgbClr val="F7DF1E"/>
                </a:solidFill>
                <a:latin typeface="Courier New" pitchFamily="34" charset="0"/>
                <a:ea typeface="Courier New" pitchFamily="34" charset="-122"/>
                <a:cs typeface="Courier New" pitchFamily="34" charset="-120"/>
              </a:rPr>
              <a:t>aria-invalid="true"  </a:t>
            </a:r>
            <a:r>
              <a:rPr lang="en-US" sz="1000" dirty="0">
                <a:solidFill>
                  <a:srgbClr val="FFFFFF"/>
                </a:solidFill>
                <a:latin typeface="Calibri" pitchFamily="34" charset="0"/>
                <a:ea typeface="Calibri" pitchFamily="34" charset="-122"/>
                <a:cs typeface="Calibri" pitchFamily="34" charset="-120"/>
              </a:rPr>
              <a:t>tells AT the field has an error</a:t>
            </a:r>
            <a:endParaRPr lang="en-US" sz="950" dirty="0"/>
          </a:p>
        </p:txBody>
      </p:sp>
      <p:sp>
        <p:nvSpPr>
          <p:cNvPr id="15" name="Text 13"/>
          <p:cNvSpPr txBox="1"/>
          <p:nvPr/>
        </p:nvSpPr>
        <p:spPr>
          <a:xfrm>
            <a:off x="365760" y="3941064"/>
            <a:ext cx="3977640" cy="402336"/>
          </a:xfrm>
          <a:prstGeom prst="rect">
            <a:avLst/>
          </a:prstGeom>
          <a:noFill/>
          <a:ln/>
        </p:spPr>
        <p:txBody>
          <a:bodyPr wrap="square" lIns="0" tIns="0" rIns="0" bIns="0" rtlCol="0" anchor="ctr"/>
          <a:lstStyle/>
          <a:p>
            <a:pPr marL="0" indent="0">
              <a:buNone/>
            </a:pPr>
            <a:r>
              <a:rPr lang="en-US" sz="950" dirty="0">
                <a:solidFill>
                  <a:srgbClr val="F7DF1E"/>
                </a:solidFill>
                <a:latin typeface="Courier New" pitchFamily="34" charset="0"/>
                <a:ea typeface="Courier New" pitchFamily="34" charset="-122"/>
                <a:cs typeface="Courier New" pitchFamily="34" charset="-120"/>
              </a:rPr>
              <a:t>role="alert"  </a:t>
            </a:r>
            <a:r>
              <a:rPr lang="en-US" sz="1000" dirty="0">
                <a:solidFill>
                  <a:srgbClr val="FFFFFF"/>
                </a:solidFill>
                <a:latin typeface="Calibri" pitchFamily="34" charset="0"/>
                <a:ea typeface="Calibri" pitchFamily="34" charset="-122"/>
                <a:cs typeface="Calibri" pitchFamily="34" charset="-120"/>
              </a:rPr>
              <a:t>makes screen reader announce changes</a:t>
            </a:r>
            <a:endParaRPr lang="en-US" sz="950" dirty="0"/>
          </a:p>
        </p:txBody>
      </p:sp>
      <p:sp>
        <p:nvSpPr>
          <p:cNvPr id="16" name="Text 14"/>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F7DF1E"/>
                </a:solidFill>
                <a:latin typeface="Calibri" pitchFamily="34" charset="0"/>
                <a:ea typeface="Calibri" pitchFamily="34" charset="-122"/>
                <a:cs typeface="Calibri" pitchFamily="34" charset="-120"/>
              </a:rPr>
              <a:t>⚡ QUICK QUIZ</a:t>
            </a:r>
            <a:endParaRPr lang="en-US" sz="2000" dirty="0"/>
          </a:p>
        </p:txBody>
      </p:sp>
      <p:sp>
        <p:nvSpPr>
          <p:cNvPr id="3" name="Text 1"/>
          <p:cNvSpPr txBox="1"/>
          <p:nvPr/>
        </p:nvSpPr>
        <p:spPr>
          <a:xfrm>
            <a:off x="457200" y="731520"/>
            <a:ext cx="8229600" cy="64008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You call field.setCustomValidity('') (empty string). What is the effect?</a:t>
            </a:r>
            <a:endParaRPr lang="en-US" sz="1500" dirty="0"/>
          </a:p>
        </p:txBody>
      </p:sp>
      <p:sp>
        <p:nvSpPr>
          <p:cNvPr id="4" name="Shape 2"/>
          <p:cNvSpPr/>
          <p:nvPr/>
        </p:nvSpPr>
        <p:spPr>
          <a:xfrm>
            <a:off x="457200" y="1508760"/>
            <a:ext cx="4023360" cy="777240"/>
          </a:xfrm>
          <a:prstGeom prst="rect">
            <a:avLst/>
          </a:prstGeom>
          <a:solidFill>
            <a:srgbClr val="1E3060"/>
          </a:solidFill>
          <a:ln w="12700">
            <a:solidFill>
              <a:srgbClr val="2D4A8A"/>
            </a:solidFill>
            <a:prstDash val="solid"/>
          </a:ln>
        </p:spPr>
      </p:sp>
      <p:sp>
        <p:nvSpPr>
          <p:cNvPr id="5" name="Text 3"/>
          <p:cNvSpPr txBox="1"/>
          <p:nvPr/>
        </p:nvSpPr>
        <p:spPr>
          <a:xfrm>
            <a:off x="5486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Shows an error message</a:t>
            </a:r>
            <a:endParaRPr lang="en-US" sz="1300" dirty="0"/>
          </a:p>
        </p:txBody>
      </p:sp>
      <p:sp>
        <p:nvSpPr>
          <p:cNvPr id="6" name="Shape 4"/>
          <p:cNvSpPr/>
          <p:nvPr/>
        </p:nvSpPr>
        <p:spPr>
          <a:xfrm>
            <a:off x="4800600" y="1508760"/>
            <a:ext cx="4023360" cy="777240"/>
          </a:xfrm>
          <a:prstGeom prst="rect">
            <a:avLst/>
          </a:prstGeom>
          <a:solidFill>
            <a:srgbClr val="1E3060"/>
          </a:solidFill>
          <a:ln w="12700">
            <a:solidFill>
              <a:srgbClr val="2D4A8A"/>
            </a:solidFill>
            <a:prstDash val="solid"/>
          </a:ln>
        </p:spPr>
      </p:sp>
      <p:sp>
        <p:nvSpPr>
          <p:cNvPr id="7" name="Text 5"/>
          <p:cNvSpPr txBox="1"/>
          <p:nvPr/>
        </p:nvSpPr>
        <p:spPr>
          <a:xfrm>
            <a:off x="48920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   Marks the field as valid / clears any custom error</a:t>
            </a:r>
            <a:endParaRPr lang="en-US" sz="1300" dirty="0"/>
          </a:p>
        </p:txBody>
      </p:sp>
      <p:sp>
        <p:nvSpPr>
          <p:cNvPr id="8" name="Shape 6"/>
          <p:cNvSpPr/>
          <p:nvPr/>
        </p:nvSpPr>
        <p:spPr>
          <a:xfrm>
            <a:off x="457200" y="2468880"/>
            <a:ext cx="4023360" cy="777240"/>
          </a:xfrm>
          <a:prstGeom prst="rect">
            <a:avLst/>
          </a:prstGeom>
          <a:solidFill>
            <a:srgbClr val="1E3060"/>
          </a:solidFill>
          <a:ln w="12700">
            <a:solidFill>
              <a:srgbClr val="2D4A8A"/>
            </a:solidFill>
            <a:prstDash val="solid"/>
          </a:ln>
        </p:spPr>
      </p:sp>
      <p:sp>
        <p:nvSpPr>
          <p:cNvPr id="9" name="Text 7"/>
          <p:cNvSpPr txBox="1"/>
          <p:nvPr/>
        </p:nvSpPr>
        <p:spPr>
          <a:xfrm>
            <a:off x="5486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   Deletes the field value</a:t>
            </a:r>
            <a:endParaRPr lang="en-US" sz="1300" dirty="0"/>
          </a:p>
        </p:txBody>
      </p:sp>
      <p:sp>
        <p:nvSpPr>
          <p:cNvPr id="10" name="Shape 8"/>
          <p:cNvSpPr/>
          <p:nvPr/>
        </p:nvSpPr>
        <p:spPr>
          <a:xfrm>
            <a:off x="4800600" y="2468880"/>
            <a:ext cx="4023360" cy="777240"/>
          </a:xfrm>
          <a:prstGeom prst="rect">
            <a:avLst/>
          </a:prstGeom>
          <a:solidFill>
            <a:srgbClr val="1E3060"/>
          </a:solidFill>
          <a:ln w="12700">
            <a:solidFill>
              <a:srgbClr val="2D4A8A"/>
            </a:solidFill>
            <a:prstDash val="solid"/>
          </a:ln>
        </p:spPr>
      </p:sp>
      <p:sp>
        <p:nvSpPr>
          <p:cNvPr id="11" name="Text 9"/>
          <p:cNvSpPr txBox="1"/>
          <p:nvPr/>
        </p:nvSpPr>
        <p:spPr>
          <a:xfrm>
            <a:off x="48920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   Disables the field</a:t>
            </a:r>
            <a:endParaRPr lang="en-US" sz="1300" dirty="0"/>
          </a:p>
        </p:txBody>
      </p:sp>
      <p:sp>
        <p:nvSpPr>
          <p:cNvPr id="12" name="Text 10"/>
          <p:cNvSpPr txBox="1"/>
          <p:nvPr/>
        </p:nvSpPr>
        <p:spPr>
          <a:xfrm>
            <a:off x="457200" y="4434840"/>
            <a:ext cx="8229600" cy="32004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 Discuss with your neighbor — then we'll reveal the answer!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86EFAC"/>
                </a:solidFill>
                <a:latin typeface="Calibri" pitchFamily="34" charset="0"/>
                <a:ea typeface="Calibri" pitchFamily="34" charset="-122"/>
                <a:cs typeface="Calibri" pitchFamily="34" charset="-120"/>
              </a:rPr>
              <a:t>✅ ANSWER</a:t>
            </a:r>
            <a:endParaRPr lang="en-US" sz="2000" dirty="0"/>
          </a:p>
        </p:txBody>
      </p:sp>
      <p:sp>
        <p:nvSpPr>
          <p:cNvPr id="3" name="Text 1"/>
          <p:cNvSpPr txBox="1"/>
          <p:nvPr/>
        </p:nvSpPr>
        <p:spPr>
          <a:xfrm>
            <a:off x="457200" y="731520"/>
            <a:ext cx="8229600" cy="5486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You call field.setCustomValidity('') (empty string). What is the effect?</a:t>
            </a:r>
            <a:endParaRPr lang="en-US" sz="1400" dirty="0"/>
          </a:p>
        </p:txBody>
      </p:sp>
      <p:sp>
        <p:nvSpPr>
          <p:cNvPr id="4" name="Shape 2"/>
          <p:cNvSpPr/>
          <p:nvPr/>
        </p:nvSpPr>
        <p:spPr>
          <a:xfrm>
            <a:off x="457200" y="1417320"/>
            <a:ext cx="4023360" cy="731520"/>
          </a:xfrm>
          <a:prstGeom prst="rect">
            <a:avLst/>
          </a:prstGeom>
          <a:solidFill>
            <a:srgbClr val="1E3060"/>
          </a:solidFill>
          <a:ln w="12700">
            <a:solidFill>
              <a:srgbClr val="2D4A8A"/>
            </a:solidFill>
            <a:prstDash val="solid"/>
          </a:ln>
        </p:spPr>
      </p:sp>
      <p:sp>
        <p:nvSpPr>
          <p:cNvPr id="5" name="Text 3"/>
          <p:cNvSpPr txBox="1"/>
          <p:nvPr/>
        </p:nvSpPr>
        <p:spPr>
          <a:xfrm>
            <a:off x="548640" y="149047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   Shows an error message</a:t>
            </a:r>
            <a:endParaRPr lang="en-US" sz="1300" dirty="0"/>
          </a:p>
        </p:txBody>
      </p:sp>
      <p:sp>
        <p:nvSpPr>
          <p:cNvPr id="6" name="Shape 4"/>
          <p:cNvSpPr/>
          <p:nvPr/>
        </p:nvSpPr>
        <p:spPr>
          <a:xfrm>
            <a:off x="4800600" y="1417320"/>
            <a:ext cx="4023360" cy="731520"/>
          </a:xfrm>
          <a:prstGeom prst="rect">
            <a:avLst/>
          </a:prstGeom>
          <a:solidFill>
            <a:srgbClr val="1A5C30"/>
          </a:solidFill>
          <a:ln w="25400">
            <a:solidFill>
              <a:srgbClr val="86EFAC"/>
            </a:solidFill>
            <a:prstDash val="solid"/>
          </a:ln>
        </p:spPr>
      </p:sp>
      <p:sp>
        <p:nvSpPr>
          <p:cNvPr id="7" name="Text 5"/>
          <p:cNvSpPr txBox="1"/>
          <p:nvPr/>
        </p:nvSpPr>
        <p:spPr>
          <a:xfrm>
            <a:off x="4892040" y="1490472"/>
            <a:ext cx="3840480" cy="585216"/>
          </a:xfrm>
          <a:prstGeom prst="rect">
            <a:avLst/>
          </a:prstGeom>
          <a:noFill/>
          <a:ln/>
        </p:spPr>
        <p:txBody>
          <a:bodyPr wrap="square" lIns="0" tIns="0" rIns="0" bIns="0" rtlCol="0" anchor="ctr"/>
          <a:lstStyle/>
          <a:p>
            <a:pPr marL="0" indent="0">
              <a:buNone/>
            </a:pPr>
            <a:r>
              <a:rPr lang="en-US" sz="1300" b="1" dirty="0">
                <a:solidFill>
                  <a:srgbClr val="86EFAC"/>
                </a:solidFill>
                <a:latin typeface="Calibri" pitchFamily="34" charset="0"/>
                <a:ea typeface="Calibri" pitchFamily="34" charset="-122"/>
                <a:cs typeface="Calibri" pitchFamily="34" charset="-120"/>
              </a:rPr>
              <a:t>B   Marks the field as valid / clears any custom error</a:t>
            </a:r>
            <a:endParaRPr lang="en-US" sz="1300" dirty="0"/>
          </a:p>
        </p:txBody>
      </p:sp>
      <p:sp>
        <p:nvSpPr>
          <p:cNvPr id="8" name="Shape 6"/>
          <p:cNvSpPr/>
          <p:nvPr/>
        </p:nvSpPr>
        <p:spPr>
          <a:xfrm>
            <a:off x="457200" y="2286000"/>
            <a:ext cx="4023360" cy="731520"/>
          </a:xfrm>
          <a:prstGeom prst="rect">
            <a:avLst/>
          </a:prstGeom>
          <a:solidFill>
            <a:srgbClr val="1E3060"/>
          </a:solidFill>
          <a:ln w="12700">
            <a:solidFill>
              <a:srgbClr val="2D4A8A"/>
            </a:solidFill>
            <a:prstDash val="solid"/>
          </a:ln>
        </p:spPr>
      </p:sp>
      <p:sp>
        <p:nvSpPr>
          <p:cNvPr id="9" name="Text 7"/>
          <p:cNvSpPr txBox="1"/>
          <p:nvPr/>
        </p:nvSpPr>
        <p:spPr>
          <a:xfrm>
            <a:off x="5486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C   Deletes the field value</a:t>
            </a:r>
            <a:endParaRPr lang="en-US" sz="1300" dirty="0"/>
          </a:p>
        </p:txBody>
      </p:sp>
      <p:sp>
        <p:nvSpPr>
          <p:cNvPr id="10" name="Shape 8"/>
          <p:cNvSpPr/>
          <p:nvPr/>
        </p:nvSpPr>
        <p:spPr>
          <a:xfrm>
            <a:off x="4800600" y="2286000"/>
            <a:ext cx="4023360" cy="731520"/>
          </a:xfrm>
          <a:prstGeom prst="rect">
            <a:avLst/>
          </a:prstGeom>
          <a:solidFill>
            <a:srgbClr val="1E3060"/>
          </a:solidFill>
          <a:ln w="12700">
            <a:solidFill>
              <a:srgbClr val="2D4A8A"/>
            </a:solidFill>
            <a:prstDash val="solid"/>
          </a:ln>
        </p:spPr>
      </p:sp>
      <p:sp>
        <p:nvSpPr>
          <p:cNvPr id="11" name="Text 9"/>
          <p:cNvSpPr txBox="1"/>
          <p:nvPr/>
        </p:nvSpPr>
        <p:spPr>
          <a:xfrm>
            <a:off x="48920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   Disables the field</a:t>
            </a:r>
            <a:endParaRPr lang="en-US" sz="1300" dirty="0"/>
          </a:p>
        </p:txBody>
      </p:sp>
      <p:sp>
        <p:nvSpPr>
          <p:cNvPr id="12" name="Shape 10"/>
          <p:cNvSpPr/>
          <p:nvPr/>
        </p:nvSpPr>
        <p:spPr>
          <a:xfrm>
            <a:off x="320040" y="3246120"/>
            <a:ext cx="8503920" cy="1600200"/>
          </a:xfrm>
          <a:prstGeom prst="rect">
            <a:avLst/>
          </a:prstGeom>
          <a:solidFill>
            <a:srgbClr val="152035"/>
          </a:solidFill>
          <a:ln/>
        </p:spPr>
      </p:sp>
      <p:sp>
        <p:nvSpPr>
          <p:cNvPr id="13" name="Text 11"/>
          <p:cNvSpPr txBox="1"/>
          <p:nvPr/>
        </p:nvSpPr>
        <p:spPr>
          <a:xfrm>
            <a:off x="457200" y="3310128"/>
            <a:ext cx="8229600" cy="1463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An empty string resets the custom validity, making the field valid again. Any non-empty string sets an error message and marks the field invalid — checkValidity() returns false, and form.checkValidity() also returns false until it is cleared.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Password Confirmation with setCustomValidity()</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HTML5 ALONE — no confirmation possible</a:t>
            </a:r>
            <a:endParaRPr lang="en-US" sz="1000" dirty="0"/>
          </a:p>
        </p:txBody>
      </p:sp>
      <p:sp>
        <p:nvSpPr>
          <p:cNvPr id="4" name="Shape 2"/>
          <p:cNvSpPr/>
          <p:nvPr/>
        </p:nvSpPr>
        <p:spPr>
          <a:xfrm>
            <a:off x="274320" y="1051560"/>
            <a:ext cx="4160520" cy="1828800"/>
          </a:xfrm>
          <a:prstGeom prst="rect">
            <a:avLst/>
          </a:prstGeom>
          <a:solidFill>
            <a:srgbClr val="0D1321"/>
          </a:solidFill>
          <a:ln/>
        </p:spPr>
      </p:sp>
      <p:sp>
        <p:nvSpPr>
          <p:cNvPr id="5" name="Text 3"/>
          <p:cNvSpPr txBox="1"/>
          <p:nvPr/>
        </p:nvSpPr>
        <p:spPr>
          <a:xfrm>
            <a:off x="365760" y="1088136"/>
            <a:ext cx="3977640" cy="175564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&lt;!-- HTML5 has NO built-in password confirmation --&gt;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 This does NOT check that they match: --&gt;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&lt;input type="password" id="pw" required&gt;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&lt;input type="password" id="pw2" required&gt;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 The form will submit even if they differ! --&gt;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WITH JS — setCustomValidity() comparison</a:t>
            </a:r>
            <a:endParaRPr lang="en-US" sz="1000" dirty="0"/>
          </a:p>
        </p:txBody>
      </p:sp>
      <p:sp>
        <p:nvSpPr>
          <p:cNvPr id="7" name="Shape 5"/>
          <p:cNvSpPr/>
          <p:nvPr/>
        </p:nvSpPr>
        <p:spPr>
          <a:xfrm>
            <a:off x="4709160" y="1051560"/>
            <a:ext cx="4160520" cy="2331720"/>
          </a:xfrm>
          <a:prstGeom prst="rect">
            <a:avLst/>
          </a:prstGeom>
          <a:solidFill>
            <a:srgbClr val="0D1321"/>
          </a:solidFill>
          <a:ln/>
        </p:spPr>
      </p:sp>
      <p:sp>
        <p:nvSpPr>
          <p:cNvPr id="8" name="Text 6"/>
          <p:cNvSpPr txBox="1"/>
          <p:nvPr/>
        </p:nvSpPr>
        <p:spPr>
          <a:xfrm>
            <a:off x="4800600" y="1088136"/>
            <a:ext cx="3977640" cy="225856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const pw  = document.getElementById('pw');</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const pw2 = document.getElementById('pw2');</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pw2.addEventListener('input', function()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if (this.value !== pw.value)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Non-empty string = field is INVALID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this.setCustomValidity(</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'Passwords do not match');</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else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Empty string = field is VALID again</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this.setCustomValidity('');</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p:txBody>
      </p:sp>
      <p:sp>
        <p:nvSpPr>
          <p:cNvPr id="9" name="Shape 7"/>
          <p:cNvSpPr/>
          <p:nvPr/>
        </p:nvSpPr>
        <p:spPr>
          <a:xfrm>
            <a:off x="274320" y="2743200"/>
            <a:ext cx="4160520" cy="1828800"/>
          </a:xfrm>
          <a:prstGeom prst="rect">
            <a:avLst/>
          </a:prstGeom>
          <a:solidFill>
            <a:srgbClr val="0D1321"/>
          </a:solidFill>
          <a:ln/>
        </p:spPr>
      </p:sp>
      <p:sp>
        <p:nvSpPr>
          <p:cNvPr id="10" name="Text 8"/>
          <p:cNvSpPr txBox="1"/>
          <p:nvPr/>
        </p:nvSpPr>
        <p:spPr>
          <a:xfrm>
            <a:off x="365760" y="2816352"/>
            <a:ext cx="3977640" cy="1691640"/>
          </a:xfrm>
          <a:prstGeom prst="rect">
            <a:avLst/>
          </a:prstGeom>
          <a:noFill/>
          <a:ln/>
        </p:spPr>
        <p:txBody>
          <a:bodyPr wrap="square" lIns="0" tIns="0" rIns="0" bIns="0" rtlCol="0" anchor="t"/>
          <a:lstStyle/>
          <a:p>
            <a:pPr marL="0" indent="0">
              <a:buNone/>
            </a:pPr>
            <a:r>
              <a:rPr lang="en-US" sz="1100" b="1" dirty="0">
                <a:solidFill>
                  <a:srgbClr val="F7DF1E"/>
                </a:solidFill>
                <a:latin typeface="Calibri" pitchFamily="34" charset="0"/>
                <a:ea typeface="Calibri" pitchFamily="34" charset="-122"/>
                <a:cs typeface="Calibri" pitchFamily="34" charset="-120"/>
              </a:rPr>
              <a:t>Why setCustomValidity()?
</a:t>
            </a:r>
            <a:r>
              <a:rPr lang="en-US" sz="1100" dirty="0">
                <a:solidFill>
                  <a:srgbClr val="FFFFFF"/>
                </a:solidFill>
                <a:latin typeface="Calibri" pitchFamily="34" charset="0"/>
                <a:ea typeface="Calibri" pitchFamily="34" charset="-122"/>
                <a:cs typeface="Calibri" pitchFamily="34" charset="-120"/>
              </a:rPr>
              <a:t>It bridges your JS logic and the browser's validity API.
</a:t>
            </a:r>
            <a:r>
              <a:rPr lang="en-US" sz="1100" b="1" dirty="0">
                <a:solidFill>
                  <a:srgbClr val="FCA5A5"/>
                </a:solidFill>
                <a:latin typeface="Calibri" pitchFamily="34" charset="0"/>
                <a:ea typeface="Calibri" pitchFamily="34" charset="-122"/>
                <a:cs typeface="Calibri" pitchFamily="34" charset="-120"/>
              </a:rPr>
              <a:t>Non-empty string</a:t>
            </a:r>
            <a:r>
              <a:rPr lang="en-US" sz="1100" dirty="0">
                <a:solidFill>
                  <a:srgbClr val="FFFFFF"/>
                </a:solidFill>
                <a:latin typeface="Calibri" pitchFamily="34" charset="0"/>
                <a:ea typeface="Calibri" pitchFamily="34" charset="-122"/>
                <a:cs typeface="Calibri" pitchFamily="34" charset="-120"/>
              </a:rPr>
              <a:t> → field is invalid, checkValidity() = false
</a:t>
            </a:r>
            <a:r>
              <a:rPr lang="en-US" sz="1100" b="1" dirty="0">
                <a:solidFill>
                  <a:srgbClr val="86EFAC"/>
                </a:solidFill>
                <a:latin typeface="Calibri" pitchFamily="34" charset="0"/>
                <a:ea typeface="Calibri" pitchFamily="34" charset="-122"/>
                <a:cs typeface="Calibri" pitchFamily="34" charset="-120"/>
              </a:rPr>
              <a:t>Empty string</a:t>
            </a:r>
            <a:r>
              <a:rPr lang="en-US" sz="1100" dirty="0">
                <a:solidFill>
                  <a:srgbClr val="FFFFFF"/>
                </a:solidFill>
                <a:latin typeface="Calibri" pitchFamily="34" charset="0"/>
                <a:ea typeface="Calibri" pitchFamily="34" charset="-122"/>
                <a:cs typeface="Calibri" pitchFamily="34" charset="-120"/>
              </a:rPr>
              <a:t> → field is valid, error cleared</a:t>
            </a:r>
            <a:endParaRPr lang="en-US" sz="1100" dirty="0"/>
          </a:p>
        </p:txBody>
      </p:sp>
      <p:sp>
        <p:nvSpPr>
          <p:cNvPr id="11" name="Text 9"/>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F7DF1E"/>
                </a:solidFill>
                <a:latin typeface="Calibri" pitchFamily="34" charset="0"/>
                <a:ea typeface="Calibri" pitchFamily="34" charset="-122"/>
                <a:cs typeface="Calibri" pitchFamily="34" charset="-120"/>
              </a:rPr>
              <a:t>⚡ QUICK QUIZ</a:t>
            </a:r>
            <a:endParaRPr lang="en-US" sz="2000" dirty="0"/>
          </a:p>
        </p:txBody>
      </p:sp>
      <p:sp>
        <p:nvSpPr>
          <p:cNvPr id="3" name="Text 1"/>
          <p:cNvSpPr txBox="1"/>
          <p:nvPr/>
        </p:nvSpPr>
        <p:spPr>
          <a:xfrm>
            <a:off x="457200" y="731520"/>
            <a:ext cx="8229600" cy="64008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Which event fires continuously AS the user types in an input field?</a:t>
            </a:r>
            <a:endParaRPr lang="en-US" sz="1500" dirty="0"/>
          </a:p>
        </p:txBody>
      </p:sp>
      <p:sp>
        <p:nvSpPr>
          <p:cNvPr id="4" name="Shape 2"/>
          <p:cNvSpPr/>
          <p:nvPr/>
        </p:nvSpPr>
        <p:spPr>
          <a:xfrm>
            <a:off x="457200" y="1508760"/>
            <a:ext cx="4023360" cy="777240"/>
          </a:xfrm>
          <a:prstGeom prst="rect">
            <a:avLst/>
          </a:prstGeom>
          <a:solidFill>
            <a:srgbClr val="1E3060"/>
          </a:solidFill>
          <a:ln w="12700">
            <a:solidFill>
              <a:srgbClr val="2D4A8A"/>
            </a:solidFill>
            <a:prstDash val="solid"/>
          </a:ln>
        </p:spPr>
      </p:sp>
      <p:sp>
        <p:nvSpPr>
          <p:cNvPr id="5" name="Text 3"/>
          <p:cNvSpPr txBox="1"/>
          <p:nvPr/>
        </p:nvSpPr>
        <p:spPr>
          <a:xfrm>
            <a:off x="5486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keypress</a:t>
            </a:r>
            <a:endParaRPr lang="en-US" sz="1300" dirty="0"/>
          </a:p>
        </p:txBody>
      </p:sp>
      <p:sp>
        <p:nvSpPr>
          <p:cNvPr id="6" name="Shape 4"/>
          <p:cNvSpPr/>
          <p:nvPr/>
        </p:nvSpPr>
        <p:spPr>
          <a:xfrm>
            <a:off x="4800600" y="1508760"/>
            <a:ext cx="4023360" cy="777240"/>
          </a:xfrm>
          <a:prstGeom prst="rect">
            <a:avLst/>
          </a:prstGeom>
          <a:solidFill>
            <a:srgbClr val="1E3060"/>
          </a:solidFill>
          <a:ln w="12700">
            <a:solidFill>
              <a:srgbClr val="2D4A8A"/>
            </a:solidFill>
            <a:prstDash val="solid"/>
          </a:ln>
        </p:spPr>
      </p:sp>
      <p:sp>
        <p:nvSpPr>
          <p:cNvPr id="7" name="Text 5"/>
          <p:cNvSpPr txBox="1"/>
          <p:nvPr/>
        </p:nvSpPr>
        <p:spPr>
          <a:xfrm>
            <a:off x="48920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   change</a:t>
            </a:r>
            <a:endParaRPr lang="en-US" sz="1300" dirty="0"/>
          </a:p>
        </p:txBody>
      </p:sp>
      <p:sp>
        <p:nvSpPr>
          <p:cNvPr id="8" name="Shape 6"/>
          <p:cNvSpPr/>
          <p:nvPr/>
        </p:nvSpPr>
        <p:spPr>
          <a:xfrm>
            <a:off x="457200" y="2468880"/>
            <a:ext cx="4023360" cy="777240"/>
          </a:xfrm>
          <a:prstGeom prst="rect">
            <a:avLst/>
          </a:prstGeom>
          <a:solidFill>
            <a:srgbClr val="1E3060"/>
          </a:solidFill>
          <a:ln w="12700">
            <a:solidFill>
              <a:srgbClr val="2D4A8A"/>
            </a:solidFill>
            <a:prstDash val="solid"/>
          </a:ln>
        </p:spPr>
      </p:sp>
      <p:sp>
        <p:nvSpPr>
          <p:cNvPr id="9" name="Text 7"/>
          <p:cNvSpPr txBox="1"/>
          <p:nvPr/>
        </p:nvSpPr>
        <p:spPr>
          <a:xfrm>
            <a:off x="5486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   input</a:t>
            </a:r>
            <a:endParaRPr lang="en-US" sz="1300" dirty="0"/>
          </a:p>
        </p:txBody>
      </p:sp>
      <p:sp>
        <p:nvSpPr>
          <p:cNvPr id="10" name="Shape 8"/>
          <p:cNvSpPr/>
          <p:nvPr/>
        </p:nvSpPr>
        <p:spPr>
          <a:xfrm>
            <a:off x="4800600" y="2468880"/>
            <a:ext cx="4023360" cy="777240"/>
          </a:xfrm>
          <a:prstGeom prst="rect">
            <a:avLst/>
          </a:prstGeom>
          <a:solidFill>
            <a:srgbClr val="1E3060"/>
          </a:solidFill>
          <a:ln w="12700">
            <a:solidFill>
              <a:srgbClr val="2D4A8A"/>
            </a:solidFill>
            <a:prstDash val="solid"/>
          </a:ln>
        </p:spPr>
      </p:sp>
      <p:sp>
        <p:nvSpPr>
          <p:cNvPr id="11" name="Text 9"/>
          <p:cNvSpPr txBox="1"/>
          <p:nvPr/>
        </p:nvSpPr>
        <p:spPr>
          <a:xfrm>
            <a:off x="48920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   submit</a:t>
            </a:r>
            <a:endParaRPr lang="en-US" sz="1300" dirty="0"/>
          </a:p>
        </p:txBody>
      </p:sp>
      <p:sp>
        <p:nvSpPr>
          <p:cNvPr id="12" name="Text 10"/>
          <p:cNvSpPr txBox="1"/>
          <p:nvPr/>
        </p:nvSpPr>
        <p:spPr>
          <a:xfrm>
            <a:off x="457200" y="4434840"/>
            <a:ext cx="8229600" cy="32004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 Discuss with your neighbor — then we'll reveal the answer!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86EFAC"/>
                </a:solidFill>
                <a:latin typeface="Calibri" pitchFamily="34" charset="0"/>
                <a:ea typeface="Calibri" pitchFamily="34" charset="-122"/>
                <a:cs typeface="Calibri" pitchFamily="34" charset="-120"/>
              </a:rPr>
              <a:t>✅ ANSWER</a:t>
            </a:r>
            <a:endParaRPr lang="en-US" sz="2000" dirty="0"/>
          </a:p>
        </p:txBody>
      </p:sp>
      <p:sp>
        <p:nvSpPr>
          <p:cNvPr id="3" name="Text 1"/>
          <p:cNvSpPr txBox="1"/>
          <p:nvPr/>
        </p:nvSpPr>
        <p:spPr>
          <a:xfrm>
            <a:off x="457200" y="731520"/>
            <a:ext cx="8229600" cy="5486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Which event fires continuously AS the user types in an input field?</a:t>
            </a:r>
            <a:endParaRPr lang="en-US" sz="1400" dirty="0"/>
          </a:p>
        </p:txBody>
      </p:sp>
      <p:sp>
        <p:nvSpPr>
          <p:cNvPr id="4" name="Shape 2"/>
          <p:cNvSpPr/>
          <p:nvPr/>
        </p:nvSpPr>
        <p:spPr>
          <a:xfrm>
            <a:off x="457200" y="1417320"/>
            <a:ext cx="4023360" cy="731520"/>
          </a:xfrm>
          <a:prstGeom prst="rect">
            <a:avLst/>
          </a:prstGeom>
          <a:solidFill>
            <a:srgbClr val="1E3060"/>
          </a:solidFill>
          <a:ln w="12700">
            <a:solidFill>
              <a:srgbClr val="2D4A8A"/>
            </a:solidFill>
            <a:prstDash val="solid"/>
          </a:ln>
        </p:spPr>
      </p:sp>
      <p:sp>
        <p:nvSpPr>
          <p:cNvPr id="5" name="Text 3"/>
          <p:cNvSpPr txBox="1"/>
          <p:nvPr/>
        </p:nvSpPr>
        <p:spPr>
          <a:xfrm>
            <a:off x="548640" y="149047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   keypress</a:t>
            </a:r>
            <a:endParaRPr lang="en-US" sz="1300" dirty="0"/>
          </a:p>
        </p:txBody>
      </p:sp>
      <p:sp>
        <p:nvSpPr>
          <p:cNvPr id="6" name="Shape 4"/>
          <p:cNvSpPr/>
          <p:nvPr/>
        </p:nvSpPr>
        <p:spPr>
          <a:xfrm>
            <a:off x="4800600" y="1417320"/>
            <a:ext cx="4023360" cy="731520"/>
          </a:xfrm>
          <a:prstGeom prst="rect">
            <a:avLst/>
          </a:prstGeom>
          <a:solidFill>
            <a:srgbClr val="1E3060"/>
          </a:solidFill>
          <a:ln w="12700">
            <a:solidFill>
              <a:srgbClr val="2D4A8A"/>
            </a:solidFill>
            <a:prstDash val="solid"/>
          </a:ln>
        </p:spPr>
      </p:sp>
      <p:sp>
        <p:nvSpPr>
          <p:cNvPr id="7" name="Text 5"/>
          <p:cNvSpPr txBox="1"/>
          <p:nvPr/>
        </p:nvSpPr>
        <p:spPr>
          <a:xfrm>
            <a:off x="4892040" y="149047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B   change</a:t>
            </a:r>
            <a:endParaRPr lang="en-US" sz="1300" dirty="0"/>
          </a:p>
        </p:txBody>
      </p:sp>
      <p:sp>
        <p:nvSpPr>
          <p:cNvPr id="8" name="Shape 6"/>
          <p:cNvSpPr/>
          <p:nvPr/>
        </p:nvSpPr>
        <p:spPr>
          <a:xfrm>
            <a:off x="457200" y="2286000"/>
            <a:ext cx="4023360" cy="731520"/>
          </a:xfrm>
          <a:prstGeom prst="rect">
            <a:avLst/>
          </a:prstGeom>
          <a:solidFill>
            <a:srgbClr val="1A5C30"/>
          </a:solidFill>
          <a:ln w="25400">
            <a:solidFill>
              <a:srgbClr val="86EFAC"/>
            </a:solidFill>
            <a:prstDash val="solid"/>
          </a:ln>
        </p:spPr>
      </p:sp>
      <p:sp>
        <p:nvSpPr>
          <p:cNvPr id="9" name="Text 7"/>
          <p:cNvSpPr txBox="1"/>
          <p:nvPr/>
        </p:nvSpPr>
        <p:spPr>
          <a:xfrm>
            <a:off x="548640" y="2359152"/>
            <a:ext cx="3840480" cy="585216"/>
          </a:xfrm>
          <a:prstGeom prst="rect">
            <a:avLst/>
          </a:prstGeom>
          <a:noFill/>
          <a:ln/>
        </p:spPr>
        <p:txBody>
          <a:bodyPr wrap="square" lIns="0" tIns="0" rIns="0" bIns="0" rtlCol="0" anchor="ctr"/>
          <a:lstStyle/>
          <a:p>
            <a:pPr marL="0" indent="0">
              <a:buNone/>
            </a:pPr>
            <a:r>
              <a:rPr lang="en-US" sz="1300" b="1" dirty="0">
                <a:solidFill>
                  <a:srgbClr val="86EFAC"/>
                </a:solidFill>
                <a:latin typeface="Calibri" pitchFamily="34" charset="0"/>
                <a:ea typeface="Calibri" pitchFamily="34" charset="-122"/>
                <a:cs typeface="Calibri" pitchFamily="34" charset="-120"/>
              </a:rPr>
              <a:t>C   input</a:t>
            </a:r>
            <a:endParaRPr lang="en-US" sz="1300" dirty="0"/>
          </a:p>
        </p:txBody>
      </p:sp>
      <p:sp>
        <p:nvSpPr>
          <p:cNvPr id="10" name="Shape 8"/>
          <p:cNvSpPr/>
          <p:nvPr/>
        </p:nvSpPr>
        <p:spPr>
          <a:xfrm>
            <a:off x="4800600" y="2286000"/>
            <a:ext cx="4023360" cy="731520"/>
          </a:xfrm>
          <a:prstGeom prst="rect">
            <a:avLst/>
          </a:prstGeom>
          <a:solidFill>
            <a:srgbClr val="1E3060"/>
          </a:solidFill>
          <a:ln w="12700">
            <a:solidFill>
              <a:srgbClr val="2D4A8A"/>
            </a:solidFill>
            <a:prstDash val="solid"/>
          </a:ln>
        </p:spPr>
      </p:sp>
      <p:sp>
        <p:nvSpPr>
          <p:cNvPr id="11" name="Text 9"/>
          <p:cNvSpPr txBox="1"/>
          <p:nvPr/>
        </p:nvSpPr>
        <p:spPr>
          <a:xfrm>
            <a:off x="48920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   submit</a:t>
            </a:r>
            <a:endParaRPr lang="en-US" sz="1300" dirty="0"/>
          </a:p>
        </p:txBody>
      </p:sp>
      <p:sp>
        <p:nvSpPr>
          <p:cNvPr id="12" name="Shape 10"/>
          <p:cNvSpPr/>
          <p:nvPr/>
        </p:nvSpPr>
        <p:spPr>
          <a:xfrm>
            <a:off x="320040" y="3246120"/>
            <a:ext cx="8503920" cy="1600200"/>
          </a:xfrm>
          <a:prstGeom prst="rect">
            <a:avLst/>
          </a:prstGeom>
          <a:solidFill>
            <a:srgbClr val="152035"/>
          </a:solidFill>
          <a:ln/>
        </p:spPr>
      </p:sp>
      <p:sp>
        <p:nvSpPr>
          <p:cNvPr id="13" name="Text 11"/>
          <p:cNvSpPr txBox="1"/>
          <p:nvPr/>
        </p:nvSpPr>
        <p:spPr>
          <a:xfrm>
            <a:off x="457200" y="3310128"/>
            <a:ext cx="8229600" cy="1463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The input event fires on every keystroke, enabling real-time feedback. change only fires when the field loses focus after the value changed. keypress is deprecated. submit only fires on form submit.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Disabling Submit Until Valid (Bonus)</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FCA5A5"/>
                </a:solidFill>
                <a:latin typeface="Calibri" pitchFamily="34" charset="0"/>
                <a:ea typeface="Calibri" pitchFamily="34" charset="-122"/>
                <a:cs typeface="Calibri" pitchFamily="34" charset="-120"/>
              </a:rPr>
              <a:t>❌  NO JS — button always active</a:t>
            </a:r>
            <a:endParaRPr lang="en-US" sz="1000" dirty="0"/>
          </a:p>
        </p:txBody>
      </p:sp>
      <p:sp>
        <p:nvSpPr>
          <p:cNvPr id="4" name="Shape 2"/>
          <p:cNvSpPr/>
          <p:nvPr/>
        </p:nvSpPr>
        <p:spPr>
          <a:xfrm>
            <a:off x="274320" y="1051560"/>
            <a:ext cx="4160520" cy="1920240"/>
          </a:xfrm>
          <a:prstGeom prst="rect">
            <a:avLst/>
          </a:prstGeom>
          <a:solidFill>
            <a:srgbClr val="0D1321"/>
          </a:solidFill>
          <a:ln/>
        </p:spPr>
      </p:sp>
      <p:sp>
        <p:nvSpPr>
          <p:cNvPr id="5" name="Text 3"/>
          <p:cNvSpPr txBox="1"/>
          <p:nvPr/>
        </p:nvSpPr>
        <p:spPr>
          <a:xfrm>
            <a:off x="365760" y="1088136"/>
            <a:ext cx="3977640" cy="1847088"/>
          </a:xfrm>
          <a:prstGeom prst="rect">
            <a:avLst/>
          </a:prstGeom>
          <a:noFill/>
          <a:ln/>
        </p:spPr>
        <p:txBody>
          <a:bodyPr wrap="square" lIns="0" tIns="0" rIns="0" bIns="0" rtlCol="0" anchor="t"/>
          <a:lstStyle/>
          <a:p>
            <a:pPr marL="0" indent="0">
              <a:buNone/>
            </a:pPr>
            <a:r>
              <a:rPr lang="en-US" sz="850" dirty="0">
                <a:solidFill>
                  <a:srgbClr val="FCA5A5"/>
                </a:solidFill>
                <a:latin typeface="Courier New" pitchFamily="34" charset="0"/>
                <a:ea typeface="Courier New" pitchFamily="34" charset="-122"/>
                <a:cs typeface="Courier New" pitchFamily="34" charset="-120"/>
              </a:rPr>
              <a:t>&lt;!-- Button is always clickable — no feedback --&gt;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&lt;button type="submit"&gt;Register&lt;/button&gt;</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&lt;!-- User can click Submit even when</a:t>
            </a:r>
            <a:endParaRPr lang="en-US" sz="850" dirty="0"/>
          </a:p>
          <a:p>
            <a:pPr marL="0" indent="0">
              <a:buNone/>
            </a:pPr>
            <a:r>
              <a:rPr lang="en-US" sz="850" dirty="0">
                <a:solidFill>
                  <a:srgbClr val="FCA5A5"/>
                </a:solidFill>
                <a:latin typeface="Courier New" pitchFamily="34" charset="0"/>
                <a:ea typeface="Courier New" pitchFamily="34" charset="-122"/>
                <a:cs typeface="Courier New" pitchFamily="34" charset="-120"/>
              </a:rPr>
              <a:t>     required fields are empty --&gt;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WITH JS — button disabled until form is valid</a:t>
            </a:r>
            <a:endParaRPr lang="en-US" sz="1000" dirty="0"/>
          </a:p>
        </p:txBody>
      </p:sp>
      <p:sp>
        <p:nvSpPr>
          <p:cNvPr id="7" name="Shape 5"/>
          <p:cNvSpPr/>
          <p:nvPr/>
        </p:nvSpPr>
        <p:spPr>
          <a:xfrm>
            <a:off x="4709160" y="1051560"/>
            <a:ext cx="4160520" cy="1920240"/>
          </a:xfrm>
          <a:prstGeom prst="rect">
            <a:avLst/>
          </a:prstGeom>
          <a:solidFill>
            <a:srgbClr val="0D1321"/>
          </a:solidFill>
          <a:ln/>
        </p:spPr>
      </p:sp>
      <p:sp>
        <p:nvSpPr>
          <p:cNvPr id="8" name="Text 6"/>
          <p:cNvSpPr txBox="1"/>
          <p:nvPr/>
        </p:nvSpPr>
        <p:spPr>
          <a:xfrm>
            <a:off x="4800600" y="1088136"/>
            <a:ext cx="3977640" cy="184708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 Check form validity on every keystroke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form.querySelectorAll('input, select')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.forEach(el =&gt;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el.addEventListener('input', () =&gt;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 true only if ALL fields pass constraints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submitBtn.disabled = !form.checkValidity();</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p:txBody>
      </p:sp>
      <p:sp>
        <p:nvSpPr>
          <p:cNvPr id="9" name="Text 7"/>
          <p:cNvSpPr txBox="1"/>
          <p:nvPr/>
        </p:nvSpPr>
        <p:spPr>
          <a:xfrm>
            <a:off x="4709160" y="2834640"/>
            <a:ext cx="4160520" cy="256032"/>
          </a:xfrm>
          <a:prstGeom prst="rect">
            <a:avLst/>
          </a:prstGeom>
          <a:noFill/>
          <a:ln/>
        </p:spPr>
        <p:txBody>
          <a:bodyPr wrap="square" lIns="0" tIns="0" rIns="0" bIns="0"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CSS for disabled state</a:t>
            </a:r>
            <a:endParaRPr lang="en-US" sz="1000" dirty="0"/>
          </a:p>
        </p:txBody>
      </p:sp>
      <p:sp>
        <p:nvSpPr>
          <p:cNvPr id="10" name="Shape 8"/>
          <p:cNvSpPr/>
          <p:nvPr/>
        </p:nvSpPr>
        <p:spPr>
          <a:xfrm>
            <a:off x="4709160" y="3108960"/>
            <a:ext cx="4160520" cy="1719072"/>
          </a:xfrm>
          <a:prstGeom prst="rect">
            <a:avLst/>
          </a:prstGeom>
          <a:solidFill>
            <a:srgbClr val="0D1321"/>
          </a:solidFill>
          <a:ln/>
        </p:spPr>
      </p:sp>
      <p:sp>
        <p:nvSpPr>
          <p:cNvPr id="11" name="Text 9"/>
          <p:cNvSpPr txBox="1"/>
          <p:nvPr/>
        </p:nvSpPr>
        <p:spPr>
          <a:xfrm>
            <a:off x="4800600" y="3145536"/>
            <a:ext cx="3977640" cy="1645920"/>
          </a:xfrm>
          <a:prstGeom prst="rect">
            <a:avLst/>
          </a:prstGeom>
          <a:noFill/>
          <a:ln/>
        </p:spPr>
        <p:txBody>
          <a:bodyPr wrap="square" lIns="0" tIns="0" rIns="0" bIns="0" rtlCol="0" anchor="t"/>
          <a:lstStyle/>
          <a:p>
            <a:pPr marL="0" indent="0">
              <a:buNone/>
            </a:pPr>
            <a:r>
              <a:rPr lang="en-US" sz="850" dirty="0">
                <a:solidFill>
                  <a:srgbClr val="94A3B8"/>
                </a:solidFill>
                <a:latin typeface="Courier New" pitchFamily="34" charset="0"/>
                <a:ea typeface="Courier New" pitchFamily="34" charset="-122"/>
                <a:cs typeface="Courier New" pitchFamily="34" charset="-120"/>
              </a:rPr>
              <a:t>button:disabled {</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  opacity: 0.45;</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  cursor: not-allowed;</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  background: #94a3b8; /* gray */</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button:enabled {</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  background: #3b82f6; /* blue = ready */</a:t>
            </a:r>
            <a:endParaRPr lang="en-US" sz="850" dirty="0"/>
          </a:p>
          <a:p>
            <a:pPr marL="0" indent="0">
              <a:buNone/>
            </a:pPr>
            <a:r>
              <a:rPr lang="en-US" sz="850" dirty="0">
                <a:solidFill>
                  <a:srgbClr val="94A3B8"/>
                </a:solidFill>
                <a:latin typeface="Courier New" pitchFamily="34" charset="0"/>
                <a:ea typeface="Courier New" pitchFamily="34" charset="-122"/>
                <a:cs typeface="Courier New" pitchFamily="34" charset="-120"/>
              </a:rPr>
              <a:t>}</a:t>
            </a:r>
            <a:endParaRPr lang="en-US" sz="850" dirty="0"/>
          </a:p>
        </p:txBody>
      </p:sp>
      <p:sp>
        <p:nvSpPr>
          <p:cNvPr id="12" name="Shape 10"/>
          <p:cNvSpPr/>
          <p:nvPr/>
        </p:nvSpPr>
        <p:spPr>
          <a:xfrm>
            <a:off x="274320" y="2834640"/>
            <a:ext cx="4160520" cy="1719072"/>
          </a:xfrm>
          <a:prstGeom prst="rect">
            <a:avLst/>
          </a:prstGeom>
          <a:solidFill>
            <a:srgbClr val="0D1321"/>
          </a:solidFill>
          <a:ln/>
        </p:spPr>
      </p:sp>
      <p:sp>
        <p:nvSpPr>
          <p:cNvPr id="13" name="Text 11"/>
          <p:cNvSpPr txBox="1"/>
          <p:nvPr/>
        </p:nvSpPr>
        <p:spPr>
          <a:xfrm>
            <a:off x="365760" y="2907792"/>
            <a:ext cx="3977640" cy="1581912"/>
          </a:xfrm>
          <a:prstGeom prst="rect">
            <a:avLst/>
          </a:prstGeom>
          <a:noFill/>
          <a:ln/>
        </p:spPr>
        <p:txBody>
          <a:bodyPr wrap="square" lIns="0" tIns="0" rIns="0" bIns="0" rtlCol="0" anchor="t"/>
          <a:lstStyle/>
          <a:p>
            <a:pPr marL="0" indent="0">
              <a:buNone/>
            </a:pPr>
            <a:r>
              <a:rPr lang="en-US" sz="1050" b="1" dirty="0">
                <a:solidFill>
                  <a:srgbClr val="F7DF1E"/>
                </a:solidFill>
                <a:latin typeface="Courier New" pitchFamily="34" charset="0"/>
                <a:ea typeface="Courier New" pitchFamily="34" charset="-122"/>
                <a:cs typeface="Courier New" pitchFamily="34" charset="-120"/>
              </a:rPr>
              <a:t>form.checkValidity()</a:t>
            </a:r>
            <a:r>
              <a:rPr lang="en-US" sz="1050" dirty="0">
                <a:solidFill>
                  <a:srgbClr val="FFFFFF"/>
                </a:solidFill>
                <a:latin typeface="Calibri" pitchFamily="34" charset="0"/>
                <a:ea typeface="Calibri" pitchFamily="34" charset="-122"/>
                <a:cs typeface="Calibri" pitchFamily="34" charset="-120"/>
              </a:rPr>
              <a:t> returns true only when:
• All required fields are filled
• All pattern/type constraints pass
• No setCustomValidity() errors remain
</a:t>
            </a:r>
            <a:r>
              <a:rPr lang="en-US" sz="1050" b="1" dirty="0">
                <a:solidFill>
                  <a:srgbClr val="FCA5A5"/>
                </a:solidFill>
                <a:latin typeface="Calibri" pitchFamily="34" charset="0"/>
                <a:ea typeface="Calibri" pitchFamily="34" charset="-122"/>
                <a:cs typeface="Calibri" pitchFamily="34" charset="-120"/>
              </a:rPr>
              <a:t>Important:</a:t>
            </a:r>
            <a:r>
              <a:rPr lang="en-US" sz="1050" dirty="0">
                <a:solidFill>
                  <a:srgbClr val="94A3B8"/>
                </a:solidFill>
                <a:latin typeface="Calibri" pitchFamily="34" charset="0"/>
                <a:ea typeface="Calibri" pitchFamily="34" charset="-122"/>
                <a:cs typeface="Calibri" pitchFamily="34" charset="-120"/>
              </a:rPr>
              <a:t> always validate on submit too — the disabled state can be bypassed in DevTools.</a:t>
            </a:r>
            <a:endParaRPr lang="en-US" sz="1050" dirty="0"/>
          </a:p>
        </p:txBody>
      </p:sp>
      <p:sp>
        <p:nvSpPr>
          <p:cNvPr id="14" name="Text 12"/>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F7DF1E"/>
                </a:solidFill>
                <a:latin typeface="Calibri" pitchFamily="34" charset="0"/>
                <a:ea typeface="Calibri" pitchFamily="34" charset="-122"/>
                <a:cs typeface="Calibri" pitchFamily="34" charset="-120"/>
              </a:rPr>
              <a:t>⚡ QUICK QUIZ</a:t>
            </a:r>
            <a:endParaRPr lang="en-US" sz="2000" dirty="0"/>
          </a:p>
        </p:txBody>
      </p:sp>
      <p:sp>
        <p:nvSpPr>
          <p:cNvPr id="3" name="Text 1"/>
          <p:cNvSpPr txBox="1"/>
          <p:nvPr/>
        </p:nvSpPr>
        <p:spPr>
          <a:xfrm>
            <a:off x="457200" y="731520"/>
            <a:ext cx="8229600" cy="640080"/>
          </a:xfrm>
          <a:prstGeom prst="rect">
            <a:avLst/>
          </a:prstGeom>
          <a:noFill/>
          <a:ln/>
        </p:spPr>
        <p:txBody>
          <a:bodyPr wrap="square"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The pattern /^\d{9}$/ validates a student ID. Which value PASSES this check?</a:t>
            </a:r>
            <a:endParaRPr lang="en-US" sz="1500" dirty="0"/>
          </a:p>
        </p:txBody>
      </p:sp>
      <p:sp>
        <p:nvSpPr>
          <p:cNvPr id="4" name="Shape 2"/>
          <p:cNvSpPr/>
          <p:nvPr/>
        </p:nvSpPr>
        <p:spPr>
          <a:xfrm>
            <a:off x="457200" y="1508760"/>
            <a:ext cx="4023360" cy="777240"/>
          </a:xfrm>
          <a:prstGeom prst="rect">
            <a:avLst/>
          </a:prstGeom>
          <a:solidFill>
            <a:srgbClr val="1E3060"/>
          </a:solidFill>
          <a:ln w="12700">
            <a:solidFill>
              <a:srgbClr val="2D4A8A"/>
            </a:solidFill>
            <a:prstDash val="solid"/>
          </a:ln>
        </p:spPr>
      </p:sp>
      <p:sp>
        <p:nvSpPr>
          <p:cNvPr id="5" name="Text 3"/>
          <p:cNvSpPr txBox="1"/>
          <p:nvPr/>
        </p:nvSpPr>
        <p:spPr>
          <a:xfrm>
            <a:off x="5486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   12345678   (8 digits)</a:t>
            </a:r>
            <a:endParaRPr lang="en-US" sz="1300" dirty="0"/>
          </a:p>
        </p:txBody>
      </p:sp>
      <p:sp>
        <p:nvSpPr>
          <p:cNvPr id="6" name="Shape 4"/>
          <p:cNvSpPr/>
          <p:nvPr/>
        </p:nvSpPr>
        <p:spPr>
          <a:xfrm>
            <a:off x="4800600" y="1508760"/>
            <a:ext cx="4023360" cy="777240"/>
          </a:xfrm>
          <a:prstGeom prst="rect">
            <a:avLst/>
          </a:prstGeom>
          <a:solidFill>
            <a:srgbClr val="1E3060"/>
          </a:solidFill>
          <a:ln w="12700">
            <a:solidFill>
              <a:srgbClr val="2D4A8A"/>
            </a:solidFill>
            <a:prstDash val="solid"/>
          </a:ln>
        </p:spPr>
      </p:sp>
      <p:sp>
        <p:nvSpPr>
          <p:cNvPr id="7" name="Text 5"/>
          <p:cNvSpPr txBox="1"/>
          <p:nvPr/>
        </p:nvSpPr>
        <p:spPr>
          <a:xfrm>
            <a:off x="4892040" y="160020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B   202312345  (9 digits)</a:t>
            </a:r>
            <a:endParaRPr lang="en-US" sz="1300" dirty="0"/>
          </a:p>
        </p:txBody>
      </p:sp>
      <p:sp>
        <p:nvSpPr>
          <p:cNvPr id="8" name="Shape 6"/>
          <p:cNvSpPr/>
          <p:nvPr/>
        </p:nvSpPr>
        <p:spPr>
          <a:xfrm>
            <a:off x="457200" y="2468880"/>
            <a:ext cx="4023360" cy="777240"/>
          </a:xfrm>
          <a:prstGeom prst="rect">
            <a:avLst/>
          </a:prstGeom>
          <a:solidFill>
            <a:srgbClr val="1E3060"/>
          </a:solidFill>
          <a:ln w="12700">
            <a:solidFill>
              <a:srgbClr val="2D4A8A"/>
            </a:solidFill>
            <a:prstDash val="solid"/>
          </a:ln>
        </p:spPr>
      </p:sp>
      <p:sp>
        <p:nvSpPr>
          <p:cNvPr id="9" name="Text 7"/>
          <p:cNvSpPr txBox="1"/>
          <p:nvPr/>
        </p:nvSpPr>
        <p:spPr>
          <a:xfrm>
            <a:off x="5486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   20231234a  (has a letter)</a:t>
            </a:r>
            <a:endParaRPr lang="en-US" sz="1300" dirty="0"/>
          </a:p>
        </p:txBody>
      </p:sp>
      <p:sp>
        <p:nvSpPr>
          <p:cNvPr id="10" name="Shape 8"/>
          <p:cNvSpPr/>
          <p:nvPr/>
        </p:nvSpPr>
        <p:spPr>
          <a:xfrm>
            <a:off x="4800600" y="2468880"/>
            <a:ext cx="4023360" cy="777240"/>
          </a:xfrm>
          <a:prstGeom prst="rect">
            <a:avLst/>
          </a:prstGeom>
          <a:solidFill>
            <a:srgbClr val="1E3060"/>
          </a:solidFill>
          <a:ln w="12700">
            <a:solidFill>
              <a:srgbClr val="2D4A8A"/>
            </a:solidFill>
            <a:prstDash val="solid"/>
          </a:ln>
        </p:spPr>
      </p:sp>
      <p:sp>
        <p:nvSpPr>
          <p:cNvPr id="11" name="Text 9"/>
          <p:cNvSpPr txBox="1"/>
          <p:nvPr/>
        </p:nvSpPr>
        <p:spPr>
          <a:xfrm>
            <a:off x="4892040" y="2560320"/>
            <a:ext cx="38404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   2023123456 (10 digits)</a:t>
            </a:r>
            <a:endParaRPr lang="en-US" sz="1300" dirty="0"/>
          </a:p>
        </p:txBody>
      </p:sp>
      <p:sp>
        <p:nvSpPr>
          <p:cNvPr id="12" name="Text 10"/>
          <p:cNvSpPr txBox="1"/>
          <p:nvPr/>
        </p:nvSpPr>
        <p:spPr>
          <a:xfrm>
            <a:off x="457200" y="4434840"/>
            <a:ext cx="8229600" cy="32004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 Discuss with your neighbor — then we'll reveal the answer!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321"/>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11480"/>
          </a:xfrm>
          <a:prstGeom prst="rect">
            <a:avLst/>
          </a:prstGeom>
          <a:noFill/>
          <a:ln/>
        </p:spPr>
        <p:txBody>
          <a:bodyPr wrap="square" rtlCol="0" anchor="ctr"/>
          <a:lstStyle/>
          <a:p>
            <a:pPr marL="0" indent="0" algn="ctr">
              <a:buNone/>
            </a:pPr>
            <a:r>
              <a:rPr lang="en-US" sz="2000" b="1" dirty="0">
                <a:solidFill>
                  <a:srgbClr val="86EFAC"/>
                </a:solidFill>
                <a:latin typeface="Calibri" pitchFamily="34" charset="0"/>
                <a:ea typeface="Calibri" pitchFamily="34" charset="-122"/>
                <a:cs typeface="Calibri" pitchFamily="34" charset="-120"/>
              </a:rPr>
              <a:t>✅ ANSWER</a:t>
            </a:r>
            <a:endParaRPr lang="en-US" sz="2000" dirty="0"/>
          </a:p>
        </p:txBody>
      </p:sp>
      <p:sp>
        <p:nvSpPr>
          <p:cNvPr id="3" name="Text 1"/>
          <p:cNvSpPr txBox="1"/>
          <p:nvPr/>
        </p:nvSpPr>
        <p:spPr>
          <a:xfrm>
            <a:off x="457200" y="731520"/>
            <a:ext cx="8229600" cy="54864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The pattern /^\d{9}$/ validates a student ID. Which value PASSES this check?</a:t>
            </a:r>
            <a:endParaRPr lang="en-US" sz="1400" dirty="0"/>
          </a:p>
        </p:txBody>
      </p:sp>
      <p:sp>
        <p:nvSpPr>
          <p:cNvPr id="4" name="Shape 2"/>
          <p:cNvSpPr/>
          <p:nvPr/>
        </p:nvSpPr>
        <p:spPr>
          <a:xfrm>
            <a:off x="457200" y="1417320"/>
            <a:ext cx="4023360" cy="731520"/>
          </a:xfrm>
          <a:prstGeom prst="rect">
            <a:avLst/>
          </a:prstGeom>
          <a:solidFill>
            <a:srgbClr val="1E3060"/>
          </a:solidFill>
          <a:ln w="12700">
            <a:solidFill>
              <a:srgbClr val="2D4A8A"/>
            </a:solidFill>
            <a:prstDash val="solid"/>
          </a:ln>
        </p:spPr>
      </p:sp>
      <p:sp>
        <p:nvSpPr>
          <p:cNvPr id="5" name="Text 3"/>
          <p:cNvSpPr txBox="1"/>
          <p:nvPr/>
        </p:nvSpPr>
        <p:spPr>
          <a:xfrm>
            <a:off x="548640" y="149047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   12345678   (8 digits)</a:t>
            </a:r>
            <a:endParaRPr lang="en-US" sz="1300" dirty="0"/>
          </a:p>
        </p:txBody>
      </p:sp>
      <p:sp>
        <p:nvSpPr>
          <p:cNvPr id="6" name="Shape 4"/>
          <p:cNvSpPr/>
          <p:nvPr/>
        </p:nvSpPr>
        <p:spPr>
          <a:xfrm>
            <a:off x="4800600" y="1417320"/>
            <a:ext cx="4023360" cy="731520"/>
          </a:xfrm>
          <a:prstGeom prst="rect">
            <a:avLst/>
          </a:prstGeom>
          <a:solidFill>
            <a:srgbClr val="1A5C30"/>
          </a:solidFill>
          <a:ln w="25400">
            <a:solidFill>
              <a:srgbClr val="86EFAC"/>
            </a:solidFill>
            <a:prstDash val="solid"/>
          </a:ln>
        </p:spPr>
      </p:sp>
      <p:sp>
        <p:nvSpPr>
          <p:cNvPr id="7" name="Text 5"/>
          <p:cNvSpPr txBox="1"/>
          <p:nvPr/>
        </p:nvSpPr>
        <p:spPr>
          <a:xfrm>
            <a:off x="4892040" y="1490472"/>
            <a:ext cx="3840480" cy="585216"/>
          </a:xfrm>
          <a:prstGeom prst="rect">
            <a:avLst/>
          </a:prstGeom>
          <a:noFill/>
          <a:ln/>
        </p:spPr>
        <p:txBody>
          <a:bodyPr wrap="square" lIns="0" tIns="0" rIns="0" bIns="0" rtlCol="0" anchor="ctr"/>
          <a:lstStyle/>
          <a:p>
            <a:pPr marL="0" indent="0">
              <a:buNone/>
            </a:pPr>
            <a:r>
              <a:rPr lang="en-US" sz="1300" b="1" dirty="0">
                <a:solidFill>
                  <a:srgbClr val="86EFAC"/>
                </a:solidFill>
                <a:latin typeface="Calibri" pitchFamily="34" charset="0"/>
                <a:ea typeface="Calibri" pitchFamily="34" charset="-122"/>
                <a:cs typeface="Calibri" pitchFamily="34" charset="-120"/>
              </a:rPr>
              <a:t>B   202312345  (9 digits)</a:t>
            </a:r>
            <a:endParaRPr lang="en-US" sz="1300" dirty="0"/>
          </a:p>
        </p:txBody>
      </p:sp>
      <p:sp>
        <p:nvSpPr>
          <p:cNvPr id="8" name="Shape 6"/>
          <p:cNvSpPr/>
          <p:nvPr/>
        </p:nvSpPr>
        <p:spPr>
          <a:xfrm>
            <a:off x="457200" y="2286000"/>
            <a:ext cx="4023360" cy="731520"/>
          </a:xfrm>
          <a:prstGeom prst="rect">
            <a:avLst/>
          </a:prstGeom>
          <a:solidFill>
            <a:srgbClr val="1E3060"/>
          </a:solidFill>
          <a:ln w="12700">
            <a:solidFill>
              <a:srgbClr val="2D4A8A"/>
            </a:solidFill>
            <a:prstDash val="solid"/>
          </a:ln>
        </p:spPr>
      </p:sp>
      <p:sp>
        <p:nvSpPr>
          <p:cNvPr id="9" name="Text 7"/>
          <p:cNvSpPr txBox="1"/>
          <p:nvPr/>
        </p:nvSpPr>
        <p:spPr>
          <a:xfrm>
            <a:off x="5486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C   20231234a  (has a letter)</a:t>
            </a:r>
            <a:endParaRPr lang="en-US" sz="1300" dirty="0"/>
          </a:p>
        </p:txBody>
      </p:sp>
      <p:sp>
        <p:nvSpPr>
          <p:cNvPr id="10" name="Shape 8"/>
          <p:cNvSpPr/>
          <p:nvPr/>
        </p:nvSpPr>
        <p:spPr>
          <a:xfrm>
            <a:off x="4800600" y="2286000"/>
            <a:ext cx="4023360" cy="731520"/>
          </a:xfrm>
          <a:prstGeom prst="rect">
            <a:avLst/>
          </a:prstGeom>
          <a:solidFill>
            <a:srgbClr val="1E3060"/>
          </a:solidFill>
          <a:ln w="12700">
            <a:solidFill>
              <a:srgbClr val="2D4A8A"/>
            </a:solidFill>
            <a:prstDash val="solid"/>
          </a:ln>
        </p:spPr>
      </p:sp>
      <p:sp>
        <p:nvSpPr>
          <p:cNvPr id="11" name="Text 9"/>
          <p:cNvSpPr txBox="1"/>
          <p:nvPr/>
        </p:nvSpPr>
        <p:spPr>
          <a:xfrm>
            <a:off x="4892040" y="2359152"/>
            <a:ext cx="3840480" cy="585216"/>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   2023123456 (10 digits)</a:t>
            </a:r>
            <a:endParaRPr lang="en-US" sz="1300" dirty="0"/>
          </a:p>
        </p:txBody>
      </p:sp>
      <p:sp>
        <p:nvSpPr>
          <p:cNvPr id="12" name="Shape 10"/>
          <p:cNvSpPr/>
          <p:nvPr/>
        </p:nvSpPr>
        <p:spPr>
          <a:xfrm>
            <a:off x="320040" y="3246120"/>
            <a:ext cx="8503920" cy="1600200"/>
          </a:xfrm>
          <a:prstGeom prst="rect">
            <a:avLst/>
          </a:prstGeom>
          <a:solidFill>
            <a:srgbClr val="152035"/>
          </a:solidFill>
          <a:ln/>
        </p:spPr>
      </p:sp>
      <p:sp>
        <p:nvSpPr>
          <p:cNvPr id="13" name="Text 11"/>
          <p:cNvSpPr txBox="1"/>
          <p:nvPr/>
        </p:nvSpPr>
        <p:spPr>
          <a:xfrm>
            <a:off x="457200" y="3310128"/>
            <a:ext cx="8229600" cy="1463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The regex requires exactly 9 digits: ^ = start, \d{9} = nine digits, $ = end. 202312345 has exactly 9 digits and passes. All others have wrong length or non-digit characters.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Full Pattern: Putting It Together</a:t>
            </a:r>
            <a:endParaRPr lang="en-US" sz="2600" dirty="0"/>
          </a:p>
        </p:txBody>
      </p:sp>
      <p:sp>
        <p:nvSpPr>
          <p:cNvPr id="3" name="Text 1"/>
          <p:cNvSpPr txBox="1"/>
          <p:nvPr/>
        </p:nvSpPr>
        <p:spPr>
          <a:xfrm>
            <a:off x="27432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Part 1 — helpers + per-field validator</a:t>
            </a:r>
            <a:endParaRPr lang="en-US" sz="1000" dirty="0"/>
          </a:p>
        </p:txBody>
      </p:sp>
      <p:sp>
        <p:nvSpPr>
          <p:cNvPr id="4" name="Shape 2"/>
          <p:cNvSpPr/>
          <p:nvPr/>
        </p:nvSpPr>
        <p:spPr>
          <a:xfrm>
            <a:off x="274320" y="1051560"/>
            <a:ext cx="4160520" cy="3977640"/>
          </a:xfrm>
          <a:prstGeom prst="rect">
            <a:avLst/>
          </a:prstGeom>
          <a:solidFill>
            <a:srgbClr val="0D1321"/>
          </a:solidFill>
          <a:ln/>
        </p:spPr>
      </p:sp>
      <p:sp>
        <p:nvSpPr>
          <p:cNvPr id="5" name="Text 3"/>
          <p:cNvSpPr txBox="1"/>
          <p:nvPr/>
        </p:nvSpPr>
        <p:spPr>
          <a:xfrm>
            <a:off x="365760" y="1088136"/>
            <a:ext cx="3977640" cy="390448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const form      = document.getElementById('regForm');</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const submitBtn = document.getElementById('submit-btn');</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1. Reusable helper functions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function markValid(input, span)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input.setAttribute('aria-invalid', 'false');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span.textContent =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function markInvalid(input, span, msg)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input.setAttribute('aria-invalid', 'true');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span.textContent = msg;</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2. Per-field validator</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function validateEmail()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const el  = document.getElementById('v-email');</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const err = document.getElementById('err-email');</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if (el.validity.valueMissing)</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return markInvalid(el, err, 'Required'), false;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if (el.validity.typeMismatch)</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return markInvalid(el, err, 'Invalid email'), false;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return markValid(el, err), true;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p:txBody>
      </p:sp>
      <p:sp>
        <p:nvSpPr>
          <p:cNvPr id="6" name="Text 4"/>
          <p:cNvSpPr txBox="1"/>
          <p:nvPr/>
        </p:nvSpPr>
        <p:spPr>
          <a:xfrm>
            <a:off x="4709160" y="777240"/>
            <a:ext cx="4160520" cy="256032"/>
          </a:xfrm>
          <a:prstGeom prst="rect">
            <a:avLst/>
          </a:prstGeom>
          <a:noFill/>
          <a:ln/>
        </p:spPr>
        <p:txBody>
          <a:bodyPr wrap="square" lIns="0" tIns="0" rIns="0" bIns="0" rtlCol="0" anchor="ctr"/>
          <a:lstStyle/>
          <a:p>
            <a:pPr marL="0" indent="0">
              <a:buNone/>
            </a:pPr>
            <a:r>
              <a:rPr lang="en-US" sz="1000" b="1" dirty="0">
                <a:solidFill>
                  <a:srgbClr val="86EFAC"/>
                </a:solidFill>
                <a:latin typeface="Calibri" pitchFamily="34" charset="0"/>
                <a:ea typeface="Calibri" pitchFamily="34" charset="-122"/>
                <a:cs typeface="Calibri" pitchFamily="34" charset="-120"/>
              </a:rPr>
              <a:t>✅  Part 2 — real-time + submit wiring</a:t>
            </a:r>
            <a:endParaRPr lang="en-US" sz="1000" dirty="0"/>
          </a:p>
        </p:txBody>
      </p:sp>
      <p:sp>
        <p:nvSpPr>
          <p:cNvPr id="7" name="Shape 5"/>
          <p:cNvSpPr/>
          <p:nvPr/>
        </p:nvSpPr>
        <p:spPr>
          <a:xfrm>
            <a:off x="4709160" y="1051560"/>
            <a:ext cx="4160520" cy="3977640"/>
          </a:xfrm>
          <a:prstGeom prst="rect">
            <a:avLst/>
          </a:prstGeom>
          <a:solidFill>
            <a:srgbClr val="0D1321"/>
          </a:solidFill>
          <a:ln/>
        </p:spPr>
      </p:sp>
      <p:sp>
        <p:nvSpPr>
          <p:cNvPr id="8" name="Text 6"/>
          <p:cNvSpPr txBox="1"/>
          <p:nvPr/>
        </p:nvSpPr>
        <p:spPr>
          <a:xfrm>
            <a:off x="4800600" y="1088136"/>
            <a:ext cx="3977640" cy="3904488"/>
          </a:xfrm>
          <a:prstGeom prst="rect">
            <a:avLst/>
          </a:prstGeom>
          <a:noFill/>
          <a:ln/>
        </p:spPr>
        <p:txBody>
          <a:bodyPr wrap="square" lIns="0" tIns="0" rIns="0" bIns="0" rtlCol="0" anchor="t"/>
          <a:lstStyle/>
          <a:p>
            <a:pPr marL="0" indent="0">
              <a:buNone/>
            </a:pPr>
            <a:r>
              <a:rPr lang="en-US" sz="850" dirty="0">
                <a:solidFill>
                  <a:srgbClr val="86EFAC"/>
                </a:solidFill>
                <a:latin typeface="Courier New" pitchFamily="34" charset="0"/>
                <a:ea typeface="Courier New" pitchFamily="34" charset="-122"/>
                <a:cs typeface="Courier New" pitchFamily="34" charset="-120"/>
              </a:rPr>
              <a:t>// 3. Real-time + submit wiring</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document.getElementById('v-email')</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.addEventListener('input', () =&gt;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validateEmail();</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submitBtn.disabled = !form.checkValidity();</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form.addEventListener('submit', e =&gt;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e.preventDefault();</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if (validateEmail() /* &amp;&amp; validateSid() */)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showSuccess();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a:t>
            </a:r>
            <a:endParaRPr lang="en-US" sz="850" dirty="0"/>
          </a:p>
          <a:p>
            <a:pPr marL="0" indent="0">
              <a:buNone/>
            </a:pP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Pattern summary:</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markValid / markInvalid  — helpers</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validateX()              — per field</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input listener           — real-time</a:t>
            </a:r>
            <a:endParaRPr lang="en-US" sz="850" dirty="0"/>
          </a:p>
          <a:p>
            <a:pPr marL="0" indent="0">
              <a:buNone/>
            </a:pPr>
            <a:r>
              <a:rPr lang="en-US" sz="850" dirty="0">
                <a:solidFill>
                  <a:srgbClr val="86EFAC"/>
                </a:solidFill>
                <a:latin typeface="Courier New" pitchFamily="34" charset="0"/>
                <a:ea typeface="Courier New" pitchFamily="34" charset="-122"/>
                <a:cs typeface="Courier New" pitchFamily="34" charset="-120"/>
              </a:rPr>
              <a:t>// submit listener          — final gate</a:t>
            </a:r>
            <a:endParaRPr lang="en-US" sz="850" dirty="0"/>
          </a:p>
        </p:txBody>
      </p:sp>
      <p:sp>
        <p:nvSpPr>
          <p:cNvPr id="9" name="Text 7"/>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540"/>
        </a:solidFill>
        <a:effectLst/>
      </p:bgPr>
    </p:bg>
    <p:spTree>
      <p:nvGrpSpPr>
        <p:cNvPr id="1" name=""/>
        <p:cNvGrpSpPr/>
        <p:nvPr/>
      </p:nvGrpSpPr>
      <p:grpSpPr>
        <a:xfrm>
          <a:off x="0" y="0"/>
          <a:ext cx="0" cy="0"/>
          <a:chOff x="0" y="0"/>
          <a:chExt cx="0" cy="0"/>
        </a:xfrm>
      </p:grpSpPr>
      <p:sp>
        <p:nvSpPr>
          <p:cNvPr id="2" name="Text 0"/>
          <p:cNvSpPr txBox="1"/>
          <p:nvPr/>
        </p:nvSpPr>
        <p:spPr>
          <a:xfrm>
            <a:off x="320040" y="182880"/>
            <a:ext cx="8503920" cy="475488"/>
          </a:xfrm>
          <a:prstGeom prst="rect">
            <a:avLst/>
          </a:prstGeom>
          <a:noFill/>
          <a:ln/>
        </p:spPr>
        <p:txBody>
          <a:bodyPr wrap="square" rtlCol="0" anchor="ctr"/>
          <a:lstStyle/>
          <a:p>
            <a:pPr marL="0" indent="0">
              <a:buNone/>
            </a:pPr>
            <a:r>
              <a:rPr lang="en-US" sz="2600" b="1" dirty="0">
                <a:solidFill>
                  <a:srgbClr val="F7DF1E"/>
                </a:solidFill>
                <a:latin typeface="Cambria" pitchFamily="34" charset="0"/>
                <a:ea typeface="Cambria" pitchFamily="34" charset="-122"/>
                <a:cs typeface="Cambria" pitchFamily="34" charset="-120"/>
              </a:rPr>
              <a:t>Summary + Homework</a:t>
            </a:r>
            <a:endParaRPr lang="en-US" sz="2600" dirty="0"/>
          </a:p>
        </p:txBody>
      </p:sp>
      <p:sp>
        <p:nvSpPr>
          <p:cNvPr id="3" name="Shape 1"/>
          <p:cNvSpPr/>
          <p:nvPr/>
        </p:nvSpPr>
        <p:spPr>
          <a:xfrm>
            <a:off x="274320" y="822960"/>
            <a:ext cx="2743200" cy="960120"/>
          </a:xfrm>
          <a:prstGeom prst="rect">
            <a:avLst/>
          </a:prstGeom>
          <a:solidFill>
            <a:srgbClr val="0D1321"/>
          </a:solidFill>
          <a:ln/>
        </p:spPr>
      </p:sp>
      <p:sp>
        <p:nvSpPr>
          <p:cNvPr id="4" name="Text 2"/>
          <p:cNvSpPr txBox="1"/>
          <p:nvPr/>
        </p:nvSpPr>
        <p:spPr>
          <a:xfrm>
            <a:off x="365760" y="896112"/>
            <a:ext cx="2560320" cy="347472"/>
          </a:xfrm>
          <a:prstGeom prst="rect">
            <a:avLst/>
          </a:prstGeom>
          <a:noFill/>
          <a:ln/>
        </p:spPr>
        <p:txBody>
          <a:bodyPr wrap="square" lIns="0" tIns="0" rIns="0" bIns="0" rtlCol="0" anchor="ctr"/>
          <a:lstStyle/>
          <a:p>
            <a:pPr marL="0" indent="0">
              <a:buNone/>
            </a:pPr>
            <a:r>
              <a:rPr lang="en-US" sz="1200" b="1" dirty="0">
                <a:solidFill>
                  <a:srgbClr val="F7DF1E"/>
                </a:solidFill>
                <a:latin typeface="Courier New" pitchFamily="34" charset="0"/>
                <a:ea typeface="Courier New" pitchFamily="34" charset="-122"/>
                <a:cs typeface="Courier New" pitchFamily="34" charset="-120"/>
              </a:rPr>
              <a:t>novalidate</a:t>
            </a:r>
            <a:endParaRPr lang="en-US" sz="1200" dirty="0"/>
          </a:p>
        </p:txBody>
      </p:sp>
      <p:sp>
        <p:nvSpPr>
          <p:cNvPr id="5" name="Text 3"/>
          <p:cNvSpPr txBox="1"/>
          <p:nvPr/>
        </p:nvSpPr>
        <p:spPr>
          <a:xfrm>
            <a:off x="365760" y="1280160"/>
            <a:ext cx="256032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Disables browser bubbles — JS takes over</a:t>
            </a:r>
            <a:endParaRPr lang="en-US" sz="1000" dirty="0"/>
          </a:p>
        </p:txBody>
      </p:sp>
      <p:sp>
        <p:nvSpPr>
          <p:cNvPr id="6" name="Shape 4"/>
          <p:cNvSpPr/>
          <p:nvPr/>
        </p:nvSpPr>
        <p:spPr>
          <a:xfrm>
            <a:off x="3154680" y="822960"/>
            <a:ext cx="2743200" cy="960120"/>
          </a:xfrm>
          <a:prstGeom prst="rect">
            <a:avLst/>
          </a:prstGeom>
          <a:solidFill>
            <a:srgbClr val="0D1321"/>
          </a:solidFill>
          <a:ln/>
        </p:spPr>
      </p:sp>
      <p:sp>
        <p:nvSpPr>
          <p:cNvPr id="7" name="Text 5"/>
          <p:cNvSpPr txBox="1"/>
          <p:nvPr/>
        </p:nvSpPr>
        <p:spPr>
          <a:xfrm>
            <a:off x="3246120" y="896112"/>
            <a:ext cx="2560320" cy="347472"/>
          </a:xfrm>
          <a:prstGeom prst="rect">
            <a:avLst/>
          </a:prstGeom>
          <a:noFill/>
          <a:ln/>
        </p:spPr>
        <p:txBody>
          <a:bodyPr wrap="square" lIns="0" tIns="0" rIns="0" bIns="0" rtlCol="0" anchor="ctr"/>
          <a:lstStyle/>
          <a:p>
            <a:pPr marL="0" indent="0">
              <a:buNone/>
            </a:pPr>
            <a:r>
              <a:rPr lang="en-US" sz="1200" b="1" dirty="0">
                <a:solidFill>
                  <a:srgbClr val="F7DF1E"/>
                </a:solidFill>
                <a:latin typeface="Courier New" pitchFamily="34" charset="0"/>
                <a:ea typeface="Courier New" pitchFamily="34" charset="-122"/>
                <a:cs typeface="Courier New" pitchFamily="34" charset="-120"/>
              </a:rPr>
              <a:t>preventDefault()</a:t>
            </a:r>
            <a:endParaRPr lang="en-US" sz="1200" dirty="0"/>
          </a:p>
        </p:txBody>
      </p:sp>
      <p:sp>
        <p:nvSpPr>
          <p:cNvPr id="8" name="Text 6"/>
          <p:cNvSpPr txBox="1"/>
          <p:nvPr/>
        </p:nvSpPr>
        <p:spPr>
          <a:xfrm>
            <a:off x="3246120" y="1280160"/>
            <a:ext cx="256032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Stops form submit; run your checks first</a:t>
            </a:r>
            <a:endParaRPr lang="en-US" sz="1000" dirty="0"/>
          </a:p>
        </p:txBody>
      </p:sp>
      <p:sp>
        <p:nvSpPr>
          <p:cNvPr id="9" name="Shape 7"/>
          <p:cNvSpPr/>
          <p:nvPr/>
        </p:nvSpPr>
        <p:spPr>
          <a:xfrm>
            <a:off x="6035040" y="822960"/>
            <a:ext cx="2743200" cy="960120"/>
          </a:xfrm>
          <a:prstGeom prst="rect">
            <a:avLst/>
          </a:prstGeom>
          <a:solidFill>
            <a:srgbClr val="0D1321"/>
          </a:solidFill>
          <a:ln/>
        </p:spPr>
      </p:sp>
      <p:sp>
        <p:nvSpPr>
          <p:cNvPr id="10" name="Text 8"/>
          <p:cNvSpPr txBox="1"/>
          <p:nvPr/>
        </p:nvSpPr>
        <p:spPr>
          <a:xfrm>
            <a:off x="6126480" y="896112"/>
            <a:ext cx="2560320" cy="347472"/>
          </a:xfrm>
          <a:prstGeom prst="rect">
            <a:avLst/>
          </a:prstGeom>
          <a:noFill/>
          <a:ln/>
        </p:spPr>
        <p:txBody>
          <a:bodyPr wrap="square" lIns="0" tIns="0" rIns="0" bIns="0" rtlCol="0" anchor="ctr"/>
          <a:lstStyle/>
          <a:p>
            <a:pPr marL="0" indent="0">
              <a:buNone/>
            </a:pPr>
            <a:r>
              <a:rPr lang="en-US" sz="1200" b="1" dirty="0">
                <a:solidFill>
                  <a:srgbClr val="F7DF1E"/>
                </a:solidFill>
                <a:latin typeface="Courier New" pitchFamily="34" charset="0"/>
                <a:ea typeface="Courier New" pitchFamily="34" charset="-122"/>
                <a:cs typeface="Courier New" pitchFamily="34" charset="-120"/>
              </a:rPr>
              <a:t>input event</a:t>
            </a:r>
            <a:endParaRPr lang="en-US" sz="1200" dirty="0"/>
          </a:p>
        </p:txBody>
      </p:sp>
      <p:sp>
        <p:nvSpPr>
          <p:cNvPr id="11" name="Text 9"/>
          <p:cNvSpPr txBox="1"/>
          <p:nvPr/>
        </p:nvSpPr>
        <p:spPr>
          <a:xfrm>
            <a:off x="6126480" y="1280160"/>
            <a:ext cx="256032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Real-time feedback on every keystroke</a:t>
            </a:r>
            <a:endParaRPr lang="en-US" sz="1000" dirty="0"/>
          </a:p>
        </p:txBody>
      </p:sp>
      <p:sp>
        <p:nvSpPr>
          <p:cNvPr id="12" name="Shape 10"/>
          <p:cNvSpPr/>
          <p:nvPr/>
        </p:nvSpPr>
        <p:spPr>
          <a:xfrm>
            <a:off x="274320" y="1920240"/>
            <a:ext cx="2743200" cy="960120"/>
          </a:xfrm>
          <a:prstGeom prst="rect">
            <a:avLst/>
          </a:prstGeom>
          <a:solidFill>
            <a:srgbClr val="0D1321"/>
          </a:solidFill>
          <a:ln/>
        </p:spPr>
      </p:sp>
      <p:sp>
        <p:nvSpPr>
          <p:cNvPr id="13" name="Text 11"/>
          <p:cNvSpPr txBox="1"/>
          <p:nvPr/>
        </p:nvSpPr>
        <p:spPr>
          <a:xfrm>
            <a:off x="365760" y="1993392"/>
            <a:ext cx="2560320" cy="347472"/>
          </a:xfrm>
          <a:prstGeom prst="rect">
            <a:avLst/>
          </a:prstGeom>
          <a:noFill/>
          <a:ln/>
        </p:spPr>
        <p:txBody>
          <a:bodyPr wrap="square" lIns="0" tIns="0" rIns="0" bIns="0" rtlCol="0" anchor="ctr"/>
          <a:lstStyle/>
          <a:p>
            <a:pPr marL="0" indent="0">
              <a:buNone/>
            </a:pPr>
            <a:r>
              <a:rPr lang="en-US" sz="1200" b="1" dirty="0">
                <a:solidFill>
                  <a:srgbClr val="F7DF1E"/>
                </a:solidFill>
                <a:latin typeface="Courier New" pitchFamily="34" charset="0"/>
                <a:ea typeface="Courier New" pitchFamily="34" charset="-122"/>
                <a:cs typeface="Courier New" pitchFamily="34" charset="-120"/>
              </a:rPr>
              <a:t>validity API</a:t>
            </a:r>
            <a:endParaRPr lang="en-US" sz="1200" dirty="0"/>
          </a:p>
        </p:txBody>
      </p:sp>
      <p:sp>
        <p:nvSpPr>
          <p:cNvPr id="14" name="Text 12"/>
          <p:cNvSpPr txBox="1"/>
          <p:nvPr/>
        </p:nvSpPr>
        <p:spPr>
          <a:xfrm>
            <a:off x="365760" y="2377440"/>
            <a:ext cx="256032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valueMissing, typeMismatch, tooShort…</a:t>
            </a:r>
            <a:endParaRPr lang="en-US" sz="1000" dirty="0"/>
          </a:p>
        </p:txBody>
      </p:sp>
      <p:sp>
        <p:nvSpPr>
          <p:cNvPr id="15" name="Shape 13"/>
          <p:cNvSpPr/>
          <p:nvPr/>
        </p:nvSpPr>
        <p:spPr>
          <a:xfrm>
            <a:off x="3154680" y="1920240"/>
            <a:ext cx="2743200" cy="960120"/>
          </a:xfrm>
          <a:prstGeom prst="rect">
            <a:avLst/>
          </a:prstGeom>
          <a:solidFill>
            <a:srgbClr val="0D1321"/>
          </a:solidFill>
          <a:ln/>
        </p:spPr>
      </p:sp>
      <p:sp>
        <p:nvSpPr>
          <p:cNvPr id="16" name="Text 14"/>
          <p:cNvSpPr txBox="1"/>
          <p:nvPr/>
        </p:nvSpPr>
        <p:spPr>
          <a:xfrm>
            <a:off x="3246120" y="1993392"/>
            <a:ext cx="2560320" cy="347472"/>
          </a:xfrm>
          <a:prstGeom prst="rect">
            <a:avLst/>
          </a:prstGeom>
          <a:noFill/>
          <a:ln/>
        </p:spPr>
        <p:txBody>
          <a:bodyPr wrap="square" lIns="0" tIns="0" rIns="0" bIns="0" rtlCol="0" anchor="ctr"/>
          <a:lstStyle/>
          <a:p>
            <a:pPr marL="0" indent="0">
              <a:buNone/>
            </a:pPr>
            <a:r>
              <a:rPr lang="en-US" sz="1200" b="1" dirty="0">
                <a:solidFill>
                  <a:srgbClr val="F7DF1E"/>
                </a:solidFill>
                <a:latin typeface="Courier New" pitchFamily="34" charset="0"/>
                <a:ea typeface="Courier New" pitchFamily="34" charset="-122"/>
                <a:cs typeface="Courier New" pitchFamily="34" charset="-120"/>
              </a:rPr>
              <a:t>setCustomValidity()</a:t>
            </a:r>
            <a:endParaRPr lang="en-US" sz="1200" dirty="0"/>
          </a:p>
        </p:txBody>
      </p:sp>
      <p:sp>
        <p:nvSpPr>
          <p:cNvPr id="17" name="Text 15"/>
          <p:cNvSpPr txBox="1"/>
          <p:nvPr/>
        </p:nvSpPr>
        <p:spPr>
          <a:xfrm>
            <a:off x="3246120" y="2377440"/>
            <a:ext cx="256032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Custom errors + clear with ""</a:t>
            </a:r>
            <a:endParaRPr lang="en-US" sz="1000" dirty="0"/>
          </a:p>
        </p:txBody>
      </p:sp>
      <p:sp>
        <p:nvSpPr>
          <p:cNvPr id="18" name="Shape 16"/>
          <p:cNvSpPr/>
          <p:nvPr/>
        </p:nvSpPr>
        <p:spPr>
          <a:xfrm>
            <a:off x="6035040" y="1920240"/>
            <a:ext cx="2743200" cy="960120"/>
          </a:xfrm>
          <a:prstGeom prst="rect">
            <a:avLst/>
          </a:prstGeom>
          <a:solidFill>
            <a:srgbClr val="0D1321"/>
          </a:solidFill>
          <a:ln/>
        </p:spPr>
      </p:sp>
      <p:sp>
        <p:nvSpPr>
          <p:cNvPr id="19" name="Text 17"/>
          <p:cNvSpPr txBox="1"/>
          <p:nvPr/>
        </p:nvSpPr>
        <p:spPr>
          <a:xfrm>
            <a:off x="6126480" y="1993392"/>
            <a:ext cx="2560320" cy="347472"/>
          </a:xfrm>
          <a:prstGeom prst="rect">
            <a:avLst/>
          </a:prstGeom>
          <a:noFill/>
          <a:ln/>
        </p:spPr>
        <p:txBody>
          <a:bodyPr wrap="square" lIns="0" tIns="0" rIns="0" bIns="0" rtlCol="0" anchor="ctr"/>
          <a:lstStyle/>
          <a:p>
            <a:pPr marL="0" indent="0">
              <a:buNone/>
            </a:pPr>
            <a:r>
              <a:rPr lang="en-US" sz="1200" b="1" dirty="0">
                <a:solidFill>
                  <a:srgbClr val="F7DF1E"/>
                </a:solidFill>
                <a:latin typeface="Courier New" pitchFamily="34" charset="0"/>
                <a:ea typeface="Courier New" pitchFamily="34" charset="-122"/>
                <a:cs typeface="Courier New" pitchFamily="34" charset="-120"/>
              </a:rPr>
              <a:t>aria-describedby</a:t>
            </a:r>
            <a:endParaRPr lang="en-US" sz="1200" dirty="0"/>
          </a:p>
        </p:txBody>
      </p:sp>
      <p:sp>
        <p:nvSpPr>
          <p:cNvPr id="20" name="Text 18"/>
          <p:cNvSpPr txBox="1"/>
          <p:nvPr/>
        </p:nvSpPr>
        <p:spPr>
          <a:xfrm>
            <a:off x="6126480" y="2377440"/>
            <a:ext cx="2560320" cy="45720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Links input to error span for AT</a:t>
            </a:r>
            <a:endParaRPr lang="en-US" sz="1000" dirty="0"/>
          </a:p>
        </p:txBody>
      </p:sp>
      <p:sp>
        <p:nvSpPr>
          <p:cNvPr id="21" name="Shape 19"/>
          <p:cNvSpPr/>
          <p:nvPr/>
        </p:nvSpPr>
        <p:spPr>
          <a:xfrm>
            <a:off x="274320" y="2905179"/>
            <a:ext cx="8595360" cy="889581"/>
          </a:xfrm>
          <a:prstGeom prst="rect">
            <a:avLst/>
          </a:prstGeom>
          <a:solidFill>
            <a:srgbClr val="1A3050"/>
          </a:solidFill>
          <a:ln w="19050">
            <a:solidFill>
              <a:srgbClr val="F7DF1E"/>
            </a:solidFill>
            <a:prstDash val="solid"/>
          </a:ln>
        </p:spPr>
      </p:sp>
      <p:sp>
        <p:nvSpPr>
          <p:cNvPr id="22" name="Text 20"/>
          <p:cNvSpPr txBox="1"/>
          <p:nvPr/>
        </p:nvSpPr>
        <p:spPr>
          <a:xfrm>
            <a:off x="457200" y="2939143"/>
            <a:ext cx="8321040" cy="347472"/>
          </a:xfrm>
          <a:prstGeom prst="rect">
            <a:avLst/>
          </a:prstGeom>
          <a:noFill/>
          <a:ln/>
        </p:spPr>
        <p:txBody>
          <a:bodyPr wrap="square" lIns="0" tIns="0" rIns="0" bIns="0" rtlCol="0" anchor="ctr"/>
          <a:lstStyle/>
          <a:p>
            <a:pPr marL="0" indent="0">
              <a:buNone/>
            </a:pPr>
            <a:r>
              <a:rPr lang="en-US" sz="1400" b="1" dirty="0">
                <a:solidFill>
                  <a:srgbClr val="F7DF1E"/>
                </a:solidFill>
                <a:latin typeface="Cambria" pitchFamily="34" charset="0"/>
                <a:ea typeface="Cambria" pitchFamily="34" charset="-122"/>
                <a:cs typeface="Cambria" pitchFamily="34" charset="-120"/>
              </a:rPr>
              <a:t>HOMEWORK</a:t>
            </a:r>
            <a:endParaRPr lang="en-US" sz="1400" dirty="0"/>
          </a:p>
        </p:txBody>
      </p:sp>
      <p:sp>
        <p:nvSpPr>
          <p:cNvPr id="23" name="Text 21"/>
          <p:cNvSpPr txBox="1"/>
          <p:nvPr/>
        </p:nvSpPr>
        <p:spPr>
          <a:xfrm>
            <a:off x="411480" y="3211503"/>
            <a:ext cx="8321040" cy="1216152"/>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Upgrade Monday's registration form — add novalidate, preventDefault, input listeners for all fields, ARIA attributes (aria-describedby + aria-invalid), password confirm with setCustomValidity(), and a success message div. Bonus: disable the Submit button until form.checkValidity() is true.</a:t>
            </a:r>
            <a:endParaRPr lang="en-US" sz="1200" dirty="0"/>
          </a:p>
        </p:txBody>
      </p:sp>
      <p:sp>
        <p:nvSpPr>
          <p:cNvPr id="24" name="Text 22"/>
          <p:cNvSpPr txBox="1"/>
          <p:nvPr/>
        </p:nvSpPr>
        <p:spPr>
          <a:xfrm>
            <a:off x="320040" y="4892040"/>
            <a:ext cx="8503920" cy="1828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K0126002  ·  Gachon University  ·  2026 Fall  ·  Dr. Toshpulatov</a:t>
            </a:r>
            <a:endParaRPr lang="en-US" sz="800" dirty="0"/>
          </a:p>
        </p:txBody>
      </p:sp>
      <p:sp>
        <p:nvSpPr>
          <p:cNvPr id="26" name="TextBox 25">
            <a:extLst>
              <a:ext uri="{FF2B5EF4-FFF2-40B4-BE49-F238E27FC236}">
                <a16:creationId xmlns:a16="http://schemas.microsoft.com/office/drawing/2014/main" id="{0B448C50-15B1-B604-C1A2-E58D800603F3}"/>
              </a:ext>
            </a:extLst>
          </p:cNvPr>
          <p:cNvSpPr txBox="1"/>
          <p:nvPr/>
        </p:nvSpPr>
        <p:spPr>
          <a:xfrm>
            <a:off x="274320" y="3782340"/>
            <a:ext cx="8699863" cy="369332"/>
          </a:xfrm>
          <a:prstGeom prst="rect">
            <a:avLst/>
          </a:prstGeom>
          <a:noFill/>
        </p:spPr>
        <p:txBody>
          <a:bodyPr wrap="square">
            <a:spAutoFit/>
          </a:bodyPr>
          <a:lstStyle/>
          <a:p>
            <a:r>
              <a:rPr lang="en-US" altLang="ko-KR" b="0" i="0" u="none" strike="noStrike" dirty="0">
                <a:solidFill>
                  <a:srgbClr val="1F2328"/>
                </a:solidFill>
                <a:effectLst/>
                <a:latin typeface="Mona Sans VF"/>
                <a:hlinkClick r:id="rId3" tooltip="WebPro_Week6_Fri_StudyGuide_v2.html"/>
              </a:rPr>
              <a:t>WebPro_StudyGuide_v2.html</a:t>
            </a:r>
            <a:endParaRPr lang="ko-KR" altLang="en-US" dirty="0">
              <a:solidFill>
                <a:srgbClr val="00B0F0"/>
              </a:solidFill>
            </a:endParaRPr>
          </a:p>
        </p:txBody>
      </p:sp>
      <p:sp>
        <p:nvSpPr>
          <p:cNvPr id="29" name="TextBox 28">
            <a:extLst>
              <a:ext uri="{FF2B5EF4-FFF2-40B4-BE49-F238E27FC236}">
                <a16:creationId xmlns:a16="http://schemas.microsoft.com/office/drawing/2014/main" id="{FDB556D1-1FCF-CF3B-C021-0F8EA08443A2}"/>
              </a:ext>
            </a:extLst>
          </p:cNvPr>
          <p:cNvSpPr txBox="1"/>
          <p:nvPr/>
        </p:nvSpPr>
        <p:spPr>
          <a:xfrm>
            <a:off x="274320" y="4109750"/>
            <a:ext cx="8699863" cy="369332"/>
          </a:xfrm>
          <a:prstGeom prst="rect">
            <a:avLst/>
          </a:prstGeom>
          <a:noFill/>
        </p:spPr>
        <p:txBody>
          <a:bodyPr wrap="square">
            <a:spAutoFit/>
          </a:bodyPr>
          <a:lstStyle/>
          <a:p>
            <a:r>
              <a:rPr lang="en-US" altLang="ko-KR" b="0" i="0" u="sng" dirty="0">
                <a:solidFill>
                  <a:srgbClr val="0969DA"/>
                </a:solidFill>
                <a:effectLst/>
                <a:latin typeface="Mona Sans VF"/>
                <a:hlinkClick r:id="rId4" tooltip="WebPro_Week6_Fri_VideoLecture.html"/>
              </a:rPr>
              <a:t>WebPro_VideoLecture.html</a:t>
            </a:r>
            <a:endParaRPr lang="ko-KR" altLang="en-US" dirty="0">
              <a:solidFill>
                <a:srgbClr val="00B0F0"/>
              </a:solidFill>
            </a:endParaRPr>
          </a:p>
        </p:txBody>
      </p:sp>
      <p:sp>
        <p:nvSpPr>
          <p:cNvPr id="30" name="TextBox 29">
            <a:extLst>
              <a:ext uri="{FF2B5EF4-FFF2-40B4-BE49-F238E27FC236}">
                <a16:creationId xmlns:a16="http://schemas.microsoft.com/office/drawing/2014/main" id="{F7B99B67-8DF0-8A5A-0B17-B64EC38FBC16}"/>
              </a:ext>
            </a:extLst>
          </p:cNvPr>
          <p:cNvSpPr txBox="1"/>
          <p:nvPr/>
        </p:nvSpPr>
        <p:spPr>
          <a:xfrm>
            <a:off x="274320" y="4447890"/>
            <a:ext cx="8699863" cy="369332"/>
          </a:xfrm>
          <a:prstGeom prst="rect">
            <a:avLst/>
          </a:prstGeom>
          <a:noFill/>
        </p:spPr>
        <p:txBody>
          <a:bodyPr wrap="square">
            <a:spAutoFit/>
          </a:bodyPr>
          <a:lstStyle/>
          <a:p>
            <a:r>
              <a:rPr lang="en-US" altLang="ko-KR" b="0" i="0" u="sng" dirty="0">
                <a:solidFill>
                  <a:srgbClr val="0969DA"/>
                </a:solidFill>
                <a:effectLst/>
                <a:latin typeface="Mona Sans VF"/>
                <a:hlinkClick r:id="rId5" tooltip="WebPro_Week6_Fri_FormValidation_v3.pdf"/>
              </a:rPr>
              <a:t>WebPro_FormValidation_v3.pdf</a:t>
            </a:r>
            <a:endParaRPr lang="ko-KR" altLang="en-US" dirty="0">
              <a:solidFill>
                <a:srgbClr val="00B0F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3080</Words>
  <Application>Microsoft Office PowerPoint</Application>
  <PresentationFormat>On-screen Show (16:9)</PresentationFormat>
  <Paragraphs>336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Mona Sans VF</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Mukhiddin Toshpulatov</cp:lastModifiedBy>
  <cp:revision>6</cp:revision>
  <dcterms:created xsi:type="dcterms:W3CDTF">2026-10-25T00:49:42Z</dcterms:created>
  <dcterms:modified xsi:type="dcterms:W3CDTF">2026-10-25T21:26:54Z</dcterms:modified>
</cp:coreProperties>
</file>