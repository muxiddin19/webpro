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Lst>
  <p:notesMasterIdLst>
    <p:notesMasterId r:id="rId21"/>
  </p:notesMasterIdLst>
  <p:sldSz cx="9144000" cy="5143500"/>
  <p:notesSz cx="5143500" cy="9144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notesMaster" Target="notesMasters/notesMaster1.xml"/><Relationship Id="rId22" Type="http://schemas.openxmlformats.org/officeDocument/2006/relationships/presProps" Target="presProps.xml"/><Relationship Id="rId23" Type="http://schemas.openxmlformats.org/officeDocument/2006/relationships/viewProps" Target="viewProps.xml"/><Relationship Id="rId24" Type="http://schemas.openxmlformats.org/officeDocument/2006/relationships/theme" Target="theme/theme1.xml"/><Relationship Id="rId25"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Today we move from HTML5 browser validation to custom JavaScript validation. We'll see why JS gives us more control — better UX, custom messages, real-time feedback, and ARIA accessibility.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HTML5 validation works, but browser error tooltips are browser-specific, can't be styled, and only appear on submit. JS lets us: (1) show errors as the user types, (2) write custom messages in Korean or English, (3) add ARIA so screen readers announce errors.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Adding `novalidate` to the form tells the browser: don't show your built-in error bubbles. We are taking responsibility for validation in JavaScript. Without it, both the browser AND your JS would show errors — double messages.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event.preventDefault() is the most important line. Without it, the browser would send the form and reload the page — and your validation code would never run. preventDefault() pauses the submit so your JS decides what happens next.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`input` event fires every time the field value changes — every keystroke, paste, delete. This is what enables real-time feedback. Compare: with submit-only validation, a user who fills 5 fields then clicks Submit learns the first field was wrong — frustrating. With input-event validation, they see the green checkmark as they finish each field.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`validity` object has properties for every HTML5 constraint: `valueMissing` (required + empty), `typeMismatch` (email/url format wrong), `tooShort` (minlength not met), `patternMismatch` (pattern regex fails). For custom patterns not in HTML5 (like a phone format), use regex `.test()`. Both approaches work — mix them.</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Three ARIA attributes make validation accessible: (1) `aria-describedby` links the input to its error span — screen readers read the error when the user focuses the field. (2) `aria-invalid='true'` tells assistive tech this field has a problem. (3) `role='alert'` on the span makes the screen reader announce changes immediately. Without these, blind users get no validation feedback at all.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setCustomValidity() is the bridge between your JS logic and the browser's validity API. When you pass a non-empty string, the field becomes invalid — `checkValidity()` returns false for it, and the submit button disabled trick works. Pass an empty string to clear the error. This is the ONLY way to make custom comparisons (like password matching) work with the HTML5 validity system.</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Disabling the submit button is a great UX pattern — users see at a glance that the form isn't complete yet. `form.checkValidity()` returns true only when every field passes its constraints (required filled, pattern matched, setCustomValidity cleared). The button turns blue as soon as all fields are valid. Important: always ALSO validate on submit — the disabled state can be bypassed in DevTools.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the complete pattern you'll use for every project that needs a validated form. Three parts: helper functions (markValid/markInvalid), per-field validator functions, and event listener setup. Keep each field's validator in its own function — it makes the code easy to reuse and test. The real-time `input` listener calls the same function the submit handler uses.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Friday homework builds directly on Monday's hw.html file. Add novalidate to the form, write a validateField() function for each input, hook them up to the input event, add password confirmation with setCustomValidity(), and add ARIA attributes. The bonus is disabling Submit until the form is valid.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0D1321"/>
        </a:solidFill>
      </p:bgPr>
    </p:bg>
    <p:spTree>
      <p:nvGrpSpPr>
        <p:cNvPr id="1" name=""/>
        <p:cNvGrpSpPr/>
        <p:nvPr/>
      </p:nvGrpSpPr>
      <p:grpSpPr>
        <a:xfrm>
          <a:off x="0" y="0"/>
          <a:ext cx="0" cy="0"/>
          <a:chOff x="0" y="0"/>
          <a:chExt cx="0" cy="0"/>
        </a:xfrm>
      </p:grpSpPr>
      <p:sp>
        <p:nvSpPr>
          <p:cNvPr id="2" name="Text 0"/>
          <p:cNvSpPr txBox="1"/>
          <p:nvPr/>
        </p:nvSpPr>
        <p:spPr>
          <a:xfrm>
            <a:off x="457200" y="1463040"/>
            <a:ext cx="8229600" cy="1005840"/>
          </a:xfrm>
          <a:prstGeom prst="rect">
            <a:avLst/>
          </a:prstGeom>
          <a:noFill/>
          <a:ln/>
        </p:spPr>
        <p:txBody>
          <a:bodyPr wrap="square" rtlCol="0" anchor="ctr"/>
          <a:lstStyle/>
          <a:p>
            <a:pPr algn="ctr" indent="0" marL="0">
              <a:buNone/>
            </a:pPr>
            <a:r>
              <a:rPr lang="en-US" sz="4400" b="1" dirty="0">
                <a:solidFill>
                  <a:srgbClr val="F7DF1E"/>
                </a:solidFill>
                <a:latin typeface="Cambria" pitchFamily="34" charset="0"/>
                <a:ea typeface="Cambria" pitchFamily="34" charset="-122"/>
                <a:cs typeface="Cambria" pitchFamily="34" charset="-120"/>
              </a:rPr>
              <a:t>JS Form Validation</a:t>
            </a:r>
            <a:endParaRPr lang="en-US" sz="4400" dirty="0"/>
          </a:p>
        </p:txBody>
      </p:sp>
      <p:sp>
        <p:nvSpPr>
          <p:cNvPr id="3" name="Text 1"/>
          <p:cNvSpPr txBox="1"/>
          <p:nvPr/>
        </p:nvSpPr>
        <p:spPr>
          <a:xfrm>
            <a:off x="457200" y="2606040"/>
            <a:ext cx="8229600" cy="457200"/>
          </a:xfrm>
          <a:prstGeom prst="rect">
            <a:avLst/>
          </a:prstGeom>
          <a:noFill/>
          <a:ln/>
        </p:spPr>
        <p:txBody>
          <a:bodyPr wrap="square" rtlCol="0" anchor="ctr"/>
          <a:lstStyle/>
          <a:p>
            <a:pPr algn="ctr" indent="0" marL="0">
              <a:buNone/>
            </a:pPr>
            <a:r>
              <a:rPr lang="en-US" sz="1800" dirty="0">
                <a:solidFill>
                  <a:srgbClr val="FFFFFF"/>
                </a:solidFill>
                <a:latin typeface="Calibri" pitchFamily="34" charset="0"/>
                <a:ea typeface="Calibri" pitchFamily="34" charset="-122"/>
                <a:cs typeface="Calibri" pitchFamily="34" charset="-120"/>
              </a:rPr>
              <a:t>Week 6 — Friday | K0126002 Web Programming</a:t>
            </a:r>
            <a:endParaRPr lang="en-US" sz="1800" dirty="0"/>
          </a:p>
        </p:txBody>
      </p:sp>
      <p:sp>
        <p:nvSpPr>
          <p:cNvPr id="4" name="Text 2"/>
          <p:cNvSpPr txBox="1"/>
          <p:nvPr/>
        </p:nvSpPr>
        <p:spPr>
          <a:xfrm>
            <a:off x="457200" y="3154680"/>
            <a:ext cx="8229600" cy="320040"/>
          </a:xfrm>
          <a:prstGeom prst="rect">
            <a:avLst/>
          </a:prstGeom>
          <a:noFill/>
          <a:ln/>
        </p:spPr>
        <p:txBody>
          <a:bodyPr wrap="square" rtlCol="0" anchor="ctr"/>
          <a:lstStyle/>
          <a:p>
            <a:pPr algn="ctr" indent="0" marL="0">
              <a:buNone/>
            </a:pPr>
            <a:r>
              <a:rPr lang="en-US" sz="1300" dirty="0">
                <a:solidFill>
                  <a:srgbClr val="94A3B8"/>
                </a:solidFill>
                <a:latin typeface="Calibri" pitchFamily="34" charset="0"/>
                <a:ea typeface="Calibri" pitchFamily="34" charset="-122"/>
                <a:cs typeface="Calibri" pitchFamily="34" charset="-120"/>
              </a:rPr>
              <a:t>Gachon University  ·  2026 Fall  ·  Dr. Toshpulatov</a:t>
            </a:r>
            <a:endParaRPr lang="en-US" sz="13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0D1321"/>
        </a:solidFill>
      </p:bgPr>
    </p:bg>
    <p:spTree>
      <p:nvGrpSpPr>
        <p:cNvPr id="1" name=""/>
        <p:cNvGrpSpPr/>
        <p:nvPr/>
      </p:nvGrpSpPr>
      <p:grpSpPr>
        <a:xfrm>
          <a:off x="0" y="0"/>
          <a:ext cx="0" cy="0"/>
          <a:chOff x="0" y="0"/>
          <a:chExt cx="0" cy="0"/>
        </a:xfrm>
      </p:grpSpPr>
      <p:sp>
        <p:nvSpPr>
          <p:cNvPr id="2" name="Text 0"/>
          <p:cNvSpPr txBox="1"/>
          <p:nvPr/>
        </p:nvSpPr>
        <p:spPr>
          <a:xfrm>
            <a:off x="457200" y="1188720"/>
            <a:ext cx="8229600" cy="822960"/>
          </a:xfrm>
          <a:prstGeom prst="rect">
            <a:avLst/>
          </a:prstGeom>
          <a:noFill/>
          <a:ln/>
        </p:spPr>
        <p:txBody>
          <a:bodyPr wrap="square" rtlCol="0" anchor="ctr"/>
          <a:lstStyle/>
          <a:p>
            <a:pPr algn="ctr" indent="0" marL="0">
              <a:buNone/>
            </a:pPr>
            <a:r>
              <a:rPr lang="en-US" sz="3600" b="1" dirty="0">
                <a:solidFill>
                  <a:srgbClr val="F7DF1E"/>
                </a:solidFill>
                <a:latin typeface="Cambria" pitchFamily="34" charset="0"/>
                <a:ea typeface="Cambria" pitchFamily="34" charset="-122"/>
                <a:cs typeface="Cambria" pitchFamily="34" charset="-120"/>
              </a:rPr>
              <a:t>Why isn't HTML5 enough?</a:t>
            </a:r>
            <a:endParaRPr lang="en-US" sz="3600" dirty="0"/>
          </a:p>
        </p:txBody>
      </p:sp>
      <p:sp>
        <p:nvSpPr>
          <p:cNvPr id="3" name="Text 1"/>
          <p:cNvSpPr txBox="1"/>
          <p:nvPr/>
        </p:nvSpPr>
        <p:spPr>
          <a:xfrm>
            <a:off x="1371600" y="2194560"/>
            <a:ext cx="6400800" cy="1097280"/>
          </a:xfrm>
          <a:prstGeom prst="rect">
            <a:avLst/>
          </a:prstGeom>
          <a:noFill/>
          <a:ln/>
        </p:spPr>
        <p:txBody>
          <a:bodyPr wrap="square" rtlCol="0" anchor="ctr"/>
          <a:lstStyle/>
          <a:p>
            <a:pPr marL="342900" indent="-342900">
              <a:spcAft>
                <a:spcPts val="1000"/>
              </a:spcAft>
              <a:buSzPct val="100000"/>
              <a:buChar char="•"/>
            </a:pPr>
            <a:r>
              <a:rPr lang="en-US" sz="1600" dirty="0">
                <a:solidFill>
                  <a:srgbClr val="FFFFFF"/>
                </a:solidFill>
                <a:latin typeface="Calibri" pitchFamily="34" charset="0"/>
                <a:ea typeface="Calibri" pitchFamily="34" charset="-122"/>
                <a:cs typeface="Calibri" pitchFamily="34" charset="-120"/>
              </a:rPr>
              <a:t>Browser messages are ugly and not translatable</a:t>
            </a:r>
            <a:endParaRPr lang="en-US" sz="1600" dirty="0"/>
          </a:p>
          <a:p>
            <a:pPr marL="342900" indent="-342900">
              <a:spcAft>
                <a:spcPts val="1000"/>
              </a:spcAft>
              <a:buSzPct val="100000"/>
              <a:buChar char="•"/>
            </a:pPr>
            <a:r>
              <a:rPr lang="en-US" sz="1600" dirty="0">
                <a:solidFill>
                  <a:srgbClr val="FFFFFF"/>
                </a:solidFill>
                <a:latin typeface="Calibri" pitchFamily="34" charset="0"/>
                <a:ea typeface="Calibri" pitchFamily="34" charset="-122"/>
                <a:cs typeface="Calibri" pitchFamily="34" charset="-120"/>
              </a:rPr>
              <a:t>No real-time feedback — only on submit</a:t>
            </a:r>
            <a:endParaRPr lang="en-US" sz="16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1A2540"/>
        </a:solidFill>
      </p:bgPr>
    </p:bg>
    <p:spTree>
      <p:nvGrpSpPr>
        <p:cNvPr id="1" name=""/>
        <p:cNvGrpSpPr/>
        <p:nvPr/>
      </p:nvGrpSpPr>
      <p:grpSpPr>
        <a:xfrm>
          <a:off x="0" y="0"/>
          <a:ext cx="0" cy="0"/>
          <a:chOff x="0" y="0"/>
          <a:chExt cx="0" cy="0"/>
        </a:xfrm>
      </p:grpSpPr>
      <p:sp>
        <p:nvSpPr>
          <p:cNvPr id="2" name="Text 0"/>
          <p:cNvSpPr txBox="1"/>
          <p:nvPr/>
        </p:nvSpPr>
        <p:spPr>
          <a:xfrm>
            <a:off x="320040" y="182880"/>
            <a:ext cx="8503920" cy="475488"/>
          </a:xfrm>
          <a:prstGeom prst="rect">
            <a:avLst/>
          </a:prstGeom>
          <a:noFill/>
          <a:ln/>
        </p:spPr>
        <p:txBody>
          <a:bodyPr wrap="square" rtlCol="0" anchor="ctr"/>
          <a:lstStyle/>
          <a:p>
            <a:pPr indent="0" marL="0">
              <a:buNone/>
            </a:pPr>
            <a:r>
              <a:rPr lang="en-US" sz="2600" b="1" dirty="0">
                <a:solidFill>
                  <a:srgbClr val="F7DF1E"/>
                </a:solidFill>
                <a:latin typeface="Cambria" pitchFamily="34" charset="0"/>
                <a:ea typeface="Cambria" pitchFamily="34" charset="-122"/>
                <a:cs typeface="Cambria" pitchFamily="34" charset="-120"/>
              </a:rPr>
              <a:t>The novalidate Attribute</a:t>
            </a:r>
            <a:endParaRPr lang="en-US" sz="2600" dirty="0"/>
          </a:p>
        </p:txBody>
      </p:sp>
      <p:sp>
        <p:nvSpPr>
          <p:cNvPr id="3" name="Text 1"/>
          <p:cNvSpPr txBox="1"/>
          <p:nvPr/>
        </p:nvSpPr>
        <p:spPr>
          <a:xfrm>
            <a:off x="274320" y="777240"/>
            <a:ext cx="4160520" cy="256032"/>
          </a:xfrm>
          <a:prstGeom prst="rect">
            <a:avLst/>
          </a:prstGeom>
          <a:noFill/>
          <a:ln/>
        </p:spPr>
        <p:txBody>
          <a:bodyPr wrap="square" lIns="0" tIns="0" rIns="0" bIns="0" rtlCol="0" anchor="ctr"/>
          <a:lstStyle/>
          <a:p>
            <a:pPr indent="0" marL="0">
              <a:buNone/>
            </a:pPr>
            <a:r>
              <a:rPr lang="en-US" sz="1000" b="1" dirty="0">
                <a:solidFill>
                  <a:srgbClr val="FCA5A5"/>
                </a:solidFill>
                <a:latin typeface="Calibri" pitchFamily="34" charset="0"/>
                <a:ea typeface="Calibri" pitchFamily="34" charset="-122"/>
                <a:cs typeface="Calibri" pitchFamily="34" charset="-120"/>
              </a:rPr>
              <a:t>❌  WITHOUT JS (browser controls everything)</a:t>
            </a:r>
            <a:endParaRPr lang="en-US" sz="1000" dirty="0"/>
          </a:p>
        </p:txBody>
      </p:sp>
      <p:sp>
        <p:nvSpPr>
          <p:cNvPr id="4" name="Shape 2"/>
          <p:cNvSpPr/>
          <p:nvPr/>
        </p:nvSpPr>
        <p:spPr>
          <a:xfrm>
            <a:off x="274320" y="1051560"/>
            <a:ext cx="4160520" cy="2011680"/>
          </a:xfrm>
          <a:prstGeom prst="rect">
            <a:avLst/>
          </a:prstGeom>
          <a:solidFill>
            <a:srgbClr val="0D1321"/>
          </a:solidFill>
          <a:ln/>
        </p:spPr>
      </p:sp>
      <p:sp>
        <p:nvSpPr>
          <p:cNvPr id="5" name="Text 3"/>
          <p:cNvSpPr txBox="1"/>
          <p:nvPr/>
        </p:nvSpPr>
        <p:spPr>
          <a:xfrm>
            <a:off x="365760" y="1088136"/>
            <a:ext cx="3977640" cy="1938528"/>
          </a:xfrm>
          <a:prstGeom prst="rect">
            <a:avLst/>
          </a:prstGeom>
          <a:noFill/>
          <a:ln/>
        </p:spPr>
        <p:txBody>
          <a:bodyPr wrap="square" lIns="0" tIns="0" rIns="0" bIns="0" rtlCol="0" anchor="t"/>
          <a:lstStyle/>
          <a:p>
            <a:pPr indent="0" marL="0">
              <a:buNone/>
            </a:pPr>
            <a:r>
              <a:rPr lang="en-US" sz="850" dirty="0">
                <a:solidFill>
                  <a:srgbClr val="FCA5A5"/>
                </a:solidFill>
                <a:latin typeface="Courier New" pitchFamily="34" charset="0"/>
                <a:ea typeface="Courier New" pitchFamily="34" charset="-122"/>
                <a:cs typeface="Courier New" pitchFamily="34" charset="-120"/>
              </a:rPr>
              <a:t>&lt;!-- Browser handles everything — no JS control --&gt;</a:t>
            </a:r>
            <a:endParaRPr lang="en-US" sz="850" dirty="0"/>
          </a:p>
          <a:p>
            <a:pPr indent="0" marL="0">
              <a:buNone/>
            </a:pPr>
            <a:r>
              <a:rPr lang="en-US" sz="850" dirty="0">
                <a:solidFill>
                  <a:srgbClr val="FCA5A5"/>
                </a:solidFill>
                <a:latin typeface="Courier New" pitchFamily="34" charset="0"/>
                <a:ea typeface="Courier New" pitchFamily="34" charset="-122"/>
                <a:cs typeface="Courier New" pitchFamily="34" charset="-120"/>
              </a:rPr>
              <a:t>&lt;form action="/register" method="post"&gt;</a:t>
            </a:r>
            <a:endParaRPr lang="en-US" sz="850" dirty="0"/>
          </a:p>
          <a:p>
            <a:pPr indent="0" marL="0">
              <a:buNone/>
            </a:pPr>
            <a:r>
              <a:rPr lang="en-US" sz="850" dirty="0">
                <a:solidFill>
                  <a:srgbClr val="FCA5A5"/>
                </a:solidFill>
                <a:latin typeface="Courier New" pitchFamily="34" charset="0"/>
                <a:ea typeface="Courier New" pitchFamily="34" charset="-122"/>
                <a:cs typeface="Courier New" pitchFamily="34" charset="-120"/>
              </a:rPr>
              <a:t>  &lt;input type="email" required&gt;</a:t>
            </a:r>
            <a:endParaRPr lang="en-US" sz="850" dirty="0"/>
          </a:p>
          <a:p>
            <a:pPr indent="0" marL="0">
              <a:buNone/>
            </a:pPr>
            <a:r>
              <a:rPr lang="en-US" sz="850" dirty="0">
                <a:solidFill>
                  <a:srgbClr val="FCA5A5"/>
                </a:solidFill>
                <a:latin typeface="Courier New" pitchFamily="34" charset="0"/>
                <a:ea typeface="Courier New" pitchFamily="34" charset="-122"/>
                <a:cs typeface="Courier New" pitchFamily="34" charset="-120"/>
              </a:rPr>
              <a:t>  &lt;button&gt;Submit&lt;/button&gt;</a:t>
            </a:r>
            <a:endParaRPr lang="en-US" sz="850" dirty="0"/>
          </a:p>
          <a:p>
            <a:pPr indent="0" marL="0">
              <a:buNone/>
            </a:pPr>
            <a:r>
              <a:rPr lang="en-US" sz="850" dirty="0">
                <a:solidFill>
                  <a:srgbClr val="FCA5A5"/>
                </a:solidFill>
                <a:latin typeface="Courier New" pitchFamily="34" charset="0"/>
                <a:ea typeface="Courier New" pitchFamily="34" charset="-122"/>
                <a:cs typeface="Courier New" pitchFamily="34" charset="-120"/>
              </a:rPr>
              <a:t>&lt;/form&gt;</a:t>
            </a:r>
            <a:endParaRPr lang="en-US" sz="850" dirty="0"/>
          </a:p>
        </p:txBody>
      </p:sp>
      <p:sp>
        <p:nvSpPr>
          <p:cNvPr id="6" name="Text 4"/>
          <p:cNvSpPr txBox="1"/>
          <p:nvPr/>
        </p:nvSpPr>
        <p:spPr>
          <a:xfrm>
            <a:off x="4709160" y="777240"/>
            <a:ext cx="4160520" cy="256032"/>
          </a:xfrm>
          <a:prstGeom prst="rect">
            <a:avLst/>
          </a:prstGeom>
          <a:noFill/>
          <a:ln/>
        </p:spPr>
        <p:txBody>
          <a:bodyPr wrap="square" lIns="0" tIns="0" rIns="0" bIns="0" rtlCol="0" anchor="ctr"/>
          <a:lstStyle/>
          <a:p>
            <a:pPr indent="0" marL="0">
              <a:buNone/>
            </a:pPr>
            <a:r>
              <a:rPr lang="en-US" sz="1000" b="1" dirty="0">
                <a:solidFill>
                  <a:srgbClr val="86EFAC"/>
                </a:solidFill>
                <a:latin typeface="Calibri" pitchFamily="34" charset="0"/>
                <a:ea typeface="Calibri" pitchFamily="34" charset="-122"/>
                <a:cs typeface="Calibri" pitchFamily="34" charset="-120"/>
              </a:rPr>
              <a:t>✅  WITH JS (novalidate — JS takes over)</a:t>
            </a:r>
            <a:endParaRPr lang="en-US" sz="1000" dirty="0"/>
          </a:p>
        </p:txBody>
      </p:sp>
      <p:sp>
        <p:nvSpPr>
          <p:cNvPr id="7" name="Shape 5"/>
          <p:cNvSpPr/>
          <p:nvPr/>
        </p:nvSpPr>
        <p:spPr>
          <a:xfrm>
            <a:off x="4709160" y="1051560"/>
            <a:ext cx="4160520" cy="2011680"/>
          </a:xfrm>
          <a:prstGeom prst="rect">
            <a:avLst/>
          </a:prstGeom>
          <a:solidFill>
            <a:srgbClr val="0D1321"/>
          </a:solidFill>
          <a:ln/>
        </p:spPr>
      </p:sp>
      <p:sp>
        <p:nvSpPr>
          <p:cNvPr id="8" name="Text 6"/>
          <p:cNvSpPr txBox="1"/>
          <p:nvPr/>
        </p:nvSpPr>
        <p:spPr>
          <a:xfrm>
            <a:off x="4800600" y="1088136"/>
            <a:ext cx="3977640" cy="1938528"/>
          </a:xfrm>
          <a:prstGeom prst="rect">
            <a:avLst/>
          </a:prstGeom>
          <a:noFill/>
          <a:ln/>
        </p:spPr>
        <p:txBody>
          <a:bodyPr wrap="square" lIns="0" tIns="0" rIns="0" bIns="0" rtlCol="0" anchor="t"/>
          <a:lstStyle/>
          <a:p>
            <a:pPr indent="0" marL="0">
              <a:buNone/>
            </a:pPr>
            <a:r>
              <a:rPr lang="en-US" sz="850" dirty="0">
                <a:solidFill>
                  <a:srgbClr val="86EFAC"/>
                </a:solidFill>
                <a:latin typeface="Courier New" pitchFamily="34" charset="0"/>
                <a:ea typeface="Courier New" pitchFamily="34" charset="-122"/>
                <a:cs typeface="Courier New" pitchFamily="34" charset="-120"/>
              </a:rPr>
              <a:t>&lt;!-- novalidate disables browser UI — JS takes over --&gt;</a:t>
            </a:r>
            <a:endParaRPr lang="en-US" sz="850" dirty="0"/>
          </a:p>
          <a:p>
            <a:pPr indent="0" marL="0">
              <a:buNone/>
            </a:pPr>
            <a:r>
              <a:rPr lang="en-US" sz="850" dirty="0">
                <a:solidFill>
                  <a:srgbClr val="86EFAC"/>
                </a:solidFill>
                <a:latin typeface="Courier New" pitchFamily="34" charset="0"/>
                <a:ea typeface="Courier New" pitchFamily="34" charset="-122"/>
                <a:cs typeface="Courier New" pitchFamily="34" charset="-120"/>
              </a:rPr>
              <a:t>&lt;form action="/register" method="post" novalidate&gt;</a:t>
            </a:r>
            <a:endParaRPr lang="en-US" sz="850" dirty="0"/>
          </a:p>
          <a:p>
            <a:pPr indent="0" marL="0">
              <a:buNone/>
            </a:pPr>
            <a:r>
              <a:rPr lang="en-US" sz="850" dirty="0">
                <a:solidFill>
                  <a:srgbClr val="86EFAC"/>
                </a:solidFill>
                <a:latin typeface="Courier New" pitchFamily="34" charset="0"/>
                <a:ea typeface="Courier New" pitchFamily="34" charset="-122"/>
                <a:cs typeface="Courier New" pitchFamily="34" charset="-120"/>
              </a:rPr>
              <a:t>  &lt;input type="email" id="email" required</a:t>
            </a:r>
            <a:endParaRPr lang="en-US" sz="850" dirty="0"/>
          </a:p>
          <a:p>
            <a:pPr indent="0" marL="0">
              <a:buNone/>
            </a:pPr>
            <a:r>
              <a:rPr lang="en-US" sz="850" dirty="0">
                <a:solidFill>
                  <a:srgbClr val="86EFAC"/>
                </a:solidFill>
                <a:latin typeface="Courier New" pitchFamily="34" charset="0"/>
                <a:ea typeface="Courier New" pitchFamily="34" charset="-122"/>
                <a:cs typeface="Courier New" pitchFamily="34" charset="-120"/>
              </a:rPr>
              <a:t>         aria-describedby="err-email"&gt;</a:t>
            </a:r>
            <a:endParaRPr lang="en-US" sz="850" dirty="0"/>
          </a:p>
          <a:p>
            <a:pPr indent="0" marL="0">
              <a:buNone/>
            </a:pPr>
            <a:r>
              <a:rPr lang="en-US" sz="850" dirty="0">
                <a:solidFill>
                  <a:srgbClr val="86EFAC"/>
                </a:solidFill>
                <a:latin typeface="Courier New" pitchFamily="34" charset="0"/>
                <a:ea typeface="Courier New" pitchFamily="34" charset="-122"/>
                <a:cs typeface="Courier New" pitchFamily="34" charset="-120"/>
              </a:rPr>
              <a:t>  &lt;span id="err-email" role="alert"&gt;&lt;/span&gt;</a:t>
            </a:r>
            <a:endParaRPr lang="en-US" sz="850" dirty="0"/>
          </a:p>
          <a:p>
            <a:pPr indent="0" marL="0">
              <a:buNone/>
            </a:pPr>
            <a:r>
              <a:rPr lang="en-US" sz="850" dirty="0">
                <a:solidFill>
                  <a:srgbClr val="86EFAC"/>
                </a:solidFill>
                <a:latin typeface="Courier New" pitchFamily="34" charset="0"/>
                <a:ea typeface="Courier New" pitchFamily="34" charset="-122"/>
                <a:cs typeface="Courier New" pitchFamily="34" charset="-120"/>
              </a:rPr>
              <a:t>  &lt;button&gt;Submit&lt;/button&gt;</a:t>
            </a:r>
            <a:endParaRPr lang="en-US" sz="850" dirty="0"/>
          </a:p>
          <a:p>
            <a:pPr indent="0" marL="0">
              <a:buNone/>
            </a:pPr>
            <a:r>
              <a:rPr lang="en-US" sz="850" dirty="0">
                <a:solidFill>
                  <a:srgbClr val="86EFAC"/>
                </a:solidFill>
                <a:latin typeface="Courier New" pitchFamily="34" charset="0"/>
                <a:ea typeface="Courier New" pitchFamily="34" charset="-122"/>
                <a:cs typeface="Courier New" pitchFamily="34" charset="-120"/>
              </a:rPr>
              <a:t>&lt;/form&gt;</a:t>
            </a:r>
            <a:endParaRPr lang="en-US" sz="850" dirty="0"/>
          </a:p>
        </p:txBody>
      </p:sp>
      <p:sp>
        <p:nvSpPr>
          <p:cNvPr id="9" name="Shape 7"/>
          <p:cNvSpPr/>
          <p:nvPr/>
        </p:nvSpPr>
        <p:spPr>
          <a:xfrm>
            <a:off x="274320" y="2926080"/>
            <a:ext cx="4160520" cy="1691640"/>
          </a:xfrm>
          <a:prstGeom prst="rect">
            <a:avLst/>
          </a:prstGeom>
          <a:solidFill>
            <a:srgbClr val="0D1321"/>
          </a:solidFill>
          <a:ln/>
        </p:spPr>
      </p:sp>
      <p:sp>
        <p:nvSpPr>
          <p:cNvPr id="10" name="Text 8"/>
          <p:cNvSpPr txBox="1"/>
          <p:nvPr/>
        </p:nvSpPr>
        <p:spPr>
          <a:xfrm>
            <a:off x="365760" y="2971800"/>
            <a:ext cx="3977640" cy="1600200"/>
          </a:xfrm>
          <a:prstGeom prst="rect">
            <a:avLst/>
          </a:prstGeom>
          <a:noFill/>
          <a:ln/>
        </p:spPr>
        <p:txBody>
          <a:bodyPr wrap="square" lIns="0" tIns="0" rIns="0" bIns="0" rtlCol="0" anchor="t"/>
          <a:lstStyle/>
          <a:p>
            <a:pPr indent="0" marL="0">
              <a:buNone/>
            </a:pPr>
            <a:r>
              <a:rPr lang="en-US" sz="1050" dirty="0">
                <a:solidFill>
                  <a:srgbClr val="FCA5A5"/>
                </a:solidFill>
                <a:latin typeface="Calibri" pitchFamily="34" charset="0"/>
                <a:ea typeface="Calibri" pitchFamily="34" charset="-122"/>
                <a:cs typeface="Calibri" pitchFamily="34" charset="-120"/>
              </a:rPr>
              <a:t>Without novalidate:</a:t>
            </a:r>
            <a:endParaRPr lang="en-US" sz="1050" dirty="0"/>
          </a:p>
          <a:p>
            <a:pPr indent="0" marL="0">
              <a:buNone/>
            </a:pPr>
            <a:r>
              <a:rPr lang="en-US" sz="1050" dirty="0">
                <a:solidFill>
                  <a:srgbClr val="FCA5A5"/>
                </a:solidFill>
                <a:latin typeface="Calibri" pitchFamily="34" charset="0"/>
                <a:ea typeface="Calibri" pitchFamily="34" charset="-122"/>
                <a:cs typeface="Calibri" pitchFamily="34" charset="-120"/>
              </a:rPr>
              <a:t>• Browser shows its own error bubbles</a:t>
            </a:r>
            <a:endParaRPr lang="en-US" sz="1050" dirty="0"/>
          </a:p>
          <a:p>
            <a:pPr indent="0" marL="0">
              <a:buNone/>
            </a:pPr>
            <a:r>
              <a:rPr lang="en-US" sz="1050" dirty="0">
                <a:solidFill>
                  <a:srgbClr val="FCA5A5"/>
                </a:solidFill>
                <a:latin typeface="Calibri" pitchFamily="34" charset="0"/>
                <a:ea typeface="Calibri" pitchFamily="34" charset="-122"/>
                <a:cs typeface="Calibri" pitchFamily="34" charset="-120"/>
              </a:rPr>
              <a:t>• Your JS errors also show</a:t>
            </a:r>
            <a:endParaRPr lang="en-US" sz="1050" dirty="0"/>
          </a:p>
          <a:p>
            <a:pPr indent="0" marL="0">
              <a:buNone/>
            </a:pPr>
            <a:r>
              <a:rPr lang="en-US" sz="1050" dirty="0">
                <a:solidFill>
                  <a:srgbClr val="FCA5A5"/>
                </a:solidFill>
                <a:latin typeface="Calibri" pitchFamily="34" charset="0"/>
                <a:ea typeface="Calibri" pitchFamily="34" charset="-122"/>
                <a:cs typeface="Calibri" pitchFamily="34" charset="-120"/>
              </a:rPr>
              <a:t>• User sees duplicate messages</a:t>
            </a:r>
            <a:endParaRPr lang="en-US" sz="1050" dirty="0"/>
          </a:p>
          <a:p>
            <a:pPr indent="0" marL="0">
              <a:buNone/>
            </a:pPr>
            <a:r>
              <a:rPr lang="en-US" sz="1050" dirty="0">
                <a:solidFill>
                  <a:srgbClr val="FCA5A5"/>
                </a:solidFill>
                <a:latin typeface="Calibri" pitchFamily="34" charset="0"/>
                <a:ea typeface="Calibri" pitchFamily="34" charset="-122"/>
                <a:cs typeface="Calibri" pitchFamily="34" charset="-120"/>
              </a:rPr>
              <a:t>• No CSS control over the tooltip</a:t>
            </a:r>
            <a:endParaRPr lang="en-US" sz="1050" dirty="0"/>
          </a:p>
        </p:txBody>
      </p:sp>
      <p:sp>
        <p:nvSpPr>
          <p:cNvPr id="11" name="Shape 9"/>
          <p:cNvSpPr/>
          <p:nvPr/>
        </p:nvSpPr>
        <p:spPr>
          <a:xfrm>
            <a:off x="4709160" y="2926080"/>
            <a:ext cx="4160520" cy="1691640"/>
          </a:xfrm>
          <a:prstGeom prst="rect">
            <a:avLst/>
          </a:prstGeom>
          <a:solidFill>
            <a:srgbClr val="0D1321"/>
          </a:solidFill>
          <a:ln/>
        </p:spPr>
      </p:sp>
      <p:sp>
        <p:nvSpPr>
          <p:cNvPr id="12" name="Text 10"/>
          <p:cNvSpPr txBox="1"/>
          <p:nvPr/>
        </p:nvSpPr>
        <p:spPr>
          <a:xfrm>
            <a:off x="4800600" y="2971800"/>
            <a:ext cx="3977640" cy="1600200"/>
          </a:xfrm>
          <a:prstGeom prst="rect">
            <a:avLst/>
          </a:prstGeom>
          <a:noFill/>
          <a:ln/>
        </p:spPr>
        <p:txBody>
          <a:bodyPr wrap="square" lIns="0" tIns="0" rIns="0" bIns="0" rtlCol="0" anchor="t"/>
          <a:lstStyle/>
          <a:p>
            <a:pPr indent="0" marL="0">
              <a:buNone/>
            </a:pPr>
            <a:r>
              <a:rPr lang="en-US" sz="1050" dirty="0">
                <a:solidFill>
                  <a:srgbClr val="86EFAC"/>
                </a:solidFill>
                <a:latin typeface="Calibri" pitchFamily="34" charset="0"/>
                <a:ea typeface="Calibri" pitchFamily="34" charset="-122"/>
                <a:cs typeface="Calibri" pitchFamily="34" charset="-120"/>
              </a:rPr>
              <a:t>With novalidate:</a:t>
            </a:r>
            <a:endParaRPr lang="en-US" sz="1050" dirty="0"/>
          </a:p>
          <a:p>
            <a:pPr indent="0" marL="0">
              <a:buNone/>
            </a:pPr>
            <a:r>
              <a:rPr lang="en-US" sz="1050" dirty="0">
                <a:solidFill>
                  <a:srgbClr val="86EFAC"/>
                </a:solidFill>
                <a:latin typeface="Calibri" pitchFamily="34" charset="0"/>
                <a:ea typeface="Calibri" pitchFamily="34" charset="-122"/>
                <a:cs typeface="Calibri" pitchFamily="34" charset="-120"/>
              </a:rPr>
              <a:t>• Browser stays silent — no tooltip bubbles</a:t>
            </a:r>
            <a:endParaRPr lang="en-US" sz="1050" dirty="0"/>
          </a:p>
          <a:p>
            <a:pPr indent="0" marL="0">
              <a:buNone/>
            </a:pPr>
            <a:r>
              <a:rPr lang="en-US" sz="1050" dirty="0">
                <a:solidFill>
                  <a:srgbClr val="86EFAC"/>
                </a:solidFill>
                <a:latin typeface="Calibri" pitchFamily="34" charset="0"/>
                <a:ea typeface="Calibri" pitchFamily="34" charset="-122"/>
                <a:cs typeface="Calibri" pitchFamily="34" charset="-120"/>
              </a:rPr>
              <a:t>• Only your styled &lt;span&gt; error appears</a:t>
            </a:r>
            <a:endParaRPr lang="en-US" sz="1050" dirty="0"/>
          </a:p>
          <a:p>
            <a:pPr indent="0" marL="0">
              <a:buNone/>
            </a:pPr>
            <a:r>
              <a:rPr lang="en-US" sz="1050" dirty="0">
                <a:solidFill>
                  <a:srgbClr val="86EFAC"/>
                </a:solidFill>
                <a:latin typeface="Calibri" pitchFamily="34" charset="0"/>
                <a:ea typeface="Calibri" pitchFamily="34" charset="-122"/>
                <a:cs typeface="Calibri" pitchFamily="34" charset="-120"/>
              </a:rPr>
              <a:t>• checkValidity() still works normally</a:t>
            </a:r>
            <a:endParaRPr lang="en-US" sz="1050" dirty="0"/>
          </a:p>
          <a:p>
            <a:pPr indent="0" marL="0">
              <a:buNone/>
            </a:pPr>
            <a:r>
              <a:rPr lang="en-US" sz="1050" dirty="0">
                <a:solidFill>
                  <a:srgbClr val="86EFAC"/>
                </a:solidFill>
                <a:latin typeface="Calibri" pitchFamily="34" charset="0"/>
                <a:ea typeface="Calibri" pitchFamily="34" charset="-122"/>
                <a:cs typeface="Calibri" pitchFamily="34" charset="-120"/>
              </a:rPr>
              <a:t>• Full CSS/design control over errors</a:t>
            </a:r>
            <a:endParaRPr lang="en-US" sz="1050" dirty="0"/>
          </a:p>
        </p:txBody>
      </p:sp>
      <p:sp>
        <p:nvSpPr>
          <p:cNvPr id="13" name="Text 11"/>
          <p:cNvSpPr txBox="1"/>
          <p:nvPr/>
        </p:nvSpPr>
        <p:spPr>
          <a:xfrm>
            <a:off x="320040" y="4892040"/>
            <a:ext cx="8503920" cy="182880"/>
          </a:xfrm>
          <a:prstGeom prst="rect">
            <a:avLst/>
          </a:prstGeom>
          <a:noFill/>
          <a:ln/>
        </p:spPr>
        <p:txBody>
          <a:bodyPr wrap="square" rtlCol="0" anchor="ctr"/>
          <a:lstStyle/>
          <a:p>
            <a:pPr algn="ctr" indent="0" marL="0">
              <a:buNone/>
            </a:pPr>
            <a:r>
              <a:rPr lang="en-US" sz="800" dirty="0">
                <a:solidFill>
                  <a:srgbClr val="94A3B8"/>
                </a:solidFill>
                <a:latin typeface="Calibri" pitchFamily="34" charset="0"/>
                <a:ea typeface="Calibri" pitchFamily="34" charset="-122"/>
                <a:cs typeface="Calibri" pitchFamily="34" charset="-120"/>
              </a:rPr>
              <a:t>K0126002  ·  Gachon University  ·  2026 Fall  ·  Dr. Toshpulatov</a:t>
            </a:r>
            <a:endParaRPr lang="en-US" sz="8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1A2540"/>
        </a:solidFill>
      </p:bgPr>
    </p:bg>
    <p:spTree>
      <p:nvGrpSpPr>
        <p:cNvPr id="1" name=""/>
        <p:cNvGrpSpPr/>
        <p:nvPr/>
      </p:nvGrpSpPr>
      <p:grpSpPr>
        <a:xfrm>
          <a:off x="0" y="0"/>
          <a:ext cx="0" cy="0"/>
          <a:chOff x="0" y="0"/>
          <a:chExt cx="0" cy="0"/>
        </a:xfrm>
      </p:grpSpPr>
      <p:sp>
        <p:nvSpPr>
          <p:cNvPr id="2" name="Text 0"/>
          <p:cNvSpPr txBox="1"/>
          <p:nvPr/>
        </p:nvSpPr>
        <p:spPr>
          <a:xfrm>
            <a:off x="320040" y="182880"/>
            <a:ext cx="8503920" cy="475488"/>
          </a:xfrm>
          <a:prstGeom prst="rect">
            <a:avLst/>
          </a:prstGeom>
          <a:noFill/>
          <a:ln/>
        </p:spPr>
        <p:txBody>
          <a:bodyPr wrap="square" rtlCol="0" anchor="ctr"/>
          <a:lstStyle/>
          <a:p>
            <a:pPr indent="0" marL="0">
              <a:buNone/>
            </a:pPr>
            <a:r>
              <a:rPr lang="en-US" sz="2600" b="1" dirty="0">
                <a:solidFill>
                  <a:srgbClr val="F7DF1E"/>
                </a:solidFill>
                <a:latin typeface="Cambria" pitchFamily="34" charset="0"/>
                <a:ea typeface="Cambria" pitchFamily="34" charset="-122"/>
                <a:cs typeface="Cambria" pitchFamily="34" charset="-120"/>
              </a:rPr>
              <a:t>preventDefault() + submit event</a:t>
            </a:r>
            <a:endParaRPr lang="en-US" sz="2600" dirty="0"/>
          </a:p>
        </p:txBody>
      </p:sp>
      <p:sp>
        <p:nvSpPr>
          <p:cNvPr id="3" name="Text 1"/>
          <p:cNvSpPr txBox="1"/>
          <p:nvPr/>
        </p:nvSpPr>
        <p:spPr>
          <a:xfrm>
            <a:off x="274320" y="777240"/>
            <a:ext cx="4160520" cy="256032"/>
          </a:xfrm>
          <a:prstGeom prst="rect">
            <a:avLst/>
          </a:prstGeom>
          <a:noFill/>
          <a:ln/>
        </p:spPr>
        <p:txBody>
          <a:bodyPr wrap="square" lIns="0" tIns="0" rIns="0" bIns="0" rtlCol="0" anchor="ctr"/>
          <a:lstStyle/>
          <a:p>
            <a:pPr indent="0" marL="0">
              <a:buNone/>
            </a:pPr>
            <a:r>
              <a:rPr lang="en-US" sz="1000" b="1" dirty="0">
                <a:solidFill>
                  <a:srgbClr val="FCA5A5"/>
                </a:solidFill>
                <a:latin typeface="Calibri" pitchFamily="34" charset="0"/>
                <a:ea typeface="Calibri" pitchFamily="34" charset="-122"/>
                <a:cs typeface="Calibri" pitchFamily="34" charset="-120"/>
              </a:rPr>
              <a:t>❌  WITHOUT JS — form submits immediately</a:t>
            </a:r>
            <a:endParaRPr lang="en-US" sz="1000" dirty="0"/>
          </a:p>
        </p:txBody>
      </p:sp>
      <p:sp>
        <p:nvSpPr>
          <p:cNvPr id="4" name="Shape 2"/>
          <p:cNvSpPr/>
          <p:nvPr/>
        </p:nvSpPr>
        <p:spPr>
          <a:xfrm>
            <a:off x="274320" y="1051560"/>
            <a:ext cx="4160520" cy="2286000"/>
          </a:xfrm>
          <a:prstGeom prst="rect">
            <a:avLst/>
          </a:prstGeom>
          <a:solidFill>
            <a:srgbClr val="0D1321"/>
          </a:solidFill>
          <a:ln/>
        </p:spPr>
      </p:sp>
      <p:sp>
        <p:nvSpPr>
          <p:cNvPr id="5" name="Text 3"/>
          <p:cNvSpPr txBox="1"/>
          <p:nvPr/>
        </p:nvSpPr>
        <p:spPr>
          <a:xfrm>
            <a:off x="365760" y="1088136"/>
            <a:ext cx="3977640" cy="2212848"/>
          </a:xfrm>
          <a:prstGeom prst="rect">
            <a:avLst/>
          </a:prstGeom>
          <a:noFill/>
          <a:ln/>
        </p:spPr>
        <p:txBody>
          <a:bodyPr wrap="square" lIns="0" tIns="0" rIns="0" bIns="0" rtlCol="0" anchor="t"/>
          <a:lstStyle/>
          <a:p>
            <a:pPr indent="0" marL="0">
              <a:buNone/>
            </a:pPr>
            <a:r>
              <a:rPr lang="en-US" sz="850" dirty="0">
                <a:solidFill>
                  <a:srgbClr val="FCA5A5"/>
                </a:solidFill>
                <a:latin typeface="Courier New" pitchFamily="34" charset="0"/>
                <a:ea typeface="Courier New" pitchFamily="34" charset="-122"/>
                <a:cs typeface="Courier New" pitchFamily="34" charset="-120"/>
              </a:rPr>
              <a:t>&lt;!-- Form submits immediately on button click --&gt;</a:t>
            </a:r>
            <a:endParaRPr lang="en-US" sz="850" dirty="0"/>
          </a:p>
          <a:p>
            <a:pPr indent="0" marL="0">
              <a:buNone/>
            </a:pPr>
            <a:r>
              <a:rPr lang="en-US" sz="850" dirty="0">
                <a:solidFill>
                  <a:srgbClr val="FCA5A5"/>
                </a:solidFill>
                <a:latin typeface="Courier New" pitchFamily="34" charset="0"/>
                <a:ea typeface="Courier New" pitchFamily="34" charset="-122"/>
                <a:cs typeface="Courier New" pitchFamily="34" charset="-120"/>
              </a:rPr>
              <a:t>&lt;form action="/register" method="post"&gt;</a:t>
            </a:r>
            <a:endParaRPr lang="en-US" sz="850" dirty="0"/>
          </a:p>
          <a:p>
            <a:pPr indent="0" marL="0">
              <a:buNone/>
            </a:pPr>
            <a:r>
              <a:rPr lang="en-US" sz="850" dirty="0">
                <a:solidFill>
                  <a:srgbClr val="FCA5A5"/>
                </a:solidFill>
                <a:latin typeface="Courier New" pitchFamily="34" charset="0"/>
                <a:ea typeface="Courier New" pitchFamily="34" charset="-122"/>
                <a:cs typeface="Courier New" pitchFamily="34" charset="-120"/>
              </a:rPr>
              <a:t>  &lt;input type="text" name="name" required&gt;</a:t>
            </a:r>
            <a:endParaRPr lang="en-US" sz="850" dirty="0"/>
          </a:p>
          <a:p>
            <a:pPr indent="0" marL="0">
              <a:buNone/>
            </a:pPr>
            <a:r>
              <a:rPr lang="en-US" sz="850" dirty="0">
                <a:solidFill>
                  <a:srgbClr val="FCA5A5"/>
                </a:solidFill>
                <a:latin typeface="Courier New" pitchFamily="34" charset="0"/>
                <a:ea typeface="Courier New" pitchFamily="34" charset="-122"/>
                <a:cs typeface="Courier New" pitchFamily="34" charset="-120"/>
              </a:rPr>
              <a:t>  &lt;button type="submit"&gt;Register&lt;/button&gt;</a:t>
            </a:r>
            <a:endParaRPr lang="en-US" sz="850" dirty="0"/>
          </a:p>
          <a:p>
            <a:pPr indent="0" marL="0">
              <a:buNone/>
            </a:pPr>
            <a:r>
              <a:rPr lang="en-US" sz="850" dirty="0">
                <a:solidFill>
                  <a:srgbClr val="FCA5A5"/>
                </a:solidFill>
                <a:latin typeface="Courier New" pitchFamily="34" charset="0"/>
                <a:ea typeface="Courier New" pitchFamily="34" charset="-122"/>
                <a:cs typeface="Courier New" pitchFamily="34" charset="-120"/>
              </a:rPr>
              <a:t>&lt;/form&gt;</a:t>
            </a:r>
            <a:endParaRPr lang="en-US" sz="850" dirty="0"/>
          </a:p>
          <a:p>
            <a:pPr indent="0" marL="0">
              <a:buNone/>
            </a:pPr>
            <a:r>
              <a:rPr lang="en-US" sz="850" dirty="0">
                <a:solidFill>
                  <a:srgbClr val="FCA5A5"/>
                </a:solidFill>
                <a:latin typeface="Courier New" pitchFamily="34" charset="0"/>
                <a:ea typeface="Courier New" pitchFamily="34" charset="-122"/>
                <a:cs typeface="Courier New" pitchFamily="34" charset="-120"/>
              </a:rPr>
              <a:t>&lt;!-- No JS = no validation = page reloads --&gt;</a:t>
            </a:r>
            <a:endParaRPr lang="en-US" sz="850" dirty="0"/>
          </a:p>
        </p:txBody>
      </p:sp>
      <p:sp>
        <p:nvSpPr>
          <p:cNvPr id="6" name="Text 4"/>
          <p:cNvSpPr txBox="1"/>
          <p:nvPr/>
        </p:nvSpPr>
        <p:spPr>
          <a:xfrm>
            <a:off x="4709160" y="777240"/>
            <a:ext cx="4160520" cy="256032"/>
          </a:xfrm>
          <a:prstGeom prst="rect">
            <a:avLst/>
          </a:prstGeom>
          <a:noFill/>
          <a:ln/>
        </p:spPr>
        <p:txBody>
          <a:bodyPr wrap="square" lIns="0" tIns="0" rIns="0" bIns="0" rtlCol="0" anchor="ctr"/>
          <a:lstStyle/>
          <a:p>
            <a:pPr indent="0" marL="0">
              <a:buNone/>
            </a:pPr>
            <a:r>
              <a:rPr lang="en-US" sz="1000" b="1" dirty="0">
                <a:solidFill>
                  <a:srgbClr val="86EFAC"/>
                </a:solidFill>
                <a:latin typeface="Calibri" pitchFamily="34" charset="0"/>
                <a:ea typeface="Calibri" pitchFamily="34" charset="-122"/>
                <a:cs typeface="Calibri" pitchFamily="34" charset="-120"/>
              </a:rPr>
              <a:t>✅  WITH JS — preventDefault stops the reload</a:t>
            </a:r>
            <a:endParaRPr lang="en-US" sz="1000" dirty="0"/>
          </a:p>
        </p:txBody>
      </p:sp>
      <p:sp>
        <p:nvSpPr>
          <p:cNvPr id="7" name="Shape 5"/>
          <p:cNvSpPr/>
          <p:nvPr/>
        </p:nvSpPr>
        <p:spPr>
          <a:xfrm>
            <a:off x="4709160" y="1051560"/>
            <a:ext cx="4160520" cy="2286000"/>
          </a:xfrm>
          <a:prstGeom prst="rect">
            <a:avLst/>
          </a:prstGeom>
          <a:solidFill>
            <a:srgbClr val="0D1321"/>
          </a:solidFill>
          <a:ln/>
        </p:spPr>
      </p:sp>
      <p:sp>
        <p:nvSpPr>
          <p:cNvPr id="8" name="Text 6"/>
          <p:cNvSpPr txBox="1"/>
          <p:nvPr/>
        </p:nvSpPr>
        <p:spPr>
          <a:xfrm>
            <a:off x="4800600" y="1088136"/>
            <a:ext cx="3977640" cy="2212848"/>
          </a:xfrm>
          <a:prstGeom prst="rect">
            <a:avLst/>
          </a:prstGeom>
          <a:noFill/>
          <a:ln/>
        </p:spPr>
        <p:txBody>
          <a:bodyPr wrap="square" lIns="0" tIns="0" rIns="0" bIns="0" rtlCol="0" anchor="t"/>
          <a:lstStyle/>
          <a:p>
            <a:pPr indent="0" marL="0">
              <a:buNone/>
            </a:pPr>
            <a:r>
              <a:rPr lang="en-US" sz="850" dirty="0">
                <a:solidFill>
                  <a:srgbClr val="86EFAC"/>
                </a:solidFill>
                <a:latin typeface="Courier New" pitchFamily="34" charset="0"/>
                <a:ea typeface="Courier New" pitchFamily="34" charset="-122"/>
                <a:cs typeface="Courier New" pitchFamily="34" charset="-120"/>
              </a:rPr>
              <a:t>const form = document.getElementById('regForm');</a:t>
            </a:r>
            <a:endParaRPr lang="en-US" sz="850" dirty="0"/>
          </a:p>
          <a:p>
            <a:pPr indent="0" marL="0">
              <a:buNone/>
            </a:pPr>
            <a:endParaRPr lang="en-US" sz="850" dirty="0"/>
          </a:p>
          <a:p>
            <a:pPr indent="0" marL="0">
              <a:buNone/>
            </a:pPr>
            <a:r>
              <a:rPr lang="en-US" sz="850" dirty="0">
                <a:solidFill>
                  <a:srgbClr val="86EFAC"/>
                </a:solidFill>
                <a:latin typeface="Courier New" pitchFamily="34" charset="0"/>
                <a:ea typeface="Courier New" pitchFamily="34" charset="-122"/>
                <a:cs typeface="Courier New" pitchFamily="34" charset="-120"/>
              </a:rPr>
              <a:t>form.addEventListener('submit', function(event) {</a:t>
            </a:r>
            <a:endParaRPr lang="en-US" sz="850" dirty="0"/>
          </a:p>
          <a:p>
            <a:pPr indent="0" marL="0">
              <a:buNone/>
            </a:pPr>
            <a:r>
              <a:rPr lang="en-US" sz="850" dirty="0">
                <a:solidFill>
                  <a:srgbClr val="86EFAC"/>
                </a:solidFill>
                <a:latin typeface="Courier New" pitchFamily="34" charset="0"/>
                <a:ea typeface="Courier New" pitchFamily="34" charset="-122"/>
                <a:cs typeface="Courier New" pitchFamily="34" charset="-120"/>
              </a:rPr>
              <a:t>  event.preventDefault(); // STOP the page reload</a:t>
            </a:r>
            <a:endParaRPr lang="en-US" sz="850" dirty="0"/>
          </a:p>
          <a:p>
            <a:pPr indent="0" marL="0">
              <a:buNone/>
            </a:pPr>
            <a:endParaRPr lang="en-US" sz="850" dirty="0"/>
          </a:p>
          <a:p>
            <a:pPr indent="0" marL="0">
              <a:buNone/>
            </a:pPr>
            <a:r>
              <a:rPr lang="en-US" sz="850" dirty="0">
                <a:solidFill>
                  <a:srgbClr val="86EFAC"/>
                </a:solidFill>
                <a:latin typeface="Courier New" pitchFamily="34" charset="0"/>
                <a:ea typeface="Courier New" pitchFamily="34" charset="-122"/>
                <a:cs typeface="Courier New" pitchFamily="34" charset="-120"/>
              </a:rPr>
              <a:t>  if (validateAll()) {</a:t>
            </a:r>
            <a:endParaRPr lang="en-US" sz="850" dirty="0"/>
          </a:p>
          <a:p>
            <a:pPr indent="0" marL="0">
              <a:buNone/>
            </a:pPr>
            <a:r>
              <a:rPr lang="en-US" sz="850" dirty="0">
                <a:solidFill>
                  <a:srgbClr val="86EFAC"/>
                </a:solidFill>
                <a:latin typeface="Courier New" pitchFamily="34" charset="0"/>
                <a:ea typeface="Courier New" pitchFamily="34" charset="-122"/>
                <a:cs typeface="Courier New" pitchFamily="34" charset="-120"/>
              </a:rPr>
              <a:t>    // All fields valid — safe to submit</a:t>
            </a:r>
            <a:endParaRPr lang="en-US" sz="850" dirty="0"/>
          </a:p>
          <a:p>
            <a:pPr indent="0" marL="0">
              <a:buNone/>
            </a:pPr>
            <a:r>
              <a:rPr lang="en-US" sz="850" dirty="0">
                <a:solidFill>
                  <a:srgbClr val="86EFAC"/>
                </a:solidFill>
                <a:latin typeface="Courier New" pitchFamily="34" charset="0"/>
                <a:ea typeface="Courier New" pitchFamily="34" charset="-122"/>
                <a:cs typeface="Courier New" pitchFamily="34" charset="-120"/>
              </a:rPr>
              <a:t>    form.submit();</a:t>
            </a:r>
            <a:endParaRPr lang="en-US" sz="850" dirty="0"/>
          </a:p>
          <a:p>
            <a:pPr indent="0" marL="0">
              <a:buNone/>
            </a:pPr>
            <a:r>
              <a:rPr lang="en-US" sz="850" dirty="0">
                <a:solidFill>
                  <a:srgbClr val="86EFAC"/>
                </a:solidFill>
                <a:latin typeface="Courier New" pitchFamily="34" charset="0"/>
                <a:ea typeface="Courier New" pitchFamily="34" charset="-122"/>
                <a:cs typeface="Courier New" pitchFamily="34" charset="-120"/>
              </a:rPr>
              <a:t>  } else {</a:t>
            </a:r>
            <a:endParaRPr lang="en-US" sz="850" dirty="0"/>
          </a:p>
          <a:p>
            <a:pPr indent="0" marL="0">
              <a:buNone/>
            </a:pPr>
            <a:r>
              <a:rPr lang="en-US" sz="850" dirty="0">
                <a:solidFill>
                  <a:srgbClr val="86EFAC"/>
                </a:solidFill>
                <a:latin typeface="Courier New" pitchFamily="34" charset="0"/>
                <a:ea typeface="Courier New" pitchFamily="34" charset="-122"/>
                <a:cs typeface="Courier New" pitchFamily="34" charset="-120"/>
              </a:rPr>
              <a:t>    showErrors(); // Show what needs fixing</a:t>
            </a:r>
            <a:endParaRPr lang="en-US" sz="850" dirty="0"/>
          </a:p>
          <a:p>
            <a:pPr indent="0" marL="0">
              <a:buNone/>
            </a:pPr>
            <a:r>
              <a:rPr lang="en-US" sz="850" dirty="0">
                <a:solidFill>
                  <a:srgbClr val="86EFAC"/>
                </a:solidFill>
                <a:latin typeface="Courier New" pitchFamily="34" charset="0"/>
                <a:ea typeface="Courier New" pitchFamily="34" charset="-122"/>
                <a:cs typeface="Courier New" pitchFamily="34" charset="-120"/>
              </a:rPr>
              <a:t>  }</a:t>
            </a:r>
            <a:endParaRPr lang="en-US" sz="850" dirty="0"/>
          </a:p>
          <a:p>
            <a:pPr indent="0" marL="0">
              <a:buNone/>
            </a:pPr>
            <a:r>
              <a:rPr lang="en-US" sz="850" dirty="0">
                <a:solidFill>
                  <a:srgbClr val="86EFAC"/>
                </a:solidFill>
                <a:latin typeface="Courier New" pitchFamily="34" charset="0"/>
                <a:ea typeface="Courier New" pitchFamily="34" charset="-122"/>
                <a:cs typeface="Courier New" pitchFamily="34" charset="-120"/>
              </a:rPr>
              <a:t>});</a:t>
            </a:r>
            <a:endParaRPr lang="en-US" sz="850" dirty="0"/>
          </a:p>
        </p:txBody>
      </p:sp>
      <p:sp>
        <p:nvSpPr>
          <p:cNvPr id="9" name="Shape 7"/>
          <p:cNvSpPr/>
          <p:nvPr/>
        </p:nvSpPr>
        <p:spPr>
          <a:xfrm>
            <a:off x="274320" y="3200400"/>
            <a:ext cx="8595360" cy="1371600"/>
          </a:xfrm>
          <a:prstGeom prst="rect">
            <a:avLst/>
          </a:prstGeom>
          <a:solidFill>
            <a:srgbClr val="0D1321"/>
          </a:solidFill>
          <a:ln/>
        </p:spPr>
      </p:sp>
      <p:sp>
        <p:nvSpPr>
          <p:cNvPr id="10" name="Text 8"/>
          <p:cNvSpPr txBox="1"/>
          <p:nvPr/>
        </p:nvSpPr>
        <p:spPr>
          <a:xfrm>
            <a:off x="411480" y="3246120"/>
            <a:ext cx="8321040" cy="1280160"/>
          </a:xfrm>
          <a:prstGeom prst="rect">
            <a:avLst/>
          </a:prstGeom>
          <a:noFill/>
          <a:ln/>
        </p:spPr>
        <p:txBody>
          <a:bodyPr wrap="square" lIns="0" tIns="0" rIns="0" bIns="0" rtlCol="0" anchor="t"/>
          <a:lstStyle/>
          <a:p>
            <a:pPr indent="0" marL="0">
              <a:buNone/>
            </a:pPr>
            <a:r>
              <a:rPr lang="en-US" sz="1100" b="1" dirty="0">
                <a:solidFill>
                  <a:srgbClr val="F7DF1E"/>
                </a:solidFill>
                <a:latin typeface="Calibri" pitchFamily="34" charset="0"/>
                <a:ea typeface="Calibri" pitchFamily="34" charset="-122"/>
                <a:cs typeface="Calibri" pitchFamily="34" charset="-120"/>
              </a:rPr>
              <a:t>Key concepts: </a:t>
            </a:r>
            <a:pPr indent="0" marL="0">
              <a:buNone/>
            </a:pPr>
            <a:r>
              <a:rPr lang="en-US" sz="1100" b="1" dirty="0">
                <a:solidFill>
                  <a:srgbClr val="86EFAC"/>
                </a:solidFill>
                <a:latin typeface="Calibri" pitchFamily="34" charset="0"/>
                <a:ea typeface="Calibri" pitchFamily="34" charset="-122"/>
                <a:cs typeface="Calibri" pitchFamily="34" charset="-120"/>
              </a:rPr>
              <a:t>submit event</a:t>
            </a:r>
            <a:pPr indent="0" marL="0">
              <a:buNone/>
            </a:pPr>
            <a:r>
              <a:rPr lang="en-US" sz="1100" dirty="0">
                <a:solidFill>
                  <a:srgbClr val="FFFFFF"/>
                </a:solidFill>
                <a:latin typeface="Calibri" pitchFamily="34" charset="0"/>
                <a:ea typeface="Calibri" pitchFamily="34" charset="-122"/>
                <a:cs typeface="Calibri" pitchFamily="34" charset="-120"/>
              </a:rPr>
              <a:t> fires when form is submitted  |  </a:t>
            </a:r>
            <a:pPr indent="0" marL="0">
              <a:buNone/>
            </a:pPr>
            <a:r>
              <a:rPr lang="en-US" sz="1100" b="1" dirty="0">
                <a:solidFill>
                  <a:srgbClr val="86EFAC"/>
                </a:solidFill>
                <a:latin typeface="Calibri" pitchFamily="34" charset="0"/>
                <a:ea typeface="Calibri" pitchFamily="34" charset="-122"/>
                <a:cs typeface="Calibri" pitchFamily="34" charset="-120"/>
              </a:rPr>
              <a:t>preventDefault()</a:t>
            </a:r>
            <a:pPr indent="0" marL="0">
              <a:buNone/>
            </a:pPr>
            <a:r>
              <a:rPr lang="en-US" sz="1100" dirty="0">
                <a:solidFill>
                  <a:srgbClr val="FFFFFF"/>
                </a:solidFill>
                <a:latin typeface="Calibri" pitchFamily="34" charset="0"/>
                <a:ea typeface="Calibri" pitchFamily="34" charset="-122"/>
                <a:cs typeface="Calibri" pitchFamily="34" charset="-120"/>
              </a:rPr>
              <a:t> stops the page from reloading  |  Without it, the browser sends the form BEFORE your JS validation runs.</a:t>
            </a:r>
            <a:endParaRPr lang="en-US" sz="1100" dirty="0"/>
          </a:p>
        </p:txBody>
      </p:sp>
      <p:sp>
        <p:nvSpPr>
          <p:cNvPr id="11" name="Text 9"/>
          <p:cNvSpPr txBox="1"/>
          <p:nvPr/>
        </p:nvSpPr>
        <p:spPr>
          <a:xfrm>
            <a:off x="320040" y="4892040"/>
            <a:ext cx="8503920" cy="182880"/>
          </a:xfrm>
          <a:prstGeom prst="rect">
            <a:avLst/>
          </a:prstGeom>
          <a:noFill/>
          <a:ln/>
        </p:spPr>
        <p:txBody>
          <a:bodyPr wrap="square" rtlCol="0" anchor="ctr"/>
          <a:lstStyle/>
          <a:p>
            <a:pPr algn="ctr" indent="0" marL="0">
              <a:buNone/>
            </a:pPr>
            <a:r>
              <a:rPr lang="en-US" sz="800" dirty="0">
                <a:solidFill>
                  <a:srgbClr val="94A3B8"/>
                </a:solidFill>
                <a:latin typeface="Calibri" pitchFamily="34" charset="0"/>
                <a:ea typeface="Calibri" pitchFamily="34" charset="-122"/>
                <a:cs typeface="Calibri" pitchFamily="34" charset="-120"/>
              </a:rPr>
              <a:t>K0126002  ·  Gachon University  ·  2026 Fall  ·  Dr. Toshpulatov</a:t>
            </a:r>
            <a:endParaRPr lang="en-US" sz="8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1A2540"/>
        </a:solidFill>
      </p:bgPr>
    </p:bg>
    <p:spTree>
      <p:nvGrpSpPr>
        <p:cNvPr id="1" name=""/>
        <p:cNvGrpSpPr/>
        <p:nvPr/>
      </p:nvGrpSpPr>
      <p:grpSpPr>
        <a:xfrm>
          <a:off x="0" y="0"/>
          <a:ext cx="0" cy="0"/>
          <a:chOff x="0" y="0"/>
          <a:chExt cx="0" cy="0"/>
        </a:xfrm>
      </p:grpSpPr>
      <p:sp>
        <p:nvSpPr>
          <p:cNvPr id="2" name="Text 0"/>
          <p:cNvSpPr txBox="1"/>
          <p:nvPr/>
        </p:nvSpPr>
        <p:spPr>
          <a:xfrm>
            <a:off x="320040" y="182880"/>
            <a:ext cx="8503920" cy="475488"/>
          </a:xfrm>
          <a:prstGeom prst="rect">
            <a:avLst/>
          </a:prstGeom>
          <a:noFill/>
          <a:ln/>
        </p:spPr>
        <p:txBody>
          <a:bodyPr wrap="square" rtlCol="0" anchor="ctr"/>
          <a:lstStyle/>
          <a:p>
            <a:pPr indent="0" marL="0">
              <a:buNone/>
            </a:pPr>
            <a:r>
              <a:rPr lang="en-US" sz="2600" b="1" dirty="0">
                <a:solidFill>
                  <a:srgbClr val="F7DF1E"/>
                </a:solidFill>
                <a:latin typeface="Cambria" pitchFamily="34" charset="0"/>
                <a:ea typeface="Cambria" pitchFamily="34" charset="-122"/>
                <a:cs typeface="Cambria" pitchFamily="34" charset="-120"/>
              </a:rPr>
              <a:t>Real-time Validation: the input Event</a:t>
            </a:r>
            <a:endParaRPr lang="en-US" sz="2600" dirty="0"/>
          </a:p>
        </p:txBody>
      </p:sp>
      <p:sp>
        <p:nvSpPr>
          <p:cNvPr id="3" name="Text 1"/>
          <p:cNvSpPr txBox="1"/>
          <p:nvPr/>
        </p:nvSpPr>
        <p:spPr>
          <a:xfrm>
            <a:off x="274320" y="777240"/>
            <a:ext cx="4160520" cy="256032"/>
          </a:xfrm>
          <a:prstGeom prst="rect">
            <a:avLst/>
          </a:prstGeom>
          <a:noFill/>
          <a:ln/>
        </p:spPr>
        <p:txBody>
          <a:bodyPr wrap="square" lIns="0" tIns="0" rIns="0" bIns="0" rtlCol="0" anchor="ctr"/>
          <a:lstStyle/>
          <a:p>
            <a:pPr indent="0" marL="0">
              <a:buNone/>
            </a:pPr>
            <a:r>
              <a:rPr lang="en-US" sz="1000" b="1" dirty="0">
                <a:solidFill>
                  <a:srgbClr val="FCA5A5"/>
                </a:solidFill>
                <a:latin typeface="Calibri" pitchFamily="34" charset="0"/>
                <a:ea typeface="Calibri" pitchFamily="34" charset="-122"/>
                <a:cs typeface="Calibri" pitchFamily="34" charset="-120"/>
              </a:rPr>
              <a:t>❌  SUBMIT-ONLY — bad UX, user waits until submit</a:t>
            </a:r>
            <a:endParaRPr lang="en-US" sz="1000" dirty="0"/>
          </a:p>
        </p:txBody>
      </p:sp>
      <p:sp>
        <p:nvSpPr>
          <p:cNvPr id="4" name="Shape 2"/>
          <p:cNvSpPr/>
          <p:nvPr/>
        </p:nvSpPr>
        <p:spPr>
          <a:xfrm>
            <a:off x="274320" y="1051560"/>
            <a:ext cx="4160520" cy="2331720"/>
          </a:xfrm>
          <a:prstGeom prst="rect">
            <a:avLst/>
          </a:prstGeom>
          <a:solidFill>
            <a:srgbClr val="0D1321"/>
          </a:solidFill>
          <a:ln/>
        </p:spPr>
      </p:sp>
      <p:sp>
        <p:nvSpPr>
          <p:cNvPr id="5" name="Text 3"/>
          <p:cNvSpPr txBox="1"/>
          <p:nvPr/>
        </p:nvSpPr>
        <p:spPr>
          <a:xfrm>
            <a:off x="365760" y="1088136"/>
            <a:ext cx="3977640" cy="2258568"/>
          </a:xfrm>
          <a:prstGeom prst="rect">
            <a:avLst/>
          </a:prstGeom>
          <a:noFill/>
          <a:ln/>
        </p:spPr>
        <p:txBody>
          <a:bodyPr wrap="square" lIns="0" tIns="0" rIns="0" bIns="0" rtlCol="0" anchor="t"/>
          <a:lstStyle/>
          <a:p>
            <a:pPr indent="0" marL="0">
              <a:buNone/>
            </a:pPr>
            <a:r>
              <a:rPr lang="en-US" sz="850" dirty="0">
                <a:solidFill>
                  <a:srgbClr val="FCA5A5"/>
                </a:solidFill>
                <a:latin typeface="Courier New" pitchFamily="34" charset="0"/>
                <a:ea typeface="Courier New" pitchFamily="34" charset="-122"/>
                <a:cs typeface="Courier New" pitchFamily="34" charset="-120"/>
              </a:rPr>
              <a:t>form.addEventListener('submit', (e) =&gt; {</a:t>
            </a:r>
            <a:endParaRPr lang="en-US" sz="850" dirty="0"/>
          </a:p>
          <a:p>
            <a:pPr indent="0" marL="0">
              <a:buNone/>
            </a:pPr>
            <a:r>
              <a:rPr lang="en-US" sz="850" dirty="0">
                <a:solidFill>
                  <a:srgbClr val="FCA5A5"/>
                </a:solidFill>
                <a:latin typeface="Courier New" pitchFamily="34" charset="0"/>
                <a:ea typeface="Courier New" pitchFamily="34" charset="-122"/>
                <a:cs typeface="Courier New" pitchFamily="34" charset="-120"/>
              </a:rPr>
              <a:t>  // Only checked when user clicks Submit</a:t>
            </a:r>
            <a:endParaRPr lang="en-US" sz="850" dirty="0"/>
          </a:p>
          <a:p>
            <a:pPr indent="0" marL="0">
              <a:buNone/>
            </a:pPr>
            <a:r>
              <a:rPr lang="en-US" sz="850" dirty="0">
                <a:solidFill>
                  <a:srgbClr val="FCA5A5"/>
                </a:solidFill>
                <a:latin typeface="Courier New" pitchFamily="34" charset="0"/>
                <a:ea typeface="Courier New" pitchFamily="34" charset="-122"/>
                <a:cs typeface="Courier New" pitchFamily="34" charset="-120"/>
              </a:rPr>
              <a:t>  // Bad UX: user fills 10 fields, submits,</a:t>
            </a:r>
            <a:endParaRPr lang="en-US" sz="850" dirty="0"/>
          </a:p>
          <a:p>
            <a:pPr indent="0" marL="0">
              <a:buNone/>
            </a:pPr>
            <a:r>
              <a:rPr lang="en-US" sz="850" dirty="0">
                <a:solidFill>
                  <a:srgbClr val="FCA5A5"/>
                </a:solidFill>
                <a:latin typeface="Courier New" pitchFamily="34" charset="0"/>
                <a:ea typeface="Courier New" pitchFamily="34" charset="-122"/>
                <a:cs typeface="Courier New" pitchFamily="34" charset="-120"/>
              </a:rPr>
              <a:t>  // then sees the first field was wrong</a:t>
            </a:r>
            <a:endParaRPr lang="en-US" sz="850" dirty="0"/>
          </a:p>
          <a:p>
            <a:pPr indent="0" marL="0">
              <a:buNone/>
            </a:pPr>
            <a:r>
              <a:rPr lang="en-US" sz="850" dirty="0">
                <a:solidFill>
                  <a:srgbClr val="FCA5A5"/>
                </a:solidFill>
                <a:latin typeface="Courier New" pitchFamily="34" charset="0"/>
                <a:ea typeface="Courier New" pitchFamily="34" charset="-122"/>
                <a:cs typeface="Courier New" pitchFamily="34" charset="-120"/>
              </a:rPr>
              <a:t>  e.preventDefault();</a:t>
            </a:r>
            <a:endParaRPr lang="en-US" sz="850" dirty="0"/>
          </a:p>
          <a:p>
            <a:pPr indent="0" marL="0">
              <a:buNone/>
            </a:pPr>
            <a:r>
              <a:rPr lang="en-US" sz="850" dirty="0">
                <a:solidFill>
                  <a:srgbClr val="FCA5A5"/>
                </a:solidFill>
                <a:latin typeface="Courier New" pitchFamily="34" charset="0"/>
                <a:ea typeface="Courier New" pitchFamily="34" charset="-122"/>
                <a:cs typeface="Courier New" pitchFamily="34" charset="-120"/>
              </a:rPr>
              <a:t>  if (!sid.value.match(/^\d{9}$/)) {</a:t>
            </a:r>
            <a:endParaRPr lang="en-US" sz="850" dirty="0"/>
          </a:p>
          <a:p>
            <a:pPr indent="0" marL="0">
              <a:buNone/>
            </a:pPr>
            <a:r>
              <a:rPr lang="en-US" sz="850" dirty="0">
                <a:solidFill>
                  <a:srgbClr val="FCA5A5"/>
                </a:solidFill>
                <a:latin typeface="Courier New" pitchFamily="34" charset="0"/>
                <a:ea typeface="Courier New" pitchFamily="34" charset="-122"/>
                <a:cs typeface="Courier New" pitchFamily="34" charset="-120"/>
              </a:rPr>
              <a:t>    showError(sid, 'Must be 9 digits');</a:t>
            </a:r>
            <a:endParaRPr lang="en-US" sz="850" dirty="0"/>
          </a:p>
          <a:p>
            <a:pPr indent="0" marL="0">
              <a:buNone/>
            </a:pPr>
            <a:r>
              <a:rPr lang="en-US" sz="850" dirty="0">
                <a:solidFill>
                  <a:srgbClr val="FCA5A5"/>
                </a:solidFill>
                <a:latin typeface="Courier New" pitchFamily="34" charset="0"/>
                <a:ea typeface="Courier New" pitchFamily="34" charset="-122"/>
                <a:cs typeface="Courier New" pitchFamily="34" charset="-120"/>
              </a:rPr>
              <a:t>  }</a:t>
            </a:r>
            <a:endParaRPr lang="en-US" sz="850" dirty="0"/>
          </a:p>
          <a:p>
            <a:pPr indent="0" marL="0">
              <a:buNone/>
            </a:pPr>
            <a:r>
              <a:rPr lang="en-US" sz="850" dirty="0">
                <a:solidFill>
                  <a:srgbClr val="FCA5A5"/>
                </a:solidFill>
                <a:latin typeface="Courier New" pitchFamily="34" charset="0"/>
                <a:ea typeface="Courier New" pitchFamily="34" charset="-122"/>
                <a:cs typeface="Courier New" pitchFamily="34" charset="-120"/>
              </a:rPr>
              <a:t>});</a:t>
            </a:r>
            <a:endParaRPr lang="en-US" sz="850" dirty="0"/>
          </a:p>
        </p:txBody>
      </p:sp>
      <p:sp>
        <p:nvSpPr>
          <p:cNvPr id="6" name="Text 4"/>
          <p:cNvSpPr txBox="1"/>
          <p:nvPr/>
        </p:nvSpPr>
        <p:spPr>
          <a:xfrm>
            <a:off x="4709160" y="777240"/>
            <a:ext cx="4160520" cy="256032"/>
          </a:xfrm>
          <a:prstGeom prst="rect">
            <a:avLst/>
          </a:prstGeom>
          <a:noFill/>
          <a:ln/>
        </p:spPr>
        <p:txBody>
          <a:bodyPr wrap="square" lIns="0" tIns="0" rIns="0" bIns="0" rtlCol="0" anchor="ctr"/>
          <a:lstStyle/>
          <a:p>
            <a:pPr indent="0" marL="0">
              <a:buNone/>
            </a:pPr>
            <a:r>
              <a:rPr lang="en-US" sz="1000" b="1" dirty="0">
                <a:solidFill>
                  <a:srgbClr val="86EFAC"/>
                </a:solidFill>
                <a:latin typeface="Calibri" pitchFamily="34" charset="0"/>
                <a:ea typeface="Calibri" pitchFamily="34" charset="-122"/>
                <a:cs typeface="Calibri" pitchFamily="34" charset="-120"/>
              </a:rPr>
              <a:t>✅  REAL-TIME — feedback on every keystroke</a:t>
            </a:r>
            <a:endParaRPr lang="en-US" sz="1000" dirty="0"/>
          </a:p>
        </p:txBody>
      </p:sp>
      <p:sp>
        <p:nvSpPr>
          <p:cNvPr id="7" name="Shape 5"/>
          <p:cNvSpPr/>
          <p:nvPr/>
        </p:nvSpPr>
        <p:spPr>
          <a:xfrm>
            <a:off x="4709160" y="1051560"/>
            <a:ext cx="4160520" cy="2331720"/>
          </a:xfrm>
          <a:prstGeom prst="rect">
            <a:avLst/>
          </a:prstGeom>
          <a:solidFill>
            <a:srgbClr val="0D1321"/>
          </a:solidFill>
          <a:ln/>
        </p:spPr>
      </p:sp>
      <p:sp>
        <p:nvSpPr>
          <p:cNvPr id="8" name="Text 6"/>
          <p:cNvSpPr txBox="1"/>
          <p:nvPr/>
        </p:nvSpPr>
        <p:spPr>
          <a:xfrm>
            <a:off x="4800600" y="1088136"/>
            <a:ext cx="3977640" cy="2258568"/>
          </a:xfrm>
          <a:prstGeom prst="rect">
            <a:avLst/>
          </a:prstGeom>
          <a:noFill/>
          <a:ln/>
        </p:spPr>
        <p:txBody>
          <a:bodyPr wrap="square" lIns="0" tIns="0" rIns="0" bIns="0" rtlCol="0" anchor="t"/>
          <a:lstStyle/>
          <a:p>
            <a:pPr indent="0" marL="0">
              <a:buNone/>
            </a:pPr>
            <a:r>
              <a:rPr lang="en-US" sz="850" dirty="0">
                <a:solidFill>
                  <a:srgbClr val="86EFAC"/>
                </a:solidFill>
                <a:latin typeface="Courier New" pitchFamily="34" charset="0"/>
                <a:ea typeface="Courier New" pitchFamily="34" charset="-122"/>
                <a:cs typeface="Courier New" pitchFamily="34" charset="-120"/>
              </a:rPr>
              <a:t>const sid = document.getElementById('sid');</a:t>
            </a:r>
            <a:endParaRPr lang="en-US" sz="850" dirty="0"/>
          </a:p>
          <a:p>
            <a:pPr indent="0" marL="0">
              <a:buNone/>
            </a:pPr>
            <a:endParaRPr lang="en-US" sz="850" dirty="0"/>
          </a:p>
          <a:p>
            <a:pPr indent="0" marL="0">
              <a:buNone/>
            </a:pPr>
            <a:r>
              <a:rPr lang="en-US" sz="850" dirty="0">
                <a:solidFill>
                  <a:srgbClr val="86EFAC"/>
                </a:solidFill>
                <a:latin typeface="Courier New" pitchFamily="34" charset="0"/>
                <a:ea typeface="Courier New" pitchFamily="34" charset="-122"/>
                <a:cs typeface="Courier New" pitchFamily="34" charset="-120"/>
              </a:rPr>
              <a:t>// 'input' event fires on every keystroke</a:t>
            </a:r>
            <a:endParaRPr lang="en-US" sz="850" dirty="0"/>
          </a:p>
          <a:p>
            <a:pPr indent="0" marL="0">
              <a:buNone/>
            </a:pPr>
            <a:r>
              <a:rPr lang="en-US" sz="850" dirty="0">
                <a:solidFill>
                  <a:srgbClr val="86EFAC"/>
                </a:solidFill>
                <a:latin typeface="Courier New" pitchFamily="34" charset="0"/>
                <a:ea typeface="Courier New" pitchFamily="34" charset="-122"/>
                <a:cs typeface="Courier New" pitchFamily="34" charset="-120"/>
              </a:rPr>
              <a:t>sid.addEventListener('input', function() {</a:t>
            </a:r>
            <a:endParaRPr lang="en-US" sz="850" dirty="0"/>
          </a:p>
          <a:p>
            <a:pPr indent="0" marL="0">
              <a:buNone/>
            </a:pPr>
            <a:r>
              <a:rPr lang="en-US" sz="850" dirty="0">
                <a:solidFill>
                  <a:srgbClr val="86EFAC"/>
                </a:solidFill>
                <a:latin typeface="Courier New" pitchFamily="34" charset="0"/>
                <a:ea typeface="Courier New" pitchFamily="34" charset="-122"/>
                <a:cs typeface="Courier New" pitchFamily="34" charset="-120"/>
              </a:rPr>
              <a:t>  if (/^\d{9}$/.test(this.value)) {</a:t>
            </a:r>
            <a:endParaRPr lang="en-US" sz="850" dirty="0"/>
          </a:p>
          <a:p>
            <a:pPr indent="0" marL="0">
              <a:buNone/>
            </a:pPr>
            <a:r>
              <a:rPr lang="en-US" sz="850" dirty="0">
                <a:solidFill>
                  <a:srgbClr val="86EFAC"/>
                </a:solidFill>
                <a:latin typeface="Courier New" pitchFamily="34" charset="0"/>
                <a:ea typeface="Courier New" pitchFamily="34" charset="-122"/>
                <a:cs typeface="Courier New" pitchFamily="34" charset="-120"/>
              </a:rPr>
              <a:t>    markValid(this);       // green border</a:t>
            </a:r>
            <a:endParaRPr lang="en-US" sz="850" dirty="0"/>
          </a:p>
          <a:p>
            <a:pPr indent="0" marL="0">
              <a:buNone/>
            </a:pPr>
            <a:r>
              <a:rPr lang="en-US" sz="850" dirty="0">
                <a:solidFill>
                  <a:srgbClr val="86EFAC"/>
                </a:solidFill>
                <a:latin typeface="Courier New" pitchFamily="34" charset="0"/>
                <a:ea typeface="Courier New" pitchFamily="34" charset="-122"/>
                <a:cs typeface="Courier New" pitchFamily="34" charset="-120"/>
              </a:rPr>
              <a:t>  } else {</a:t>
            </a:r>
            <a:endParaRPr lang="en-US" sz="850" dirty="0"/>
          </a:p>
          <a:p>
            <a:pPr indent="0" marL="0">
              <a:buNone/>
            </a:pPr>
            <a:r>
              <a:rPr lang="en-US" sz="850" dirty="0">
                <a:solidFill>
                  <a:srgbClr val="86EFAC"/>
                </a:solidFill>
                <a:latin typeface="Courier New" pitchFamily="34" charset="0"/>
                <a:ea typeface="Courier New" pitchFamily="34" charset="-122"/>
                <a:cs typeface="Courier New" pitchFamily="34" charset="-120"/>
              </a:rPr>
              <a:t>    markInvalid(this,      // red border</a:t>
            </a:r>
            <a:endParaRPr lang="en-US" sz="850" dirty="0"/>
          </a:p>
          <a:p>
            <a:pPr indent="0" marL="0">
              <a:buNone/>
            </a:pPr>
            <a:r>
              <a:rPr lang="en-US" sz="850" dirty="0">
                <a:solidFill>
                  <a:srgbClr val="86EFAC"/>
                </a:solidFill>
                <a:latin typeface="Courier New" pitchFamily="34" charset="0"/>
                <a:ea typeface="Courier New" pitchFamily="34" charset="-122"/>
                <a:cs typeface="Courier New" pitchFamily="34" charset="-120"/>
              </a:rPr>
              <a:t>      'Must be exactly 9 digits');</a:t>
            </a:r>
            <a:endParaRPr lang="en-US" sz="850" dirty="0"/>
          </a:p>
          <a:p>
            <a:pPr indent="0" marL="0">
              <a:buNone/>
            </a:pPr>
            <a:r>
              <a:rPr lang="en-US" sz="850" dirty="0">
                <a:solidFill>
                  <a:srgbClr val="86EFAC"/>
                </a:solidFill>
                <a:latin typeface="Courier New" pitchFamily="34" charset="0"/>
                <a:ea typeface="Courier New" pitchFamily="34" charset="-122"/>
                <a:cs typeface="Courier New" pitchFamily="34" charset="-120"/>
              </a:rPr>
              <a:t>  }</a:t>
            </a:r>
            <a:endParaRPr lang="en-US" sz="850" dirty="0"/>
          </a:p>
          <a:p>
            <a:pPr indent="0" marL="0">
              <a:buNone/>
            </a:pPr>
            <a:r>
              <a:rPr lang="en-US" sz="850" dirty="0">
                <a:solidFill>
                  <a:srgbClr val="86EFAC"/>
                </a:solidFill>
                <a:latin typeface="Courier New" pitchFamily="34" charset="0"/>
                <a:ea typeface="Courier New" pitchFamily="34" charset="-122"/>
                <a:cs typeface="Courier New" pitchFamily="34" charset="-120"/>
              </a:rPr>
              <a:t>});</a:t>
            </a:r>
            <a:endParaRPr lang="en-US" sz="850" dirty="0"/>
          </a:p>
        </p:txBody>
      </p:sp>
      <p:sp>
        <p:nvSpPr>
          <p:cNvPr id="9" name="Shape 7"/>
          <p:cNvSpPr/>
          <p:nvPr/>
        </p:nvSpPr>
        <p:spPr>
          <a:xfrm>
            <a:off x="274320" y="3246120"/>
            <a:ext cx="8595360" cy="1325880"/>
          </a:xfrm>
          <a:prstGeom prst="rect">
            <a:avLst/>
          </a:prstGeom>
          <a:solidFill>
            <a:srgbClr val="0D1321"/>
          </a:solidFill>
          <a:ln/>
        </p:spPr>
      </p:sp>
      <p:sp>
        <p:nvSpPr>
          <p:cNvPr id="10" name="Text 8"/>
          <p:cNvSpPr txBox="1"/>
          <p:nvPr/>
        </p:nvSpPr>
        <p:spPr>
          <a:xfrm>
            <a:off x="411480" y="3291840"/>
            <a:ext cx="8321040" cy="1234440"/>
          </a:xfrm>
          <a:prstGeom prst="rect">
            <a:avLst/>
          </a:prstGeom>
          <a:noFill/>
          <a:ln/>
        </p:spPr>
        <p:txBody>
          <a:bodyPr wrap="square" lIns="0" tIns="0" rIns="0" bIns="0" rtlCol="0" anchor="t"/>
          <a:lstStyle/>
          <a:p>
            <a:pPr indent="0" marL="0">
              <a:buNone/>
            </a:pPr>
            <a:r>
              <a:rPr lang="en-US" sz="1100" b="1" dirty="0">
                <a:solidFill>
                  <a:srgbClr val="F7DF1E"/>
                </a:solidFill>
                <a:latin typeface="Calibri" pitchFamily="34" charset="0"/>
                <a:ea typeface="Calibri" pitchFamily="34" charset="-122"/>
                <a:cs typeface="Calibri" pitchFamily="34" charset="-120"/>
              </a:rPr>
              <a:t>input event</a:t>
            </a:r>
            <a:pPr indent="0" marL="0">
              <a:buNone/>
            </a:pPr>
            <a:r>
              <a:rPr lang="en-US" sz="1100" dirty="0">
                <a:solidFill>
                  <a:srgbClr val="FFFFFF"/>
                </a:solidFill>
                <a:latin typeface="Calibri" pitchFamily="34" charset="0"/>
                <a:ea typeface="Calibri" pitchFamily="34" charset="-122"/>
                <a:cs typeface="Calibri" pitchFamily="34" charset="-120"/>
              </a:rPr>
              <a:t> fires on every keystroke, paste, delete — enabling real-time feedback.
</a:t>
            </a:r>
            <a:pPr indent="0" marL="0">
              <a:buNone/>
            </a:pPr>
            <a:r>
              <a:rPr lang="en-US" sz="1100" b="1" dirty="0">
                <a:solidFill>
                  <a:srgbClr val="94A3B8"/>
                </a:solidFill>
                <a:latin typeface="Calibri" pitchFamily="34" charset="0"/>
                <a:ea typeface="Calibri" pitchFamily="34" charset="-122"/>
                <a:cs typeface="Calibri" pitchFamily="34" charset="-120"/>
              </a:rPr>
              <a:t>blur event</a:t>
            </a:r>
            <a:pPr indent="0" marL="0">
              <a:buNone/>
            </a:pPr>
            <a:r>
              <a:rPr lang="en-US" sz="1100" dirty="0">
                <a:solidFill>
                  <a:srgbClr val="94A3B8"/>
                </a:solidFill>
                <a:latin typeface="Calibri" pitchFamily="34" charset="0"/>
                <a:ea typeface="Calibri" pitchFamily="34" charset="-122"/>
                <a:cs typeface="Calibri" pitchFamily="34" charset="-120"/>
              </a:rPr>
              <a:t> fires when user leaves a field — good for "did they fill it?"   </a:t>
            </a:r>
            <a:pPr indent="0" marL="0">
              <a:buNone/>
            </a:pPr>
            <a:r>
              <a:rPr lang="en-US" sz="1100" b="1" dirty="0">
                <a:solidFill>
                  <a:srgbClr val="94A3B8"/>
                </a:solidFill>
                <a:latin typeface="Calibri" pitchFamily="34" charset="0"/>
                <a:ea typeface="Calibri" pitchFamily="34" charset="-122"/>
                <a:cs typeface="Calibri" pitchFamily="34" charset="-120"/>
              </a:rPr>
              <a:t>change event</a:t>
            </a:r>
            <a:pPr indent="0" marL="0">
              <a:buNone/>
            </a:pPr>
            <a:r>
              <a:rPr lang="en-US" sz="1100" dirty="0">
                <a:solidFill>
                  <a:srgbClr val="94A3B8"/>
                </a:solidFill>
                <a:latin typeface="Calibri" pitchFamily="34" charset="0"/>
                <a:ea typeface="Calibri" pitchFamily="34" charset="-122"/>
                <a:cs typeface="Calibri" pitchFamily="34" charset="-120"/>
              </a:rPr>
              <a:t> fires after value changes and field loses focus.</a:t>
            </a:r>
            <a:endParaRPr lang="en-US" sz="1100" dirty="0"/>
          </a:p>
        </p:txBody>
      </p:sp>
      <p:sp>
        <p:nvSpPr>
          <p:cNvPr id="11" name="Text 9"/>
          <p:cNvSpPr txBox="1"/>
          <p:nvPr/>
        </p:nvSpPr>
        <p:spPr>
          <a:xfrm>
            <a:off x="320040" y="4892040"/>
            <a:ext cx="8503920" cy="182880"/>
          </a:xfrm>
          <a:prstGeom prst="rect">
            <a:avLst/>
          </a:prstGeom>
          <a:noFill/>
          <a:ln/>
        </p:spPr>
        <p:txBody>
          <a:bodyPr wrap="square" rtlCol="0" anchor="ctr"/>
          <a:lstStyle/>
          <a:p>
            <a:pPr algn="ctr" indent="0" marL="0">
              <a:buNone/>
            </a:pPr>
            <a:r>
              <a:rPr lang="en-US" sz="800" dirty="0">
                <a:solidFill>
                  <a:srgbClr val="94A3B8"/>
                </a:solidFill>
                <a:latin typeface="Calibri" pitchFamily="34" charset="0"/>
                <a:ea typeface="Calibri" pitchFamily="34" charset="-122"/>
                <a:cs typeface="Calibri" pitchFamily="34" charset="-120"/>
              </a:rPr>
              <a:t>K0126002  ·  Gachon University  ·  2026 Fall  ·  Dr. Toshpulatov</a:t>
            </a:r>
            <a:endParaRPr lang="en-US" sz="8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1A2540"/>
        </a:solidFill>
      </p:bgPr>
    </p:bg>
    <p:spTree>
      <p:nvGrpSpPr>
        <p:cNvPr id="1" name=""/>
        <p:cNvGrpSpPr/>
        <p:nvPr/>
      </p:nvGrpSpPr>
      <p:grpSpPr>
        <a:xfrm>
          <a:off x="0" y="0"/>
          <a:ext cx="0" cy="0"/>
          <a:chOff x="0" y="0"/>
          <a:chExt cx="0" cy="0"/>
        </a:xfrm>
      </p:grpSpPr>
      <p:sp>
        <p:nvSpPr>
          <p:cNvPr id="2" name="Text 0"/>
          <p:cNvSpPr txBox="1"/>
          <p:nvPr/>
        </p:nvSpPr>
        <p:spPr>
          <a:xfrm>
            <a:off x="320040" y="182880"/>
            <a:ext cx="8503920" cy="475488"/>
          </a:xfrm>
          <a:prstGeom prst="rect">
            <a:avLst/>
          </a:prstGeom>
          <a:noFill/>
          <a:ln/>
        </p:spPr>
        <p:txBody>
          <a:bodyPr wrap="square" rtlCol="0" anchor="ctr"/>
          <a:lstStyle/>
          <a:p>
            <a:pPr indent="0" marL="0">
              <a:buNone/>
            </a:pPr>
            <a:r>
              <a:rPr lang="en-US" sz="2600" b="1" dirty="0">
                <a:solidFill>
                  <a:srgbClr val="F7DF1E"/>
                </a:solidFill>
                <a:latin typeface="Cambria" pitchFamily="34" charset="0"/>
                <a:ea typeface="Cambria" pitchFamily="34" charset="-122"/>
                <a:cs typeface="Cambria" pitchFamily="34" charset="-120"/>
              </a:rPr>
              <a:t>Validation Checks: regex vs validity API</a:t>
            </a:r>
            <a:endParaRPr lang="en-US" sz="2600" dirty="0"/>
          </a:p>
        </p:txBody>
      </p:sp>
      <p:sp>
        <p:nvSpPr>
          <p:cNvPr id="3" name="Text 1"/>
          <p:cNvSpPr txBox="1"/>
          <p:nvPr/>
        </p:nvSpPr>
        <p:spPr>
          <a:xfrm>
            <a:off x="274320" y="777240"/>
            <a:ext cx="4160520" cy="256032"/>
          </a:xfrm>
          <a:prstGeom prst="rect">
            <a:avLst/>
          </a:prstGeom>
          <a:noFill/>
          <a:ln/>
        </p:spPr>
        <p:txBody>
          <a:bodyPr wrap="square" lIns="0" tIns="0" rIns="0" bIns="0" rtlCol="0" anchor="ctr"/>
          <a:lstStyle/>
          <a:p>
            <a:pPr indent="0" marL="0">
              <a:buNone/>
            </a:pPr>
            <a:r>
              <a:rPr lang="en-US" sz="1000" b="1" dirty="0">
                <a:solidFill>
                  <a:srgbClr val="FCA5A5"/>
                </a:solidFill>
                <a:latin typeface="Calibri" pitchFamily="34" charset="0"/>
                <a:ea typeface="Calibri" pitchFamily="34" charset="-122"/>
                <a:cs typeface="Calibri" pitchFamily="34" charset="-120"/>
              </a:rPr>
              <a:t>❌  VAGUE — only checks empty, misses format</a:t>
            </a:r>
            <a:endParaRPr lang="en-US" sz="1000" dirty="0"/>
          </a:p>
        </p:txBody>
      </p:sp>
      <p:sp>
        <p:nvSpPr>
          <p:cNvPr id="4" name="Shape 2"/>
          <p:cNvSpPr/>
          <p:nvPr/>
        </p:nvSpPr>
        <p:spPr>
          <a:xfrm>
            <a:off x="274320" y="1051560"/>
            <a:ext cx="4160520" cy="1645920"/>
          </a:xfrm>
          <a:prstGeom prst="rect">
            <a:avLst/>
          </a:prstGeom>
          <a:solidFill>
            <a:srgbClr val="0D1321"/>
          </a:solidFill>
          <a:ln/>
        </p:spPr>
      </p:sp>
      <p:sp>
        <p:nvSpPr>
          <p:cNvPr id="5" name="Text 3"/>
          <p:cNvSpPr txBox="1"/>
          <p:nvPr/>
        </p:nvSpPr>
        <p:spPr>
          <a:xfrm>
            <a:off x="365760" y="1088136"/>
            <a:ext cx="3977640" cy="1572768"/>
          </a:xfrm>
          <a:prstGeom prst="rect">
            <a:avLst/>
          </a:prstGeom>
          <a:noFill/>
          <a:ln/>
        </p:spPr>
        <p:txBody>
          <a:bodyPr wrap="square" lIns="0" tIns="0" rIns="0" bIns="0" rtlCol="0" anchor="t"/>
          <a:lstStyle/>
          <a:p>
            <a:pPr indent="0" marL="0">
              <a:buNone/>
            </a:pPr>
            <a:r>
              <a:rPr lang="en-US" sz="850" dirty="0">
                <a:solidFill>
                  <a:srgbClr val="FCA5A5"/>
                </a:solidFill>
                <a:latin typeface="Courier New" pitchFamily="34" charset="0"/>
                <a:ea typeface="Courier New" pitchFamily="34" charset="-122"/>
                <a:cs typeface="Courier New" pitchFamily="34" charset="-120"/>
              </a:rPr>
              <a:t>// Only checks if field is empty — not format</a:t>
            </a:r>
            <a:endParaRPr lang="en-US" sz="850" dirty="0"/>
          </a:p>
          <a:p>
            <a:pPr indent="0" marL="0">
              <a:buNone/>
            </a:pPr>
            <a:r>
              <a:rPr lang="en-US" sz="850" dirty="0">
                <a:solidFill>
                  <a:srgbClr val="FCA5A5"/>
                </a:solidFill>
                <a:latin typeface="Courier New" pitchFamily="34" charset="0"/>
                <a:ea typeface="Courier New" pitchFamily="34" charset="-122"/>
                <a:cs typeface="Courier New" pitchFamily="34" charset="-120"/>
              </a:rPr>
              <a:t>if (!emailField.value) {</a:t>
            </a:r>
            <a:endParaRPr lang="en-US" sz="850" dirty="0"/>
          </a:p>
          <a:p>
            <a:pPr indent="0" marL="0">
              <a:buNone/>
            </a:pPr>
            <a:r>
              <a:rPr lang="en-US" sz="850" dirty="0">
                <a:solidFill>
                  <a:srgbClr val="FCA5A5"/>
                </a:solidFill>
                <a:latin typeface="Courier New" pitchFamily="34" charset="0"/>
                <a:ea typeface="Courier New" pitchFamily="34" charset="-122"/>
                <a:cs typeface="Courier New" pitchFamily="34" charset="-120"/>
              </a:rPr>
              <a:t>  showError('Email is required');</a:t>
            </a:r>
            <a:endParaRPr lang="en-US" sz="850" dirty="0"/>
          </a:p>
          <a:p>
            <a:pPr indent="0" marL="0">
              <a:buNone/>
            </a:pPr>
            <a:r>
              <a:rPr lang="en-US" sz="850" dirty="0">
                <a:solidFill>
                  <a:srgbClr val="FCA5A5"/>
                </a:solidFill>
                <a:latin typeface="Courier New" pitchFamily="34" charset="0"/>
                <a:ea typeface="Courier New" pitchFamily="34" charset="-122"/>
                <a:cs typeface="Courier New" pitchFamily="34" charset="-120"/>
              </a:rPr>
              <a:t>}</a:t>
            </a:r>
            <a:endParaRPr lang="en-US" sz="850" dirty="0"/>
          </a:p>
          <a:p>
            <a:pPr indent="0" marL="0">
              <a:buNone/>
            </a:pPr>
            <a:r>
              <a:rPr lang="en-US" sz="850" dirty="0">
                <a:solidFill>
                  <a:srgbClr val="FCA5A5"/>
                </a:solidFill>
                <a:latin typeface="Courier New" pitchFamily="34" charset="0"/>
                <a:ea typeface="Courier New" pitchFamily="34" charset="-122"/>
                <a:cs typeface="Courier New" pitchFamily="34" charset="-120"/>
              </a:rPr>
              <a:t>// Misses: "hello" (not an email format)</a:t>
            </a:r>
            <a:endParaRPr lang="en-US" sz="850" dirty="0"/>
          </a:p>
          <a:p>
            <a:pPr indent="0" marL="0">
              <a:buNone/>
            </a:pPr>
            <a:r>
              <a:rPr lang="en-US" sz="850" dirty="0">
                <a:solidFill>
                  <a:srgbClr val="FCA5A5"/>
                </a:solidFill>
                <a:latin typeface="Courier New" pitchFamily="34" charset="0"/>
                <a:ea typeface="Courier New" pitchFamily="34" charset="-122"/>
                <a:cs typeface="Courier New" pitchFamily="34" charset="-120"/>
              </a:rPr>
              <a:t>// Misses: "a@b" (incomplete domain)</a:t>
            </a:r>
            <a:endParaRPr lang="en-US" sz="850" dirty="0"/>
          </a:p>
        </p:txBody>
      </p:sp>
      <p:sp>
        <p:nvSpPr>
          <p:cNvPr id="6" name="Text 4"/>
          <p:cNvSpPr txBox="1"/>
          <p:nvPr/>
        </p:nvSpPr>
        <p:spPr>
          <a:xfrm>
            <a:off x="4709160" y="777240"/>
            <a:ext cx="4160520" cy="256032"/>
          </a:xfrm>
          <a:prstGeom prst="rect">
            <a:avLst/>
          </a:prstGeom>
          <a:noFill/>
          <a:ln/>
        </p:spPr>
        <p:txBody>
          <a:bodyPr wrap="square" lIns="0" tIns="0" rIns="0" bIns="0" rtlCol="0" anchor="ctr"/>
          <a:lstStyle/>
          <a:p>
            <a:pPr indent="0" marL="0">
              <a:buNone/>
            </a:pPr>
            <a:r>
              <a:rPr lang="en-US" sz="1000" b="1" dirty="0">
                <a:solidFill>
                  <a:srgbClr val="86EFAC"/>
                </a:solidFill>
                <a:latin typeface="Calibri" pitchFamily="34" charset="0"/>
                <a:ea typeface="Calibri" pitchFamily="34" charset="-122"/>
                <a:cs typeface="Calibri" pitchFamily="34" charset="-120"/>
              </a:rPr>
              <a:t>✅  SPECIFIC — validity API + regex patterns</a:t>
            </a:r>
            <a:endParaRPr lang="en-US" sz="1000" dirty="0"/>
          </a:p>
        </p:txBody>
      </p:sp>
      <p:sp>
        <p:nvSpPr>
          <p:cNvPr id="7" name="Shape 5"/>
          <p:cNvSpPr/>
          <p:nvPr/>
        </p:nvSpPr>
        <p:spPr>
          <a:xfrm>
            <a:off x="4709160" y="1051560"/>
            <a:ext cx="4160520" cy="2331720"/>
          </a:xfrm>
          <a:prstGeom prst="rect">
            <a:avLst/>
          </a:prstGeom>
          <a:solidFill>
            <a:srgbClr val="0D1321"/>
          </a:solidFill>
          <a:ln/>
        </p:spPr>
      </p:sp>
      <p:sp>
        <p:nvSpPr>
          <p:cNvPr id="8" name="Text 6"/>
          <p:cNvSpPr txBox="1"/>
          <p:nvPr/>
        </p:nvSpPr>
        <p:spPr>
          <a:xfrm>
            <a:off x="4800600" y="1088136"/>
            <a:ext cx="3977640" cy="2258568"/>
          </a:xfrm>
          <a:prstGeom prst="rect">
            <a:avLst/>
          </a:prstGeom>
          <a:noFill/>
          <a:ln/>
        </p:spPr>
        <p:txBody>
          <a:bodyPr wrap="square" lIns="0" tIns="0" rIns="0" bIns="0" rtlCol="0" anchor="t"/>
          <a:lstStyle/>
          <a:p>
            <a:pPr indent="0" marL="0">
              <a:buNone/>
            </a:pPr>
            <a:r>
              <a:rPr lang="en-US" sz="850" dirty="0">
                <a:solidFill>
                  <a:srgbClr val="86EFAC"/>
                </a:solidFill>
                <a:latin typeface="Courier New" pitchFamily="34" charset="0"/>
                <a:ea typeface="Courier New" pitchFamily="34" charset="-122"/>
                <a:cs typeface="Courier New" pitchFamily="34" charset="-120"/>
              </a:rPr>
              <a:t>// Approach 1: HTML5 validity API</a:t>
            </a:r>
            <a:endParaRPr lang="en-US" sz="850" dirty="0"/>
          </a:p>
          <a:p>
            <a:pPr indent="0" marL="0">
              <a:buNone/>
            </a:pPr>
            <a:r>
              <a:rPr lang="en-US" sz="850" dirty="0">
                <a:solidFill>
                  <a:srgbClr val="86EFAC"/>
                </a:solidFill>
                <a:latin typeface="Courier New" pitchFamily="34" charset="0"/>
                <a:ea typeface="Courier New" pitchFamily="34" charset="-122"/>
                <a:cs typeface="Courier New" pitchFamily="34" charset="-120"/>
              </a:rPr>
              <a:t>const email = document.getElementById('v-email');</a:t>
            </a:r>
            <a:endParaRPr lang="en-US" sz="850" dirty="0"/>
          </a:p>
          <a:p>
            <a:pPr indent="0" marL="0">
              <a:buNone/>
            </a:pPr>
            <a:r>
              <a:rPr lang="en-US" sz="850" dirty="0">
                <a:solidFill>
                  <a:srgbClr val="86EFAC"/>
                </a:solidFill>
                <a:latin typeface="Courier New" pitchFamily="34" charset="0"/>
                <a:ea typeface="Courier New" pitchFamily="34" charset="-122"/>
                <a:cs typeface="Courier New" pitchFamily="34" charset="-120"/>
              </a:rPr>
              <a:t>if (email.validity.valueMissing) {</a:t>
            </a:r>
            <a:endParaRPr lang="en-US" sz="850" dirty="0"/>
          </a:p>
          <a:p>
            <a:pPr indent="0" marL="0">
              <a:buNone/>
            </a:pPr>
            <a:r>
              <a:rPr lang="en-US" sz="850" dirty="0">
                <a:solidFill>
                  <a:srgbClr val="86EFAC"/>
                </a:solidFill>
                <a:latin typeface="Courier New" pitchFamily="34" charset="0"/>
                <a:ea typeface="Courier New" pitchFamily="34" charset="-122"/>
                <a:cs typeface="Courier New" pitchFamily="34" charset="-120"/>
              </a:rPr>
              <a:t>  showError(email, 'Email is required');</a:t>
            </a:r>
            <a:endParaRPr lang="en-US" sz="850" dirty="0"/>
          </a:p>
          <a:p>
            <a:pPr indent="0" marL="0">
              <a:buNone/>
            </a:pPr>
            <a:r>
              <a:rPr lang="en-US" sz="850" dirty="0">
                <a:solidFill>
                  <a:srgbClr val="86EFAC"/>
                </a:solidFill>
                <a:latin typeface="Courier New" pitchFamily="34" charset="0"/>
                <a:ea typeface="Courier New" pitchFamily="34" charset="-122"/>
                <a:cs typeface="Courier New" pitchFamily="34" charset="-120"/>
              </a:rPr>
              <a:t>} else if (email.validity.typeMismatch) {</a:t>
            </a:r>
            <a:endParaRPr lang="en-US" sz="850" dirty="0"/>
          </a:p>
          <a:p>
            <a:pPr indent="0" marL="0">
              <a:buNone/>
            </a:pPr>
            <a:r>
              <a:rPr lang="en-US" sz="850" dirty="0">
                <a:solidFill>
                  <a:srgbClr val="86EFAC"/>
                </a:solidFill>
                <a:latin typeface="Courier New" pitchFamily="34" charset="0"/>
                <a:ea typeface="Courier New" pitchFamily="34" charset="-122"/>
                <a:cs typeface="Courier New" pitchFamily="34" charset="-120"/>
              </a:rPr>
              <a:t>  showError(email, 'Enter a valid email');</a:t>
            </a:r>
            <a:endParaRPr lang="en-US" sz="850" dirty="0"/>
          </a:p>
          <a:p>
            <a:pPr indent="0" marL="0">
              <a:buNone/>
            </a:pPr>
            <a:r>
              <a:rPr lang="en-US" sz="850" dirty="0">
                <a:solidFill>
                  <a:srgbClr val="86EFAC"/>
                </a:solidFill>
                <a:latin typeface="Courier New" pitchFamily="34" charset="0"/>
                <a:ea typeface="Courier New" pitchFamily="34" charset="-122"/>
                <a:cs typeface="Courier New" pitchFamily="34" charset="-120"/>
              </a:rPr>
              <a:t>}</a:t>
            </a:r>
            <a:endParaRPr lang="en-US" sz="850" dirty="0"/>
          </a:p>
          <a:p>
            <a:pPr indent="0" marL="0">
              <a:buNone/>
            </a:pPr>
            <a:endParaRPr lang="en-US" sz="850" dirty="0"/>
          </a:p>
          <a:p>
            <a:pPr indent="0" marL="0">
              <a:buNone/>
            </a:pPr>
            <a:r>
              <a:rPr lang="en-US" sz="850" dirty="0">
                <a:solidFill>
                  <a:srgbClr val="86EFAC"/>
                </a:solidFill>
                <a:latin typeface="Courier New" pitchFamily="34" charset="0"/>
                <a:ea typeface="Courier New" pitchFamily="34" charset="-122"/>
                <a:cs typeface="Courier New" pitchFamily="34" charset="-120"/>
              </a:rPr>
              <a:t>// Approach 2: Regex for custom patterns</a:t>
            </a:r>
            <a:endParaRPr lang="en-US" sz="850" dirty="0"/>
          </a:p>
          <a:p>
            <a:pPr indent="0" marL="0">
              <a:buNone/>
            </a:pPr>
            <a:r>
              <a:rPr lang="en-US" sz="850" dirty="0">
                <a:solidFill>
                  <a:srgbClr val="86EFAC"/>
                </a:solidFill>
                <a:latin typeface="Courier New" pitchFamily="34" charset="0"/>
                <a:ea typeface="Courier New" pitchFamily="34" charset="-122"/>
                <a:cs typeface="Courier New" pitchFamily="34" charset="-120"/>
              </a:rPr>
              <a:t>const sid = document.getElementById('sid');</a:t>
            </a:r>
            <a:endParaRPr lang="en-US" sz="850" dirty="0"/>
          </a:p>
          <a:p>
            <a:pPr indent="0" marL="0">
              <a:buNone/>
            </a:pPr>
            <a:r>
              <a:rPr lang="en-US" sz="850" dirty="0">
                <a:solidFill>
                  <a:srgbClr val="86EFAC"/>
                </a:solidFill>
                <a:latin typeface="Courier New" pitchFamily="34" charset="0"/>
                <a:ea typeface="Courier New" pitchFamily="34" charset="-122"/>
                <a:cs typeface="Courier New" pitchFamily="34" charset="-120"/>
              </a:rPr>
              <a:t>if (!/^\d{9}$/.test(sid.value)) {</a:t>
            </a:r>
            <a:endParaRPr lang="en-US" sz="850" dirty="0"/>
          </a:p>
          <a:p>
            <a:pPr indent="0" marL="0">
              <a:buNone/>
            </a:pPr>
            <a:r>
              <a:rPr lang="en-US" sz="850" dirty="0">
                <a:solidFill>
                  <a:srgbClr val="86EFAC"/>
                </a:solidFill>
                <a:latin typeface="Courier New" pitchFamily="34" charset="0"/>
                <a:ea typeface="Courier New" pitchFamily="34" charset="-122"/>
                <a:cs typeface="Courier New" pitchFamily="34" charset="-120"/>
              </a:rPr>
              <a:t>  showError(sid, 'Must be exactly 9 digits');</a:t>
            </a:r>
            <a:endParaRPr lang="en-US" sz="850" dirty="0"/>
          </a:p>
          <a:p>
            <a:pPr indent="0" marL="0">
              <a:buNone/>
            </a:pPr>
            <a:r>
              <a:rPr lang="en-US" sz="850" dirty="0">
                <a:solidFill>
                  <a:srgbClr val="86EFAC"/>
                </a:solidFill>
                <a:latin typeface="Courier New" pitchFamily="34" charset="0"/>
                <a:ea typeface="Courier New" pitchFamily="34" charset="-122"/>
                <a:cs typeface="Courier New" pitchFamily="34" charset="-120"/>
              </a:rPr>
              <a:t>}</a:t>
            </a:r>
            <a:endParaRPr lang="en-US" sz="850" dirty="0"/>
          </a:p>
        </p:txBody>
      </p:sp>
      <p:sp>
        <p:nvSpPr>
          <p:cNvPr id="9" name="Shape 7"/>
          <p:cNvSpPr/>
          <p:nvPr/>
        </p:nvSpPr>
        <p:spPr>
          <a:xfrm>
            <a:off x="274320" y="2542032"/>
            <a:ext cx="4160520" cy="2057400"/>
          </a:xfrm>
          <a:prstGeom prst="rect">
            <a:avLst/>
          </a:prstGeom>
          <a:solidFill>
            <a:srgbClr val="0D1321"/>
          </a:solidFill>
          <a:ln/>
        </p:spPr>
      </p:sp>
      <p:sp>
        <p:nvSpPr>
          <p:cNvPr id="10" name="Text 8"/>
          <p:cNvSpPr txBox="1"/>
          <p:nvPr/>
        </p:nvSpPr>
        <p:spPr>
          <a:xfrm>
            <a:off x="365760" y="2587752"/>
            <a:ext cx="3977640" cy="347472"/>
          </a:xfrm>
          <a:prstGeom prst="rect">
            <a:avLst/>
          </a:prstGeom>
          <a:noFill/>
          <a:ln/>
        </p:spPr>
        <p:txBody>
          <a:bodyPr wrap="square" lIns="0" tIns="0" rIns="0" bIns="0" rtlCol="0" anchor="ctr"/>
          <a:lstStyle/>
          <a:p>
            <a:pPr indent="0" marL="0">
              <a:buNone/>
            </a:pPr>
            <a:r>
              <a:rPr lang="en-US" sz="1000" dirty="0">
                <a:solidFill>
                  <a:srgbClr val="F7DF1E"/>
                </a:solidFill>
                <a:latin typeface="Courier New" pitchFamily="34" charset="0"/>
                <a:ea typeface="Courier New" pitchFamily="34" charset="-122"/>
                <a:cs typeface="Courier New" pitchFamily="34" charset="-120"/>
              </a:rPr>
              <a:t>valueMissing</a:t>
            </a:r>
            <a:pPr indent="0" marL="0">
              <a:buNone/>
            </a:pPr>
            <a:r>
              <a:rPr lang="en-US" sz="1000" dirty="0">
                <a:solidFill>
                  <a:srgbClr val="FFFFFF"/>
                </a:solidFill>
                <a:latin typeface="Calibri" pitchFamily="34" charset="0"/>
                <a:ea typeface="Calibri" pitchFamily="34" charset="-122"/>
                <a:cs typeface="Calibri" pitchFamily="34" charset="-120"/>
              </a:rPr>
              <a:t>  required + empty</a:t>
            </a:r>
            <a:endParaRPr lang="en-US" sz="1000" dirty="0"/>
          </a:p>
        </p:txBody>
      </p:sp>
      <p:sp>
        <p:nvSpPr>
          <p:cNvPr id="11" name="Text 9"/>
          <p:cNvSpPr txBox="1"/>
          <p:nvPr/>
        </p:nvSpPr>
        <p:spPr>
          <a:xfrm>
            <a:off x="365760" y="2971800"/>
            <a:ext cx="3977640" cy="347472"/>
          </a:xfrm>
          <a:prstGeom prst="rect">
            <a:avLst/>
          </a:prstGeom>
          <a:noFill/>
          <a:ln/>
        </p:spPr>
        <p:txBody>
          <a:bodyPr wrap="square" lIns="0" tIns="0" rIns="0" bIns="0" rtlCol="0" anchor="ctr"/>
          <a:lstStyle/>
          <a:p>
            <a:pPr indent="0" marL="0">
              <a:buNone/>
            </a:pPr>
            <a:r>
              <a:rPr lang="en-US" sz="1000" dirty="0">
                <a:solidFill>
                  <a:srgbClr val="F7DF1E"/>
                </a:solidFill>
                <a:latin typeface="Courier New" pitchFamily="34" charset="0"/>
                <a:ea typeface="Courier New" pitchFamily="34" charset="-122"/>
                <a:cs typeface="Courier New" pitchFamily="34" charset="-120"/>
              </a:rPr>
              <a:t>typeMismatch</a:t>
            </a:r>
            <a:pPr indent="0" marL="0">
              <a:buNone/>
            </a:pPr>
            <a:r>
              <a:rPr lang="en-US" sz="1000" dirty="0">
                <a:solidFill>
                  <a:srgbClr val="FFFFFF"/>
                </a:solidFill>
                <a:latin typeface="Calibri" pitchFamily="34" charset="0"/>
                <a:ea typeface="Calibri" pitchFamily="34" charset="-122"/>
                <a:cs typeface="Calibri" pitchFamily="34" charset="-120"/>
              </a:rPr>
              <a:t>  email / url format wrong</a:t>
            </a:r>
            <a:endParaRPr lang="en-US" sz="1000" dirty="0"/>
          </a:p>
        </p:txBody>
      </p:sp>
      <p:sp>
        <p:nvSpPr>
          <p:cNvPr id="12" name="Text 10"/>
          <p:cNvSpPr txBox="1"/>
          <p:nvPr/>
        </p:nvSpPr>
        <p:spPr>
          <a:xfrm>
            <a:off x="365760" y="3355848"/>
            <a:ext cx="3977640" cy="347472"/>
          </a:xfrm>
          <a:prstGeom prst="rect">
            <a:avLst/>
          </a:prstGeom>
          <a:noFill/>
          <a:ln/>
        </p:spPr>
        <p:txBody>
          <a:bodyPr wrap="square" lIns="0" tIns="0" rIns="0" bIns="0" rtlCol="0" anchor="ctr"/>
          <a:lstStyle/>
          <a:p>
            <a:pPr indent="0" marL="0">
              <a:buNone/>
            </a:pPr>
            <a:r>
              <a:rPr lang="en-US" sz="1000" dirty="0">
                <a:solidFill>
                  <a:srgbClr val="F7DF1E"/>
                </a:solidFill>
                <a:latin typeface="Courier New" pitchFamily="34" charset="0"/>
                <a:ea typeface="Courier New" pitchFamily="34" charset="-122"/>
                <a:cs typeface="Courier New" pitchFamily="34" charset="-120"/>
              </a:rPr>
              <a:t>tooShort</a:t>
            </a:r>
            <a:pPr indent="0" marL="0">
              <a:buNone/>
            </a:pPr>
            <a:r>
              <a:rPr lang="en-US" sz="1000" dirty="0">
                <a:solidFill>
                  <a:srgbClr val="FFFFFF"/>
                </a:solidFill>
                <a:latin typeface="Calibri" pitchFamily="34" charset="0"/>
                <a:ea typeface="Calibri" pitchFamily="34" charset="-122"/>
                <a:cs typeface="Calibri" pitchFamily="34" charset="-120"/>
              </a:rPr>
              <a:t>  minlength not met</a:t>
            </a:r>
            <a:endParaRPr lang="en-US" sz="1000" dirty="0"/>
          </a:p>
        </p:txBody>
      </p:sp>
      <p:sp>
        <p:nvSpPr>
          <p:cNvPr id="13" name="Text 11"/>
          <p:cNvSpPr txBox="1"/>
          <p:nvPr/>
        </p:nvSpPr>
        <p:spPr>
          <a:xfrm>
            <a:off x="365760" y="3739896"/>
            <a:ext cx="3977640" cy="347472"/>
          </a:xfrm>
          <a:prstGeom prst="rect">
            <a:avLst/>
          </a:prstGeom>
          <a:noFill/>
          <a:ln/>
        </p:spPr>
        <p:txBody>
          <a:bodyPr wrap="square" lIns="0" tIns="0" rIns="0" bIns="0" rtlCol="0" anchor="ctr"/>
          <a:lstStyle/>
          <a:p>
            <a:pPr indent="0" marL="0">
              <a:buNone/>
            </a:pPr>
            <a:r>
              <a:rPr lang="en-US" sz="1000" dirty="0">
                <a:solidFill>
                  <a:srgbClr val="F7DF1E"/>
                </a:solidFill>
                <a:latin typeface="Courier New" pitchFamily="34" charset="0"/>
                <a:ea typeface="Courier New" pitchFamily="34" charset="-122"/>
                <a:cs typeface="Courier New" pitchFamily="34" charset="-120"/>
              </a:rPr>
              <a:t>patternMismatch</a:t>
            </a:r>
            <a:pPr indent="0" marL="0">
              <a:buNone/>
            </a:pPr>
            <a:r>
              <a:rPr lang="en-US" sz="1000" dirty="0">
                <a:solidFill>
                  <a:srgbClr val="FFFFFF"/>
                </a:solidFill>
                <a:latin typeface="Calibri" pitchFamily="34" charset="0"/>
                <a:ea typeface="Calibri" pitchFamily="34" charset="-122"/>
                <a:cs typeface="Calibri" pitchFamily="34" charset="-120"/>
              </a:rPr>
              <a:t>  pattern regex fails</a:t>
            </a:r>
            <a:endParaRPr lang="en-US" sz="1000" dirty="0"/>
          </a:p>
        </p:txBody>
      </p:sp>
      <p:sp>
        <p:nvSpPr>
          <p:cNvPr id="14" name="Text 12"/>
          <p:cNvSpPr txBox="1"/>
          <p:nvPr/>
        </p:nvSpPr>
        <p:spPr>
          <a:xfrm>
            <a:off x="365760" y="4123944"/>
            <a:ext cx="3977640" cy="347472"/>
          </a:xfrm>
          <a:prstGeom prst="rect">
            <a:avLst/>
          </a:prstGeom>
          <a:noFill/>
          <a:ln/>
        </p:spPr>
        <p:txBody>
          <a:bodyPr wrap="square" lIns="0" tIns="0" rIns="0" bIns="0" rtlCol="0" anchor="ctr"/>
          <a:lstStyle/>
          <a:p>
            <a:pPr indent="0" marL="0">
              <a:buNone/>
            </a:pPr>
            <a:r>
              <a:rPr lang="en-US" sz="1000" dirty="0">
                <a:solidFill>
                  <a:srgbClr val="F7DF1E"/>
                </a:solidFill>
                <a:latin typeface="Courier New" pitchFamily="34" charset="0"/>
                <a:ea typeface="Courier New" pitchFamily="34" charset="-122"/>
                <a:cs typeface="Courier New" pitchFamily="34" charset="-120"/>
              </a:rPr>
              <a:t>rangeUnderflow</a:t>
            </a:r>
            <a:pPr indent="0" marL="0">
              <a:buNone/>
            </a:pPr>
            <a:r>
              <a:rPr lang="en-US" sz="1000" dirty="0">
                <a:solidFill>
                  <a:srgbClr val="FFFFFF"/>
                </a:solidFill>
                <a:latin typeface="Calibri" pitchFamily="34" charset="0"/>
                <a:ea typeface="Calibri" pitchFamily="34" charset="-122"/>
                <a:cs typeface="Calibri" pitchFamily="34" charset="-120"/>
              </a:rPr>
              <a:t>  below min= value</a:t>
            </a:r>
            <a:endParaRPr lang="en-US" sz="1000" dirty="0"/>
          </a:p>
        </p:txBody>
      </p:sp>
      <p:sp>
        <p:nvSpPr>
          <p:cNvPr id="15" name="Text 13"/>
          <p:cNvSpPr txBox="1"/>
          <p:nvPr/>
        </p:nvSpPr>
        <p:spPr>
          <a:xfrm>
            <a:off x="320040" y="4892040"/>
            <a:ext cx="8503920" cy="182880"/>
          </a:xfrm>
          <a:prstGeom prst="rect">
            <a:avLst/>
          </a:prstGeom>
          <a:noFill/>
          <a:ln/>
        </p:spPr>
        <p:txBody>
          <a:bodyPr wrap="square" rtlCol="0" anchor="ctr"/>
          <a:lstStyle/>
          <a:p>
            <a:pPr algn="ctr" indent="0" marL="0">
              <a:buNone/>
            </a:pPr>
            <a:r>
              <a:rPr lang="en-US" sz="800" dirty="0">
                <a:solidFill>
                  <a:srgbClr val="94A3B8"/>
                </a:solidFill>
                <a:latin typeface="Calibri" pitchFamily="34" charset="0"/>
                <a:ea typeface="Calibri" pitchFamily="34" charset="-122"/>
                <a:cs typeface="Calibri" pitchFamily="34" charset="-120"/>
              </a:rPr>
              <a:t>K0126002  ·  Gachon University  ·  2026 Fall  ·  Dr. Toshpulatov</a:t>
            </a:r>
            <a:endParaRPr lang="en-US" sz="8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0D1321"/>
        </a:solidFill>
      </p:bgPr>
    </p:bg>
    <p:spTree>
      <p:nvGrpSpPr>
        <p:cNvPr id="1" name=""/>
        <p:cNvGrpSpPr/>
        <p:nvPr/>
      </p:nvGrpSpPr>
      <p:grpSpPr>
        <a:xfrm>
          <a:off x="0" y="0"/>
          <a:ext cx="0" cy="0"/>
          <a:chOff x="0" y="0"/>
          <a:chExt cx="0" cy="0"/>
        </a:xfrm>
      </p:grpSpPr>
      <p:sp>
        <p:nvSpPr>
          <p:cNvPr id="2" name="Text 0"/>
          <p:cNvSpPr txBox="1"/>
          <p:nvPr/>
        </p:nvSpPr>
        <p:spPr>
          <a:xfrm>
            <a:off x="457200" y="228600"/>
            <a:ext cx="8229600" cy="411480"/>
          </a:xfrm>
          <a:prstGeom prst="rect">
            <a:avLst/>
          </a:prstGeom>
          <a:noFill/>
          <a:ln/>
        </p:spPr>
        <p:txBody>
          <a:bodyPr wrap="square" rtlCol="0" anchor="ctr"/>
          <a:lstStyle/>
          <a:p>
            <a:pPr algn="ctr" indent="0" marL="0">
              <a:buNone/>
            </a:pPr>
            <a:r>
              <a:rPr lang="en-US" sz="2000" b="1" dirty="0">
                <a:solidFill>
                  <a:srgbClr val="F7DF1E"/>
                </a:solidFill>
                <a:latin typeface="Calibri" pitchFamily="34" charset="0"/>
                <a:ea typeface="Calibri" pitchFamily="34" charset="-122"/>
                <a:cs typeface="Calibri" pitchFamily="34" charset="-120"/>
              </a:rPr>
              <a:t>⚡ QUICK QUIZ</a:t>
            </a:r>
            <a:endParaRPr lang="en-US" sz="2000" dirty="0"/>
          </a:p>
        </p:txBody>
      </p:sp>
      <p:sp>
        <p:nvSpPr>
          <p:cNvPr id="3" name="Text 1"/>
          <p:cNvSpPr txBox="1"/>
          <p:nvPr/>
        </p:nvSpPr>
        <p:spPr>
          <a:xfrm>
            <a:off x="457200" y="731520"/>
            <a:ext cx="8229600" cy="640080"/>
          </a:xfrm>
          <a:prstGeom prst="rect">
            <a:avLst/>
          </a:prstGeom>
          <a:noFill/>
          <a:ln/>
        </p:spPr>
        <p:txBody>
          <a:bodyPr wrap="square" rtlCol="0" anchor="ctr"/>
          <a:lstStyle/>
          <a:p>
            <a:pPr algn="ctr" indent="0" marL="0">
              <a:buNone/>
            </a:pPr>
            <a:r>
              <a:rPr lang="en-US" sz="1500" dirty="0">
                <a:solidFill>
                  <a:srgbClr val="FFFFFF"/>
                </a:solidFill>
                <a:latin typeface="Calibri" pitchFamily="34" charset="0"/>
                <a:ea typeface="Calibri" pitchFamily="34" charset="-122"/>
                <a:cs typeface="Calibri" pitchFamily="34" charset="-120"/>
              </a:rPr>
              <a:t>What does event.preventDefault() do when called inside a form's submit handler?</a:t>
            </a:r>
            <a:endParaRPr lang="en-US" sz="1500" dirty="0"/>
          </a:p>
        </p:txBody>
      </p:sp>
      <p:sp>
        <p:nvSpPr>
          <p:cNvPr id="4" name="Shape 2"/>
          <p:cNvSpPr/>
          <p:nvPr/>
        </p:nvSpPr>
        <p:spPr>
          <a:xfrm>
            <a:off x="457200" y="1508760"/>
            <a:ext cx="4023360" cy="777240"/>
          </a:xfrm>
          <a:prstGeom prst="rect">
            <a:avLst/>
          </a:prstGeom>
          <a:solidFill>
            <a:srgbClr val="1E3060"/>
          </a:solidFill>
          <a:ln w="12700">
            <a:solidFill>
              <a:srgbClr val="2D4A8A"/>
            </a:solidFill>
            <a:prstDash val="solid"/>
          </a:ln>
        </p:spPr>
      </p:sp>
      <p:sp>
        <p:nvSpPr>
          <p:cNvPr id="5" name="Text 3"/>
          <p:cNvSpPr txBox="1"/>
          <p:nvPr/>
        </p:nvSpPr>
        <p:spPr>
          <a:xfrm>
            <a:off x="548640" y="1600200"/>
            <a:ext cx="3840480" cy="594360"/>
          </a:xfrm>
          <a:prstGeom prst="rect">
            <a:avLst/>
          </a:prstGeom>
          <a:noFill/>
          <a:ln/>
        </p:spPr>
        <p:txBody>
          <a:bodyPr wrap="square" lIns="0" tIns="0" rIns="0" bIns="0" rtlCol="0" anchor="ctr"/>
          <a:lstStyle/>
          <a:p>
            <a:pPr indent="0" marL="0">
              <a:buNone/>
            </a:pPr>
            <a:r>
              <a:rPr lang="en-US" sz="1300" dirty="0">
                <a:solidFill>
                  <a:srgbClr val="FFFFFF"/>
                </a:solidFill>
                <a:latin typeface="Calibri" pitchFamily="34" charset="0"/>
                <a:ea typeface="Calibri" pitchFamily="34" charset="-122"/>
                <a:cs typeface="Calibri" pitchFamily="34" charset="-120"/>
              </a:rPr>
              <a:t>A   Deletes the form data</a:t>
            </a:r>
            <a:endParaRPr lang="en-US" sz="1300" dirty="0"/>
          </a:p>
        </p:txBody>
      </p:sp>
      <p:sp>
        <p:nvSpPr>
          <p:cNvPr id="6" name="Shape 4"/>
          <p:cNvSpPr/>
          <p:nvPr/>
        </p:nvSpPr>
        <p:spPr>
          <a:xfrm>
            <a:off x="4800600" y="1508760"/>
            <a:ext cx="4023360" cy="777240"/>
          </a:xfrm>
          <a:prstGeom prst="rect">
            <a:avLst/>
          </a:prstGeom>
          <a:solidFill>
            <a:srgbClr val="1E3060"/>
          </a:solidFill>
          <a:ln w="12700">
            <a:solidFill>
              <a:srgbClr val="2D4A8A"/>
            </a:solidFill>
            <a:prstDash val="solid"/>
          </a:ln>
        </p:spPr>
      </p:sp>
      <p:sp>
        <p:nvSpPr>
          <p:cNvPr id="7" name="Text 5"/>
          <p:cNvSpPr txBox="1"/>
          <p:nvPr/>
        </p:nvSpPr>
        <p:spPr>
          <a:xfrm>
            <a:off x="4892040" y="1600200"/>
            <a:ext cx="3840480" cy="594360"/>
          </a:xfrm>
          <a:prstGeom prst="rect">
            <a:avLst/>
          </a:prstGeom>
          <a:noFill/>
          <a:ln/>
        </p:spPr>
        <p:txBody>
          <a:bodyPr wrap="square" lIns="0" tIns="0" rIns="0" bIns="0" rtlCol="0" anchor="ctr"/>
          <a:lstStyle/>
          <a:p>
            <a:pPr indent="0" marL="0">
              <a:buNone/>
            </a:pPr>
            <a:r>
              <a:rPr lang="en-US" sz="1300" dirty="0">
                <a:solidFill>
                  <a:srgbClr val="FFFFFF"/>
                </a:solidFill>
                <a:latin typeface="Calibri" pitchFamily="34" charset="0"/>
                <a:ea typeface="Calibri" pitchFamily="34" charset="-122"/>
                <a:cs typeface="Calibri" pitchFamily="34" charset="-120"/>
              </a:rPr>
              <a:t>B   Stops the form from reloading the page</a:t>
            </a:r>
            <a:endParaRPr lang="en-US" sz="1300" dirty="0"/>
          </a:p>
        </p:txBody>
      </p:sp>
      <p:sp>
        <p:nvSpPr>
          <p:cNvPr id="8" name="Shape 6"/>
          <p:cNvSpPr/>
          <p:nvPr/>
        </p:nvSpPr>
        <p:spPr>
          <a:xfrm>
            <a:off x="457200" y="2468880"/>
            <a:ext cx="4023360" cy="777240"/>
          </a:xfrm>
          <a:prstGeom prst="rect">
            <a:avLst/>
          </a:prstGeom>
          <a:solidFill>
            <a:srgbClr val="1E3060"/>
          </a:solidFill>
          <a:ln w="12700">
            <a:solidFill>
              <a:srgbClr val="2D4A8A"/>
            </a:solidFill>
            <a:prstDash val="solid"/>
          </a:ln>
        </p:spPr>
      </p:sp>
      <p:sp>
        <p:nvSpPr>
          <p:cNvPr id="9" name="Text 7"/>
          <p:cNvSpPr txBox="1"/>
          <p:nvPr/>
        </p:nvSpPr>
        <p:spPr>
          <a:xfrm>
            <a:off x="548640" y="2560320"/>
            <a:ext cx="3840480" cy="594360"/>
          </a:xfrm>
          <a:prstGeom prst="rect">
            <a:avLst/>
          </a:prstGeom>
          <a:noFill/>
          <a:ln/>
        </p:spPr>
        <p:txBody>
          <a:bodyPr wrap="square" lIns="0" tIns="0" rIns="0" bIns="0" rtlCol="0" anchor="ctr"/>
          <a:lstStyle/>
          <a:p>
            <a:pPr indent="0" marL="0">
              <a:buNone/>
            </a:pPr>
            <a:r>
              <a:rPr lang="en-US" sz="1300" dirty="0">
                <a:solidFill>
                  <a:srgbClr val="FFFFFF"/>
                </a:solidFill>
                <a:latin typeface="Calibri" pitchFamily="34" charset="0"/>
                <a:ea typeface="Calibri" pitchFamily="34" charset="-122"/>
                <a:cs typeface="Calibri" pitchFamily="34" charset="-120"/>
              </a:rPr>
              <a:t>C   Validates all fields automatically</a:t>
            </a:r>
            <a:endParaRPr lang="en-US" sz="1300" dirty="0"/>
          </a:p>
        </p:txBody>
      </p:sp>
      <p:sp>
        <p:nvSpPr>
          <p:cNvPr id="10" name="Shape 8"/>
          <p:cNvSpPr/>
          <p:nvPr/>
        </p:nvSpPr>
        <p:spPr>
          <a:xfrm>
            <a:off x="4800600" y="2468880"/>
            <a:ext cx="4023360" cy="777240"/>
          </a:xfrm>
          <a:prstGeom prst="rect">
            <a:avLst/>
          </a:prstGeom>
          <a:solidFill>
            <a:srgbClr val="1E3060"/>
          </a:solidFill>
          <a:ln w="12700">
            <a:solidFill>
              <a:srgbClr val="2D4A8A"/>
            </a:solidFill>
            <a:prstDash val="solid"/>
          </a:ln>
        </p:spPr>
      </p:sp>
      <p:sp>
        <p:nvSpPr>
          <p:cNvPr id="11" name="Text 9"/>
          <p:cNvSpPr txBox="1"/>
          <p:nvPr/>
        </p:nvSpPr>
        <p:spPr>
          <a:xfrm>
            <a:off x="4892040" y="2560320"/>
            <a:ext cx="3840480" cy="594360"/>
          </a:xfrm>
          <a:prstGeom prst="rect">
            <a:avLst/>
          </a:prstGeom>
          <a:noFill/>
          <a:ln/>
        </p:spPr>
        <p:txBody>
          <a:bodyPr wrap="square" lIns="0" tIns="0" rIns="0" bIns="0" rtlCol="0" anchor="ctr"/>
          <a:lstStyle/>
          <a:p>
            <a:pPr indent="0" marL="0">
              <a:buNone/>
            </a:pPr>
            <a:r>
              <a:rPr lang="en-US" sz="1300" dirty="0">
                <a:solidFill>
                  <a:srgbClr val="FFFFFF"/>
                </a:solidFill>
                <a:latin typeface="Calibri" pitchFamily="34" charset="0"/>
                <a:ea typeface="Calibri" pitchFamily="34" charset="-122"/>
                <a:cs typeface="Calibri" pitchFamily="34" charset="-120"/>
              </a:rPr>
              <a:t>D   Hides the form</a:t>
            </a:r>
            <a:endParaRPr lang="en-US" sz="1300" dirty="0"/>
          </a:p>
        </p:txBody>
      </p:sp>
      <p:sp>
        <p:nvSpPr>
          <p:cNvPr id="12" name="Text 10"/>
          <p:cNvSpPr txBox="1"/>
          <p:nvPr/>
        </p:nvSpPr>
        <p:spPr>
          <a:xfrm>
            <a:off x="457200" y="4434840"/>
            <a:ext cx="8229600" cy="320040"/>
          </a:xfrm>
          <a:prstGeom prst="rect">
            <a:avLst/>
          </a:prstGeom>
          <a:noFill/>
          <a:ln/>
        </p:spPr>
        <p:txBody>
          <a:bodyPr wrap="square" rtlCol="0" anchor="ctr"/>
          <a:lstStyle/>
          <a:p>
            <a:pPr algn="ctr" indent="0" marL="0">
              <a:buNone/>
            </a:pPr>
            <a:r>
              <a:rPr lang="en-US" sz="1100" dirty="0">
                <a:solidFill>
                  <a:srgbClr val="94A3B8"/>
                </a:solidFill>
                <a:latin typeface="Calibri" pitchFamily="34" charset="0"/>
                <a:ea typeface="Calibri" pitchFamily="34" charset="-122"/>
                <a:cs typeface="Calibri" pitchFamily="34" charset="-120"/>
              </a:rPr>
              <a:t>💬 Discuss with your neighbor — then we'll reveal the answer!</a:t>
            </a:r>
            <a:endParaRPr lang="en-US" sz="11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0D1321"/>
        </a:solidFill>
      </p:bgPr>
    </p:bg>
    <p:spTree>
      <p:nvGrpSpPr>
        <p:cNvPr id="1" name=""/>
        <p:cNvGrpSpPr/>
        <p:nvPr/>
      </p:nvGrpSpPr>
      <p:grpSpPr>
        <a:xfrm>
          <a:off x="0" y="0"/>
          <a:ext cx="0" cy="0"/>
          <a:chOff x="0" y="0"/>
          <a:chExt cx="0" cy="0"/>
        </a:xfrm>
      </p:grpSpPr>
      <p:sp>
        <p:nvSpPr>
          <p:cNvPr id="2" name="Text 0"/>
          <p:cNvSpPr txBox="1"/>
          <p:nvPr/>
        </p:nvSpPr>
        <p:spPr>
          <a:xfrm>
            <a:off x="457200" y="228600"/>
            <a:ext cx="8229600" cy="411480"/>
          </a:xfrm>
          <a:prstGeom prst="rect">
            <a:avLst/>
          </a:prstGeom>
          <a:noFill/>
          <a:ln/>
        </p:spPr>
        <p:txBody>
          <a:bodyPr wrap="square" rtlCol="0" anchor="ctr"/>
          <a:lstStyle/>
          <a:p>
            <a:pPr algn="ctr" indent="0" marL="0">
              <a:buNone/>
            </a:pPr>
            <a:r>
              <a:rPr lang="en-US" sz="2000" b="1" dirty="0">
                <a:solidFill>
                  <a:srgbClr val="86EFAC"/>
                </a:solidFill>
                <a:latin typeface="Calibri" pitchFamily="34" charset="0"/>
                <a:ea typeface="Calibri" pitchFamily="34" charset="-122"/>
                <a:cs typeface="Calibri" pitchFamily="34" charset="-120"/>
              </a:rPr>
              <a:t>✅ ANSWER</a:t>
            </a:r>
            <a:endParaRPr lang="en-US" sz="2000" dirty="0"/>
          </a:p>
        </p:txBody>
      </p:sp>
      <p:sp>
        <p:nvSpPr>
          <p:cNvPr id="3" name="Text 1"/>
          <p:cNvSpPr txBox="1"/>
          <p:nvPr/>
        </p:nvSpPr>
        <p:spPr>
          <a:xfrm>
            <a:off x="457200" y="731520"/>
            <a:ext cx="8229600" cy="548640"/>
          </a:xfrm>
          <a:prstGeom prst="rect">
            <a:avLst/>
          </a:prstGeom>
          <a:noFill/>
          <a:ln/>
        </p:spPr>
        <p:txBody>
          <a:bodyPr wrap="square" rtlCol="0" anchor="ctr"/>
          <a:lstStyle/>
          <a:p>
            <a:pPr algn="ctr" indent="0" marL="0">
              <a:buNone/>
            </a:pPr>
            <a:r>
              <a:rPr lang="en-US" sz="1400" dirty="0">
                <a:solidFill>
                  <a:srgbClr val="FFFFFF"/>
                </a:solidFill>
                <a:latin typeface="Calibri" pitchFamily="34" charset="0"/>
                <a:ea typeface="Calibri" pitchFamily="34" charset="-122"/>
                <a:cs typeface="Calibri" pitchFamily="34" charset="-120"/>
              </a:rPr>
              <a:t>What does event.preventDefault() do when called inside a form's submit handler?</a:t>
            </a:r>
            <a:endParaRPr lang="en-US" sz="1400" dirty="0"/>
          </a:p>
        </p:txBody>
      </p:sp>
      <p:sp>
        <p:nvSpPr>
          <p:cNvPr id="4" name="Shape 2"/>
          <p:cNvSpPr/>
          <p:nvPr/>
        </p:nvSpPr>
        <p:spPr>
          <a:xfrm>
            <a:off x="457200" y="1417320"/>
            <a:ext cx="4023360" cy="731520"/>
          </a:xfrm>
          <a:prstGeom prst="rect">
            <a:avLst/>
          </a:prstGeom>
          <a:solidFill>
            <a:srgbClr val="1E3060"/>
          </a:solidFill>
          <a:ln w="12700">
            <a:solidFill>
              <a:srgbClr val="2D4A8A"/>
            </a:solidFill>
            <a:prstDash val="solid"/>
          </a:ln>
        </p:spPr>
      </p:sp>
      <p:sp>
        <p:nvSpPr>
          <p:cNvPr id="5" name="Text 3"/>
          <p:cNvSpPr txBox="1"/>
          <p:nvPr/>
        </p:nvSpPr>
        <p:spPr>
          <a:xfrm>
            <a:off x="548640" y="1490472"/>
            <a:ext cx="3840480" cy="585216"/>
          </a:xfrm>
          <a:prstGeom prst="rect">
            <a:avLst/>
          </a:prstGeom>
          <a:noFill/>
          <a:ln/>
        </p:spPr>
        <p:txBody>
          <a:bodyPr wrap="square" lIns="0" tIns="0" rIns="0" bIns="0" rtlCol="0" anchor="ctr"/>
          <a:lstStyle/>
          <a:p>
            <a:pPr indent="0" marL="0">
              <a:buNone/>
            </a:pPr>
            <a:r>
              <a:rPr lang="en-US" sz="1300" dirty="0">
                <a:solidFill>
                  <a:srgbClr val="94A3B8"/>
                </a:solidFill>
                <a:latin typeface="Calibri" pitchFamily="34" charset="0"/>
                <a:ea typeface="Calibri" pitchFamily="34" charset="-122"/>
                <a:cs typeface="Calibri" pitchFamily="34" charset="-120"/>
              </a:rPr>
              <a:t>A   Deletes the form data</a:t>
            </a:r>
            <a:endParaRPr lang="en-US" sz="1300" dirty="0"/>
          </a:p>
        </p:txBody>
      </p:sp>
      <p:sp>
        <p:nvSpPr>
          <p:cNvPr id="6" name="Shape 4"/>
          <p:cNvSpPr/>
          <p:nvPr/>
        </p:nvSpPr>
        <p:spPr>
          <a:xfrm>
            <a:off x="4800600" y="1417320"/>
            <a:ext cx="4023360" cy="731520"/>
          </a:xfrm>
          <a:prstGeom prst="rect">
            <a:avLst/>
          </a:prstGeom>
          <a:solidFill>
            <a:srgbClr val="1A5C30"/>
          </a:solidFill>
          <a:ln w="25400">
            <a:solidFill>
              <a:srgbClr val="86EFAC"/>
            </a:solidFill>
            <a:prstDash val="solid"/>
          </a:ln>
        </p:spPr>
      </p:sp>
      <p:sp>
        <p:nvSpPr>
          <p:cNvPr id="7" name="Text 5"/>
          <p:cNvSpPr txBox="1"/>
          <p:nvPr/>
        </p:nvSpPr>
        <p:spPr>
          <a:xfrm>
            <a:off x="4892040" y="1490472"/>
            <a:ext cx="3840480" cy="585216"/>
          </a:xfrm>
          <a:prstGeom prst="rect">
            <a:avLst/>
          </a:prstGeom>
          <a:noFill/>
          <a:ln/>
        </p:spPr>
        <p:txBody>
          <a:bodyPr wrap="square" lIns="0" tIns="0" rIns="0" bIns="0" rtlCol="0" anchor="ctr"/>
          <a:lstStyle/>
          <a:p>
            <a:pPr indent="0" marL="0">
              <a:buNone/>
            </a:pPr>
            <a:r>
              <a:rPr lang="en-US" sz="1300" b="1" dirty="0">
                <a:solidFill>
                  <a:srgbClr val="86EFAC"/>
                </a:solidFill>
                <a:latin typeface="Calibri" pitchFamily="34" charset="0"/>
                <a:ea typeface="Calibri" pitchFamily="34" charset="-122"/>
                <a:cs typeface="Calibri" pitchFamily="34" charset="-120"/>
              </a:rPr>
              <a:t>B   Stops the form from reloading the page</a:t>
            </a:r>
            <a:endParaRPr lang="en-US" sz="1300" dirty="0"/>
          </a:p>
        </p:txBody>
      </p:sp>
      <p:sp>
        <p:nvSpPr>
          <p:cNvPr id="8" name="Shape 6"/>
          <p:cNvSpPr/>
          <p:nvPr/>
        </p:nvSpPr>
        <p:spPr>
          <a:xfrm>
            <a:off x="457200" y="2286000"/>
            <a:ext cx="4023360" cy="731520"/>
          </a:xfrm>
          <a:prstGeom prst="rect">
            <a:avLst/>
          </a:prstGeom>
          <a:solidFill>
            <a:srgbClr val="1E3060"/>
          </a:solidFill>
          <a:ln w="12700">
            <a:solidFill>
              <a:srgbClr val="2D4A8A"/>
            </a:solidFill>
            <a:prstDash val="solid"/>
          </a:ln>
        </p:spPr>
      </p:sp>
      <p:sp>
        <p:nvSpPr>
          <p:cNvPr id="9" name="Text 7"/>
          <p:cNvSpPr txBox="1"/>
          <p:nvPr/>
        </p:nvSpPr>
        <p:spPr>
          <a:xfrm>
            <a:off x="548640" y="2359152"/>
            <a:ext cx="3840480" cy="585216"/>
          </a:xfrm>
          <a:prstGeom prst="rect">
            <a:avLst/>
          </a:prstGeom>
          <a:noFill/>
          <a:ln/>
        </p:spPr>
        <p:txBody>
          <a:bodyPr wrap="square" lIns="0" tIns="0" rIns="0" bIns="0" rtlCol="0" anchor="ctr"/>
          <a:lstStyle/>
          <a:p>
            <a:pPr indent="0" marL="0">
              <a:buNone/>
            </a:pPr>
            <a:r>
              <a:rPr lang="en-US" sz="1300" dirty="0">
                <a:solidFill>
                  <a:srgbClr val="94A3B8"/>
                </a:solidFill>
                <a:latin typeface="Calibri" pitchFamily="34" charset="0"/>
                <a:ea typeface="Calibri" pitchFamily="34" charset="-122"/>
                <a:cs typeface="Calibri" pitchFamily="34" charset="-120"/>
              </a:rPr>
              <a:t>C   Validates all fields automatically</a:t>
            </a:r>
            <a:endParaRPr lang="en-US" sz="1300" dirty="0"/>
          </a:p>
        </p:txBody>
      </p:sp>
      <p:sp>
        <p:nvSpPr>
          <p:cNvPr id="10" name="Shape 8"/>
          <p:cNvSpPr/>
          <p:nvPr/>
        </p:nvSpPr>
        <p:spPr>
          <a:xfrm>
            <a:off x="4800600" y="2286000"/>
            <a:ext cx="4023360" cy="731520"/>
          </a:xfrm>
          <a:prstGeom prst="rect">
            <a:avLst/>
          </a:prstGeom>
          <a:solidFill>
            <a:srgbClr val="1E3060"/>
          </a:solidFill>
          <a:ln w="12700">
            <a:solidFill>
              <a:srgbClr val="2D4A8A"/>
            </a:solidFill>
            <a:prstDash val="solid"/>
          </a:ln>
        </p:spPr>
      </p:sp>
      <p:sp>
        <p:nvSpPr>
          <p:cNvPr id="11" name="Text 9"/>
          <p:cNvSpPr txBox="1"/>
          <p:nvPr/>
        </p:nvSpPr>
        <p:spPr>
          <a:xfrm>
            <a:off x="4892040" y="2359152"/>
            <a:ext cx="3840480" cy="585216"/>
          </a:xfrm>
          <a:prstGeom prst="rect">
            <a:avLst/>
          </a:prstGeom>
          <a:noFill/>
          <a:ln/>
        </p:spPr>
        <p:txBody>
          <a:bodyPr wrap="square" lIns="0" tIns="0" rIns="0" bIns="0" rtlCol="0" anchor="ctr"/>
          <a:lstStyle/>
          <a:p>
            <a:pPr indent="0" marL="0">
              <a:buNone/>
            </a:pPr>
            <a:r>
              <a:rPr lang="en-US" sz="1300" dirty="0">
                <a:solidFill>
                  <a:srgbClr val="94A3B8"/>
                </a:solidFill>
                <a:latin typeface="Calibri" pitchFamily="34" charset="0"/>
                <a:ea typeface="Calibri" pitchFamily="34" charset="-122"/>
                <a:cs typeface="Calibri" pitchFamily="34" charset="-120"/>
              </a:rPr>
              <a:t>D   Hides the form</a:t>
            </a:r>
            <a:endParaRPr lang="en-US" sz="1300" dirty="0"/>
          </a:p>
        </p:txBody>
      </p:sp>
      <p:sp>
        <p:nvSpPr>
          <p:cNvPr id="12" name="Shape 10"/>
          <p:cNvSpPr/>
          <p:nvPr/>
        </p:nvSpPr>
        <p:spPr>
          <a:xfrm>
            <a:off x="320040" y="3246120"/>
            <a:ext cx="8503920" cy="1600200"/>
          </a:xfrm>
          <a:prstGeom prst="rect">
            <a:avLst/>
          </a:prstGeom>
          <a:solidFill>
            <a:srgbClr val="152035"/>
          </a:solidFill>
          <a:ln/>
        </p:spPr>
      </p:sp>
      <p:sp>
        <p:nvSpPr>
          <p:cNvPr id="13" name="Text 11"/>
          <p:cNvSpPr txBox="1"/>
          <p:nvPr/>
        </p:nvSpPr>
        <p:spPr>
          <a:xfrm>
            <a:off x="457200" y="3310128"/>
            <a:ext cx="8229600" cy="1463040"/>
          </a:xfrm>
          <a:prstGeom prst="rect">
            <a:avLst/>
          </a:prstGeom>
          <a:noFill/>
          <a:ln/>
        </p:spPr>
        <p:txBody>
          <a:bodyPr wrap="square" lIns="0" tIns="0" rIns="0" bIns="0" rtlCol="0" anchor="t"/>
          <a:lstStyle/>
          <a:p>
            <a:pPr indent="0" marL="0">
              <a:buNone/>
            </a:pPr>
            <a:r>
              <a:rPr lang="en-US" sz="1200" dirty="0">
                <a:solidFill>
                  <a:srgbClr val="FFFFFF"/>
                </a:solidFill>
                <a:latin typeface="Calibri" pitchFamily="34" charset="0"/>
                <a:ea typeface="Calibri" pitchFamily="34" charset="-122"/>
                <a:cs typeface="Calibri" pitchFamily="34" charset="-120"/>
              </a:rPr>
              <a:t>It cancels the default browser action (page reload + HTTP request), letting your JS handle submission instead. Without it, the page reloads before your JS validation code ever runs — so your checks are bypassed entirely.</a:t>
            </a:r>
            <a:endParaRPr lang="en-US" sz="12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1A2540"/>
        </a:solidFill>
      </p:bgPr>
    </p:bg>
    <p:spTree>
      <p:nvGrpSpPr>
        <p:cNvPr id="1" name=""/>
        <p:cNvGrpSpPr/>
        <p:nvPr/>
      </p:nvGrpSpPr>
      <p:grpSpPr>
        <a:xfrm>
          <a:off x="0" y="0"/>
          <a:ext cx="0" cy="0"/>
          <a:chOff x="0" y="0"/>
          <a:chExt cx="0" cy="0"/>
        </a:xfrm>
      </p:grpSpPr>
      <p:sp>
        <p:nvSpPr>
          <p:cNvPr id="2" name="Text 0"/>
          <p:cNvSpPr txBox="1"/>
          <p:nvPr/>
        </p:nvSpPr>
        <p:spPr>
          <a:xfrm>
            <a:off x="320040" y="182880"/>
            <a:ext cx="8503920" cy="475488"/>
          </a:xfrm>
          <a:prstGeom prst="rect">
            <a:avLst/>
          </a:prstGeom>
          <a:noFill/>
          <a:ln/>
        </p:spPr>
        <p:txBody>
          <a:bodyPr wrap="square" rtlCol="0" anchor="ctr"/>
          <a:lstStyle/>
          <a:p>
            <a:pPr indent="0" marL="0">
              <a:buNone/>
            </a:pPr>
            <a:r>
              <a:rPr lang="en-US" sz="2600" b="1" dirty="0">
                <a:solidFill>
                  <a:srgbClr val="F7DF1E"/>
                </a:solidFill>
                <a:latin typeface="Cambria" pitchFamily="34" charset="0"/>
                <a:ea typeface="Cambria" pitchFamily="34" charset="-122"/>
                <a:cs typeface="Cambria" pitchFamily="34" charset="-120"/>
              </a:rPr>
              <a:t>Error Messages + ARIA Accessibility</a:t>
            </a:r>
            <a:endParaRPr lang="en-US" sz="2600" dirty="0"/>
          </a:p>
        </p:txBody>
      </p:sp>
      <p:sp>
        <p:nvSpPr>
          <p:cNvPr id="3" name="Text 1"/>
          <p:cNvSpPr txBox="1"/>
          <p:nvPr/>
        </p:nvSpPr>
        <p:spPr>
          <a:xfrm>
            <a:off x="274320" y="777240"/>
            <a:ext cx="4160520" cy="256032"/>
          </a:xfrm>
          <a:prstGeom prst="rect">
            <a:avLst/>
          </a:prstGeom>
          <a:noFill/>
          <a:ln/>
        </p:spPr>
        <p:txBody>
          <a:bodyPr wrap="square" lIns="0" tIns="0" rIns="0" bIns="0" rtlCol="0" anchor="ctr"/>
          <a:lstStyle/>
          <a:p>
            <a:pPr indent="0" marL="0">
              <a:buNone/>
            </a:pPr>
            <a:r>
              <a:rPr lang="en-US" sz="1000" b="1" dirty="0">
                <a:solidFill>
                  <a:srgbClr val="FCA5A5"/>
                </a:solidFill>
                <a:latin typeface="Calibri" pitchFamily="34" charset="0"/>
                <a:ea typeface="Calibri" pitchFamily="34" charset="-122"/>
                <a:cs typeface="Calibri" pitchFamily="34" charset="-120"/>
              </a:rPr>
              <a:t>❌  WITHOUT ARIA — inaccessible</a:t>
            </a:r>
            <a:endParaRPr lang="en-US" sz="1000" dirty="0"/>
          </a:p>
        </p:txBody>
      </p:sp>
      <p:sp>
        <p:nvSpPr>
          <p:cNvPr id="4" name="Shape 2"/>
          <p:cNvSpPr/>
          <p:nvPr/>
        </p:nvSpPr>
        <p:spPr>
          <a:xfrm>
            <a:off x="274320" y="1051560"/>
            <a:ext cx="4160520" cy="2103120"/>
          </a:xfrm>
          <a:prstGeom prst="rect">
            <a:avLst/>
          </a:prstGeom>
          <a:solidFill>
            <a:srgbClr val="0D1321"/>
          </a:solidFill>
          <a:ln/>
        </p:spPr>
      </p:sp>
      <p:sp>
        <p:nvSpPr>
          <p:cNvPr id="5" name="Text 3"/>
          <p:cNvSpPr txBox="1"/>
          <p:nvPr/>
        </p:nvSpPr>
        <p:spPr>
          <a:xfrm>
            <a:off x="365760" y="1088136"/>
            <a:ext cx="3977640" cy="2029968"/>
          </a:xfrm>
          <a:prstGeom prst="rect">
            <a:avLst/>
          </a:prstGeom>
          <a:noFill/>
          <a:ln/>
        </p:spPr>
        <p:txBody>
          <a:bodyPr wrap="square" lIns="0" tIns="0" rIns="0" bIns="0" rtlCol="0" anchor="t"/>
          <a:lstStyle/>
          <a:p>
            <a:pPr indent="0" marL="0">
              <a:buNone/>
            </a:pPr>
            <a:r>
              <a:rPr lang="en-US" sz="850" dirty="0">
                <a:solidFill>
                  <a:srgbClr val="FCA5A5"/>
                </a:solidFill>
                <a:latin typeface="Courier New" pitchFamily="34" charset="0"/>
                <a:ea typeface="Courier New" pitchFamily="34" charset="-122"/>
                <a:cs typeface="Courier New" pitchFamily="34" charset="-120"/>
              </a:rPr>
              <a:t>&lt;label for="sid"&gt;Student ID&lt;/label&gt;</a:t>
            </a:r>
            <a:endParaRPr lang="en-US" sz="850" dirty="0"/>
          </a:p>
          <a:p>
            <a:pPr indent="0" marL="0">
              <a:buNone/>
            </a:pPr>
            <a:r>
              <a:rPr lang="en-US" sz="850" dirty="0">
                <a:solidFill>
                  <a:srgbClr val="FCA5A5"/>
                </a:solidFill>
                <a:latin typeface="Courier New" pitchFamily="34" charset="0"/>
                <a:ea typeface="Courier New" pitchFamily="34" charset="-122"/>
                <a:cs typeface="Courier New" pitchFamily="34" charset="-120"/>
              </a:rPr>
              <a:t>&lt;input type="text" id="sid"&gt;</a:t>
            </a:r>
            <a:endParaRPr lang="en-US" sz="850" dirty="0"/>
          </a:p>
          <a:p>
            <a:pPr indent="0" marL="0">
              <a:buNone/>
            </a:pPr>
            <a:r>
              <a:rPr lang="en-US" sz="850" dirty="0">
                <a:solidFill>
                  <a:srgbClr val="FCA5A5"/>
                </a:solidFill>
                <a:latin typeface="Courier New" pitchFamily="34" charset="0"/>
                <a:ea typeface="Courier New" pitchFamily="34" charset="-122"/>
                <a:cs typeface="Courier New" pitchFamily="34" charset="-120"/>
              </a:rPr>
              <a:t>&lt;!-- Error with no ARIA link — screen</a:t>
            </a:r>
            <a:endParaRPr lang="en-US" sz="850" dirty="0"/>
          </a:p>
          <a:p>
            <a:pPr indent="0" marL="0">
              <a:buNone/>
            </a:pPr>
            <a:r>
              <a:rPr lang="en-US" sz="850" dirty="0">
                <a:solidFill>
                  <a:srgbClr val="FCA5A5"/>
                </a:solidFill>
                <a:latin typeface="Courier New" pitchFamily="34" charset="0"/>
                <a:ea typeface="Courier New" pitchFamily="34" charset="-122"/>
                <a:cs typeface="Courier New" pitchFamily="34" charset="-120"/>
              </a:rPr>
              <a:t>     readers cannot find this message --&gt;</a:t>
            </a:r>
            <a:endParaRPr lang="en-US" sz="850" dirty="0"/>
          </a:p>
          <a:p>
            <a:pPr indent="0" marL="0">
              <a:buNone/>
            </a:pPr>
            <a:r>
              <a:rPr lang="en-US" sz="850" dirty="0">
                <a:solidFill>
                  <a:srgbClr val="FCA5A5"/>
                </a:solidFill>
                <a:latin typeface="Courier New" pitchFamily="34" charset="0"/>
                <a:ea typeface="Courier New" pitchFamily="34" charset="-122"/>
                <a:cs typeface="Courier New" pitchFamily="34" charset="-120"/>
              </a:rPr>
              <a:t>&lt;p class="err" id="err-sid"&gt;</a:t>
            </a:r>
            <a:endParaRPr lang="en-US" sz="850" dirty="0"/>
          </a:p>
          <a:p>
            <a:pPr indent="0" marL="0">
              <a:buNone/>
            </a:pPr>
            <a:r>
              <a:rPr lang="en-US" sz="850" dirty="0">
                <a:solidFill>
                  <a:srgbClr val="FCA5A5"/>
                </a:solidFill>
                <a:latin typeface="Courier New" pitchFamily="34" charset="0"/>
                <a:ea typeface="Courier New" pitchFamily="34" charset="-122"/>
                <a:cs typeface="Courier New" pitchFamily="34" charset="-120"/>
              </a:rPr>
              <a:t>  Must be 9 digits</a:t>
            </a:r>
            <a:endParaRPr lang="en-US" sz="850" dirty="0"/>
          </a:p>
          <a:p>
            <a:pPr indent="0" marL="0">
              <a:buNone/>
            </a:pPr>
            <a:r>
              <a:rPr lang="en-US" sz="850" dirty="0">
                <a:solidFill>
                  <a:srgbClr val="FCA5A5"/>
                </a:solidFill>
                <a:latin typeface="Courier New" pitchFamily="34" charset="0"/>
                <a:ea typeface="Courier New" pitchFamily="34" charset="-122"/>
                <a:cs typeface="Courier New" pitchFamily="34" charset="-120"/>
              </a:rPr>
              <a:t>&lt;/p&gt;</a:t>
            </a:r>
            <a:endParaRPr lang="en-US" sz="850" dirty="0"/>
          </a:p>
        </p:txBody>
      </p:sp>
      <p:sp>
        <p:nvSpPr>
          <p:cNvPr id="6" name="Text 4"/>
          <p:cNvSpPr txBox="1"/>
          <p:nvPr/>
        </p:nvSpPr>
        <p:spPr>
          <a:xfrm>
            <a:off x="4709160" y="777240"/>
            <a:ext cx="4160520" cy="256032"/>
          </a:xfrm>
          <a:prstGeom prst="rect">
            <a:avLst/>
          </a:prstGeom>
          <a:noFill/>
          <a:ln/>
        </p:spPr>
        <p:txBody>
          <a:bodyPr wrap="square" lIns="0" tIns="0" rIns="0" bIns="0" rtlCol="0" anchor="ctr"/>
          <a:lstStyle/>
          <a:p>
            <a:pPr indent="0" marL="0">
              <a:buNone/>
            </a:pPr>
            <a:r>
              <a:rPr lang="en-US" sz="1000" b="1" dirty="0">
                <a:solidFill>
                  <a:srgbClr val="86EFAC"/>
                </a:solidFill>
                <a:latin typeface="Calibri" pitchFamily="34" charset="0"/>
                <a:ea typeface="Calibri" pitchFamily="34" charset="-122"/>
                <a:cs typeface="Calibri" pitchFamily="34" charset="-120"/>
              </a:rPr>
              <a:t>✅  WITH ARIA — screen reader friendly</a:t>
            </a:r>
            <a:endParaRPr lang="en-US" sz="1000" dirty="0"/>
          </a:p>
        </p:txBody>
      </p:sp>
      <p:sp>
        <p:nvSpPr>
          <p:cNvPr id="7" name="Shape 5"/>
          <p:cNvSpPr/>
          <p:nvPr/>
        </p:nvSpPr>
        <p:spPr>
          <a:xfrm>
            <a:off x="4709160" y="1051560"/>
            <a:ext cx="4160520" cy="2103120"/>
          </a:xfrm>
          <a:prstGeom prst="rect">
            <a:avLst/>
          </a:prstGeom>
          <a:solidFill>
            <a:srgbClr val="0D1321"/>
          </a:solidFill>
          <a:ln/>
        </p:spPr>
      </p:sp>
      <p:sp>
        <p:nvSpPr>
          <p:cNvPr id="8" name="Text 6"/>
          <p:cNvSpPr txBox="1"/>
          <p:nvPr/>
        </p:nvSpPr>
        <p:spPr>
          <a:xfrm>
            <a:off x="4800600" y="1088136"/>
            <a:ext cx="3977640" cy="2029968"/>
          </a:xfrm>
          <a:prstGeom prst="rect">
            <a:avLst/>
          </a:prstGeom>
          <a:noFill/>
          <a:ln/>
        </p:spPr>
        <p:txBody>
          <a:bodyPr wrap="square" lIns="0" tIns="0" rIns="0" bIns="0" rtlCol="0" anchor="t"/>
          <a:lstStyle/>
          <a:p>
            <a:pPr indent="0" marL="0">
              <a:buNone/>
            </a:pPr>
            <a:r>
              <a:rPr lang="en-US" sz="850" dirty="0">
                <a:solidFill>
                  <a:srgbClr val="86EFAC"/>
                </a:solidFill>
                <a:latin typeface="Courier New" pitchFamily="34" charset="0"/>
                <a:ea typeface="Courier New" pitchFamily="34" charset="-122"/>
                <a:cs typeface="Courier New" pitchFamily="34" charset="-120"/>
              </a:rPr>
              <a:t>&lt;label for="sid"&gt;Student ID&lt;/label&gt;</a:t>
            </a:r>
            <a:endParaRPr lang="en-US" sz="850" dirty="0"/>
          </a:p>
          <a:p>
            <a:pPr indent="0" marL="0">
              <a:buNone/>
            </a:pPr>
            <a:r>
              <a:rPr lang="en-US" sz="850" dirty="0">
                <a:solidFill>
                  <a:srgbClr val="86EFAC"/>
                </a:solidFill>
                <a:latin typeface="Courier New" pitchFamily="34" charset="0"/>
                <a:ea typeface="Courier New" pitchFamily="34" charset="-122"/>
                <a:cs typeface="Courier New" pitchFamily="34" charset="-120"/>
              </a:rPr>
              <a:t>&lt;input type="text" id="sid"</a:t>
            </a:r>
            <a:endParaRPr lang="en-US" sz="850" dirty="0"/>
          </a:p>
          <a:p>
            <a:pPr indent="0" marL="0">
              <a:buNone/>
            </a:pPr>
            <a:r>
              <a:rPr lang="en-US" sz="850" dirty="0">
                <a:solidFill>
                  <a:srgbClr val="86EFAC"/>
                </a:solidFill>
                <a:latin typeface="Courier New" pitchFamily="34" charset="0"/>
                <a:ea typeface="Courier New" pitchFamily="34" charset="-122"/>
                <a:cs typeface="Courier New" pitchFamily="34" charset="-120"/>
              </a:rPr>
              <a:t>  aria-describedby="err-sid"</a:t>
            </a:r>
            <a:endParaRPr lang="en-US" sz="850" dirty="0"/>
          </a:p>
          <a:p>
            <a:pPr indent="0" marL="0">
              <a:buNone/>
            </a:pPr>
            <a:r>
              <a:rPr lang="en-US" sz="850" dirty="0">
                <a:solidFill>
                  <a:srgbClr val="86EFAC"/>
                </a:solidFill>
                <a:latin typeface="Courier New" pitchFamily="34" charset="0"/>
                <a:ea typeface="Courier New" pitchFamily="34" charset="-122"/>
                <a:cs typeface="Courier New" pitchFamily="34" charset="-120"/>
              </a:rPr>
              <a:t>  aria-invalid="true"&gt;</a:t>
            </a:r>
            <a:endParaRPr lang="en-US" sz="850" dirty="0"/>
          </a:p>
          <a:p>
            <a:pPr indent="0" marL="0">
              <a:buNone/>
            </a:pPr>
            <a:r>
              <a:rPr lang="en-US" sz="850" dirty="0">
                <a:solidFill>
                  <a:srgbClr val="86EFAC"/>
                </a:solidFill>
                <a:latin typeface="Courier New" pitchFamily="34" charset="0"/>
                <a:ea typeface="Courier New" pitchFamily="34" charset="-122"/>
                <a:cs typeface="Courier New" pitchFamily="34" charset="-120"/>
              </a:rPr>
              <a:t>&lt;span class="err" id="err-sid" role="alert"&gt;</a:t>
            </a:r>
            <a:endParaRPr lang="en-US" sz="850" dirty="0"/>
          </a:p>
          <a:p>
            <a:pPr indent="0" marL="0">
              <a:buNone/>
            </a:pPr>
            <a:r>
              <a:rPr lang="en-US" sz="850" dirty="0">
                <a:solidFill>
                  <a:srgbClr val="86EFAC"/>
                </a:solidFill>
                <a:latin typeface="Courier New" pitchFamily="34" charset="0"/>
                <a:ea typeface="Courier New" pitchFamily="34" charset="-122"/>
                <a:cs typeface="Courier New" pitchFamily="34" charset="-120"/>
              </a:rPr>
              <a:t>  Must be exactly 9 digits</a:t>
            </a:r>
            <a:endParaRPr lang="en-US" sz="850" dirty="0"/>
          </a:p>
          <a:p>
            <a:pPr indent="0" marL="0">
              <a:buNone/>
            </a:pPr>
            <a:r>
              <a:rPr lang="en-US" sz="850" dirty="0">
                <a:solidFill>
                  <a:srgbClr val="86EFAC"/>
                </a:solidFill>
                <a:latin typeface="Courier New" pitchFamily="34" charset="0"/>
                <a:ea typeface="Courier New" pitchFamily="34" charset="-122"/>
                <a:cs typeface="Courier New" pitchFamily="34" charset="-120"/>
              </a:rPr>
              <a:t>&lt;/span&gt;</a:t>
            </a:r>
            <a:endParaRPr lang="en-US" sz="850" dirty="0"/>
          </a:p>
        </p:txBody>
      </p:sp>
      <p:sp>
        <p:nvSpPr>
          <p:cNvPr id="9" name="Text 7"/>
          <p:cNvSpPr txBox="1"/>
          <p:nvPr/>
        </p:nvSpPr>
        <p:spPr>
          <a:xfrm>
            <a:off x="4709160" y="2999232"/>
            <a:ext cx="4160520" cy="256032"/>
          </a:xfrm>
          <a:prstGeom prst="rect">
            <a:avLst/>
          </a:prstGeom>
          <a:noFill/>
          <a:ln/>
        </p:spPr>
        <p:txBody>
          <a:bodyPr wrap="square" lIns="0" tIns="0" rIns="0" bIns="0" rtlCol="0" anchor="ctr"/>
          <a:lstStyle/>
          <a:p>
            <a:pPr indent="0" marL="0">
              <a:buNone/>
            </a:pPr>
            <a:r>
              <a:rPr lang="en-US" sz="1000" b="1" dirty="0">
                <a:solidFill>
                  <a:srgbClr val="86EFAC"/>
                </a:solidFill>
                <a:latin typeface="Calibri" pitchFamily="34" charset="0"/>
                <a:ea typeface="Calibri" pitchFamily="34" charset="-122"/>
                <a:cs typeface="Calibri" pitchFamily="34" charset="-120"/>
              </a:rPr>
              <a:t>JS helper</a:t>
            </a:r>
            <a:endParaRPr lang="en-US" sz="1000" dirty="0"/>
          </a:p>
        </p:txBody>
      </p:sp>
      <p:sp>
        <p:nvSpPr>
          <p:cNvPr id="10" name="Shape 8"/>
          <p:cNvSpPr/>
          <p:nvPr/>
        </p:nvSpPr>
        <p:spPr>
          <a:xfrm>
            <a:off x="4709160" y="3273552"/>
            <a:ext cx="4160520" cy="1481328"/>
          </a:xfrm>
          <a:prstGeom prst="rect">
            <a:avLst/>
          </a:prstGeom>
          <a:solidFill>
            <a:srgbClr val="0D1321"/>
          </a:solidFill>
          <a:ln/>
        </p:spPr>
      </p:sp>
      <p:sp>
        <p:nvSpPr>
          <p:cNvPr id="11" name="Text 9"/>
          <p:cNvSpPr txBox="1"/>
          <p:nvPr/>
        </p:nvSpPr>
        <p:spPr>
          <a:xfrm>
            <a:off x="4800600" y="3310128"/>
            <a:ext cx="3977640" cy="1408176"/>
          </a:xfrm>
          <a:prstGeom prst="rect">
            <a:avLst/>
          </a:prstGeom>
          <a:noFill/>
          <a:ln/>
        </p:spPr>
        <p:txBody>
          <a:bodyPr wrap="square" lIns="0" tIns="0" rIns="0" bIns="0" rtlCol="0" anchor="t"/>
          <a:lstStyle/>
          <a:p>
            <a:pPr indent="0" marL="0">
              <a:buNone/>
            </a:pPr>
            <a:r>
              <a:rPr lang="en-US" sz="850" dirty="0">
                <a:solidFill>
                  <a:srgbClr val="86EFAC"/>
                </a:solidFill>
                <a:latin typeface="Courier New" pitchFamily="34" charset="0"/>
                <a:ea typeface="Courier New" pitchFamily="34" charset="-122"/>
                <a:cs typeface="Courier New" pitchFamily="34" charset="-120"/>
              </a:rPr>
              <a:t>function markInvalid(input, errSpan, msg) {</a:t>
            </a:r>
            <a:endParaRPr lang="en-US" sz="850" dirty="0"/>
          </a:p>
          <a:p>
            <a:pPr indent="0" marL="0">
              <a:buNone/>
            </a:pPr>
            <a:r>
              <a:rPr lang="en-US" sz="850" dirty="0">
                <a:solidFill>
                  <a:srgbClr val="86EFAC"/>
                </a:solidFill>
                <a:latin typeface="Courier New" pitchFamily="34" charset="0"/>
                <a:ea typeface="Courier New" pitchFamily="34" charset="-122"/>
                <a:cs typeface="Courier New" pitchFamily="34" charset="-120"/>
              </a:rPr>
              <a:t>  input.setAttribute('aria-invalid','true');</a:t>
            </a:r>
            <a:endParaRPr lang="en-US" sz="850" dirty="0"/>
          </a:p>
          <a:p>
            <a:pPr indent="0" marL="0">
              <a:buNone/>
            </a:pPr>
            <a:r>
              <a:rPr lang="en-US" sz="850" dirty="0">
                <a:solidFill>
                  <a:srgbClr val="86EFAC"/>
                </a:solidFill>
                <a:latin typeface="Courier New" pitchFamily="34" charset="0"/>
                <a:ea typeface="Courier New" pitchFamily="34" charset="-122"/>
                <a:cs typeface="Courier New" pitchFamily="34" charset="-120"/>
              </a:rPr>
              <a:t>  errSpan.textContent = msg;</a:t>
            </a:r>
            <a:endParaRPr lang="en-US" sz="850" dirty="0"/>
          </a:p>
          <a:p>
            <a:pPr indent="0" marL="0">
              <a:buNone/>
            </a:pPr>
            <a:r>
              <a:rPr lang="en-US" sz="850" dirty="0">
                <a:solidFill>
                  <a:srgbClr val="86EFAC"/>
                </a:solidFill>
                <a:latin typeface="Courier New" pitchFamily="34" charset="0"/>
                <a:ea typeface="Courier New" pitchFamily="34" charset="-122"/>
                <a:cs typeface="Courier New" pitchFamily="34" charset="-120"/>
              </a:rPr>
              <a:t>  // role="alert" makes screen reader</a:t>
            </a:r>
            <a:endParaRPr lang="en-US" sz="850" dirty="0"/>
          </a:p>
          <a:p>
            <a:pPr indent="0" marL="0">
              <a:buNone/>
            </a:pPr>
            <a:r>
              <a:rPr lang="en-US" sz="850" dirty="0">
                <a:solidFill>
                  <a:srgbClr val="86EFAC"/>
                </a:solidFill>
                <a:latin typeface="Courier New" pitchFamily="34" charset="0"/>
                <a:ea typeface="Courier New" pitchFamily="34" charset="-122"/>
                <a:cs typeface="Courier New" pitchFamily="34" charset="-120"/>
              </a:rPr>
              <a:t>  // announce the change immediately</a:t>
            </a:r>
            <a:endParaRPr lang="en-US" sz="850" dirty="0"/>
          </a:p>
          <a:p>
            <a:pPr indent="0" marL="0">
              <a:buNone/>
            </a:pPr>
            <a:r>
              <a:rPr lang="en-US" sz="850" dirty="0">
                <a:solidFill>
                  <a:srgbClr val="86EFAC"/>
                </a:solidFill>
                <a:latin typeface="Courier New" pitchFamily="34" charset="0"/>
                <a:ea typeface="Courier New" pitchFamily="34" charset="-122"/>
                <a:cs typeface="Courier New" pitchFamily="34" charset="-120"/>
              </a:rPr>
              <a:t>}</a:t>
            </a:r>
            <a:endParaRPr lang="en-US" sz="850" dirty="0"/>
          </a:p>
        </p:txBody>
      </p:sp>
      <p:sp>
        <p:nvSpPr>
          <p:cNvPr id="12" name="Shape 10"/>
          <p:cNvSpPr/>
          <p:nvPr/>
        </p:nvSpPr>
        <p:spPr>
          <a:xfrm>
            <a:off x="274320" y="2999232"/>
            <a:ext cx="4160520" cy="1481328"/>
          </a:xfrm>
          <a:prstGeom prst="rect">
            <a:avLst/>
          </a:prstGeom>
          <a:solidFill>
            <a:srgbClr val="0D1321"/>
          </a:solidFill>
          <a:ln/>
        </p:spPr>
      </p:sp>
      <p:sp>
        <p:nvSpPr>
          <p:cNvPr id="13" name="Text 11"/>
          <p:cNvSpPr txBox="1"/>
          <p:nvPr/>
        </p:nvSpPr>
        <p:spPr>
          <a:xfrm>
            <a:off x="365760" y="3063240"/>
            <a:ext cx="3977640" cy="402336"/>
          </a:xfrm>
          <a:prstGeom prst="rect">
            <a:avLst/>
          </a:prstGeom>
          <a:noFill/>
          <a:ln/>
        </p:spPr>
        <p:txBody>
          <a:bodyPr wrap="square" lIns="0" tIns="0" rIns="0" bIns="0" rtlCol="0" anchor="ctr"/>
          <a:lstStyle/>
          <a:p>
            <a:pPr indent="0" marL="0">
              <a:buNone/>
            </a:pPr>
            <a:r>
              <a:rPr lang="en-US" sz="950" dirty="0">
                <a:solidFill>
                  <a:srgbClr val="F7DF1E"/>
                </a:solidFill>
                <a:latin typeface="Courier New" pitchFamily="34" charset="0"/>
                <a:ea typeface="Courier New" pitchFamily="34" charset="-122"/>
                <a:cs typeface="Courier New" pitchFamily="34" charset="-120"/>
              </a:rPr>
              <a:t>aria-describedby  </a:t>
            </a:r>
            <a:pPr indent="0" marL="0">
              <a:buNone/>
            </a:pPr>
            <a:r>
              <a:rPr lang="en-US" sz="1000" dirty="0">
                <a:solidFill>
                  <a:srgbClr val="FFFFFF"/>
                </a:solidFill>
                <a:latin typeface="Calibri" pitchFamily="34" charset="0"/>
                <a:ea typeface="Calibri" pitchFamily="34" charset="-122"/>
                <a:cs typeface="Calibri" pitchFamily="34" charset="-120"/>
              </a:rPr>
              <a:t>links input to its error span</a:t>
            </a:r>
            <a:endParaRPr lang="en-US" sz="950" dirty="0"/>
          </a:p>
        </p:txBody>
      </p:sp>
      <p:sp>
        <p:nvSpPr>
          <p:cNvPr id="14" name="Text 12"/>
          <p:cNvSpPr txBox="1"/>
          <p:nvPr/>
        </p:nvSpPr>
        <p:spPr>
          <a:xfrm>
            <a:off x="365760" y="3502152"/>
            <a:ext cx="3977640" cy="402336"/>
          </a:xfrm>
          <a:prstGeom prst="rect">
            <a:avLst/>
          </a:prstGeom>
          <a:noFill/>
          <a:ln/>
        </p:spPr>
        <p:txBody>
          <a:bodyPr wrap="square" lIns="0" tIns="0" rIns="0" bIns="0" rtlCol="0" anchor="ctr"/>
          <a:lstStyle/>
          <a:p>
            <a:pPr indent="0" marL="0">
              <a:buNone/>
            </a:pPr>
            <a:r>
              <a:rPr lang="en-US" sz="950" dirty="0">
                <a:solidFill>
                  <a:srgbClr val="F7DF1E"/>
                </a:solidFill>
                <a:latin typeface="Courier New" pitchFamily="34" charset="0"/>
                <a:ea typeface="Courier New" pitchFamily="34" charset="-122"/>
                <a:cs typeface="Courier New" pitchFamily="34" charset="-120"/>
              </a:rPr>
              <a:t>aria-invalid="true"  </a:t>
            </a:r>
            <a:pPr indent="0" marL="0">
              <a:buNone/>
            </a:pPr>
            <a:r>
              <a:rPr lang="en-US" sz="1000" dirty="0">
                <a:solidFill>
                  <a:srgbClr val="FFFFFF"/>
                </a:solidFill>
                <a:latin typeface="Calibri" pitchFamily="34" charset="0"/>
                <a:ea typeface="Calibri" pitchFamily="34" charset="-122"/>
                <a:cs typeface="Calibri" pitchFamily="34" charset="-120"/>
              </a:rPr>
              <a:t>tells AT the field has an error</a:t>
            </a:r>
            <a:endParaRPr lang="en-US" sz="950" dirty="0"/>
          </a:p>
        </p:txBody>
      </p:sp>
      <p:sp>
        <p:nvSpPr>
          <p:cNvPr id="15" name="Text 13"/>
          <p:cNvSpPr txBox="1"/>
          <p:nvPr/>
        </p:nvSpPr>
        <p:spPr>
          <a:xfrm>
            <a:off x="365760" y="3941064"/>
            <a:ext cx="3977640" cy="402336"/>
          </a:xfrm>
          <a:prstGeom prst="rect">
            <a:avLst/>
          </a:prstGeom>
          <a:noFill/>
          <a:ln/>
        </p:spPr>
        <p:txBody>
          <a:bodyPr wrap="square" lIns="0" tIns="0" rIns="0" bIns="0" rtlCol="0" anchor="ctr"/>
          <a:lstStyle/>
          <a:p>
            <a:pPr indent="0" marL="0">
              <a:buNone/>
            </a:pPr>
            <a:r>
              <a:rPr lang="en-US" sz="950" dirty="0">
                <a:solidFill>
                  <a:srgbClr val="F7DF1E"/>
                </a:solidFill>
                <a:latin typeface="Courier New" pitchFamily="34" charset="0"/>
                <a:ea typeface="Courier New" pitchFamily="34" charset="-122"/>
                <a:cs typeface="Courier New" pitchFamily="34" charset="-120"/>
              </a:rPr>
              <a:t>role="alert"  </a:t>
            </a:r>
            <a:pPr indent="0" marL="0">
              <a:buNone/>
            </a:pPr>
            <a:r>
              <a:rPr lang="en-US" sz="1000" dirty="0">
                <a:solidFill>
                  <a:srgbClr val="FFFFFF"/>
                </a:solidFill>
                <a:latin typeface="Calibri" pitchFamily="34" charset="0"/>
                <a:ea typeface="Calibri" pitchFamily="34" charset="-122"/>
                <a:cs typeface="Calibri" pitchFamily="34" charset="-120"/>
              </a:rPr>
              <a:t>makes screen reader announce changes</a:t>
            </a:r>
            <a:endParaRPr lang="en-US" sz="950" dirty="0"/>
          </a:p>
        </p:txBody>
      </p:sp>
      <p:sp>
        <p:nvSpPr>
          <p:cNvPr id="16" name="Text 14"/>
          <p:cNvSpPr txBox="1"/>
          <p:nvPr/>
        </p:nvSpPr>
        <p:spPr>
          <a:xfrm>
            <a:off x="320040" y="4892040"/>
            <a:ext cx="8503920" cy="182880"/>
          </a:xfrm>
          <a:prstGeom prst="rect">
            <a:avLst/>
          </a:prstGeom>
          <a:noFill/>
          <a:ln/>
        </p:spPr>
        <p:txBody>
          <a:bodyPr wrap="square" rtlCol="0" anchor="ctr"/>
          <a:lstStyle/>
          <a:p>
            <a:pPr algn="ctr" indent="0" marL="0">
              <a:buNone/>
            </a:pPr>
            <a:r>
              <a:rPr lang="en-US" sz="800" dirty="0">
                <a:solidFill>
                  <a:srgbClr val="94A3B8"/>
                </a:solidFill>
                <a:latin typeface="Calibri" pitchFamily="34" charset="0"/>
                <a:ea typeface="Calibri" pitchFamily="34" charset="-122"/>
                <a:cs typeface="Calibri" pitchFamily="34" charset="-120"/>
              </a:rPr>
              <a:t>K0126002  ·  Gachon University  ·  2026 Fall  ·  Dr. Toshpulatov</a:t>
            </a:r>
            <a:endParaRPr lang="en-US" sz="8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0D1321"/>
        </a:solidFill>
      </p:bgPr>
    </p:bg>
    <p:spTree>
      <p:nvGrpSpPr>
        <p:cNvPr id="1" name=""/>
        <p:cNvGrpSpPr/>
        <p:nvPr/>
      </p:nvGrpSpPr>
      <p:grpSpPr>
        <a:xfrm>
          <a:off x="0" y="0"/>
          <a:ext cx="0" cy="0"/>
          <a:chOff x="0" y="0"/>
          <a:chExt cx="0" cy="0"/>
        </a:xfrm>
      </p:grpSpPr>
      <p:sp>
        <p:nvSpPr>
          <p:cNvPr id="2" name="Text 0"/>
          <p:cNvSpPr txBox="1"/>
          <p:nvPr/>
        </p:nvSpPr>
        <p:spPr>
          <a:xfrm>
            <a:off x="457200" y="228600"/>
            <a:ext cx="8229600" cy="411480"/>
          </a:xfrm>
          <a:prstGeom prst="rect">
            <a:avLst/>
          </a:prstGeom>
          <a:noFill/>
          <a:ln/>
        </p:spPr>
        <p:txBody>
          <a:bodyPr wrap="square" rtlCol="0" anchor="ctr"/>
          <a:lstStyle/>
          <a:p>
            <a:pPr algn="ctr" indent="0" marL="0">
              <a:buNone/>
            </a:pPr>
            <a:r>
              <a:rPr lang="en-US" sz="2000" b="1" dirty="0">
                <a:solidFill>
                  <a:srgbClr val="F7DF1E"/>
                </a:solidFill>
                <a:latin typeface="Calibri" pitchFamily="34" charset="0"/>
                <a:ea typeface="Calibri" pitchFamily="34" charset="-122"/>
                <a:cs typeface="Calibri" pitchFamily="34" charset="-120"/>
              </a:rPr>
              <a:t>⚡ QUICK QUIZ</a:t>
            </a:r>
            <a:endParaRPr lang="en-US" sz="2000" dirty="0"/>
          </a:p>
        </p:txBody>
      </p:sp>
      <p:sp>
        <p:nvSpPr>
          <p:cNvPr id="3" name="Text 1"/>
          <p:cNvSpPr txBox="1"/>
          <p:nvPr/>
        </p:nvSpPr>
        <p:spPr>
          <a:xfrm>
            <a:off x="457200" y="731520"/>
            <a:ext cx="8229600" cy="640080"/>
          </a:xfrm>
          <a:prstGeom prst="rect">
            <a:avLst/>
          </a:prstGeom>
          <a:noFill/>
          <a:ln/>
        </p:spPr>
        <p:txBody>
          <a:bodyPr wrap="square" rtlCol="0" anchor="ctr"/>
          <a:lstStyle/>
          <a:p>
            <a:pPr algn="ctr" indent="0" marL="0">
              <a:buNone/>
            </a:pPr>
            <a:r>
              <a:rPr lang="en-US" sz="1500" dirty="0">
                <a:solidFill>
                  <a:srgbClr val="FFFFFF"/>
                </a:solidFill>
                <a:latin typeface="Calibri" pitchFamily="34" charset="0"/>
                <a:ea typeface="Calibri" pitchFamily="34" charset="-122"/>
                <a:cs typeface="Calibri" pitchFamily="34" charset="-120"/>
              </a:rPr>
              <a:t>You call field.setCustomValidity('') (empty string). What is the effect?</a:t>
            </a:r>
            <a:endParaRPr lang="en-US" sz="1500" dirty="0"/>
          </a:p>
        </p:txBody>
      </p:sp>
      <p:sp>
        <p:nvSpPr>
          <p:cNvPr id="4" name="Shape 2"/>
          <p:cNvSpPr/>
          <p:nvPr/>
        </p:nvSpPr>
        <p:spPr>
          <a:xfrm>
            <a:off x="457200" y="1508760"/>
            <a:ext cx="4023360" cy="777240"/>
          </a:xfrm>
          <a:prstGeom prst="rect">
            <a:avLst/>
          </a:prstGeom>
          <a:solidFill>
            <a:srgbClr val="1E3060"/>
          </a:solidFill>
          <a:ln w="12700">
            <a:solidFill>
              <a:srgbClr val="2D4A8A"/>
            </a:solidFill>
            <a:prstDash val="solid"/>
          </a:ln>
        </p:spPr>
      </p:sp>
      <p:sp>
        <p:nvSpPr>
          <p:cNvPr id="5" name="Text 3"/>
          <p:cNvSpPr txBox="1"/>
          <p:nvPr/>
        </p:nvSpPr>
        <p:spPr>
          <a:xfrm>
            <a:off x="548640" y="1600200"/>
            <a:ext cx="3840480" cy="594360"/>
          </a:xfrm>
          <a:prstGeom prst="rect">
            <a:avLst/>
          </a:prstGeom>
          <a:noFill/>
          <a:ln/>
        </p:spPr>
        <p:txBody>
          <a:bodyPr wrap="square" lIns="0" tIns="0" rIns="0" bIns="0" rtlCol="0" anchor="ctr"/>
          <a:lstStyle/>
          <a:p>
            <a:pPr indent="0" marL="0">
              <a:buNone/>
            </a:pPr>
            <a:r>
              <a:rPr lang="en-US" sz="1300" dirty="0">
                <a:solidFill>
                  <a:srgbClr val="FFFFFF"/>
                </a:solidFill>
                <a:latin typeface="Calibri" pitchFamily="34" charset="0"/>
                <a:ea typeface="Calibri" pitchFamily="34" charset="-122"/>
                <a:cs typeface="Calibri" pitchFamily="34" charset="-120"/>
              </a:rPr>
              <a:t>A   Shows an error message</a:t>
            </a:r>
            <a:endParaRPr lang="en-US" sz="1300" dirty="0"/>
          </a:p>
        </p:txBody>
      </p:sp>
      <p:sp>
        <p:nvSpPr>
          <p:cNvPr id="6" name="Shape 4"/>
          <p:cNvSpPr/>
          <p:nvPr/>
        </p:nvSpPr>
        <p:spPr>
          <a:xfrm>
            <a:off x="4800600" y="1508760"/>
            <a:ext cx="4023360" cy="777240"/>
          </a:xfrm>
          <a:prstGeom prst="rect">
            <a:avLst/>
          </a:prstGeom>
          <a:solidFill>
            <a:srgbClr val="1E3060"/>
          </a:solidFill>
          <a:ln w="12700">
            <a:solidFill>
              <a:srgbClr val="2D4A8A"/>
            </a:solidFill>
            <a:prstDash val="solid"/>
          </a:ln>
        </p:spPr>
      </p:sp>
      <p:sp>
        <p:nvSpPr>
          <p:cNvPr id="7" name="Text 5"/>
          <p:cNvSpPr txBox="1"/>
          <p:nvPr/>
        </p:nvSpPr>
        <p:spPr>
          <a:xfrm>
            <a:off x="4892040" y="1600200"/>
            <a:ext cx="3840480" cy="594360"/>
          </a:xfrm>
          <a:prstGeom prst="rect">
            <a:avLst/>
          </a:prstGeom>
          <a:noFill/>
          <a:ln/>
        </p:spPr>
        <p:txBody>
          <a:bodyPr wrap="square" lIns="0" tIns="0" rIns="0" bIns="0" rtlCol="0" anchor="ctr"/>
          <a:lstStyle/>
          <a:p>
            <a:pPr indent="0" marL="0">
              <a:buNone/>
            </a:pPr>
            <a:r>
              <a:rPr lang="en-US" sz="1300" dirty="0">
                <a:solidFill>
                  <a:srgbClr val="FFFFFF"/>
                </a:solidFill>
                <a:latin typeface="Calibri" pitchFamily="34" charset="0"/>
                <a:ea typeface="Calibri" pitchFamily="34" charset="-122"/>
                <a:cs typeface="Calibri" pitchFamily="34" charset="-120"/>
              </a:rPr>
              <a:t>B   Marks the field as valid / clears any custom error</a:t>
            </a:r>
            <a:endParaRPr lang="en-US" sz="1300" dirty="0"/>
          </a:p>
        </p:txBody>
      </p:sp>
      <p:sp>
        <p:nvSpPr>
          <p:cNvPr id="8" name="Shape 6"/>
          <p:cNvSpPr/>
          <p:nvPr/>
        </p:nvSpPr>
        <p:spPr>
          <a:xfrm>
            <a:off x="457200" y="2468880"/>
            <a:ext cx="4023360" cy="777240"/>
          </a:xfrm>
          <a:prstGeom prst="rect">
            <a:avLst/>
          </a:prstGeom>
          <a:solidFill>
            <a:srgbClr val="1E3060"/>
          </a:solidFill>
          <a:ln w="12700">
            <a:solidFill>
              <a:srgbClr val="2D4A8A"/>
            </a:solidFill>
            <a:prstDash val="solid"/>
          </a:ln>
        </p:spPr>
      </p:sp>
      <p:sp>
        <p:nvSpPr>
          <p:cNvPr id="9" name="Text 7"/>
          <p:cNvSpPr txBox="1"/>
          <p:nvPr/>
        </p:nvSpPr>
        <p:spPr>
          <a:xfrm>
            <a:off x="548640" y="2560320"/>
            <a:ext cx="3840480" cy="594360"/>
          </a:xfrm>
          <a:prstGeom prst="rect">
            <a:avLst/>
          </a:prstGeom>
          <a:noFill/>
          <a:ln/>
        </p:spPr>
        <p:txBody>
          <a:bodyPr wrap="square" lIns="0" tIns="0" rIns="0" bIns="0" rtlCol="0" anchor="ctr"/>
          <a:lstStyle/>
          <a:p>
            <a:pPr indent="0" marL="0">
              <a:buNone/>
            </a:pPr>
            <a:r>
              <a:rPr lang="en-US" sz="1300" dirty="0">
                <a:solidFill>
                  <a:srgbClr val="FFFFFF"/>
                </a:solidFill>
                <a:latin typeface="Calibri" pitchFamily="34" charset="0"/>
                <a:ea typeface="Calibri" pitchFamily="34" charset="-122"/>
                <a:cs typeface="Calibri" pitchFamily="34" charset="-120"/>
              </a:rPr>
              <a:t>C   Deletes the field value</a:t>
            </a:r>
            <a:endParaRPr lang="en-US" sz="1300" dirty="0"/>
          </a:p>
        </p:txBody>
      </p:sp>
      <p:sp>
        <p:nvSpPr>
          <p:cNvPr id="10" name="Shape 8"/>
          <p:cNvSpPr/>
          <p:nvPr/>
        </p:nvSpPr>
        <p:spPr>
          <a:xfrm>
            <a:off x="4800600" y="2468880"/>
            <a:ext cx="4023360" cy="777240"/>
          </a:xfrm>
          <a:prstGeom prst="rect">
            <a:avLst/>
          </a:prstGeom>
          <a:solidFill>
            <a:srgbClr val="1E3060"/>
          </a:solidFill>
          <a:ln w="12700">
            <a:solidFill>
              <a:srgbClr val="2D4A8A"/>
            </a:solidFill>
            <a:prstDash val="solid"/>
          </a:ln>
        </p:spPr>
      </p:sp>
      <p:sp>
        <p:nvSpPr>
          <p:cNvPr id="11" name="Text 9"/>
          <p:cNvSpPr txBox="1"/>
          <p:nvPr/>
        </p:nvSpPr>
        <p:spPr>
          <a:xfrm>
            <a:off x="4892040" y="2560320"/>
            <a:ext cx="3840480" cy="594360"/>
          </a:xfrm>
          <a:prstGeom prst="rect">
            <a:avLst/>
          </a:prstGeom>
          <a:noFill/>
          <a:ln/>
        </p:spPr>
        <p:txBody>
          <a:bodyPr wrap="square" lIns="0" tIns="0" rIns="0" bIns="0" rtlCol="0" anchor="ctr"/>
          <a:lstStyle/>
          <a:p>
            <a:pPr indent="0" marL="0">
              <a:buNone/>
            </a:pPr>
            <a:r>
              <a:rPr lang="en-US" sz="1300" dirty="0">
                <a:solidFill>
                  <a:srgbClr val="FFFFFF"/>
                </a:solidFill>
                <a:latin typeface="Calibri" pitchFamily="34" charset="0"/>
                <a:ea typeface="Calibri" pitchFamily="34" charset="-122"/>
                <a:cs typeface="Calibri" pitchFamily="34" charset="-120"/>
              </a:rPr>
              <a:t>D   Disables the field</a:t>
            </a:r>
            <a:endParaRPr lang="en-US" sz="1300" dirty="0"/>
          </a:p>
        </p:txBody>
      </p:sp>
      <p:sp>
        <p:nvSpPr>
          <p:cNvPr id="12" name="Text 10"/>
          <p:cNvSpPr txBox="1"/>
          <p:nvPr/>
        </p:nvSpPr>
        <p:spPr>
          <a:xfrm>
            <a:off x="457200" y="4434840"/>
            <a:ext cx="8229600" cy="320040"/>
          </a:xfrm>
          <a:prstGeom prst="rect">
            <a:avLst/>
          </a:prstGeom>
          <a:noFill/>
          <a:ln/>
        </p:spPr>
        <p:txBody>
          <a:bodyPr wrap="square" rtlCol="0" anchor="ctr"/>
          <a:lstStyle/>
          <a:p>
            <a:pPr algn="ctr" indent="0" marL="0">
              <a:buNone/>
            </a:pPr>
            <a:r>
              <a:rPr lang="en-US" sz="1100" dirty="0">
                <a:solidFill>
                  <a:srgbClr val="94A3B8"/>
                </a:solidFill>
                <a:latin typeface="Calibri" pitchFamily="34" charset="0"/>
                <a:ea typeface="Calibri" pitchFamily="34" charset="-122"/>
                <a:cs typeface="Calibri" pitchFamily="34" charset="-120"/>
              </a:rPr>
              <a:t>💬 Discuss with your neighbor — then we'll reveal the answer!</a:t>
            </a:r>
            <a:endParaRPr lang="en-US" sz="110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0D1321"/>
        </a:solidFill>
      </p:bgPr>
    </p:bg>
    <p:spTree>
      <p:nvGrpSpPr>
        <p:cNvPr id="1" name=""/>
        <p:cNvGrpSpPr/>
        <p:nvPr/>
      </p:nvGrpSpPr>
      <p:grpSpPr>
        <a:xfrm>
          <a:off x="0" y="0"/>
          <a:ext cx="0" cy="0"/>
          <a:chOff x="0" y="0"/>
          <a:chExt cx="0" cy="0"/>
        </a:xfrm>
      </p:grpSpPr>
      <p:sp>
        <p:nvSpPr>
          <p:cNvPr id="2" name="Text 0"/>
          <p:cNvSpPr txBox="1"/>
          <p:nvPr/>
        </p:nvSpPr>
        <p:spPr>
          <a:xfrm>
            <a:off x="457200" y="228600"/>
            <a:ext cx="8229600" cy="411480"/>
          </a:xfrm>
          <a:prstGeom prst="rect">
            <a:avLst/>
          </a:prstGeom>
          <a:noFill/>
          <a:ln/>
        </p:spPr>
        <p:txBody>
          <a:bodyPr wrap="square" rtlCol="0" anchor="ctr"/>
          <a:lstStyle/>
          <a:p>
            <a:pPr algn="ctr" indent="0" marL="0">
              <a:buNone/>
            </a:pPr>
            <a:r>
              <a:rPr lang="en-US" sz="2000" b="1" dirty="0">
                <a:solidFill>
                  <a:srgbClr val="86EFAC"/>
                </a:solidFill>
                <a:latin typeface="Calibri" pitchFamily="34" charset="0"/>
                <a:ea typeface="Calibri" pitchFamily="34" charset="-122"/>
                <a:cs typeface="Calibri" pitchFamily="34" charset="-120"/>
              </a:rPr>
              <a:t>✅ ANSWER</a:t>
            </a:r>
            <a:endParaRPr lang="en-US" sz="2000" dirty="0"/>
          </a:p>
        </p:txBody>
      </p:sp>
      <p:sp>
        <p:nvSpPr>
          <p:cNvPr id="3" name="Text 1"/>
          <p:cNvSpPr txBox="1"/>
          <p:nvPr/>
        </p:nvSpPr>
        <p:spPr>
          <a:xfrm>
            <a:off x="457200" y="731520"/>
            <a:ext cx="8229600" cy="548640"/>
          </a:xfrm>
          <a:prstGeom prst="rect">
            <a:avLst/>
          </a:prstGeom>
          <a:noFill/>
          <a:ln/>
        </p:spPr>
        <p:txBody>
          <a:bodyPr wrap="square" rtlCol="0" anchor="ctr"/>
          <a:lstStyle/>
          <a:p>
            <a:pPr algn="ctr" indent="0" marL="0">
              <a:buNone/>
            </a:pPr>
            <a:r>
              <a:rPr lang="en-US" sz="1400" dirty="0">
                <a:solidFill>
                  <a:srgbClr val="FFFFFF"/>
                </a:solidFill>
                <a:latin typeface="Calibri" pitchFamily="34" charset="0"/>
                <a:ea typeface="Calibri" pitchFamily="34" charset="-122"/>
                <a:cs typeface="Calibri" pitchFamily="34" charset="-120"/>
              </a:rPr>
              <a:t>You call field.setCustomValidity('') (empty string). What is the effect?</a:t>
            </a:r>
            <a:endParaRPr lang="en-US" sz="1400" dirty="0"/>
          </a:p>
        </p:txBody>
      </p:sp>
      <p:sp>
        <p:nvSpPr>
          <p:cNvPr id="4" name="Shape 2"/>
          <p:cNvSpPr/>
          <p:nvPr/>
        </p:nvSpPr>
        <p:spPr>
          <a:xfrm>
            <a:off x="457200" y="1417320"/>
            <a:ext cx="4023360" cy="731520"/>
          </a:xfrm>
          <a:prstGeom prst="rect">
            <a:avLst/>
          </a:prstGeom>
          <a:solidFill>
            <a:srgbClr val="1E3060"/>
          </a:solidFill>
          <a:ln w="12700">
            <a:solidFill>
              <a:srgbClr val="2D4A8A"/>
            </a:solidFill>
            <a:prstDash val="solid"/>
          </a:ln>
        </p:spPr>
      </p:sp>
      <p:sp>
        <p:nvSpPr>
          <p:cNvPr id="5" name="Text 3"/>
          <p:cNvSpPr txBox="1"/>
          <p:nvPr/>
        </p:nvSpPr>
        <p:spPr>
          <a:xfrm>
            <a:off x="548640" y="1490472"/>
            <a:ext cx="3840480" cy="585216"/>
          </a:xfrm>
          <a:prstGeom prst="rect">
            <a:avLst/>
          </a:prstGeom>
          <a:noFill/>
          <a:ln/>
        </p:spPr>
        <p:txBody>
          <a:bodyPr wrap="square" lIns="0" tIns="0" rIns="0" bIns="0" rtlCol="0" anchor="ctr"/>
          <a:lstStyle/>
          <a:p>
            <a:pPr indent="0" marL="0">
              <a:buNone/>
            </a:pPr>
            <a:r>
              <a:rPr lang="en-US" sz="1300" dirty="0">
                <a:solidFill>
                  <a:srgbClr val="94A3B8"/>
                </a:solidFill>
                <a:latin typeface="Calibri" pitchFamily="34" charset="0"/>
                <a:ea typeface="Calibri" pitchFamily="34" charset="-122"/>
                <a:cs typeface="Calibri" pitchFamily="34" charset="-120"/>
              </a:rPr>
              <a:t>A   Shows an error message</a:t>
            </a:r>
            <a:endParaRPr lang="en-US" sz="1300" dirty="0"/>
          </a:p>
        </p:txBody>
      </p:sp>
      <p:sp>
        <p:nvSpPr>
          <p:cNvPr id="6" name="Shape 4"/>
          <p:cNvSpPr/>
          <p:nvPr/>
        </p:nvSpPr>
        <p:spPr>
          <a:xfrm>
            <a:off x="4800600" y="1417320"/>
            <a:ext cx="4023360" cy="731520"/>
          </a:xfrm>
          <a:prstGeom prst="rect">
            <a:avLst/>
          </a:prstGeom>
          <a:solidFill>
            <a:srgbClr val="1A5C30"/>
          </a:solidFill>
          <a:ln w="25400">
            <a:solidFill>
              <a:srgbClr val="86EFAC"/>
            </a:solidFill>
            <a:prstDash val="solid"/>
          </a:ln>
        </p:spPr>
      </p:sp>
      <p:sp>
        <p:nvSpPr>
          <p:cNvPr id="7" name="Text 5"/>
          <p:cNvSpPr txBox="1"/>
          <p:nvPr/>
        </p:nvSpPr>
        <p:spPr>
          <a:xfrm>
            <a:off x="4892040" y="1490472"/>
            <a:ext cx="3840480" cy="585216"/>
          </a:xfrm>
          <a:prstGeom prst="rect">
            <a:avLst/>
          </a:prstGeom>
          <a:noFill/>
          <a:ln/>
        </p:spPr>
        <p:txBody>
          <a:bodyPr wrap="square" lIns="0" tIns="0" rIns="0" bIns="0" rtlCol="0" anchor="ctr"/>
          <a:lstStyle/>
          <a:p>
            <a:pPr indent="0" marL="0">
              <a:buNone/>
            </a:pPr>
            <a:r>
              <a:rPr lang="en-US" sz="1300" b="1" dirty="0">
                <a:solidFill>
                  <a:srgbClr val="86EFAC"/>
                </a:solidFill>
                <a:latin typeface="Calibri" pitchFamily="34" charset="0"/>
                <a:ea typeface="Calibri" pitchFamily="34" charset="-122"/>
                <a:cs typeface="Calibri" pitchFamily="34" charset="-120"/>
              </a:rPr>
              <a:t>B   Marks the field as valid / clears any custom error</a:t>
            </a:r>
            <a:endParaRPr lang="en-US" sz="1300" dirty="0"/>
          </a:p>
        </p:txBody>
      </p:sp>
      <p:sp>
        <p:nvSpPr>
          <p:cNvPr id="8" name="Shape 6"/>
          <p:cNvSpPr/>
          <p:nvPr/>
        </p:nvSpPr>
        <p:spPr>
          <a:xfrm>
            <a:off x="457200" y="2286000"/>
            <a:ext cx="4023360" cy="731520"/>
          </a:xfrm>
          <a:prstGeom prst="rect">
            <a:avLst/>
          </a:prstGeom>
          <a:solidFill>
            <a:srgbClr val="1E3060"/>
          </a:solidFill>
          <a:ln w="12700">
            <a:solidFill>
              <a:srgbClr val="2D4A8A"/>
            </a:solidFill>
            <a:prstDash val="solid"/>
          </a:ln>
        </p:spPr>
      </p:sp>
      <p:sp>
        <p:nvSpPr>
          <p:cNvPr id="9" name="Text 7"/>
          <p:cNvSpPr txBox="1"/>
          <p:nvPr/>
        </p:nvSpPr>
        <p:spPr>
          <a:xfrm>
            <a:off x="548640" y="2359152"/>
            <a:ext cx="3840480" cy="585216"/>
          </a:xfrm>
          <a:prstGeom prst="rect">
            <a:avLst/>
          </a:prstGeom>
          <a:noFill/>
          <a:ln/>
        </p:spPr>
        <p:txBody>
          <a:bodyPr wrap="square" lIns="0" tIns="0" rIns="0" bIns="0" rtlCol="0" anchor="ctr"/>
          <a:lstStyle/>
          <a:p>
            <a:pPr indent="0" marL="0">
              <a:buNone/>
            </a:pPr>
            <a:r>
              <a:rPr lang="en-US" sz="1300" dirty="0">
                <a:solidFill>
                  <a:srgbClr val="94A3B8"/>
                </a:solidFill>
                <a:latin typeface="Calibri" pitchFamily="34" charset="0"/>
                <a:ea typeface="Calibri" pitchFamily="34" charset="-122"/>
                <a:cs typeface="Calibri" pitchFamily="34" charset="-120"/>
              </a:rPr>
              <a:t>C   Deletes the field value</a:t>
            </a:r>
            <a:endParaRPr lang="en-US" sz="1300" dirty="0"/>
          </a:p>
        </p:txBody>
      </p:sp>
      <p:sp>
        <p:nvSpPr>
          <p:cNvPr id="10" name="Shape 8"/>
          <p:cNvSpPr/>
          <p:nvPr/>
        </p:nvSpPr>
        <p:spPr>
          <a:xfrm>
            <a:off x="4800600" y="2286000"/>
            <a:ext cx="4023360" cy="731520"/>
          </a:xfrm>
          <a:prstGeom prst="rect">
            <a:avLst/>
          </a:prstGeom>
          <a:solidFill>
            <a:srgbClr val="1E3060"/>
          </a:solidFill>
          <a:ln w="12700">
            <a:solidFill>
              <a:srgbClr val="2D4A8A"/>
            </a:solidFill>
            <a:prstDash val="solid"/>
          </a:ln>
        </p:spPr>
      </p:sp>
      <p:sp>
        <p:nvSpPr>
          <p:cNvPr id="11" name="Text 9"/>
          <p:cNvSpPr txBox="1"/>
          <p:nvPr/>
        </p:nvSpPr>
        <p:spPr>
          <a:xfrm>
            <a:off x="4892040" y="2359152"/>
            <a:ext cx="3840480" cy="585216"/>
          </a:xfrm>
          <a:prstGeom prst="rect">
            <a:avLst/>
          </a:prstGeom>
          <a:noFill/>
          <a:ln/>
        </p:spPr>
        <p:txBody>
          <a:bodyPr wrap="square" lIns="0" tIns="0" rIns="0" bIns="0" rtlCol="0" anchor="ctr"/>
          <a:lstStyle/>
          <a:p>
            <a:pPr indent="0" marL="0">
              <a:buNone/>
            </a:pPr>
            <a:r>
              <a:rPr lang="en-US" sz="1300" dirty="0">
                <a:solidFill>
                  <a:srgbClr val="94A3B8"/>
                </a:solidFill>
                <a:latin typeface="Calibri" pitchFamily="34" charset="0"/>
                <a:ea typeface="Calibri" pitchFamily="34" charset="-122"/>
                <a:cs typeface="Calibri" pitchFamily="34" charset="-120"/>
              </a:rPr>
              <a:t>D   Disables the field</a:t>
            </a:r>
            <a:endParaRPr lang="en-US" sz="1300" dirty="0"/>
          </a:p>
        </p:txBody>
      </p:sp>
      <p:sp>
        <p:nvSpPr>
          <p:cNvPr id="12" name="Shape 10"/>
          <p:cNvSpPr/>
          <p:nvPr/>
        </p:nvSpPr>
        <p:spPr>
          <a:xfrm>
            <a:off x="320040" y="3246120"/>
            <a:ext cx="8503920" cy="1600200"/>
          </a:xfrm>
          <a:prstGeom prst="rect">
            <a:avLst/>
          </a:prstGeom>
          <a:solidFill>
            <a:srgbClr val="152035"/>
          </a:solidFill>
          <a:ln/>
        </p:spPr>
      </p:sp>
      <p:sp>
        <p:nvSpPr>
          <p:cNvPr id="13" name="Text 11"/>
          <p:cNvSpPr txBox="1"/>
          <p:nvPr/>
        </p:nvSpPr>
        <p:spPr>
          <a:xfrm>
            <a:off x="457200" y="3310128"/>
            <a:ext cx="8229600" cy="1463040"/>
          </a:xfrm>
          <a:prstGeom prst="rect">
            <a:avLst/>
          </a:prstGeom>
          <a:noFill/>
          <a:ln/>
        </p:spPr>
        <p:txBody>
          <a:bodyPr wrap="square" lIns="0" tIns="0" rIns="0" bIns="0" rtlCol="0" anchor="t"/>
          <a:lstStyle/>
          <a:p>
            <a:pPr indent="0" marL="0">
              <a:buNone/>
            </a:pPr>
            <a:r>
              <a:rPr lang="en-US" sz="1200" dirty="0">
                <a:solidFill>
                  <a:srgbClr val="FFFFFF"/>
                </a:solidFill>
                <a:latin typeface="Calibri" pitchFamily="34" charset="0"/>
                <a:ea typeface="Calibri" pitchFamily="34" charset="-122"/>
                <a:cs typeface="Calibri" pitchFamily="34" charset="-120"/>
              </a:rPr>
              <a:t>An empty string resets the custom validity, making the field valid again. Any non-empty string sets an error message and marks the field invalid — checkValidity() returns false, and form.checkValidity() also returns false until it is cleared.</a:t>
            </a:r>
            <a:endParaRPr lang="en-US" sz="120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1A2540"/>
        </a:solidFill>
      </p:bgPr>
    </p:bg>
    <p:spTree>
      <p:nvGrpSpPr>
        <p:cNvPr id="1" name=""/>
        <p:cNvGrpSpPr/>
        <p:nvPr/>
      </p:nvGrpSpPr>
      <p:grpSpPr>
        <a:xfrm>
          <a:off x="0" y="0"/>
          <a:ext cx="0" cy="0"/>
          <a:chOff x="0" y="0"/>
          <a:chExt cx="0" cy="0"/>
        </a:xfrm>
      </p:grpSpPr>
      <p:sp>
        <p:nvSpPr>
          <p:cNvPr id="2" name="Text 0"/>
          <p:cNvSpPr txBox="1"/>
          <p:nvPr/>
        </p:nvSpPr>
        <p:spPr>
          <a:xfrm>
            <a:off x="320040" y="182880"/>
            <a:ext cx="8503920" cy="475488"/>
          </a:xfrm>
          <a:prstGeom prst="rect">
            <a:avLst/>
          </a:prstGeom>
          <a:noFill/>
          <a:ln/>
        </p:spPr>
        <p:txBody>
          <a:bodyPr wrap="square" rtlCol="0" anchor="ctr"/>
          <a:lstStyle/>
          <a:p>
            <a:pPr indent="0" marL="0">
              <a:buNone/>
            </a:pPr>
            <a:r>
              <a:rPr lang="en-US" sz="2600" b="1" dirty="0">
                <a:solidFill>
                  <a:srgbClr val="F7DF1E"/>
                </a:solidFill>
                <a:latin typeface="Cambria" pitchFamily="34" charset="0"/>
                <a:ea typeface="Cambria" pitchFamily="34" charset="-122"/>
                <a:cs typeface="Cambria" pitchFamily="34" charset="-120"/>
              </a:rPr>
              <a:t>Password Confirmation with setCustomValidity()</a:t>
            </a:r>
            <a:endParaRPr lang="en-US" sz="2600" dirty="0"/>
          </a:p>
        </p:txBody>
      </p:sp>
      <p:sp>
        <p:nvSpPr>
          <p:cNvPr id="3" name="Text 1"/>
          <p:cNvSpPr txBox="1"/>
          <p:nvPr/>
        </p:nvSpPr>
        <p:spPr>
          <a:xfrm>
            <a:off x="274320" y="777240"/>
            <a:ext cx="4160520" cy="256032"/>
          </a:xfrm>
          <a:prstGeom prst="rect">
            <a:avLst/>
          </a:prstGeom>
          <a:noFill/>
          <a:ln/>
        </p:spPr>
        <p:txBody>
          <a:bodyPr wrap="square" lIns="0" tIns="0" rIns="0" bIns="0" rtlCol="0" anchor="ctr"/>
          <a:lstStyle/>
          <a:p>
            <a:pPr indent="0" marL="0">
              <a:buNone/>
            </a:pPr>
            <a:r>
              <a:rPr lang="en-US" sz="1000" b="1" dirty="0">
                <a:solidFill>
                  <a:srgbClr val="FCA5A5"/>
                </a:solidFill>
                <a:latin typeface="Calibri" pitchFamily="34" charset="0"/>
                <a:ea typeface="Calibri" pitchFamily="34" charset="-122"/>
                <a:cs typeface="Calibri" pitchFamily="34" charset="-120"/>
              </a:rPr>
              <a:t>❌  HTML5 ALONE — no confirmation possible</a:t>
            </a:r>
            <a:endParaRPr lang="en-US" sz="1000" dirty="0"/>
          </a:p>
        </p:txBody>
      </p:sp>
      <p:sp>
        <p:nvSpPr>
          <p:cNvPr id="4" name="Shape 2"/>
          <p:cNvSpPr/>
          <p:nvPr/>
        </p:nvSpPr>
        <p:spPr>
          <a:xfrm>
            <a:off x="274320" y="1051560"/>
            <a:ext cx="4160520" cy="1828800"/>
          </a:xfrm>
          <a:prstGeom prst="rect">
            <a:avLst/>
          </a:prstGeom>
          <a:solidFill>
            <a:srgbClr val="0D1321"/>
          </a:solidFill>
          <a:ln/>
        </p:spPr>
      </p:sp>
      <p:sp>
        <p:nvSpPr>
          <p:cNvPr id="5" name="Text 3"/>
          <p:cNvSpPr txBox="1"/>
          <p:nvPr/>
        </p:nvSpPr>
        <p:spPr>
          <a:xfrm>
            <a:off x="365760" y="1088136"/>
            <a:ext cx="3977640" cy="1755648"/>
          </a:xfrm>
          <a:prstGeom prst="rect">
            <a:avLst/>
          </a:prstGeom>
          <a:noFill/>
          <a:ln/>
        </p:spPr>
        <p:txBody>
          <a:bodyPr wrap="square" lIns="0" tIns="0" rIns="0" bIns="0" rtlCol="0" anchor="t"/>
          <a:lstStyle/>
          <a:p>
            <a:pPr indent="0" marL="0">
              <a:buNone/>
            </a:pPr>
            <a:r>
              <a:rPr lang="en-US" sz="850" dirty="0">
                <a:solidFill>
                  <a:srgbClr val="FCA5A5"/>
                </a:solidFill>
                <a:latin typeface="Courier New" pitchFamily="34" charset="0"/>
                <a:ea typeface="Courier New" pitchFamily="34" charset="-122"/>
                <a:cs typeface="Courier New" pitchFamily="34" charset="-120"/>
              </a:rPr>
              <a:t>&lt;!-- HTML5 has NO built-in password confirmation --&gt;</a:t>
            </a:r>
            <a:endParaRPr lang="en-US" sz="850" dirty="0"/>
          </a:p>
          <a:p>
            <a:pPr indent="0" marL="0">
              <a:buNone/>
            </a:pPr>
            <a:r>
              <a:rPr lang="en-US" sz="850" dirty="0">
                <a:solidFill>
                  <a:srgbClr val="FCA5A5"/>
                </a:solidFill>
                <a:latin typeface="Courier New" pitchFamily="34" charset="0"/>
                <a:ea typeface="Courier New" pitchFamily="34" charset="-122"/>
                <a:cs typeface="Courier New" pitchFamily="34" charset="-120"/>
              </a:rPr>
              <a:t>&lt;!-- This does NOT check that they match: --&gt;</a:t>
            </a:r>
            <a:endParaRPr lang="en-US" sz="850" dirty="0"/>
          </a:p>
          <a:p>
            <a:pPr indent="0" marL="0">
              <a:buNone/>
            </a:pPr>
            <a:r>
              <a:rPr lang="en-US" sz="850" dirty="0">
                <a:solidFill>
                  <a:srgbClr val="FCA5A5"/>
                </a:solidFill>
                <a:latin typeface="Courier New" pitchFamily="34" charset="0"/>
                <a:ea typeface="Courier New" pitchFamily="34" charset="-122"/>
                <a:cs typeface="Courier New" pitchFamily="34" charset="-120"/>
              </a:rPr>
              <a:t>&lt;input type="password" id="pw" required&gt;</a:t>
            </a:r>
            <a:endParaRPr lang="en-US" sz="850" dirty="0"/>
          </a:p>
          <a:p>
            <a:pPr indent="0" marL="0">
              <a:buNone/>
            </a:pPr>
            <a:r>
              <a:rPr lang="en-US" sz="850" dirty="0">
                <a:solidFill>
                  <a:srgbClr val="FCA5A5"/>
                </a:solidFill>
                <a:latin typeface="Courier New" pitchFamily="34" charset="0"/>
                <a:ea typeface="Courier New" pitchFamily="34" charset="-122"/>
                <a:cs typeface="Courier New" pitchFamily="34" charset="-120"/>
              </a:rPr>
              <a:t>&lt;input type="password" id="pw2" required&gt;</a:t>
            </a:r>
            <a:endParaRPr lang="en-US" sz="850" dirty="0"/>
          </a:p>
          <a:p>
            <a:pPr indent="0" marL="0">
              <a:buNone/>
            </a:pPr>
            <a:r>
              <a:rPr lang="en-US" sz="850" dirty="0">
                <a:solidFill>
                  <a:srgbClr val="FCA5A5"/>
                </a:solidFill>
                <a:latin typeface="Courier New" pitchFamily="34" charset="0"/>
                <a:ea typeface="Courier New" pitchFamily="34" charset="-122"/>
                <a:cs typeface="Courier New" pitchFamily="34" charset="-120"/>
              </a:rPr>
              <a:t>&lt;!-- The form will submit even if they differ! --&gt;</a:t>
            </a:r>
            <a:endParaRPr lang="en-US" sz="850" dirty="0"/>
          </a:p>
        </p:txBody>
      </p:sp>
      <p:sp>
        <p:nvSpPr>
          <p:cNvPr id="6" name="Text 4"/>
          <p:cNvSpPr txBox="1"/>
          <p:nvPr/>
        </p:nvSpPr>
        <p:spPr>
          <a:xfrm>
            <a:off x="4709160" y="777240"/>
            <a:ext cx="4160520" cy="256032"/>
          </a:xfrm>
          <a:prstGeom prst="rect">
            <a:avLst/>
          </a:prstGeom>
          <a:noFill/>
          <a:ln/>
        </p:spPr>
        <p:txBody>
          <a:bodyPr wrap="square" lIns="0" tIns="0" rIns="0" bIns="0" rtlCol="0" anchor="ctr"/>
          <a:lstStyle/>
          <a:p>
            <a:pPr indent="0" marL="0">
              <a:buNone/>
            </a:pPr>
            <a:r>
              <a:rPr lang="en-US" sz="1000" b="1" dirty="0">
                <a:solidFill>
                  <a:srgbClr val="86EFAC"/>
                </a:solidFill>
                <a:latin typeface="Calibri" pitchFamily="34" charset="0"/>
                <a:ea typeface="Calibri" pitchFamily="34" charset="-122"/>
                <a:cs typeface="Calibri" pitchFamily="34" charset="-120"/>
              </a:rPr>
              <a:t>✅  WITH JS — setCustomValidity() comparison</a:t>
            </a:r>
            <a:endParaRPr lang="en-US" sz="1000" dirty="0"/>
          </a:p>
        </p:txBody>
      </p:sp>
      <p:sp>
        <p:nvSpPr>
          <p:cNvPr id="7" name="Shape 5"/>
          <p:cNvSpPr/>
          <p:nvPr/>
        </p:nvSpPr>
        <p:spPr>
          <a:xfrm>
            <a:off x="4709160" y="1051560"/>
            <a:ext cx="4160520" cy="2331720"/>
          </a:xfrm>
          <a:prstGeom prst="rect">
            <a:avLst/>
          </a:prstGeom>
          <a:solidFill>
            <a:srgbClr val="0D1321"/>
          </a:solidFill>
          <a:ln/>
        </p:spPr>
      </p:sp>
      <p:sp>
        <p:nvSpPr>
          <p:cNvPr id="8" name="Text 6"/>
          <p:cNvSpPr txBox="1"/>
          <p:nvPr/>
        </p:nvSpPr>
        <p:spPr>
          <a:xfrm>
            <a:off x="4800600" y="1088136"/>
            <a:ext cx="3977640" cy="2258568"/>
          </a:xfrm>
          <a:prstGeom prst="rect">
            <a:avLst/>
          </a:prstGeom>
          <a:noFill/>
          <a:ln/>
        </p:spPr>
        <p:txBody>
          <a:bodyPr wrap="square" lIns="0" tIns="0" rIns="0" bIns="0" rtlCol="0" anchor="t"/>
          <a:lstStyle/>
          <a:p>
            <a:pPr indent="0" marL="0">
              <a:buNone/>
            </a:pPr>
            <a:r>
              <a:rPr lang="en-US" sz="850" dirty="0">
                <a:solidFill>
                  <a:srgbClr val="86EFAC"/>
                </a:solidFill>
                <a:latin typeface="Courier New" pitchFamily="34" charset="0"/>
                <a:ea typeface="Courier New" pitchFamily="34" charset="-122"/>
                <a:cs typeface="Courier New" pitchFamily="34" charset="-120"/>
              </a:rPr>
              <a:t>const pw  = document.getElementById('pw');</a:t>
            </a:r>
            <a:endParaRPr lang="en-US" sz="850" dirty="0"/>
          </a:p>
          <a:p>
            <a:pPr indent="0" marL="0">
              <a:buNone/>
            </a:pPr>
            <a:r>
              <a:rPr lang="en-US" sz="850" dirty="0">
                <a:solidFill>
                  <a:srgbClr val="86EFAC"/>
                </a:solidFill>
                <a:latin typeface="Courier New" pitchFamily="34" charset="0"/>
                <a:ea typeface="Courier New" pitchFamily="34" charset="-122"/>
                <a:cs typeface="Courier New" pitchFamily="34" charset="-120"/>
              </a:rPr>
              <a:t>const pw2 = document.getElementById('pw2');</a:t>
            </a:r>
            <a:endParaRPr lang="en-US" sz="850" dirty="0"/>
          </a:p>
          <a:p>
            <a:pPr indent="0" marL="0">
              <a:buNone/>
            </a:pPr>
            <a:endParaRPr lang="en-US" sz="850" dirty="0"/>
          </a:p>
          <a:p>
            <a:pPr indent="0" marL="0">
              <a:buNone/>
            </a:pPr>
            <a:r>
              <a:rPr lang="en-US" sz="850" dirty="0">
                <a:solidFill>
                  <a:srgbClr val="86EFAC"/>
                </a:solidFill>
                <a:latin typeface="Courier New" pitchFamily="34" charset="0"/>
                <a:ea typeface="Courier New" pitchFamily="34" charset="-122"/>
                <a:cs typeface="Courier New" pitchFamily="34" charset="-120"/>
              </a:rPr>
              <a:t>pw2.addEventListener('input', function() {</a:t>
            </a:r>
            <a:endParaRPr lang="en-US" sz="850" dirty="0"/>
          </a:p>
          <a:p>
            <a:pPr indent="0" marL="0">
              <a:buNone/>
            </a:pPr>
            <a:r>
              <a:rPr lang="en-US" sz="850" dirty="0">
                <a:solidFill>
                  <a:srgbClr val="86EFAC"/>
                </a:solidFill>
                <a:latin typeface="Courier New" pitchFamily="34" charset="0"/>
                <a:ea typeface="Courier New" pitchFamily="34" charset="-122"/>
                <a:cs typeface="Courier New" pitchFamily="34" charset="-120"/>
              </a:rPr>
              <a:t>  if (this.value !== pw.value) {</a:t>
            </a:r>
            <a:endParaRPr lang="en-US" sz="850" dirty="0"/>
          </a:p>
          <a:p>
            <a:pPr indent="0" marL="0">
              <a:buNone/>
            </a:pPr>
            <a:r>
              <a:rPr lang="en-US" sz="850" dirty="0">
                <a:solidFill>
                  <a:srgbClr val="86EFAC"/>
                </a:solidFill>
                <a:latin typeface="Courier New" pitchFamily="34" charset="0"/>
                <a:ea typeface="Courier New" pitchFamily="34" charset="-122"/>
                <a:cs typeface="Courier New" pitchFamily="34" charset="-120"/>
              </a:rPr>
              <a:t>    // Non-empty string = field is INVALID</a:t>
            </a:r>
            <a:endParaRPr lang="en-US" sz="850" dirty="0"/>
          </a:p>
          <a:p>
            <a:pPr indent="0" marL="0">
              <a:buNone/>
            </a:pPr>
            <a:r>
              <a:rPr lang="en-US" sz="850" dirty="0">
                <a:solidFill>
                  <a:srgbClr val="86EFAC"/>
                </a:solidFill>
                <a:latin typeface="Courier New" pitchFamily="34" charset="0"/>
                <a:ea typeface="Courier New" pitchFamily="34" charset="-122"/>
                <a:cs typeface="Courier New" pitchFamily="34" charset="-120"/>
              </a:rPr>
              <a:t>    this.setCustomValidity(</a:t>
            </a:r>
            <a:endParaRPr lang="en-US" sz="850" dirty="0"/>
          </a:p>
          <a:p>
            <a:pPr indent="0" marL="0">
              <a:buNone/>
            </a:pPr>
            <a:r>
              <a:rPr lang="en-US" sz="850" dirty="0">
                <a:solidFill>
                  <a:srgbClr val="86EFAC"/>
                </a:solidFill>
                <a:latin typeface="Courier New" pitchFamily="34" charset="0"/>
                <a:ea typeface="Courier New" pitchFamily="34" charset="-122"/>
                <a:cs typeface="Courier New" pitchFamily="34" charset="-120"/>
              </a:rPr>
              <a:t>      'Passwords do not match');</a:t>
            </a:r>
            <a:endParaRPr lang="en-US" sz="850" dirty="0"/>
          </a:p>
          <a:p>
            <a:pPr indent="0" marL="0">
              <a:buNone/>
            </a:pPr>
            <a:r>
              <a:rPr lang="en-US" sz="850" dirty="0">
                <a:solidFill>
                  <a:srgbClr val="86EFAC"/>
                </a:solidFill>
                <a:latin typeface="Courier New" pitchFamily="34" charset="0"/>
                <a:ea typeface="Courier New" pitchFamily="34" charset="-122"/>
                <a:cs typeface="Courier New" pitchFamily="34" charset="-120"/>
              </a:rPr>
              <a:t>  } else {</a:t>
            </a:r>
            <a:endParaRPr lang="en-US" sz="850" dirty="0"/>
          </a:p>
          <a:p>
            <a:pPr indent="0" marL="0">
              <a:buNone/>
            </a:pPr>
            <a:r>
              <a:rPr lang="en-US" sz="850" dirty="0">
                <a:solidFill>
                  <a:srgbClr val="86EFAC"/>
                </a:solidFill>
                <a:latin typeface="Courier New" pitchFamily="34" charset="0"/>
                <a:ea typeface="Courier New" pitchFamily="34" charset="-122"/>
                <a:cs typeface="Courier New" pitchFamily="34" charset="-120"/>
              </a:rPr>
              <a:t>    // Empty string = field is VALID again</a:t>
            </a:r>
            <a:endParaRPr lang="en-US" sz="850" dirty="0"/>
          </a:p>
          <a:p>
            <a:pPr indent="0" marL="0">
              <a:buNone/>
            </a:pPr>
            <a:r>
              <a:rPr lang="en-US" sz="850" dirty="0">
                <a:solidFill>
                  <a:srgbClr val="86EFAC"/>
                </a:solidFill>
                <a:latin typeface="Courier New" pitchFamily="34" charset="0"/>
                <a:ea typeface="Courier New" pitchFamily="34" charset="-122"/>
                <a:cs typeface="Courier New" pitchFamily="34" charset="-120"/>
              </a:rPr>
              <a:t>    this.setCustomValidity('');</a:t>
            </a:r>
            <a:endParaRPr lang="en-US" sz="850" dirty="0"/>
          </a:p>
          <a:p>
            <a:pPr indent="0" marL="0">
              <a:buNone/>
            </a:pPr>
            <a:r>
              <a:rPr lang="en-US" sz="850" dirty="0">
                <a:solidFill>
                  <a:srgbClr val="86EFAC"/>
                </a:solidFill>
                <a:latin typeface="Courier New" pitchFamily="34" charset="0"/>
                <a:ea typeface="Courier New" pitchFamily="34" charset="-122"/>
                <a:cs typeface="Courier New" pitchFamily="34" charset="-120"/>
              </a:rPr>
              <a:t>  }</a:t>
            </a:r>
            <a:endParaRPr lang="en-US" sz="850" dirty="0"/>
          </a:p>
          <a:p>
            <a:pPr indent="0" marL="0">
              <a:buNone/>
            </a:pPr>
            <a:r>
              <a:rPr lang="en-US" sz="850" dirty="0">
                <a:solidFill>
                  <a:srgbClr val="86EFAC"/>
                </a:solidFill>
                <a:latin typeface="Courier New" pitchFamily="34" charset="0"/>
                <a:ea typeface="Courier New" pitchFamily="34" charset="-122"/>
                <a:cs typeface="Courier New" pitchFamily="34" charset="-120"/>
              </a:rPr>
              <a:t>});</a:t>
            </a:r>
            <a:endParaRPr lang="en-US" sz="850" dirty="0"/>
          </a:p>
        </p:txBody>
      </p:sp>
      <p:sp>
        <p:nvSpPr>
          <p:cNvPr id="9" name="Shape 7"/>
          <p:cNvSpPr/>
          <p:nvPr/>
        </p:nvSpPr>
        <p:spPr>
          <a:xfrm>
            <a:off x="274320" y="2743200"/>
            <a:ext cx="4160520" cy="1828800"/>
          </a:xfrm>
          <a:prstGeom prst="rect">
            <a:avLst/>
          </a:prstGeom>
          <a:solidFill>
            <a:srgbClr val="0D1321"/>
          </a:solidFill>
          <a:ln/>
        </p:spPr>
      </p:sp>
      <p:sp>
        <p:nvSpPr>
          <p:cNvPr id="10" name="Text 8"/>
          <p:cNvSpPr txBox="1"/>
          <p:nvPr/>
        </p:nvSpPr>
        <p:spPr>
          <a:xfrm>
            <a:off x="365760" y="2816352"/>
            <a:ext cx="3977640" cy="1691640"/>
          </a:xfrm>
          <a:prstGeom prst="rect">
            <a:avLst/>
          </a:prstGeom>
          <a:noFill/>
          <a:ln/>
        </p:spPr>
        <p:txBody>
          <a:bodyPr wrap="square" lIns="0" tIns="0" rIns="0" bIns="0" rtlCol="0" anchor="t"/>
          <a:lstStyle/>
          <a:p>
            <a:pPr indent="0" marL="0">
              <a:buNone/>
            </a:pPr>
            <a:r>
              <a:rPr lang="en-US" sz="1100" b="1" dirty="0">
                <a:solidFill>
                  <a:srgbClr val="F7DF1E"/>
                </a:solidFill>
                <a:latin typeface="Calibri" pitchFamily="34" charset="0"/>
                <a:ea typeface="Calibri" pitchFamily="34" charset="-122"/>
                <a:cs typeface="Calibri" pitchFamily="34" charset="-120"/>
              </a:rPr>
              <a:t>Why setCustomValidity()?
</a:t>
            </a:r>
            <a:pPr indent="0" marL="0">
              <a:buNone/>
            </a:pPr>
            <a:r>
              <a:rPr lang="en-US" sz="1100" dirty="0">
                <a:solidFill>
                  <a:srgbClr val="FFFFFF"/>
                </a:solidFill>
                <a:latin typeface="Calibri" pitchFamily="34" charset="0"/>
                <a:ea typeface="Calibri" pitchFamily="34" charset="-122"/>
                <a:cs typeface="Calibri" pitchFamily="34" charset="-120"/>
              </a:rPr>
              <a:t>It bridges your JS logic and the browser's validity API.
</a:t>
            </a:r>
            <a:pPr indent="0" marL="0">
              <a:buNone/>
            </a:pPr>
            <a:r>
              <a:rPr lang="en-US" sz="1100" b="1" dirty="0">
                <a:solidFill>
                  <a:srgbClr val="FCA5A5"/>
                </a:solidFill>
                <a:latin typeface="Calibri" pitchFamily="34" charset="0"/>
                <a:ea typeface="Calibri" pitchFamily="34" charset="-122"/>
                <a:cs typeface="Calibri" pitchFamily="34" charset="-120"/>
              </a:rPr>
              <a:t>Non-empty string</a:t>
            </a:r>
            <a:pPr indent="0" marL="0">
              <a:buNone/>
            </a:pPr>
            <a:r>
              <a:rPr lang="en-US" sz="1100" dirty="0">
                <a:solidFill>
                  <a:srgbClr val="FFFFFF"/>
                </a:solidFill>
                <a:latin typeface="Calibri" pitchFamily="34" charset="0"/>
                <a:ea typeface="Calibri" pitchFamily="34" charset="-122"/>
                <a:cs typeface="Calibri" pitchFamily="34" charset="-120"/>
              </a:rPr>
              <a:t> → field is invalid, checkValidity() = false
</a:t>
            </a:r>
            <a:pPr indent="0" marL="0">
              <a:buNone/>
            </a:pPr>
            <a:r>
              <a:rPr lang="en-US" sz="1100" b="1" dirty="0">
                <a:solidFill>
                  <a:srgbClr val="86EFAC"/>
                </a:solidFill>
                <a:latin typeface="Calibri" pitchFamily="34" charset="0"/>
                <a:ea typeface="Calibri" pitchFamily="34" charset="-122"/>
                <a:cs typeface="Calibri" pitchFamily="34" charset="-120"/>
              </a:rPr>
              <a:t>Empty string</a:t>
            </a:r>
            <a:pPr indent="0" marL="0">
              <a:buNone/>
            </a:pPr>
            <a:r>
              <a:rPr lang="en-US" sz="1100" dirty="0">
                <a:solidFill>
                  <a:srgbClr val="FFFFFF"/>
                </a:solidFill>
                <a:latin typeface="Calibri" pitchFamily="34" charset="0"/>
                <a:ea typeface="Calibri" pitchFamily="34" charset="-122"/>
                <a:cs typeface="Calibri" pitchFamily="34" charset="-120"/>
              </a:rPr>
              <a:t> → field is valid, error cleared</a:t>
            </a:r>
            <a:endParaRPr lang="en-US" sz="1100" dirty="0"/>
          </a:p>
        </p:txBody>
      </p:sp>
      <p:sp>
        <p:nvSpPr>
          <p:cNvPr id="11" name="Text 9"/>
          <p:cNvSpPr txBox="1"/>
          <p:nvPr/>
        </p:nvSpPr>
        <p:spPr>
          <a:xfrm>
            <a:off x="320040" y="4892040"/>
            <a:ext cx="8503920" cy="182880"/>
          </a:xfrm>
          <a:prstGeom prst="rect">
            <a:avLst/>
          </a:prstGeom>
          <a:noFill/>
          <a:ln/>
        </p:spPr>
        <p:txBody>
          <a:bodyPr wrap="square" rtlCol="0" anchor="ctr"/>
          <a:lstStyle/>
          <a:p>
            <a:pPr algn="ctr" indent="0" marL="0">
              <a:buNone/>
            </a:pPr>
            <a:r>
              <a:rPr lang="en-US" sz="800" dirty="0">
                <a:solidFill>
                  <a:srgbClr val="94A3B8"/>
                </a:solidFill>
                <a:latin typeface="Calibri" pitchFamily="34" charset="0"/>
                <a:ea typeface="Calibri" pitchFamily="34" charset="-122"/>
                <a:cs typeface="Calibri" pitchFamily="34" charset="-120"/>
              </a:rPr>
              <a:t>K0126002  ·  Gachon University  ·  2026 Fall  ·  Dr. Toshpulatov</a:t>
            </a:r>
            <a:endParaRPr lang="en-US" sz="80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0D1321"/>
        </a:solidFill>
      </p:bgPr>
    </p:bg>
    <p:spTree>
      <p:nvGrpSpPr>
        <p:cNvPr id="1" name=""/>
        <p:cNvGrpSpPr/>
        <p:nvPr/>
      </p:nvGrpSpPr>
      <p:grpSpPr>
        <a:xfrm>
          <a:off x="0" y="0"/>
          <a:ext cx="0" cy="0"/>
          <a:chOff x="0" y="0"/>
          <a:chExt cx="0" cy="0"/>
        </a:xfrm>
      </p:grpSpPr>
      <p:sp>
        <p:nvSpPr>
          <p:cNvPr id="2" name="Text 0"/>
          <p:cNvSpPr txBox="1"/>
          <p:nvPr/>
        </p:nvSpPr>
        <p:spPr>
          <a:xfrm>
            <a:off x="457200" y="228600"/>
            <a:ext cx="8229600" cy="411480"/>
          </a:xfrm>
          <a:prstGeom prst="rect">
            <a:avLst/>
          </a:prstGeom>
          <a:noFill/>
          <a:ln/>
        </p:spPr>
        <p:txBody>
          <a:bodyPr wrap="square" rtlCol="0" anchor="ctr"/>
          <a:lstStyle/>
          <a:p>
            <a:pPr algn="ctr" indent="0" marL="0">
              <a:buNone/>
            </a:pPr>
            <a:r>
              <a:rPr lang="en-US" sz="2000" b="1" dirty="0">
                <a:solidFill>
                  <a:srgbClr val="F7DF1E"/>
                </a:solidFill>
                <a:latin typeface="Calibri" pitchFamily="34" charset="0"/>
                <a:ea typeface="Calibri" pitchFamily="34" charset="-122"/>
                <a:cs typeface="Calibri" pitchFamily="34" charset="-120"/>
              </a:rPr>
              <a:t>⚡ QUICK QUIZ</a:t>
            </a:r>
            <a:endParaRPr lang="en-US" sz="2000" dirty="0"/>
          </a:p>
        </p:txBody>
      </p:sp>
      <p:sp>
        <p:nvSpPr>
          <p:cNvPr id="3" name="Text 1"/>
          <p:cNvSpPr txBox="1"/>
          <p:nvPr/>
        </p:nvSpPr>
        <p:spPr>
          <a:xfrm>
            <a:off x="457200" y="731520"/>
            <a:ext cx="8229600" cy="640080"/>
          </a:xfrm>
          <a:prstGeom prst="rect">
            <a:avLst/>
          </a:prstGeom>
          <a:noFill/>
          <a:ln/>
        </p:spPr>
        <p:txBody>
          <a:bodyPr wrap="square" rtlCol="0" anchor="ctr"/>
          <a:lstStyle/>
          <a:p>
            <a:pPr algn="ctr" indent="0" marL="0">
              <a:buNone/>
            </a:pPr>
            <a:r>
              <a:rPr lang="en-US" sz="1500" dirty="0">
                <a:solidFill>
                  <a:srgbClr val="FFFFFF"/>
                </a:solidFill>
                <a:latin typeface="Calibri" pitchFamily="34" charset="0"/>
                <a:ea typeface="Calibri" pitchFamily="34" charset="-122"/>
                <a:cs typeface="Calibri" pitchFamily="34" charset="-120"/>
              </a:rPr>
              <a:t>Which event fires continuously AS the user types in an input field?</a:t>
            </a:r>
            <a:endParaRPr lang="en-US" sz="1500" dirty="0"/>
          </a:p>
        </p:txBody>
      </p:sp>
      <p:sp>
        <p:nvSpPr>
          <p:cNvPr id="4" name="Shape 2"/>
          <p:cNvSpPr/>
          <p:nvPr/>
        </p:nvSpPr>
        <p:spPr>
          <a:xfrm>
            <a:off x="457200" y="1508760"/>
            <a:ext cx="4023360" cy="777240"/>
          </a:xfrm>
          <a:prstGeom prst="rect">
            <a:avLst/>
          </a:prstGeom>
          <a:solidFill>
            <a:srgbClr val="1E3060"/>
          </a:solidFill>
          <a:ln w="12700">
            <a:solidFill>
              <a:srgbClr val="2D4A8A"/>
            </a:solidFill>
            <a:prstDash val="solid"/>
          </a:ln>
        </p:spPr>
      </p:sp>
      <p:sp>
        <p:nvSpPr>
          <p:cNvPr id="5" name="Text 3"/>
          <p:cNvSpPr txBox="1"/>
          <p:nvPr/>
        </p:nvSpPr>
        <p:spPr>
          <a:xfrm>
            <a:off x="548640" y="1600200"/>
            <a:ext cx="3840480" cy="594360"/>
          </a:xfrm>
          <a:prstGeom prst="rect">
            <a:avLst/>
          </a:prstGeom>
          <a:noFill/>
          <a:ln/>
        </p:spPr>
        <p:txBody>
          <a:bodyPr wrap="square" lIns="0" tIns="0" rIns="0" bIns="0" rtlCol="0" anchor="ctr"/>
          <a:lstStyle/>
          <a:p>
            <a:pPr indent="0" marL="0">
              <a:buNone/>
            </a:pPr>
            <a:r>
              <a:rPr lang="en-US" sz="1300" dirty="0">
                <a:solidFill>
                  <a:srgbClr val="FFFFFF"/>
                </a:solidFill>
                <a:latin typeface="Calibri" pitchFamily="34" charset="0"/>
                <a:ea typeface="Calibri" pitchFamily="34" charset="-122"/>
                <a:cs typeface="Calibri" pitchFamily="34" charset="-120"/>
              </a:rPr>
              <a:t>A   keypress</a:t>
            </a:r>
            <a:endParaRPr lang="en-US" sz="1300" dirty="0"/>
          </a:p>
        </p:txBody>
      </p:sp>
      <p:sp>
        <p:nvSpPr>
          <p:cNvPr id="6" name="Shape 4"/>
          <p:cNvSpPr/>
          <p:nvPr/>
        </p:nvSpPr>
        <p:spPr>
          <a:xfrm>
            <a:off x="4800600" y="1508760"/>
            <a:ext cx="4023360" cy="777240"/>
          </a:xfrm>
          <a:prstGeom prst="rect">
            <a:avLst/>
          </a:prstGeom>
          <a:solidFill>
            <a:srgbClr val="1E3060"/>
          </a:solidFill>
          <a:ln w="12700">
            <a:solidFill>
              <a:srgbClr val="2D4A8A"/>
            </a:solidFill>
            <a:prstDash val="solid"/>
          </a:ln>
        </p:spPr>
      </p:sp>
      <p:sp>
        <p:nvSpPr>
          <p:cNvPr id="7" name="Text 5"/>
          <p:cNvSpPr txBox="1"/>
          <p:nvPr/>
        </p:nvSpPr>
        <p:spPr>
          <a:xfrm>
            <a:off x="4892040" y="1600200"/>
            <a:ext cx="3840480" cy="594360"/>
          </a:xfrm>
          <a:prstGeom prst="rect">
            <a:avLst/>
          </a:prstGeom>
          <a:noFill/>
          <a:ln/>
        </p:spPr>
        <p:txBody>
          <a:bodyPr wrap="square" lIns="0" tIns="0" rIns="0" bIns="0" rtlCol="0" anchor="ctr"/>
          <a:lstStyle/>
          <a:p>
            <a:pPr indent="0" marL="0">
              <a:buNone/>
            </a:pPr>
            <a:r>
              <a:rPr lang="en-US" sz="1300" dirty="0">
                <a:solidFill>
                  <a:srgbClr val="FFFFFF"/>
                </a:solidFill>
                <a:latin typeface="Calibri" pitchFamily="34" charset="0"/>
                <a:ea typeface="Calibri" pitchFamily="34" charset="-122"/>
                <a:cs typeface="Calibri" pitchFamily="34" charset="-120"/>
              </a:rPr>
              <a:t>B   change</a:t>
            </a:r>
            <a:endParaRPr lang="en-US" sz="1300" dirty="0"/>
          </a:p>
        </p:txBody>
      </p:sp>
      <p:sp>
        <p:nvSpPr>
          <p:cNvPr id="8" name="Shape 6"/>
          <p:cNvSpPr/>
          <p:nvPr/>
        </p:nvSpPr>
        <p:spPr>
          <a:xfrm>
            <a:off x="457200" y="2468880"/>
            <a:ext cx="4023360" cy="777240"/>
          </a:xfrm>
          <a:prstGeom prst="rect">
            <a:avLst/>
          </a:prstGeom>
          <a:solidFill>
            <a:srgbClr val="1E3060"/>
          </a:solidFill>
          <a:ln w="12700">
            <a:solidFill>
              <a:srgbClr val="2D4A8A"/>
            </a:solidFill>
            <a:prstDash val="solid"/>
          </a:ln>
        </p:spPr>
      </p:sp>
      <p:sp>
        <p:nvSpPr>
          <p:cNvPr id="9" name="Text 7"/>
          <p:cNvSpPr txBox="1"/>
          <p:nvPr/>
        </p:nvSpPr>
        <p:spPr>
          <a:xfrm>
            <a:off x="548640" y="2560320"/>
            <a:ext cx="3840480" cy="594360"/>
          </a:xfrm>
          <a:prstGeom prst="rect">
            <a:avLst/>
          </a:prstGeom>
          <a:noFill/>
          <a:ln/>
        </p:spPr>
        <p:txBody>
          <a:bodyPr wrap="square" lIns="0" tIns="0" rIns="0" bIns="0" rtlCol="0" anchor="ctr"/>
          <a:lstStyle/>
          <a:p>
            <a:pPr indent="0" marL="0">
              <a:buNone/>
            </a:pPr>
            <a:r>
              <a:rPr lang="en-US" sz="1300" dirty="0">
                <a:solidFill>
                  <a:srgbClr val="FFFFFF"/>
                </a:solidFill>
                <a:latin typeface="Calibri" pitchFamily="34" charset="0"/>
                <a:ea typeface="Calibri" pitchFamily="34" charset="-122"/>
                <a:cs typeface="Calibri" pitchFamily="34" charset="-120"/>
              </a:rPr>
              <a:t>C   input</a:t>
            </a:r>
            <a:endParaRPr lang="en-US" sz="1300" dirty="0"/>
          </a:p>
        </p:txBody>
      </p:sp>
      <p:sp>
        <p:nvSpPr>
          <p:cNvPr id="10" name="Shape 8"/>
          <p:cNvSpPr/>
          <p:nvPr/>
        </p:nvSpPr>
        <p:spPr>
          <a:xfrm>
            <a:off x="4800600" y="2468880"/>
            <a:ext cx="4023360" cy="777240"/>
          </a:xfrm>
          <a:prstGeom prst="rect">
            <a:avLst/>
          </a:prstGeom>
          <a:solidFill>
            <a:srgbClr val="1E3060"/>
          </a:solidFill>
          <a:ln w="12700">
            <a:solidFill>
              <a:srgbClr val="2D4A8A"/>
            </a:solidFill>
            <a:prstDash val="solid"/>
          </a:ln>
        </p:spPr>
      </p:sp>
      <p:sp>
        <p:nvSpPr>
          <p:cNvPr id="11" name="Text 9"/>
          <p:cNvSpPr txBox="1"/>
          <p:nvPr/>
        </p:nvSpPr>
        <p:spPr>
          <a:xfrm>
            <a:off x="4892040" y="2560320"/>
            <a:ext cx="3840480" cy="594360"/>
          </a:xfrm>
          <a:prstGeom prst="rect">
            <a:avLst/>
          </a:prstGeom>
          <a:noFill/>
          <a:ln/>
        </p:spPr>
        <p:txBody>
          <a:bodyPr wrap="square" lIns="0" tIns="0" rIns="0" bIns="0" rtlCol="0" anchor="ctr"/>
          <a:lstStyle/>
          <a:p>
            <a:pPr indent="0" marL="0">
              <a:buNone/>
            </a:pPr>
            <a:r>
              <a:rPr lang="en-US" sz="1300" dirty="0">
                <a:solidFill>
                  <a:srgbClr val="FFFFFF"/>
                </a:solidFill>
                <a:latin typeface="Calibri" pitchFamily="34" charset="0"/>
                <a:ea typeface="Calibri" pitchFamily="34" charset="-122"/>
                <a:cs typeface="Calibri" pitchFamily="34" charset="-120"/>
              </a:rPr>
              <a:t>D   submit</a:t>
            </a:r>
            <a:endParaRPr lang="en-US" sz="1300" dirty="0"/>
          </a:p>
        </p:txBody>
      </p:sp>
      <p:sp>
        <p:nvSpPr>
          <p:cNvPr id="12" name="Text 10"/>
          <p:cNvSpPr txBox="1"/>
          <p:nvPr/>
        </p:nvSpPr>
        <p:spPr>
          <a:xfrm>
            <a:off x="457200" y="4434840"/>
            <a:ext cx="8229600" cy="320040"/>
          </a:xfrm>
          <a:prstGeom prst="rect">
            <a:avLst/>
          </a:prstGeom>
          <a:noFill/>
          <a:ln/>
        </p:spPr>
        <p:txBody>
          <a:bodyPr wrap="square" rtlCol="0" anchor="ctr"/>
          <a:lstStyle/>
          <a:p>
            <a:pPr algn="ctr" indent="0" marL="0">
              <a:buNone/>
            </a:pPr>
            <a:r>
              <a:rPr lang="en-US" sz="1100" dirty="0">
                <a:solidFill>
                  <a:srgbClr val="94A3B8"/>
                </a:solidFill>
                <a:latin typeface="Calibri" pitchFamily="34" charset="0"/>
                <a:ea typeface="Calibri" pitchFamily="34" charset="-122"/>
                <a:cs typeface="Calibri" pitchFamily="34" charset="-120"/>
              </a:rPr>
              <a:t>💬 Discuss with your neighbor — then we'll reveal the answer!</a:t>
            </a:r>
            <a:endParaRPr lang="en-US" sz="110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0D1321"/>
        </a:solidFill>
      </p:bgPr>
    </p:bg>
    <p:spTree>
      <p:nvGrpSpPr>
        <p:cNvPr id="1" name=""/>
        <p:cNvGrpSpPr/>
        <p:nvPr/>
      </p:nvGrpSpPr>
      <p:grpSpPr>
        <a:xfrm>
          <a:off x="0" y="0"/>
          <a:ext cx="0" cy="0"/>
          <a:chOff x="0" y="0"/>
          <a:chExt cx="0" cy="0"/>
        </a:xfrm>
      </p:grpSpPr>
      <p:sp>
        <p:nvSpPr>
          <p:cNvPr id="2" name="Text 0"/>
          <p:cNvSpPr txBox="1"/>
          <p:nvPr/>
        </p:nvSpPr>
        <p:spPr>
          <a:xfrm>
            <a:off x="457200" y="228600"/>
            <a:ext cx="8229600" cy="411480"/>
          </a:xfrm>
          <a:prstGeom prst="rect">
            <a:avLst/>
          </a:prstGeom>
          <a:noFill/>
          <a:ln/>
        </p:spPr>
        <p:txBody>
          <a:bodyPr wrap="square" rtlCol="0" anchor="ctr"/>
          <a:lstStyle/>
          <a:p>
            <a:pPr algn="ctr" indent="0" marL="0">
              <a:buNone/>
            </a:pPr>
            <a:r>
              <a:rPr lang="en-US" sz="2000" b="1" dirty="0">
                <a:solidFill>
                  <a:srgbClr val="86EFAC"/>
                </a:solidFill>
                <a:latin typeface="Calibri" pitchFamily="34" charset="0"/>
                <a:ea typeface="Calibri" pitchFamily="34" charset="-122"/>
                <a:cs typeface="Calibri" pitchFamily="34" charset="-120"/>
              </a:rPr>
              <a:t>✅ ANSWER</a:t>
            </a:r>
            <a:endParaRPr lang="en-US" sz="2000" dirty="0"/>
          </a:p>
        </p:txBody>
      </p:sp>
      <p:sp>
        <p:nvSpPr>
          <p:cNvPr id="3" name="Text 1"/>
          <p:cNvSpPr txBox="1"/>
          <p:nvPr/>
        </p:nvSpPr>
        <p:spPr>
          <a:xfrm>
            <a:off x="457200" y="731520"/>
            <a:ext cx="8229600" cy="548640"/>
          </a:xfrm>
          <a:prstGeom prst="rect">
            <a:avLst/>
          </a:prstGeom>
          <a:noFill/>
          <a:ln/>
        </p:spPr>
        <p:txBody>
          <a:bodyPr wrap="square" rtlCol="0" anchor="ctr"/>
          <a:lstStyle/>
          <a:p>
            <a:pPr algn="ctr" indent="0" marL="0">
              <a:buNone/>
            </a:pPr>
            <a:r>
              <a:rPr lang="en-US" sz="1400" dirty="0">
                <a:solidFill>
                  <a:srgbClr val="FFFFFF"/>
                </a:solidFill>
                <a:latin typeface="Calibri" pitchFamily="34" charset="0"/>
                <a:ea typeface="Calibri" pitchFamily="34" charset="-122"/>
                <a:cs typeface="Calibri" pitchFamily="34" charset="-120"/>
              </a:rPr>
              <a:t>Which event fires continuously AS the user types in an input field?</a:t>
            </a:r>
            <a:endParaRPr lang="en-US" sz="1400" dirty="0"/>
          </a:p>
        </p:txBody>
      </p:sp>
      <p:sp>
        <p:nvSpPr>
          <p:cNvPr id="4" name="Shape 2"/>
          <p:cNvSpPr/>
          <p:nvPr/>
        </p:nvSpPr>
        <p:spPr>
          <a:xfrm>
            <a:off x="457200" y="1417320"/>
            <a:ext cx="4023360" cy="731520"/>
          </a:xfrm>
          <a:prstGeom prst="rect">
            <a:avLst/>
          </a:prstGeom>
          <a:solidFill>
            <a:srgbClr val="1E3060"/>
          </a:solidFill>
          <a:ln w="12700">
            <a:solidFill>
              <a:srgbClr val="2D4A8A"/>
            </a:solidFill>
            <a:prstDash val="solid"/>
          </a:ln>
        </p:spPr>
      </p:sp>
      <p:sp>
        <p:nvSpPr>
          <p:cNvPr id="5" name="Text 3"/>
          <p:cNvSpPr txBox="1"/>
          <p:nvPr/>
        </p:nvSpPr>
        <p:spPr>
          <a:xfrm>
            <a:off x="548640" y="1490472"/>
            <a:ext cx="3840480" cy="585216"/>
          </a:xfrm>
          <a:prstGeom prst="rect">
            <a:avLst/>
          </a:prstGeom>
          <a:noFill/>
          <a:ln/>
        </p:spPr>
        <p:txBody>
          <a:bodyPr wrap="square" lIns="0" tIns="0" rIns="0" bIns="0" rtlCol="0" anchor="ctr"/>
          <a:lstStyle/>
          <a:p>
            <a:pPr indent="0" marL="0">
              <a:buNone/>
            </a:pPr>
            <a:r>
              <a:rPr lang="en-US" sz="1300" dirty="0">
                <a:solidFill>
                  <a:srgbClr val="94A3B8"/>
                </a:solidFill>
                <a:latin typeface="Calibri" pitchFamily="34" charset="0"/>
                <a:ea typeface="Calibri" pitchFamily="34" charset="-122"/>
                <a:cs typeface="Calibri" pitchFamily="34" charset="-120"/>
              </a:rPr>
              <a:t>A   keypress</a:t>
            </a:r>
            <a:endParaRPr lang="en-US" sz="1300" dirty="0"/>
          </a:p>
        </p:txBody>
      </p:sp>
      <p:sp>
        <p:nvSpPr>
          <p:cNvPr id="6" name="Shape 4"/>
          <p:cNvSpPr/>
          <p:nvPr/>
        </p:nvSpPr>
        <p:spPr>
          <a:xfrm>
            <a:off x="4800600" y="1417320"/>
            <a:ext cx="4023360" cy="731520"/>
          </a:xfrm>
          <a:prstGeom prst="rect">
            <a:avLst/>
          </a:prstGeom>
          <a:solidFill>
            <a:srgbClr val="1E3060"/>
          </a:solidFill>
          <a:ln w="12700">
            <a:solidFill>
              <a:srgbClr val="2D4A8A"/>
            </a:solidFill>
            <a:prstDash val="solid"/>
          </a:ln>
        </p:spPr>
      </p:sp>
      <p:sp>
        <p:nvSpPr>
          <p:cNvPr id="7" name="Text 5"/>
          <p:cNvSpPr txBox="1"/>
          <p:nvPr/>
        </p:nvSpPr>
        <p:spPr>
          <a:xfrm>
            <a:off x="4892040" y="1490472"/>
            <a:ext cx="3840480" cy="585216"/>
          </a:xfrm>
          <a:prstGeom prst="rect">
            <a:avLst/>
          </a:prstGeom>
          <a:noFill/>
          <a:ln/>
        </p:spPr>
        <p:txBody>
          <a:bodyPr wrap="square" lIns="0" tIns="0" rIns="0" bIns="0" rtlCol="0" anchor="ctr"/>
          <a:lstStyle/>
          <a:p>
            <a:pPr indent="0" marL="0">
              <a:buNone/>
            </a:pPr>
            <a:r>
              <a:rPr lang="en-US" sz="1300" dirty="0">
                <a:solidFill>
                  <a:srgbClr val="94A3B8"/>
                </a:solidFill>
                <a:latin typeface="Calibri" pitchFamily="34" charset="0"/>
                <a:ea typeface="Calibri" pitchFamily="34" charset="-122"/>
                <a:cs typeface="Calibri" pitchFamily="34" charset="-120"/>
              </a:rPr>
              <a:t>B   change</a:t>
            </a:r>
            <a:endParaRPr lang="en-US" sz="1300" dirty="0"/>
          </a:p>
        </p:txBody>
      </p:sp>
      <p:sp>
        <p:nvSpPr>
          <p:cNvPr id="8" name="Shape 6"/>
          <p:cNvSpPr/>
          <p:nvPr/>
        </p:nvSpPr>
        <p:spPr>
          <a:xfrm>
            <a:off x="457200" y="2286000"/>
            <a:ext cx="4023360" cy="731520"/>
          </a:xfrm>
          <a:prstGeom prst="rect">
            <a:avLst/>
          </a:prstGeom>
          <a:solidFill>
            <a:srgbClr val="1A5C30"/>
          </a:solidFill>
          <a:ln w="25400">
            <a:solidFill>
              <a:srgbClr val="86EFAC"/>
            </a:solidFill>
            <a:prstDash val="solid"/>
          </a:ln>
        </p:spPr>
      </p:sp>
      <p:sp>
        <p:nvSpPr>
          <p:cNvPr id="9" name="Text 7"/>
          <p:cNvSpPr txBox="1"/>
          <p:nvPr/>
        </p:nvSpPr>
        <p:spPr>
          <a:xfrm>
            <a:off x="548640" y="2359152"/>
            <a:ext cx="3840480" cy="585216"/>
          </a:xfrm>
          <a:prstGeom prst="rect">
            <a:avLst/>
          </a:prstGeom>
          <a:noFill/>
          <a:ln/>
        </p:spPr>
        <p:txBody>
          <a:bodyPr wrap="square" lIns="0" tIns="0" rIns="0" bIns="0" rtlCol="0" anchor="ctr"/>
          <a:lstStyle/>
          <a:p>
            <a:pPr indent="0" marL="0">
              <a:buNone/>
            </a:pPr>
            <a:r>
              <a:rPr lang="en-US" sz="1300" b="1" dirty="0">
                <a:solidFill>
                  <a:srgbClr val="86EFAC"/>
                </a:solidFill>
                <a:latin typeface="Calibri" pitchFamily="34" charset="0"/>
                <a:ea typeface="Calibri" pitchFamily="34" charset="-122"/>
                <a:cs typeface="Calibri" pitchFamily="34" charset="-120"/>
              </a:rPr>
              <a:t>C   input</a:t>
            </a:r>
            <a:endParaRPr lang="en-US" sz="1300" dirty="0"/>
          </a:p>
        </p:txBody>
      </p:sp>
      <p:sp>
        <p:nvSpPr>
          <p:cNvPr id="10" name="Shape 8"/>
          <p:cNvSpPr/>
          <p:nvPr/>
        </p:nvSpPr>
        <p:spPr>
          <a:xfrm>
            <a:off x="4800600" y="2286000"/>
            <a:ext cx="4023360" cy="731520"/>
          </a:xfrm>
          <a:prstGeom prst="rect">
            <a:avLst/>
          </a:prstGeom>
          <a:solidFill>
            <a:srgbClr val="1E3060"/>
          </a:solidFill>
          <a:ln w="12700">
            <a:solidFill>
              <a:srgbClr val="2D4A8A"/>
            </a:solidFill>
            <a:prstDash val="solid"/>
          </a:ln>
        </p:spPr>
      </p:sp>
      <p:sp>
        <p:nvSpPr>
          <p:cNvPr id="11" name="Text 9"/>
          <p:cNvSpPr txBox="1"/>
          <p:nvPr/>
        </p:nvSpPr>
        <p:spPr>
          <a:xfrm>
            <a:off x="4892040" y="2359152"/>
            <a:ext cx="3840480" cy="585216"/>
          </a:xfrm>
          <a:prstGeom prst="rect">
            <a:avLst/>
          </a:prstGeom>
          <a:noFill/>
          <a:ln/>
        </p:spPr>
        <p:txBody>
          <a:bodyPr wrap="square" lIns="0" tIns="0" rIns="0" bIns="0" rtlCol="0" anchor="ctr"/>
          <a:lstStyle/>
          <a:p>
            <a:pPr indent="0" marL="0">
              <a:buNone/>
            </a:pPr>
            <a:r>
              <a:rPr lang="en-US" sz="1300" dirty="0">
                <a:solidFill>
                  <a:srgbClr val="94A3B8"/>
                </a:solidFill>
                <a:latin typeface="Calibri" pitchFamily="34" charset="0"/>
                <a:ea typeface="Calibri" pitchFamily="34" charset="-122"/>
                <a:cs typeface="Calibri" pitchFamily="34" charset="-120"/>
              </a:rPr>
              <a:t>D   submit</a:t>
            </a:r>
            <a:endParaRPr lang="en-US" sz="1300" dirty="0"/>
          </a:p>
        </p:txBody>
      </p:sp>
      <p:sp>
        <p:nvSpPr>
          <p:cNvPr id="12" name="Shape 10"/>
          <p:cNvSpPr/>
          <p:nvPr/>
        </p:nvSpPr>
        <p:spPr>
          <a:xfrm>
            <a:off x="320040" y="3246120"/>
            <a:ext cx="8503920" cy="1600200"/>
          </a:xfrm>
          <a:prstGeom prst="rect">
            <a:avLst/>
          </a:prstGeom>
          <a:solidFill>
            <a:srgbClr val="152035"/>
          </a:solidFill>
          <a:ln/>
        </p:spPr>
      </p:sp>
      <p:sp>
        <p:nvSpPr>
          <p:cNvPr id="13" name="Text 11"/>
          <p:cNvSpPr txBox="1"/>
          <p:nvPr/>
        </p:nvSpPr>
        <p:spPr>
          <a:xfrm>
            <a:off x="457200" y="3310128"/>
            <a:ext cx="8229600" cy="1463040"/>
          </a:xfrm>
          <a:prstGeom prst="rect">
            <a:avLst/>
          </a:prstGeom>
          <a:noFill/>
          <a:ln/>
        </p:spPr>
        <p:txBody>
          <a:bodyPr wrap="square" lIns="0" tIns="0" rIns="0" bIns="0" rtlCol="0" anchor="t"/>
          <a:lstStyle/>
          <a:p>
            <a:pPr indent="0" marL="0">
              <a:buNone/>
            </a:pPr>
            <a:r>
              <a:rPr lang="en-US" sz="1200" dirty="0">
                <a:solidFill>
                  <a:srgbClr val="FFFFFF"/>
                </a:solidFill>
                <a:latin typeface="Calibri" pitchFamily="34" charset="0"/>
                <a:ea typeface="Calibri" pitchFamily="34" charset="-122"/>
                <a:cs typeface="Calibri" pitchFamily="34" charset="-120"/>
              </a:rPr>
              <a:t>The input event fires on every keystroke, enabling real-time feedback. change only fires when the field loses focus after the value changed. keypress is deprecated. submit only fires on form submit.</a:t>
            </a:r>
            <a:endParaRPr lang="en-US" sz="120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1A2540"/>
        </a:solidFill>
      </p:bgPr>
    </p:bg>
    <p:spTree>
      <p:nvGrpSpPr>
        <p:cNvPr id="1" name=""/>
        <p:cNvGrpSpPr/>
        <p:nvPr/>
      </p:nvGrpSpPr>
      <p:grpSpPr>
        <a:xfrm>
          <a:off x="0" y="0"/>
          <a:ext cx="0" cy="0"/>
          <a:chOff x="0" y="0"/>
          <a:chExt cx="0" cy="0"/>
        </a:xfrm>
      </p:grpSpPr>
      <p:sp>
        <p:nvSpPr>
          <p:cNvPr id="2" name="Text 0"/>
          <p:cNvSpPr txBox="1"/>
          <p:nvPr/>
        </p:nvSpPr>
        <p:spPr>
          <a:xfrm>
            <a:off x="320040" y="182880"/>
            <a:ext cx="8503920" cy="475488"/>
          </a:xfrm>
          <a:prstGeom prst="rect">
            <a:avLst/>
          </a:prstGeom>
          <a:noFill/>
          <a:ln/>
        </p:spPr>
        <p:txBody>
          <a:bodyPr wrap="square" rtlCol="0" anchor="ctr"/>
          <a:lstStyle/>
          <a:p>
            <a:pPr indent="0" marL="0">
              <a:buNone/>
            </a:pPr>
            <a:r>
              <a:rPr lang="en-US" sz="2600" b="1" dirty="0">
                <a:solidFill>
                  <a:srgbClr val="F7DF1E"/>
                </a:solidFill>
                <a:latin typeface="Cambria" pitchFamily="34" charset="0"/>
                <a:ea typeface="Cambria" pitchFamily="34" charset="-122"/>
                <a:cs typeface="Cambria" pitchFamily="34" charset="-120"/>
              </a:rPr>
              <a:t>Disabling Submit Until Valid (Bonus)</a:t>
            </a:r>
            <a:endParaRPr lang="en-US" sz="2600" dirty="0"/>
          </a:p>
        </p:txBody>
      </p:sp>
      <p:sp>
        <p:nvSpPr>
          <p:cNvPr id="3" name="Text 1"/>
          <p:cNvSpPr txBox="1"/>
          <p:nvPr/>
        </p:nvSpPr>
        <p:spPr>
          <a:xfrm>
            <a:off x="274320" y="777240"/>
            <a:ext cx="4160520" cy="256032"/>
          </a:xfrm>
          <a:prstGeom prst="rect">
            <a:avLst/>
          </a:prstGeom>
          <a:noFill/>
          <a:ln/>
        </p:spPr>
        <p:txBody>
          <a:bodyPr wrap="square" lIns="0" tIns="0" rIns="0" bIns="0" rtlCol="0" anchor="ctr"/>
          <a:lstStyle/>
          <a:p>
            <a:pPr indent="0" marL="0">
              <a:buNone/>
            </a:pPr>
            <a:r>
              <a:rPr lang="en-US" sz="1000" b="1" dirty="0">
                <a:solidFill>
                  <a:srgbClr val="FCA5A5"/>
                </a:solidFill>
                <a:latin typeface="Calibri" pitchFamily="34" charset="0"/>
                <a:ea typeface="Calibri" pitchFamily="34" charset="-122"/>
                <a:cs typeface="Calibri" pitchFamily="34" charset="-120"/>
              </a:rPr>
              <a:t>❌  NO JS — button always active</a:t>
            </a:r>
            <a:endParaRPr lang="en-US" sz="1000" dirty="0"/>
          </a:p>
        </p:txBody>
      </p:sp>
      <p:sp>
        <p:nvSpPr>
          <p:cNvPr id="4" name="Shape 2"/>
          <p:cNvSpPr/>
          <p:nvPr/>
        </p:nvSpPr>
        <p:spPr>
          <a:xfrm>
            <a:off x="274320" y="1051560"/>
            <a:ext cx="4160520" cy="1920240"/>
          </a:xfrm>
          <a:prstGeom prst="rect">
            <a:avLst/>
          </a:prstGeom>
          <a:solidFill>
            <a:srgbClr val="0D1321"/>
          </a:solidFill>
          <a:ln/>
        </p:spPr>
      </p:sp>
      <p:sp>
        <p:nvSpPr>
          <p:cNvPr id="5" name="Text 3"/>
          <p:cNvSpPr txBox="1"/>
          <p:nvPr/>
        </p:nvSpPr>
        <p:spPr>
          <a:xfrm>
            <a:off x="365760" y="1088136"/>
            <a:ext cx="3977640" cy="1847088"/>
          </a:xfrm>
          <a:prstGeom prst="rect">
            <a:avLst/>
          </a:prstGeom>
          <a:noFill/>
          <a:ln/>
        </p:spPr>
        <p:txBody>
          <a:bodyPr wrap="square" lIns="0" tIns="0" rIns="0" bIns="0" rtlCol="0" anchor="t"/>
          <a:lstStyle/>
          <a:p>
            <a:pPr indent="0" marL="0">
              <a:buNone/>
            </a:pPr>
            <a:r>
              <a:rPr lang="en-US" sz="850" dirty="0">
                <a:solidFill>
                  <a:srgbClr val="FCA5A5"/>
                </a:solidFill>
                <a:latin typeface="Courier New" pitchFamily="34" charset="0"/>
                <a:ea typeface="Courier New" pitchFamily="34" charset="-122"/>
                <a:cs typeface="Courier New" pitchFamily="34" charset="-120"/>
              </a:rPr>
              <a:t>&lt;!-- Button is always clickable — no feedback --&gt;</a:t>
            </a:r>
            <a:endParaRPr lang="en-US" sz="850" dirty="0"/>
          </a:p>
          <a:p>
            <a:pPr indent="0" marL="0">
              <a:buNone/>
            </a:pPr>
            <a:r>
              <a:rPr lang="en-US" sz="850" dirty="0">
                <a:solidFill>
                  <a:srgbClr val="FCA5A5"/>
                </a:solidFill>
                <a:latin typeface="Courier New" pitchFamily="34" charset="0"/>
                <a:ea typeface="Courier New" pitchFamily="34" charset="-122"/>
                <a:cs typeface="Courier New" pitchFamily="34" charset="-120"/>
              </a:rPr>
              <a:t>&lt;button type="submit"&gt;Register&lt;/button&gt;</a:t>
            </a:r>
            <a:endParaRPr lang="en-US" sz="850" dirty="0"/>
          </a:p>
          <a:p>
            <a:pPr indent="0" marL="0">
              <a:buNone/>
            </a:pPr>
            <a:r>
              <a:rPr lang="en-US" sz="850" dirty="0">
                <a:solidFill>
                  <a:srgbClr val="FCA5A5"/>
                </a:solidFill>
                <a:latin typeface="Courier New" pitchFamily="34" charset="0"/>
                <a:ea typeface="Courier New" pitchFamily="34" charset="-122"/>
                <a:cs typeface="Courier New" pitchFamily="34" charset="-120"/>
              </a:rPr>
              <a:t>&lt;!-- User can click Submit even when</a:t>
            </a:r>
            <a:endParaRPr lang="en-US" sz="850" dirty="0"/>
          </a:p>
          <a:p>
            <a:pPr indent="0" marL="0">
              <a:buNone/>
            </a:pPr>
            <a:r>
              <a:rPr lang="en-US" sz="850" dirty="0">
                <a:solidFill>
                  <a:srgbClr val="FCA5A5"/>
                </a:solidFill>
                <a:latin typeface="Courier New" pitchFamily="34" charset="0"/>
                <a:ea typeface="Courier New" pitchFamily="34" charset="-122"/>
                <a:cs typeface="Courier New" pitchFamily="34" charset="-120"/>
              </a:rPr>
              <a:t>     required fields are empty --&gt;</a:t>
            </a:r>
            <a:endParaRPr lang="en-US" sz="850" dirty="0"/>
          </a:p>
        </p:txBody>
      </p:sp>
      <p:sp>
        <p:nvSpPr>
          <p:cNvPr id="6" name="Text 4"/>
          <p:cNvSpPr txBox="1"/>
          <p:nvPr/>
        </p:nvSpPr>
        <p:spPr>
          <a:xfrm>
            <a:off x="4709160" y="777240"/>
            <a:ext cx="4160520" cy="256032"/>
          </a:xfrm>
          <a:prstGeom prst="rect">
            <a:avLst/>
          </a:prstGeom>
          <a:noFill/>
          <a:ln/>
        </p:spPr>
        <p:txBody>
          <a:bodyPr wrap="square" lIns="0" tIns="0" rIns="0" bIns="0" rtlCol="0" anchor="ctr"/>
          <a:lstStyle/>
          <a:p>
            <a:pPr indent="0" marL="0">
              <a:buNone/>
            </a:pPr>
            <a:r>
              <a:rPr lang="en-US" sz="1000" b="1" dirty="0">
                <a:solidFill>
                  <a:srgbClr val="86EFAC"/>
                </a:solidFill>
                <a:latin typeface="Calibri" pitchFamily="34" charset="0"/>
                <a:ea typeface="Calibri" pitchFamily="34" charset="-122"/>
                <a:cs typeface="Calibri" pitchFamily="34" charset="-120"/>
              </a:rPr>
              <a:t>✅  WITH JS — button disabled until form is valid</a:t>
            </a:r>
            <a:endParaRPr lang="en-US" sz="1000" dirty="0"/>
          </a:p>
        </p:txBody>
      </p:sp>
      <p:sp>
        <p:nvSpPr>
          <p:cNvPr id="7" name="Shape 5"/>
          <p:cNvSpPr/>
          <p:nvPr/>
        </p:nvSpPr>
        <p:spPr>
          <a:xfrm>
            <a:off x="4709160" y="1051560"/>
            <a:ext cx="4160520" cy="1920240"/>
          </a:xfrm>
          <a:prstGeom prst="rect">
            <a:avLst/>
          </a:prstGeom>
          <a:solidFill>
            <a:srgbClr val="0D1321"/>
          </a:solidFill>
          <a:ln/>
        </p:spPr>
      </p:sp>
      <p:sp>
        <p:nvSpPr>
          <p:cNvPr id="8" name="Text 6"/>
          <p:cNvSpPr txBox="1"/>
          <p:nvPr/>
        </p:nvSpPr>
        <p:spPr>
          <a:xfrm>
            <a:off x="4800600" y="1088136"/>
            <a:ext cx="3977640" cy="1847088"/>
          </a:xfrm>
          <a:prstGeom prst="rect">
            <a:avLst/>
          </a:prstGeom>
          <a:noFill/>
          <a:ln/>
        </p:spPr>
        <p:txBody>
          <a:bodyPr wrap="square" lIns="0" tIns="0" rIns="0" bIns="0" rtlCol="0" anchor="t"/>
          <a:lstStyle/>
          <a:p>
            <a:pPr indent="0" marL="0">
              <a:buNone/>
            </a:pPr>
            <a:r>
              <a:rPr lang="en-US" sz="850" dirty="0">
                <a:solidFill>
                  <a:srgbClr val="86EFAC"/>
                </a:solidFill>
                <a:latin typeface="Courier New" pitchFamily="34" charset="0"/>
                <a:ea typeface="Courier New" pitchFamily="34" charset="-122"/>
                <a:cs typeface="Courier New" pitchFamily="34" charset="-120"/>
              </a:rPr>
              <a:t>// Check form validity on every keystroke</a:t>
            </a:r>
            <a:endParaRPr lang="en-US" sz="850" dirty="0"/>
          </a:p>
          <a:p>
            <a:pPr indent="0" marL="0">
              <a:buNone/>
            </a:pPr>
            <a:r>
              <a:rPr lang="en-US" sz="850" dirty="0">
                <a:solidFill>
                  <a:srgbClr val="86EFAC"/>
                </a:solidFill>
                <a:latin typeface="Courier New" pitchFamily="34" charset="0"/>
                <a:ea typeface="Courier New" pitchFamily="34" charset="-122"/>
                <a:cs typeface="Courier New" pitchFamily="34" charset="-120"/>
              </a:rPr>
              <a:t>form.querySelectorAll('input, select')</a:t>
            </a:r>
            <a:endParaRPr lang="en-US" sz="850" dirty="0"/>
          </a:p>
          <a:p>
            <a:pPr indent="0" marL="0">
              <a:buNone/>
            </a:pPr>
            <a:r>
              <a:rPr lang="en-US" sz="850" dirty="0">
                <a:solidFill>
                  <a:srgbClr val="86EFAC"/>
                </a:solidFill>
                <a:latin typeface="Courier New" pitchFamily="34" charset="0"/>
                <a:ea typeface="Courier New" pitchFamily="34" charset="-122"/>
                <a:cs typeface="Courier New" pitchFamily="34" charset="-120"/>
              </a:rPr>
              <a:t>  .forEach(el =&gt; {</a:t>
            </a:r>
            <a:endParaRPr lang="en-US" sz="850" dirty="0"/>
          </a:p>
          <a:p>
            <a:pPr indent="0" marL="0">
              <a:buNone/>
            </a:pPr>
            <a:r>
              <a:rPr lang="en-US" sz="850" dirty="0">
                <a:solidFill>
                  <a:srgbClr val="86EFAC"/>
                </a:solidFill>
                <a:latin typeface="Courier New" pitchFamily="34" charset="0"/>
                <a:ea typeface="Courier New" pitchFamily="34" charset="-122"/>
                <a:cs typeface="Courier New" pitchFamily="34" charset="-120"/>
              </a:rPr>
              <a:t>    el.addEventListener('input', () =&gt; {</a:t>
            </a:r>
            <a:endParaRPr lang="en-US" sz="850" dirty="0"/>
          </a:p>
          <a:p>
            <a:pPr indent="0" marL="0">
              <a:buNone/>
            </a:pPr>
            <a:r>
              <a:rPr lang="en-US" sz="850" dirty="0">
                <a:solidFill>
                  <a:srgbClr val="86EFAC"/>
                </a:solidFill>
                <a:latin typeface="Courier New" pitchFamily="34" charset="0"/>
                <a:ea typeface="Courier New" pitchFamily="34" charset="-122"/>
                <a:cs typeface="Courier New" pitchFamily="34" charset="-120"/>
              </a:rPr>
              <a:t>      // true only if ALL fields pass constraints</a:t>
            </a:r>
            <a:endParaRPr lang="en-US" sz="850" dirty="0"/>
          </a:p>
          <a:p>
            <a:pPr indent="0" marL="0">
              <a:buNone/>
            </a:pPr>
            <a:r>
              <a:rPr lang="en-US" sz="850" dirty="0">
                <a:solidFill>
                  <a:srgbClr val="86EFAC"/>
                </a:solidFill>
                <a:latin typeface="Courier New" pitchFamily="34" charset="0"/>
                <a:ea typeface="Courier New" pitchFamily="34" charset="-122"/>
                <a:cs typeface="Courier New" pitchFamily="34" charset="-120"/>
              </a:rPr>
              <a:t>      submitBtn.disabled = !form.checkValidity();</a:t>
            </a:r>
            <a:endParaRPr lang="en-US" sz="850" dirty="0"/>
          </a:p>
          <a:p>
            <a:pPr indent="0" marL="0">
              <a:buNone/>
            </a:pPr>
            <a:r>
              <a:rPr lang="en-US" sz="850" dirty="0">
                <a:solidFill>
                  <a:srgbClr val="86EFAC"/>
                </a:solidFill>
                <a:latin typeface="Courier New" pitchFamily="34" charset="0"/>
                <a:ea typeface="Courier New" pitchFamily="34" charset="-122"/>
                <a:cs typeface="Courier New" pitchFamily="34" charset="-120"/>
              </a:rPr>
              <a:t>    });</a:t>
            </a:r>
            <a:endParaRPr lang="en-US" sz="850" dirty="0"/>
          </a:p>
          <a:p>
            <a:pPr indent="0" marL="0">
              <a:buNone/>
            </a:pPr>
            <a:r>
              <a:rPr lang="en-US" sz="850" dirty="0">
                <a:solidFill>
                  <a:srgbClr val="86EFAC"/>
                </a:solidFill>
                <a:latin typeface="Courier New" pitchFamily="34" charset="0"/>
                <a:ea typeface="Courier New" pitchFamily="34" charset="-122"/>
                <a:cs typeface="Courier New" pitchFamily="34" charset="-120"/>
              </a:rPr>
              <a:t>  });</a:t>
            </a:r>
            <a:endParaRPr lang="en-US" sz="850" dirty="0"/>
          </a:p>
        </p:txBody>
      </p:sp>
      <p:sp>
        <p:nvSpPr>
          <p:cNvPr id="9" name="Text 7"/>
          <p:cNvSpPr txBox="1"/>
          <p:nvPr/>
        </p:nvSpPr>
        <p:spPr>
          <a:xfrm>
            <a:off x="4709160" y="2834640"/>
            <a:ext cx="4160520" cy="256032"/>
          </a:xfrm>
          <a:prstGeom prst="rect">
            <a:avLst/>
          </a:prstGeom>
          <a:noFill/>
          <a:ln/>
        </p:spPr>
        <p:txBody>
          <a:bodyPr wrap="square" lIns="0" tIns="0" rIns="0" bIns="0" rtlCol="0" anchor="ctr"/>
          <a:lstStyle/>
          <a:p>
            <a:pPr indent="0" marL="0">
              <a:buNone/>
            </a:pPr>
            <a:r>
              <a:rPr lang="en-US" sz="1000" b="1" dirty="0">
                <a:solidFill>
                  <a:srgbClr val="94A3B8"/>
                </a:solidFill>
                <a:latin typeface="Calibri" pitchFamily="34" charset="0"/>
                <a:ea typeface="Calibri" pitchFamily="34" charset="-122"/>
                <a:cs typeface="Calibri" pitchFamily="34" charset="-120"/>
              </a:rPr>
              <a:t>CSS for disabled state</a:t>
            </a:r>
            <a:endParaRPr lang="en-US" sz="1000" dirty="0"/>
          </a:p>
        </p:txBody>
      </p:sp>
      <p:sp>
        <p:nvSpPr>
          <p:cNvPr id="10" name="Shape 8"/>
          <p:cNvSpPr/>
          <p:nvPr/>
        </p:nvSpPr>
        <p:spPr>
          <a:xfrm>
            <a:off x="4709160" y="3108960"/>
            <a:ext cx="4160520" cy="1719072"/>
          </a:xfrm>
          <a:prstGeom prst="rect">
            <a:avLst/>
          </a:prstGeom>
          <a:solidFill>
            <a:srgbClr val="0D1321"/>
          </a:solidFill>
          <a:ln/>
        </p:spPr>
      </p:sp>
      <p:sp>
        <p:nvSpPr>
          <p:cNvPr id="11" name="Text 9"/>
          <p:cNvSpPr txBox="1"/>
          <p:nvPr/>
        </p:nvSpPr>
        <p:spPr>
          <a:xfrm>
            <a:off x="4800600" y="3145536"/>
            <a:ext cx="3977640" cy="1645920"/>
          </a:xfrm>
          <a:prstGeom prst="rect">
            <a:avLst/>
          </a:prstGeom>
          <a:noFill/>
          <a:ln/>
        </p:spPr>
        <p:txBody>
          <a:bodyPr wrap="square" lIns="0" tIns="0" rIns="0" bIns="0" rtlCol="0" anchor="t"/>
          <a:lstStyle/>
          <a:p>
            <a:pPr indent="0" marL="0">
              <a:buNone/>
            </a:pPr>
            <a:r>
              <a:rPr lang="en-US" sz="850" dirty="0">
                <a:solidFill>
                  <a:srgbClr val="94A3B8"/>
                </a:solidFill>
                <a:latin typeface="Courier New" pitchFamily="34" charset="0"/>
                <a:ea typeface="Courier New" pitchFamily="34" charset="-122"/>
                <a:cs typeface="Courier New" pitchFamily="34" charset="-120"/>
              </a:rPr>
              <a:t>button:disabled {</a:t>
            </a:r>
            <a:endParaRPr lang="en-US" sz="850" dirty="0"/>
          </a:p>
          <a:p>
            <a:pPr indent="0" marL="0">
              <a:buNone/>
            </a:pPr>
            <a:r>
              <a:rPr lang="en-US" sz="850" dirty="0">
                <a:solidFill>
                  <a:srgbClr val="94A3B8"/>
                </a:solidFill>
                <a:latin typeface="Courier New" pitchFamily="34" charset="0"/>
                <a:ea typeface="Courier New" pitchFamily="34" charset="-122"/>
                <a:cs typeface="Courier New" pitchFamily="34" charset="-120"/>
              </a:rPr>
              <a:t>  opacity: 0.45;</a:t>
            </a:r>
            <a:endParaRPr lang="en-US" sz="850" dirty="0"/>
          </a:p>
          <a:p>
            <a:pPr indent="0" marL="0">
              <a:buNone/>
            </a:pPr>
            <a:r>
              <a:rPr lang="en-US" sz="850" dirty="0">
                <a:solidFill>
                  <a:srgbClr val="94A3B8"/>
                </a:solidFill>
                <a:latin typeface="Courier New" pitchFamily="34" charset="0"/>
                <a:ea typeface="Courier New" pitchFamily="34" charset="-122"/>
                <a:cs typeface="Courier New" pitchFamily="34" charset="-120"/>
              </a:rPr>
              <a:t>  cursor: not-allowed;</a:t>
            </a:r>
            <a:endParaRPr lang="en-US" sz="850" dirty="0"/>
          </a:p>
          <a:p>
            <a:pPr indent="0" marL="0">
              <a:buNone/>
            </a:pPr>
            <a:r>
              <a:rPr lang="en-US" sz="850" dirty="0">
                <a:solidFill>
                  <a:srgbClr val="94A3B8"/>
                </a:solidFill>
                <a:latin typeface="Courier New" pitchFamily="34" charset="0"/>
                <a:ea typeface="Courier New" pitchFamily="34" charset="-122"/>
                <a:cs typeface="Courier New" pitchFamily="34" charset="-120"/>
              </a:rPr>
              <a:t>  background: #94a3b8; /* gray */</a:t>
            </a:r>
            <a:endParaRPr lang="en-US" sz="850" dirty="0"/>
          </a:p>
          <a:p>
            <a:pPr indent="0" marL="0">
              <a:buNone/>
            </a:pPr>
            <a:r>
              <a:rPr lang="en-US" sz="850" dirty="0">
                <a:solidFill>
                  <a:srgbClr val="94A3B8"/>
                </a:solidFill>
                <a:latin typeface="Courier New" pitchFamily="34" charset="0"/>
                <a:ea typeface="Courier New" pitchFamily="34" charset="-122"/>
                <a:cs typeface="Courier New" pitchFamily="34" charset="-120"/>
              </a:rPr>
              <a:t>}</a:t>
            </a:r>
            <a:endParaRPr lang="en-US" sz="850" dirty="0"/>
          </a:p>
          <a:p>
            <a:pPr indent="0" marL="0">
              <a:buNone/>
            </a:pPr>
            <a:r>
              <a:rPr lang="en-US" sz="850" dirty="0">
                <a:solidFill>
                  <a:srgbClr val="94A3B8"/>
                </a:solidFill>
                <a:latin typeface="Courier New" pitchFamily="34" charset="0"/>
                <a:ea typeface="Courier New" pitchFamily="34" charset="-122"/>
                <a:cs typeface="Courier New" pitchFamily="34" charset="-120"/>
              </a:rPr>
              <a:t>button:enabled {</a:t>
            </a:r>
            <a:endParaRPr lang="en-US" sz="850" dirty="0"/>
          </a:p>
          <a:p>
            <a:pPr indent="0" marL="0">
              <a:buNone/>
            </a:pPr>
            <a:r>
              <a:rPr lang="en-US" sz="850" dirty="0">
                <a:solidFill>
                  <a:srgbClr val="94A3B8"/>
                </a:solidFill>
                <a:latin typeface="Courier New" pitchFamily="34" charset="0"/>
                <a:ea typeface="Courier New" pitchFamily="34" charset="-122"/>
                <a:cs typeface="Courier New" pitchFamily="34" charset="-120"/>
              </a:rPr>
              <a:t>  background: #3b82f6; /* blue = ready */</a:t>
            </a:r>
            <a:endParaRPr lang="en-US" sz="850" dirty="0"/>
          </a:p>
          <a:p>
            <a:pPr indent="0" marL="0">
              <a:buNone/>
            </a:pPr>
            <a:r>
              <a:rPr lang="en-US" sz="850" dirty="0">
                <a:solidFill>
                  <a:srgbClr val="94A3B8"/>
                </a:solidFill>
                <a:latin typeface="Courier New" pitchFamily="34" charset="0"/>
                <a:ea typeface="Courier New" pitchFamily="34" charset="-122"/>
                <a:cs typeface="Courier New" pitchFamily="34" charset="-120"/>
              </a:rPr>
              <a:t>}</a:t>
            </a:r>
            <a:endParaRPr lang="en-US" sz="850" dirty="0"/>
          </a:p>
        </p:txBody>
      </p:sp>
      <p:sp>
        <p:nvSpPr>
          <p:cNvPr id="12" name="Shape 10"/>
          <p:cNvSpPr/>
          <p:nvPr/>
        </p:nvSpPr>
        <p:spPr>
          <a:xfrm>
            <a:off x="274320" y="2834640"/>
            <a:ext cx="4160520" cy="1719072"/>
          </a:xfrm>
          <a:prstGeom prst="rect">
            <a:avLst/>
          </a:prstGeom>
          <a:solidFill>
            <a:srgbClr val="0D1321"/>
          </a:solidFill>
          <a:ln/>
        </p:spPr>
      </p:sp>
      <p:sp>
        <p:nvSpPr>
          <p:cNvPr id="13" name="Text 11"/>
          <p:cNvSpPr txBox="1"/>
          <p:nvPr/>
        </p:nvSpPr>
        <p:spPr>
          <a:xfrm>
            <a:off x="365760" y="2907792"/>
            <a:ext cx="3977640" cy="1581912"/>
          </a:xfrm>
          <a:prstGeom prst="rect">
            <a:avLst/>
          </a:prstGeom>
          <a:noFill/>
          <a:ln/>
        </p:spPr>
        <p:txBody>
          <a:bodyPr wrap="square" lIns="0" tIns="0" rIns="0" bIns="0" rtlCol="0" anchor="t"/>
          <a:lstStyle/>
          <a:p>
            <a:pPr indent="0" marL="0">
              <a:buNone/>
            </a:pPr>
            <a:r>
              <a:rPr lang="en-US" sz="1050" b="1" dirty="0">
                <a:solidFill>
                  <a:srgbClr val="F7DF1E"/>
                </a:solidFill>
                <a:latin typeface="Courier New" pitchFamily="34" charset="0"/>
                <a:ea typeface="Courier New" pitchFamily="34" charset="-122"/>
                <a:cs typeface="Courier New" pitchFamily="34" charset="-120"/>
              </a:rPr>
              <a:t>form.checkValidity()</a:t>
            </a:r>
            <a:pPr indent="0" marL="0">
              <a:buNone/>
            </a:pPr>
            <a:r>
              <a:rPr lang="en-US" sz="1050" dirty="0">
                <a:solidFill>
                  <a:srgbClr val="FFFFFF"/>
                </a:solidFill>
                <a:latin typeface="Calibri" pitchFamily="34" charset="0"/>
                <a:ea typeface="Calibri" pitchFamily="34" charset="-122"/>
                <a:cs typeface="Calibri" pitchFamily="34" charset="-120"/>
              </a:rPr>
              <a:t> returns true only when:
• All required fields are filled
• All pattern/type constraints pass
• No setCustomValidity() errors remain
</a:t>
            </a:r>
            <a:pPr indent="0" marL="0">
              <a:buNone/>
            </a:pPr>
            <a:r>
              <a:rPr lang="en-US" sz="1050" b="1" dirty="0">
                <a:solidFill>
                  <a:srgbClr val="FCA5A5"/>
                </a:solidFill>
                <a:latin typeface="Calibri" pitchFamily="34" charset="0"/>
                <a:ea typeface="Calibri" pitchFamily="34" charset="-122"/>
                <a:cs typeface="Calibri" pitchFamily="34" charset="-120"/>
              </a:rPr>
              <a:t>Important:</a:t>
            </a:r>
            <a:pPr indent="0" marL="0">
              <a:buNone/>
            </a:pPr>
            <a:r>
              <a:rPr lang="en-US" sz="1050" dirty="0">
                <a:solidFill>
                  <a:srgbClr val="94A3B8"/>
                </a:solidFill>
                <a:latin typeface="Calibri" pitchFamily="34" charset="0"/>
                <a:ea typeface="Calibri" pitchFamily="34" charset="-122"/>
                <a:cs typeface="Calibri" pitchFamily="34" charset="-120"/>
              </a:rPr>
              <a:t> always validate on submit too — the disabled state can be bypassed in DevTools.</a:t>
            </a:r>
            <a:endParaRPr lang="en-US" sz="1050" dirty="0"/>
          </a:p>
        </p:txBody>
      </p:sp>
      <p:sp>
        <p:nvSpPr>
          <p:cNvPr id="14" name="Text 12"/>
          <p:cNvSpPr txBox="1"/>
          <p:nvPr/>
        </p:nvSpPr>
        <p:spPr>
          <a:xfrm>
            <a:off x="320040" y="4892040"/>
            <a:ext cx="8503920" cy="182880"/>
          </a:xfrm>
          <a:prstGeom prst="rect">
            <a:avLst/>
          </a:prstGeom>
          <a:noFill/>
          <a:ln/>
        </p:spPr>
        <p:txBody>
          <a:bodyPr wrap="square" rtlCol="0" anchor="ctr"/>
          <a:lstStyle/>
          <a:p>
            <a:pPr algn="ctr" indent="0" marL="0">
              <a:buNone/>
            </a:pPr>
            <a:r>
              <a:rPr lang="en-US" sz="800" dirty="0">
                <a:solidFill>
                  <a:srgbClr val="94A3B8"/>
                </a:solidFill>
                <a:latin typeface="Calibri" pitchFamily="34" charset="0"/>
                <a:ea typeface="Calibri" pitchFamily="34" charset="-122"/>
                <a:cs typeface="Calibri" pitchFamily="34" charset="-120"/>
              </a:rPr>
              <a:t>K0126002  ·  Gachon University  ·  2026 Fall  ·  Dr. Toshpulatov</a:t>
            </a:r>
            <a:endParaRPr lang="en-US" sz="80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0D1321"/>
        </a:solidFill>
      </p:bgPr>
    </p:bg>
    <p:spTree>
      <p:nvGrpSpPr>
        <p:cNvPr id="1" name=""/>
        <p:cNvGrpSpPr/>
        <p:nvPr/>
      </p:nvGrpSpPr>
      <p:grpSpPr>
        <a:xfrm>
          <a:off x="0" y="0"/>
          <a:ext cx="0" cy="0"/>
          <a:chOff x="0" y="0"/>
          <a:chExt cx="0" cy="0"/>
        </a:xfrm>
      </p:grpSpPr>
      <p:sp>
        <p:nvSpPr>
          <p:cNvPr id="2" name="Text 0"/>
          <p:cNvSpPr txBox="1"/>
          <p:nvPr/>
        </p:nvSpPr>
        <p:spPr>
          <a:xfrm>
            <a:off x="457200" y="228600"/>
            <a:ext cx="8229600" cy="411480"/>
          </a:xfrm>
          <a:prstGeom prst="rect">
            <a:avLst/>
          </a:prstGeom>
          <a:noFill/>
          <a:ln/>
        </p:spPr>
        <p:txBody>
          <a:bodyPr wrap="square" rtlCol="0" anchor="ctr"/>
          <a:lstStyle/>
          <a:p>
            <a:pPr algn="ctr" indent="0" marL="0">
              <a:buNone/>
            </a:pPr>
            <a:r>
              <a:rPr lang="en-US" sz="2000" b="1" dirty="0">
                <a:solidFill>
                  <a:srgbClr val="F7DF1E"/>
                </a:solidFill>
                <a:latin typeface="Calibri" pitchFamily="34" charset="0"/>
                <a:ea typeface="Calibri" pitchFamily="34" charset="-122"/>
                <a:cs typeface="Calibri" pitchFamily="34" charset="-120"/>
              </a:rPr>
              <a:t>⚡ QUICK QUIZ</a:t>
            </a:r>
            <a:endParaRPr lang="en-US" sz="2000" dirty="0"/>
          </a:p>
        </p:txBody>
      </p:sp>
      <p:sp>
        <p:nvSpPr>
          <p:cNvPr id="3" name="Text 1"/>
          <p:cNvSpPr txBox="1"/>
          <p:nvPr/>
        </p:nvSpPr>
        <p:spPr>
          <a:xfrm>
            <a:off x="457200" y="731520"/>
            <a:ext cx="8229600" cy="640080"/>
          </a:xfrm>
          <a:prstGeom prst="rect">
            <a:avLst/>
          </a:prstGeom>
          <a:noFill/>
          <a:ln/>
        </p:spPr>
        <p:txBody>
          <a:bodyPr wrap="square" rtlCol="0" anchor="ctr"/>
          <a:lstStyle/>
          <a:p>
            <a:pPr algn="ctr" indent="0" marL="0">
              <a:buNone/>
            </a:pPr>
            <a:r>
              <a:rPr lang="en-US" sz="1500" dirty="0">
                <a:solidFill>
                  <a:srgbClr val="FFFFFF"/>
                </a:solidFill>
                <a:latin typeface="Calibri" pitchFamily="34" charset="0"/>
                <a:ea typeface="Calibri" pitchFamily="34" charset="-122"/>
                <a:cs typeface="Calibri" pitchFamily="34" charset="-120"/>
              </a:rPr>
              <a:t>The pattern /^\d{9}$/ validates a student ID. Which value PASSES this check?</a:t>
            </a:r>
            <a:endParaRPr lang="en-US" sz="1500" dirty="0"/>
          </a:p>
        </p:txBody>
      </p:sp>
      <p:sp>
        <p:nvSpPr>
          <p:cNvPr id="4" name="Shape 2"/>
          <p:cNvSpPr/>
          <p:nvPr/>
        </p:nvSpPr>
        <p:spPr>
          <a:xfrm>
            <a:off x="457200" y="1508760"/>
            <a:ext cx="4023360" cy="777240"/>
          </a:xfrm>
          <a:prstGeom prst="rect">
            <a:avLst/>
          </a:prstGeom>
          <a:solidFill>
            <a:srgbClr val="1E3060"/>
          </a:solidFill>
          <a:ln w="12700">
            <a:solidFill>
              <a:srgbClr val="2D4A8A"/>
            </a:solidFill>
            <a:prstDash val="solid"/>
          </a:ln>
        </p:spPr>
      </p:sp>
      <p:sp>
        <p:nvSpPr>
          <p:cNvPr id="5" name="Text 3"/>
          <p:cNvSpPr txBox="1"/>
          <p:nvPr/>
        </p:nvSpPr>
        <p:spPr>
          <a:xfrm>
            <a:off x="548640" y="1600200"/>
            <a:ext cx="3840480" cy="594360"/>
          </a:xfrm>
          <a:prstGeom prst="rect">
            <a:avLst/>
          </a:prstGeom>
          <a:noFill/>
          <a:ln/>
        </p:spPr>
        <p:txBody>
          <a:bodyPr wrap="square" lIns="0" tIns="0" rIns="0" bIns="0" rtlCol="0" anchor="ctr"/>
          <a:lstStyle/>
          <a:p>
            <a:pPr indent="0" marL="0">
              <a:buNone/>
            </a:pPr>
            <a:r>
              <a:rPr lang="en-US" sz="1300" dirty="0">
                <a:solidFill>
                  <a:srgbClr val="FFFFFF"/>
                </a:solidFill>
                <a:latin typeface="Calibri" pitchFamily="34" charset="0"/>
                <a:ea typeface="Calibri" pitchFamily="34" charset="-122"/>
                <a:cs typeface="Calibri" pitchFamily="34" charset="-120"/>
              </a:rPr>
              <a:t>A   12345678   (8 digits)</a:t>
            </a:r>
            <a:endParaRPr lang="en-US" sz="1300" dirty="0"/>
          </a:p>
        </p:txBody>
      </p:sp>
      <p:sp>
        <p:nvSpPr>
          <p:cNvPr id="6" name="Shape 4"/>
          <p:cNvSpPr/>
          <p:nvPr/>
        </p:nvSpPr>
        <p:spPr>
          <a:xfrm>
            <a:off x="4800600" y="1508760"/>
            <a:ext cx="4023360" cy="777240"/>
          </a:xfrm>
          <a:prstGeom prst="rect">
            <a:avLst/>
          </a:prstGeom>
          <a:solidFill>
            <a:srgbClr val="1E3060"/>
          </a:solidFill>
          <a:ln w="12700">
            <a:solidFill>
              <a:srgbClr val="2D4A8A"/>
            </a:solidFill>
            <a:prstDash val="solid"/>
          </a:ln>
        </p:spPr>
      </p:sp>
      <p:sp>
        <p:nvSpPr>
          <p:cNvPr id="7" name="Text 5"/>
          <p:cNvSpPr txBox="1"/>
          <p:nvPr/>
        </p:nvSpPr>
        <p:spPr>
          <a:xfrm>
            <a:off x="4892040" y="1600200"/>
            <a:ext cx="3840480" cy="594360"/>
          </a:xfrm>
          <a:prstGeom prst="rect">
            <a:avLst/>
          </a:prstGeom>
          <a:noFill/>
          <a:ln/>
        </p:spPr>
        <p:txBody>
          <a:bodyPr wrap="square" lIns="0" tIns="0" rIns="0" bIns="0" rtlCol="0" anchor="ctr"/>
          <a:lstStyle/>
          <a:p>
            <a:pPr indent="0" marL="0">
              <a:buNone/>
            </a:pPr>
            <a:r>
              <a:rPr lang="en-US" sz="1300" dirty="0">
                <a:solidFill>
                  <a:srgbClr val="FFFFFF"/>
                </a:solidFill>
                <a:latin typeface="Calibri" pitchFamily="34" charset="0"/>
                <a:ea typeface="Calibri" pitchFamily="34" charset="-122"/>
                <a:cs typeface="Calibri" pitchFamily="34" charset="-120"/>
              </a:rPr>
              <a:t>B   202312345  (9 digits)</a:t>
            </a:r>
            <a:endParaRPr lang="en-US" sz="1300" dirty="0"/>
          </a:p>
        </p:txBody>
      </p:sp>
      <p:sp>
        <p:nvSpPr>
          <p:cNvPr id="8" name="Shape 6"/>
          <p:cNvSpPr/>
          <p:nvPr/>
        </p:nvSpPr>
        <p:spPr>
          <a:xfrm>
            <a:off x="457200" y="2468880"/>
            <a:ext cx="4023360" cy="777240"/>
          </a:xfrm>
          <a:prstGeom prst="rect">
            <a:avLst/>
          </a:prstGeom>
          <a:solidFill>
            <a:srgbClr val="1E3060"/>
          </a:solidFill>
          <a:ln w="12700">
            <a:solidFill>
              <a:srgbClr val="2D4A8A"/>
            </a:solidFill>
            <a:prstDash val="solid"/>
          </a:ln>
        </p:spPr>
      </p:sp>
      <p:sp>
        <p:nvSpPr>
          <p:cNvPr id="9" name="Text 7"/>
          <p:cNvSpPr txBox="1"/>
          <p:nvPr/>
        </p:nvSpPr>
        <p:spPr>
          <a:xfrm>
            <a:off x="548640" y="2560320"/>
            <a:ext cx="3840480" cy="594360"/>
          </a:xfrm>
          <a:prstGeom prst="rect">
            <a:avLst/>
          </a:prstGeom>
          <a:noFill/>
          <a:ln/>
        </p:spPr>
        <p:txBody>
          <a:bodyPr wrap="square" lIns="0" tIns="0" rIns="0" bIns="0" rtlCol="0" anchor="ctr"/>
          <a:lstStyle/>
          <a:p>
            <a:pPr indent="0" marL="0">
              <a:buNone/>
            </a:pPr>
            <a:r>
              <a:rPr lang="en-US" sz="1300" dirty="0">
                <a:solidFill>
                  <a:srgbClr val="FFFFFF"/>
                </a:solidFill>
                <a:latin typeface="Calibri" pitchFamily="34" charset="0"/>
                <a:ea typeface="Calibri" pitchFamily="34" charset="-122"/>
                <a:cs typeface="Calibri" pitchFamily="34" charset="-120"/>
              </a:rPr>
              <a:t>C   20231234a  (has a letter)</a:t>
            </a:r>
            <a:endParaRPr lang="en-US" sz="1300" dirty="0"/>
          </a:p>
        </p:txBody>
      </p:sp>
      <p:sp>
        <p:nvSpPr>
          <p:cNvPr id="10" name="Shape 8"/>
          <p:cNvSpPr/>
          <p:nvPr/>
        </p:nvSpPr>
        <p:spPr>
          <a:xfrm>
            <a:off x="4800600" y="2468880"/>
            <a:ext cx="4023360" cy="777240"/>
          </a:xfrm>
          <a:prstGeom prst="rect">
            <a:avLst/>
          </a:prstGeom>
          <a:solidFill>
            <a:srgbClr val="1E3060"/>
          </a:solidFill>
          <a:ln w="12700">
            <a:solidFill>
              <a:srgbClr val="2D4A8A"/>
            </a:solidFill>
            <a:prstDash val="solid"/>
          </a:ln>
        </p:spPr>
      </p:sp>
      <p:sp>
        <p:nvSpPr>
          <p:cNvPr id="11" name="Text 9"/>
          <p:cNvSpPr txBox="1"/>
          <p:nvPr/>
        </p:nvSpPr>
        <p:spPr>
          <a:xfrm>
            <a:off x="4892040" y="2560320"/>
            <a:ext cx="3840480" cy="594360"/>
          </a:xfrm>
          <a:prstGeom prst="rect">
            <a:avLst/>
          </a:prstGeom>
          <a:noFill/>
          <a:ln/>
        </p:spPr>
        <p:txBody>
          <a:bodyPr wrap="square" lIns="0" tIns="0" rIns="0" bIns="0" rtlCol="0" anchor="ctr"/>
          <a:lstStyle/>
          <a:p>
            <a:pPr indent="0" marL="0">
              <a:buNone/>
            </a:pPr>
            <a:r>
              <a:rPr lang="en-US" sz="1300" dirty="0">
                <a:solidFill>
                  <a:srgbClr val="FFFFFF"/>
                </a:solidFill>
                <a:latin typeface="Calibri" pitchFamily="34" charset="0"/>
                <a:ea typeface="Calibri" pitchFamily="34" charset="-122"/>
                <a:cs typeface="Calibri" pitchFamily="34" charset="-120"/>
              </a:rPr>
              <a:t>D   2023123456 (10 digits)</a:t>
            </a:r>
            <a:endParaRPr lang="en-US" sz="1300" dirty="0"/>
          </a:p>
        </p:txBody>
      </p:sp>
      <p:sp>
        <p:nvSpPr>
          <p:cNvPr id="12" name="Text 10"/>
          <p:cNvSpPr txBox="1"/>
          <p:nvPr/>
        </p:nvSpPr>
        <p:spPr>
          <a:xfrm>
            <a:off x="457200" y="4434840"/>
            <a:ext cx="8229600" cy="320040"/>
          </a:xfrm>
          <a:prstGeom prst="rect">
            <a:avLst/>
          </a:prstGeom>
          <a:noFill/>
          <a:ln/>
        </p:spPr>
        <p:txBody>
          <a:bodyPr wrap="square" rtlCol="0" anchor="ctr"/>
          <a:lstStyle/>
          <a:p>
            <a:pPr algn="ctr" indent="0" marL="0">
              <a:buNone/>
            </a:pPr>
            <a:r>
              <a:rPr lang="en-US" sz="1100" dirty="0">
                <a:solidFill>
                  <a:srgbClr val="94A3B8"/>
                </a:solidFill>
                <a:latin typeface="Calibri" pitchFamily="34" charset="0"/>
                <a:ea typeface="Calibri" pitchFamily="34" charset="-122"/>
                <a:cs typeface="Calibri" pitchFamily="34" charset="-120"/>
              </a:rPr>
              <a:t>💬 Discuss with your neighbor — then we'll reveal the answer!</a:t>
            </a:r>
            <a:endParaRPr lang="en-US" sz="110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bg>
      <p:bgPr>
        <a:solidFill>
          <a:srgbClr val="0D1321"/>
        </a:solidFill>
      </p:bgPr>
    </p:bg>
    <p:spTree>
      <p:nvGrpSpPr>
        <p:cNvPr id="1" name=""/>
        <p:cNvGrpSpPr/>
        <p:nvPr/>
      </p:nvGrpSpPr>
      <p:grpSpPr>
        <a:xfrm>
          <a:off x="0" y="0"/>
          <a:ext cx="0" cy="0"/>
          <a:chOff x="0" y="0"/>
          <a:chExt cx="0" cy="0"/>
        </a:xfrm>
      </p:grpSpPr>
      <p:sp>
        <p:nvSpPr>
          <p:cNvPr id="2" name="Text 0"/>
          <p:cNvSpPr txBox="1"/>
          <p:nvPr/>
        </p:nvSpPr>
        <p:spPr>
          <a:xfrm>
            <a:off x="457200" y="228600"/>
            <a:ext cx="8229600" cy="411480"/>
          </a:xfrm>
          <a:prstGeom prst="rect">
            <a:avLst/>
          </a:prstGeom>
          <a:noFill/>
          <a:ln/>
        </p:spPr>
        <p:txBody>
          <a:bodyPr wrap="square" rtlCol="0" anchor="ctr"/>
          <a:lstStyle/>
          <a:p>
            <a:pPr algn="ctr" indent="0" marL="0">
              <a:buNone/>
            </a:pPr>
            <a:r>
              <a:rPr lang="en-US" sz="2000" b="1" dirty="0">
                <a:solidFill>
                  <a:srgbClr val="86EFAC"/>
                </a:solidFill>
                <a:latin typeface="Calibri" pitchFamily="34" charset="0"/>
                <a:ea typeface="Calibri" pitchFamily="34" charset="-122"/>
                <a:cs typeface="Calibri" pitchFamily="34" charset="-120"/>
              </a:rPr>
              <a:t>✅ ANSWER</a:t>
            </a:r>
            <a:endParaRPr lang="en-US" sz="2000" dirty="0"/>
          </a:p>
        </p:txBody>
      </p:sp>
      <p:sp>
        <p:nvSpPr>
          <p:cNvPr id="3" name="Text 1"/>
          <p:cNvSpPr txBox="1"/>
          <p:nvPr/>
        </p:nvSpPr>
        <p:spPr>
          <a:xfrm>
            <a:off x="457200" y="731520"/>
            <a:ext cx="8229600" cy="548640"/>
          </a:xfrm>
          <a:prstGeom prst="rect">
            <a:avLst/>
          </a:prstGeom>
          <a:noFill/>
          <a:ln/>
        </p:spPr>
        <p:txBody>
          <a:bodyPr wrap="square" rtlCol="0" anchor="ctr"/>
          <a:lstStyle/>
          <a:p>
            <a:pPr algn="ctr" indent="0" marL="0">
              <a:buNone/>
            </a:pPr>
            <a:r>
              <a:rPr lang="en-US" sz="1400" dirty="0">
                <a:solidFill>
                  <a:srgbClr val="FFFFFF"/>
                </a:solidFill>
                <a:latin typeface="Calibri" pitchFamily="34" charset="0"/>
                <a:ea typeface="Calibri" pitchFamily="34" charset="-122"/>
                <a:cs typeface="Calibri" pitchFamily="34" charset="-120"/>
              </a:rPr>
              <a:t>The pattern /^\d{9}$/ validates a student ID. Which value PASSES this check?</a:t>
            </a:r>
            <a:endParaRPr lang="en-US" sz="1400" dirty="0"/>
          </a:p>
        </p:txBody>
      </p:sp>
      <p:sp>
        <p:nvSpPr>
          <p:cNvPr id="4" name="Shape 2"/>
          <p:cNvSpPr/>
          <p:nvPr/>
        </p:nvSpPr>
        <p:spPr>
          <a:xfrm>
            <a:off x="457200" y="1417320"/>
            <a:ext cx="4023360" cy="731520"/>
          </a:xfrm>
          <a:prstGeom prst="rect">
            <a:avLst/>
          </a:prstGeom>
          <a:solidFill>
            <a:srgbClr val="1E3060"/>
          </a:solidFill>
          <a:ln w="12700">
            <a:solidFill>
              <a:srgbClr val="2D4A8A"/>
            </a:solidFill>
            <a:prstDash val="solid"/>
          </a:ln>
        </p:spPr>
      </p:sp>
      <p:sp>
        <p:nvSpPr>
          <p:cNvPr id="5" name="Text 3"/>
          <p:cNvSpPr txBox="1"/>
          <p:nvPr/>
        </p:nvSpPr>
        <p:spPr>
          <a:xfrm>
            <a:off x="548640" y="1490472"/>
            <a:ext cx="3840480" cy="585216"/>
          </a:xfrm>
          <a:prstGeom prst="rect">
            <a:avLst/>
          </a:prstGeom>
          <a:noFill/>
          <a:ln/>
        </p:spPr>
        <p:txBody>
          <a:bodyPr wrap="square" lIns="0" tIns="0" rIns="0" bIns="0" rtlCol="0" anchor="ctr"/>
          <a:lstStyle/>
          <a:p>
            <a:pPr indent="0" marL="0">
              <a:buNone/>
            </a:pPr>
            <a:r>
              <a:rPr lang="en-US" sz="1300" dirty="0">
                <a:solidFill>
                  <a:srgbClr val="94A3B8"/>
                </a:solidFill>
                <a:latin typeface="Calibri" pitchFamily="34" charset="0"/>
                <a:ea typeface="Calibri" pitchFamily="34" charset="-122"/>
                <a:cs typeface="Calibri" pitchFamily="34" charset="-120"/>
              </a:rPr>
              <a:t>A   12345678   (8 digits)</a:t>
            </a:r>
            <a:endParaRPr lang="en-US" sz="1300" dirty="0"/>
          </a:p>
        </p:txBody>
      </p:sp>
      <p:sp>
        <p:nvSpPr>
          <p:cNvPr id="6" name="Shape 4"/>
          <p:cNvSpPr/>
          <p:nvPr/>
        </p:nvSpPr>
        <p:spPr>
          <a:xfrm>
            <a:off x="4800600" y="1417320"/>
            <a:ext cx="4023360" cy="731520"/>
          </a:xfrm>
          <a:prstGeom prst="rect">
            <a:avLst/>
          </a:prstGeom>
          <a:solidFill>
            <a:srgbClr val="1A5C30"/>
          </a:solidFill>
          <a:ln w="25400">
            <a:solidFill>
              <a:srgbClr val="86EFAC"/>
            </a:solidFill>
            <a:prstDash val="solid"/>
          </a:ln>
        </p:spPr>
      </p:sp>
      <p:sp>
        <p:nvSpPr>
          <p:cNvPr id="7" name="Text 5"/>
          <p:cNvSpPr txBox="1"/>
          <p:nvPr/>
        </p:nvSpPr>
        <p:spPr>
          <a:xfrm>
            <a:off x="4892040" y="1490472"/>
            <a:ext cx="3840480" cy="585216"/>
          </a:xfrm>
          <a:prstGeom prst="rect">
            <a:avLst/>
          </a:prstGeom>
          <a:noFill/>
          <a:ln/>
        </p:spPr>
        <p:txBody>
          <a:bodyPr wrap="square" lIns="0" tIns="0" rIns="0" bIns="0" rtlCol="0" anchor="ctr"/>
          <a:lstStyle/>
          <a:p>
            <a:pPr indent="0" marL="0">
              <a:buNone/>
            </a:pPr>
            <a:r>
              <a:rPr lang="en-US" sz="1300" b="1" dirty="0">
                <a:solidFill>
                  <a:srgbClr val="86EFAC"/>
                </a:solidFill>
                <a:latin typeface="Calibri" pitchFamily="34" charset="0"/>
                <a:ea typeface="Calibri" pitchFamily="34" charset="-122"/>
                <a:cs typeface="Calibri" pitchFamily="34" charset="-120"/>
              </a:rPr>
              <a:t>B   202312345  (9 digits)</a:t>
            </a:r>
            <a:endParaRPr lang="en-US" sz="1300" dirty="0"/>
          </a:p>
        </p:txBody>
      </p:sp>
      <p:sp>
        <p:nvSpPr>
          <p:cNvPr id="8" name="Shape 6"/>
          <p:cNvSpPr/>
          <p:nvPr/>
        </p:nvSpPr>
        <p:spPr>
          <a:xfrm>
            <a:off x="457200" y="2286000"/>
            <a:ext cx="4023360" cy="731520"/>
          </a:xfrm>
          <a:prstGeom prst="rect">
            <a:avLst/>
          </a:prstGeom>
          <a:solidFill>
            <a:srgbClr val="1E3060"/>
          </a:solidFill>
          <a:ln w="12700">
            <a:solidFill>
              <a:srgbClr val="2D4A8A"/>
            </a:solidFill>
            <a:prstDash val="solid"/>
          </a:ln>
        </p:spPr>
      </p:sp>
      <p:sp>
        <p:nvSpPr>
          <p:cNvPr id="9" name="Text 7"/>
          <p:cNvSpPr txBox="1"/>
          <p:nvPr/>
        </p:nvSpPr>
        <p:spPr>
          <a:xfrm>
            <a:off x="548640" y="2359152"/>
            <a:ext cx="3840480" cy="585216"/>
          </a:xfrm>
          <a:prstGeom prst="rect">
            <a:avLst/>
          </a:prstGeom>
          <a:noFill/>
          <a:ln/>
        </p:spPr>
        <p:txBody>
          <a:bodyPr wrap="square" lIns="0" tIns="0" rIns="0" bIns="0" rtlCol="0" anchor="ctr"/>
          <a:lstStyle/>
          <a:p>
            <a:pPr indent="0" marL="0">
              <a:buNone/>
            </a:pPr>
            <a:r>
              <a:rPr lang="en-US" sz="1300" dirty="0">
                <a:solidFill>
                  <a:srgbClr val="94A3B8"/>
                </a:solidFill>
                <a:latin typeface="Calibri" pitchFamily="34" charset="0"/>
                <a:ea typeface="Calibri" pitchFamily="34" charset="-122"/>
                <a:cs typeface="Calibri" pitchFamily="34" charset="-120"/>
              </a:rPr>
              <a:t>C   20231234a  (has a letter)</a:t>
            </a:r>
            <a:endParaRPr lang="en-US" sz="1300" dirty="0"/>
          </a:p>
        </p:txBody>
      </p:sp>
      <p:sp>
        <p:nvSpPr>
          <p:cNvPr id="10" name="Shape 8"/>
          <p:cNvSpPr/>
          <p:nvPr/>
        </p:nvSpPr>
        <p:spPr>
          <a:xfrm>
            <a:off x="4800600" y="2286000"/>
            <a:ext cx="4023360" cy="731520"/>
          </a:xfrm>
          <a:prstGeom prst="rect">
            <a:avLst/>
          </a:prstGeom>
          <a:solidFill>
            <a:srgbClr val="1E3060"/>
          </a:solidFill>
          <a:ln w="12700">
            <a:solidFill>
              <a:srgbClr val="2D4A8A"/>
            </a:solidFill>
            <a:prstDash val="solid"/>
          </a:ln>
        </p:spPr>
      </p:sp>
      <p:sp>
        <p:nvSpPr>
          <p:cNvPr id="11" name="Text 9"/>
          <p:cNvSpPr txBox="1"/>
          <p:nvPr/>
        </p:nvSpPr>
        <p:spPr>
          <a:xfrm>
            <a:off x="4892040" y="2359152"/>
            <a:ext cx="3840480" cy="585216"/>
          </a:xfrm>
          <a:prstGeom prst="rect">
            <a:avLst/>
          </a:prstGeom>
          <a:noFill/>
          <a:ln/>
        </p:spPr>
        <p:txBody>
          <a:bodyPr wrap="square" lIns="0" tIns="0" rIns="0" bIns="0" rtlCol="0" anchor="ctr"/>
          <a:lstStyle/>
          <a:p>
            <a:pPr indent="0" marL="0">
              <a:buNone/>
            </a:pPr>
            <a:r>
              <a:rPr lang="en-US" sz="1300" dirty="0">
                <a:solidFill>
                  <a:srgbClr val="94A3B8"/>
                </a:solidFill>
                <a:latin typeface="Calibri" pitchFamily="34" charset="0"/>
                <a:ea typeface="Calibri" pitchFamily="34" charset="-122"/>
                <a:cs typeface="Calibri" pitchFamily="34" charset="-120"/>
              </a:rPr>
              <a:t>D   2023123456 (10 digits)</a:t>
            </a:r>
            <a:endParaRPr lang="en-US" sz="1300" dirty="0"/>
          </a:p>
        </p:txBody>
      </p:sp>
      <p:sp>
        <p:nvSpPr>
          <p:cNvPr id="12" name="Shape 10"/>
          <p:cNvSpPr/>
          <p:nvPr/>
        </p:nvSpPr>
        <p:spPr>
          <a:xfrm>
            <a:off x="320040" y="3246120"/>
            <a:ext cx="8503920" cy="1600200"/>
          </a:xfrm>
          <a:prstGeom prst="rect">
            <a:avLst/>
          </a:prstGeom>
          <a:solidFill>
            <a:srgbClr val="152035"/>
          </a:solidFill>
          <a:ln/>
        </p:spPr>
      </p:sp>
      <p:sp>
        <p:nvSpPr>
          <p:cNvPr id="13" name="Text 11"/>
          <p:cNvSpPr txBox="1"/>
          <p:nvPr/>
        </p:nvSpPr>
        <p:spPr>
          <a:xfrm>
            <a:off x="457200" y="3310128"/>
            <a:ext cx="8229600" cy="1463040"/>
          </a:xfrm>
          <a:prstGeom prst="rect">
            <a:avLst/>
          </a:prstGeom>
          <a:noFill/>
          <a:ln/>
        </p:spPr>
        <p:txBody>
          <a:bodyPr wrap="square" lIns="0" tIns="0" rIns="0" bIns="0" rtlCol="0" anchor="t"/>
          <a:lstStyle/>
          <a:p>
            <a:pPr indent="0" marL="0">
              <a:buNone/>
            </a:pPr>
            <a:r>
              <a:rPr lang="en-US" sz="1200" dirty="0">
                <a:solidFill>
                  <a:srgbClr val="FFFFFF"/>
                </a:solidFill>
                <a:latin typeface="Calibri" pitchFamily="34" charset="0"/>
                <a:ea typeface="Calibri" pitchFamily="34" charset="-122"/>
                <a:cs typeface="Calibri" pitchFamily="34" charset="-120"/>
              </a:rPr>
              <a:t>The regex requires exactly 9 digits: ^ = start, \d{9} = nine digits, $ = end. 202312345 has exactly 9 digits and passes. All others have wrong length or non-digit characters.</a:t>
            </a:r>
            <a:endParaRPr lang="en-US" sz="1200"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bg>
      <p:bgPr>
        <a:solidFill>
          <a:srgbClr val="1A2540"/>
        </a:solidFill>
      </p:bgPr>
    </p:bg>
    <p:spTree>
      <p:nvGrpSpPr>
        <p:cNvPr id="1" name=""/>
        <p:cNvGrpSpPr/>
        <p:nvPr/>
      </p:nvGrpSpPr>
      <p:grpSpPr>
        <a:xfrm>
          <a:off x="0" y="0"/>
          <a:ext cx="0" cy="0"/>
          <a:chOff x="0" y="0"/>
          <a:chExt cx="0" cy="0"/>
        </a:xfrm>
      </p:grpSpPr>
      <p:sp>
        <p:nvSpPr>
          <p:cNvPr id="2" name="Text 0"/>
          <p:cNvSpPr txBox="1"/>
          <p:nvPr/>
        </p:nvSpPr>
        <p:spPr>
          <a:xfrm>
            <a:off x="320040" y="182880"/>
            <a:ext cx="8503920" cy="475488"/>
          </a:xfrm>
          <a:prstGeom prst="rect">
            <a:avLst/>
          </a:prstGeom>
          <a:noFill/>
          <a:ln/>
        </p:spPr>
        <p:txBody>
          <a:bodyPr wrap="square" rtlCol="0" anchor="ctr"/>
          <a:lstStyle/>
          <a:p>
            <a:pPr indent="0" marL="0">
              <a:buNone/>
            </a:pPr>
            <a:r>
              <a:rPr lang="en-US" sz="2600" b="1" dirty="0">
                <a:solidFill>
                  <a:srgbClr val="F7DF1E"/>
                </a:solidFill>
                <a:latin typeface="Cambria" pitchFamily="34" charset="0"/>
                <a:ea typeface="Cambria" pitchFamily="34" charset="-122"/>
                <a:cs typeface="Cambria" pitchFamily="34" charset="-120"/>
              </a:rPr>
              <a:t>Full Pattern: Putting It Together</a:t>
            </a:r>
            <a:endParaRPr lang="en-US" sz="2600" dirty="0"/>
          </a:p>
        </p:txBody>
      </p:sp>
      <p:sp>
        <p:nvSpPr>
          <p:cNvPr id="3" name="Text 1"/>
          <p:cNvSpPr txBox="1"/>
          <p:nvPr/>
        </p:nvSpPr>
        <p:spPr>
          <a:xfrm>
            <a:off x="274320" y="777240"/>
            <a:ext cx="4160520" cy="256032"/>
          </a:xfrm>
          <a:prstGeom prst="rect">
            <a:avLst/>
          </a:prstGeom>
          <a:noFill/>
          <a:ln/>
        </p:spPr>
        <p:txBody>
          <a:bodyPr wrap="square" lIns="0" tIns="0" rIns="0" bIns="0" rtlCol="0" anchor="ctr"/>
          <a:lstStyle/>
          <a:p>
            <a:pPr indent="0" marL="0">
              <a:buNone/>
            </a:pPr>
            <a:r>
              <a:rPr lang="en-US" sz="1000" b="1" dirty="0">
                <a:solidFill>
                  <a:srgbClr val="86EFAC"/>
                </a:solidFill>
                <a:latin typeface="Calibri" pitchFamily="34" charset="0"/>
                <a:ea typeface="Calibri" pitchFamily="34" charset="-122"/>
                <a:cs typeface="Calibri" pitchFamily="34" charset="-120"/>
              </a:rPr>
              <a:t>✅  Part 1 — helpers + per-field validator</a:t>
            </a:r>
            <a:endParaRPr lang="en-US" sz="1000" dirty="0"/>
          </a:p>
        </p:txBody>
      </p:sp>
      <p:sp>
        <p:nvSpPr>
          <p:cNvPr id="4" name="Shape 2"/>
          <p:cNvSpPr/>
          <p:nvPr/>
        </p:nvSpPr>
        <p:spPr>
          <a:xfrm>
            <a:off x="274320" y="1051560"/>
            <a:ext cx="4160520" cy="3977640"/>
          </a:xfrm>
          <a:prstGeom prst="rect">
            <a:avLst/>
          </a:prstGeom>
          <a:solidFill>
            <a:srgbClr val="0D1321"/>
          </a:solidFill>
          <a:ln/>
        </p:spPr>
      </p:sp>
      <p:sp>
        <p:nvSpPr>
          <p:cNvPr id="5" name="Text 3"/>
          <p:cNvSpPr txBox="1"/>
          <p:nvPr/>
        </p:nvSpPr>
        <p:spPr>
          <a:xfrm>
            <a:off x="365760" y="1088136"/>
            <a:ext cx="3977640" cy="3904488"/>
          </a:xfrm>
          <a:prstGeom prst="rect">
            <a:avLst/>
          </a:prstGeom>
          <a:noFill/>
          <a:ln/>
        </p:spPr>
        <p:txBody>
          <a:bodyPr wrap="square" lIns="0" tIns="0" rIns="0" bIns="0" rtlCol="0" anchor="t"/>
          <a:lstStyle/>
          <a:p>
            <a:pPr indent="0" marL="0">
              <a:buNone/>
            </a:pPr>
            <a:r>
              <a:rPr lang="en-US" sz="850" dirty="0">
                <a:solidFill>
                  <a:srgbClr val="86EFAC"/>
                </a:solidFill>
                <a:latin typeface="Courier New" pitchFamily="34" charset="0"/>
                <a:ea typeface="Courier New" pitchFamily="34" charset="-122"/>
                <a:cs typeface="Courier New" pitchFamily="34" charset="-120"/>
              </a:rPr>
              <a:t>const form      = document.getElementById('regForm');</a:t>
            </a:r>
            <a:endParaRPr lang="en-US" sz="850" dirty="0"/>
          </a:p>
          <a:p>
            <a:pPr indent="0" marL="0">
              <a:buNone/>
            </a:pPr>
            <a:r>
              <a:rPr lang="en-US" sz="850" dirty="0">
                <a:solidFill>
                  <a:srgbClr val="86EFAC"/>
                </a:solidFill>
                <a:latin typeface="Courier New" pitchFamily="34" charset="0"/>
                <a:ea typeface="Courier New" pitchFamily="34" charset="-122"/>
                <a:cs typeface="Courier New" pitchFamily="34" charset="-120"/>
              </a:rPr>
              <a:t>const submitBtn = document.getElementById('submit-btn');</a:t>
            </a:r>
            <a:endParaRPr lang="en-US" sz="850" dirty="0"/>
          </a:p>
          <a:p>
            <a:pPr indent="0" marL="0">
              <a:buNone/>
            </a:pPr>
            <a:endParaRPr lang="en-US" sz="850" dirty="0"/>
          </a:p>
          <a:p>
            <a:pPr indent="0" marL="0">
              <a:buNone/>
            </a:pPr>
            <a:r>
              <a:rPr lang="en-US" sz="850" dirty="0">
                <a:solidFill>
                  <a:srgbClr val="86EFAC"/>
                </a:solidFill>
                <a:latin typeface="Courier New" pitchFamily="34" charset="0"/>
                <a:ea typeface="Courier New" pitchFamily="34" charset="-122"/>
                <a:cs typeface="Courier New" pitchFamily="34" charset="-120"/>
              </a:rPr>
              <a:t>// 1. Reusable helper functions</a:t>
            </a:r>
            <a:endParaRPr lang="en-US" sz="850" dirty="0"/>
          </a:p>
          <a:p>
            <a:pPr indent="0" marL="0">
              <a:buNone/>
            </a:pPr>
            <a:r>
              <a:rPr lang="en-US" sz="850" dirty="0">
                <a:solidFill>
                  <a:srgbClr val="86EFAC"/>
                </a:solidFill>
                <a:latin typeface="Courier New" pitchFamily="34" charset="0"/>
                <a:ea typeface="Courier New" pitchFamily="34" charset="-122"/>
                <a:cs typeface="Courier New" pitchFamily="34" charset="-120"/>
              </a:rPr>
              <a:t>function markValid(input, span) {</a:t>
            </a:r>
            <a:endParaRPr lang="en-US" sz="850" dirty="0"/>
          </a:p>
          <a:p>
            <a:pPr indent="0" marL="0">
              <a:buNone/>
            </a:pPr>
            <a:r>
              <a:rPr lang="en-US" sz="850" dirty="0">
                <a:solidFill>
                  <a:srgbClr val="86EFAC"/>
                </a:solidFill>
                <a:latin typeface="Courier New" pitchFamily="34" charset="0"/>
                <a:ea typeface="Courier New" pitchFamily="34" charset="-122"/>
                <a:cs typeface="Courier New" pitchFamily="34" charset="-120"/>
              </a:rPr>
              <a:t>  input.setAttribute('aria-invalid', 'false');</a:t>
            </a:r>
            <a:endParaRPr lang="en-US" sz="850" dirty="0"/>
          </a:p>
          <a:p>
            <a:pPr indent="0" marL="0">
              <a:buNone/>
            </a:pPr>
            <a:r>
              <a:rPr lang="en-US" sz="850" dirty="0">
                <a:solidFill>
                  <a:srgbClr val="86EFAC"/>
                </a:solidFill>
                <a:latin typeface="Courier New" pitchFamily="34" charset="0"/>
                <a:ea typeface="Courier New" pitchFamily="34" charset="-122"/>
                <a:cs typeface="Courier New" pitchFamily="34" charset="-120"/>
              </a:rPr>
              <a:t>  span.textContent = '';</a:t>
            </a:r>
            <a:endParaRPr lang="en-US" sz="850" dirty="0"/>
          </a:p>
          <a:p>
            <a:pPr indent="0" marL="0">
              <a:buNone/>
            </a:pPr>
            <a:r>
              <a:rPr lang="en-US" sz="850" dirty="0">
                <a:solidFill>
                  <a:srgbClr val="86EFAC"/>
                </a:solidFill>
                <a:latin typeface="Courier New" pitchFamily="34" charset="0"/>
                <a:ea typeface="Courier New" pitchFamily="34" charset="-122"/>
                <a:cs typeface="Courier New" pitchFamily="34" charset="-120"/>
              </a:rPr>
              <a:t>}</a:t>
            </a:r>
            <a:endParaRPr lang="en-US" sz="850" dirty="0"/>
          </a:p>
          <a:p>
            <a:pPr indent="0" marL="0">
              <a:buNone/>
            </a:pPr>
            <a:r>
              <a:rPr lang="en-US" sz="850" dirty="0">
                <a:solidFill>
                  <a:srgbClr val="86EFAC"/>
                </a:solidFill>
                <a:latin typeface="Courier New" pitchFamily="34" charset="0"/>
                <a:ea typeface="Courier New" pitchFamily="34" charset="-122"/>
                <a:cs typeface="Courier New" pitchFamily="34" charset="-120"/>
              </a:rPr>
              <a:t>function markInvalid(input, span, msg) {</a:t>
            </a:r>
            <a:endParaRPr lang="en-US" sz="850" dirty="0"/>
          </a:p>
          <a:p>
            <a:pPr indent="0" marL="0">
              <a:buNone/>
            </a:pPr>
            <a:r>
              <a:rPr lang="en-US" sz="850" dirty="0">
                <a:solidFill>
                  <a:srgbClr val="86EFAC"/>
                </a:solidFill>
                <a:latin typeface="Courier New" pitchFamily="34" charset="0"/>
                <a:ea typeface="Courier New" pitchFamily="34" charset="-122"/>
                <a:cs typeface="Courier New" pitchFamily="34" charset="-120"/>
              </a:rPr>
              <a:t>  input.setAttribute('aria-invalid', 'true');</a:t>
            </a:r>
            <a:endParaRPr lang="en-US" sz="850" dirty="0"/>
          </a:p>
          <a:p>
            <a:pPr indent="0" marL="0">
              <a:buNone/>
            </a:pPr>
            <a:r>
              <a:rPr lang="en-US" sz="850" dirty="0">
                <a:solidFill>
                  <a:srgbClr val="86EFAC"/>
                </a:solidFill>
                <a:latin typeface="Courier New" pitchFamily="34" charset="0"/>
                <a:ea typeface="Courier New" pitchFamily="34" charset="-122"/>
                <a:cs typeface="Courier New" pitchFamily="34" charset="-120"/>
              </a:rPr>
              <a:t>  span.textContent = msg;</a:t>
            </a:r>
            <a:endParaRPr lang="en-US" sz="850" dirty="0"/>
          </a:p>
          <a:p>
            <a:pPr indent="0" marL="0">
              <a:buNone/>
            </a:pPr>
            <a:r>
              <a:rPr lang="en-US" sz="850" dirty="0">
                <a:solidFill>
                  <a:srgbClr val="86EFAC"/>
                </a:solidFill>
                <a:latin typeface="Courier New" pitchFamily="34" charset="0"/>
                <a:ea typeface="Courier New" pitchFamily="34" charset="-122"/>
                <a:cs typeface="Courier New" pitchFamily="34" charset="-120"/>
              </a:rPr>
              <a:t>}</a:t>
            </a:r>
            <a:endParaRPr lang="en-US" sz="850" dirty="0"/>
          </a:p>
          <a:p>
            <a:pPr indent="0" marL="0">
              <a:buNone/>
            </a:pPr>
            <a:endParaRPr lang="en-US" sz="850" dirty="0"/>
          </a:p>
          <a:p>
            <a:pPr indent="0" marL="0">
              <a:buNone/>
            </a:pPr>
            <a:r>
              <a:rPr lang="en-US" sz="850" dirty="0">
                <a:solidFill>
                  <a:srgbClr val="86EFAC"/>
                </a:solidFill>
                <a:latin typeface="Courier New" pitchFamily="34" charset="0"/>
                <a:ea typeface="Courier New" pitchFamily="34" charset="-122"/>
                <a:cs typeface="Courier New" pitchFamily="34" charset="-120"/>
              </a:rPr>
              <a:t>// 2. Per-field validator</a:t>
            </a:r>
            <a:endParaRPr lang="en-US" sz="850" dirty="0"/>
          </a:p>
          <a:p>
            <a:pPr indent="0" marL="0">
              <a:buNone/>
            </a:pPr>
            <a:r>
              <a:rPr lang="en-US" sz="850" dirty="0">
                <a:solidFill>
                  <a:srgbClr val="86EFAC"/>
                </a:solidFill>
                <a:latin typeface="Courier New" pitchFamily="34" charset="0"/>
                <a:ea typeface="Courier New" pitchFamily="34" charset="-122"/>
                <a:cs typeface="Courier New" pitchFamily="34" charset="-120"/>
              </a:rPr>
              <a:t>function validateEmail() {</a:t>
            </a:r>
            <a:endParaRPr lang="en-US" sz="850" dirty="0"/>
          </a:p>
          <a:p>
            <a:pPr indent="0" marL="0">
              <a:buNone/>
            </a:pPr>
            <a:r>
              <a:rPr lang="en-US" sz="850" dirty="0">
                <a:solidFill>
                  <a:srgbClr val="86EFAC"/>
                </a:solidFill>
                <a:latin typeface="Courier New" pitchFamily="34" charset="0"/>
                <a:ea typeface="Courier New" pitchFamily="34" charset="-122"/>
                <a:cs typeface="Courier New" pitchFamily="34" charset="-120"/>
              </a:rPr>
              <a:t>  const el  = document.getElementById('v-email');</a:t>
            </a:r>
            <a:endParaRPr lang="en-US" sz="850" dirty="0"/>
          </a:p>
          <a:p>
            <a:pPr indent="0" marL="0">
              <a:buNone/>
            </a:pPr>
            <a:r>
              <a:rPr lang="en-US" sz="850" dirty="0">
                <a:solidFill>
                  <a:srgbClr val="86EFAC"/>
                </a:solidFill>
                <a:latin typeface="Courier New" pitchFamily="34" charset="0"/>
                <a:ea typeface="Courier New" pitchFamily="34" charset="-122"/>
                <a:cs typeface="Courier New" pitchFamily="34" charset="-120"/>
              </a:rPr>
              <a:t>  const err = document.getElementById('err-email');</a:t>
            </a:r>
            <a:endParaRPr lang="en-US" sz="850" dirty="0"/>
          </a:p>
          <a:p>
            <a:pPr indent="0" marL="0">
              <a:buNone/>
            </a:pPr>
            <a:r>
              <a:rPr lang="en-US" sz="850" dirty="0">
                <a:solidFill>
                  <a:srgbClr val="86EFAC"/>
                </a:solidFill>
                <a:latin typeface="Courier New" pitchFamily="34" charset="0"/>
                <a:ea typeface="Courier New" pitchFamily="34" charset="-122"/>
                <a:cs typeface="Courier New" pitchFamily="34" charset="-120"/>
              </a:rPr>
              <a:t>  if (el.validity.valueMissing)</a:t>
            </a:r>
            <a:endParaRPr lang="en-US" sz="850" dirty="0"/>
          </a:p>
          <a:p>
            <a:pPr indent="0" marL="0">
              <a:buNone/>
            </a:pPr>
            <a:r>
              <a:rPr lang="en-US" sz="850" dirty="0">
                <a:solidFill>
                  <a:srgbClr val="86EFAC"/>
                </a:solidFill>
                <a:latin typeface="Courier New" pitchFamily="34" charset="0"/>
                <a:ea typeface="Courier New" pitchFamily="34" charset="-122"/>
                <a:cs typeface="Courier New" pitchFamily="34" charset="-120"/>
              </a:rPr>
              <a:t>    return markInvalid(el, err, 'Required'), false;</a:t>
            </a:r>
            <a:endParaRPr lang="en-US" sz="850" dirty="0"/>
          </a:p>
          <a:p>
            <a:pPr indent="0" marL="0">
              <a:buNone/>
            </a:pPr>
            <a:r>
              <a:rPr lang="en-US" sz="850" dirty="0">
                <a:solidFill>
                  <a:srgbClr val="86EFAC"/>
                </a:solidFill>
                <a:latin typeface="Courier New" pitchFamily="34" charset="0"/>
                <a:ea typeface="Courier New" pitchFamily="34" charset="-122"/>
                <a:cs typeface="Courier New" pitchFamily="34" charset="-120"/>
              </a:rPr>
              <a:t>  if (el.validity.typeMismatch)</a:t>
            </a:r>
            <a:endParaRPr lang="en-US" sz="850" dirty="0"/>
          </a:p>
          <a:p>
            <a:pPr indent="0" marL="0">
              <a:buNone/>
            </a:pPr>
            <a:r>
              <a:rPr lang="en-US" sz="850" dirty="0">
                <a:solidFill>
                  <a:srgbClr val="86EFAC"/>
                </a:solidFill>
                <a:latin typeface="Courier New" pitchFamily="34" charset="0"/>
                <a:ea typeface="Courier New" pitchFamily="34" charset="-122"/>
                <a:cs typeface="Courier New" pitchFamily="34" charset="-120"/>
              </a:rPr>
              <a:t>    return markInvalid(el, err, 'Invalid email'), false;</a:t>
            </a:r>
            <a:endParaRPr lang="en-US" sz="850" dirty="0"/>
          </a:p>
          <a:p>
            <a:pPr indent="0" marL="0">
              <a:buNone/>
            </a:pPr>
            <a:r>
              <a:rPr lang="en-US" sz="850" dirty="0">
                <a:solidFill>
                  <a:srgbClr val="86EFAC"/>
                </a:solidFill>
                <a:latin typeface="Courier New" pitchFamily="34" charset="0"/>
                <a:ea typeface="Courier New" pitchFamily="34" charset="-122"/>
                <a:cs typeface="Courier New" pitchFamily="34" charset="-120"/>
              </a:rPr>
              <a:t>  return markValid(el, err), true;</a:t>
            </a:r>
            <a:endParaRPr lang="en-US" sz="850" dirty="0"/>
          </a:p>
          <a:p>
            <a:pPr indent="0" marL="0">
              <a:buNone/>
            </a:pPr>
            <a:r>
              <a:rPr lang="en-US" sz="850" dirty="0">
                <a:solidFill>
                  <a:srgbClr val="86EFAC"/>
                </a:solidFill>
                <a:latin typeface="Courier New" pitchFamily="34" charset="0"/>
                <a:ea typeface="Courier New" pitchFamily="34" charset="-122"/>
                <a:cs typeface="Courier New" pitchFamily="34" charset="-120"/>
              </a:rPr>
              <a:t>}</a:t>
            </a:r>
            <a:endParaRPr lang="en-US" sz="850" dirty="0"/>
          </a:p>
        </p:txBody>
      </p:sp>
      <p:sp>
        <p:nvSpPr>
          <p:cNvPr id="6" name="Text 4"/>
          <p:cNvSpPr txBox="1"/>
          <p:nvPr/>
        </p:nvSpPr>
        <p:spPr>
          <a:xfrm>
            <a:off x="4709160" y="777240"/>
            <a:ext cx="4160520" cy="256032"/>
          </a:xfrm>
          <a:prstGeom prst="rect">
            <a:avLst/>
          </a:prstGeom>
          <a:noFill/>
          <a:ln/>
        </p:spPr>
        <p:txBody>
          <a:bodyPr wrap="square" lIns="0" tIns="0" rIns="0" bIns="0" rtlCol="0" anchor="ctr"/>
          <a:lstStyle/>
          <a:p>
            <a:pPr indent="0" marL="0">
              <a:buNone/>
            </a:pPr>
            <a:r>
              <a:rPr lang="en-US" sz="1000" b="1" dirty="0">
                <a:solidFill>
                  <a:srgbClr val="86EFAC"/>
                </a:solidFill>
                <a:latin typeface="Calibri" pitchFamily="34" charset="0"/>
                <a:ea typeface="Calibri" pitchFamily="34" charset="-122"/>
                <a:cs typeface="Calibri" pitchFamily="34" charset="-120"/>
              </a:rPr>
              <a:t>✅  Part 2 — real-time + submit wiring</a:t>
            </a:r>
            <a:endParaRPr lang="en-US" sz="1000" dirty="0"/>
          </a:p>
        </p:txBody>
      </p:sp>
      <p:sp>
        <p:nvSpPr>
          <p:cNvPr id="7" name="Shape 5"/>
          <p:cNvSpPr/>
          <p:nvPr/>
        </p:nvSpPr>
        <p:spPr>
          <a:xfrm>
            <a:off x="4709160" y="1051560"/>
            <a:ext cx="4160520" cy="3977640"/>
          </a:xfrm>
          <a:prstGeom prst="rect">
            <a:avLst/>
          </a:prstGeom>
          <a:solidFill>
            <a:srgbClr val="0D1321"/>
          </a:solidFill>
          <a:ln/>
        </p:spPr>
      </p:sp>
      <p:sp>
        <p:nvSpPr>
          <p:cNvPr id="8" name="Text 6"/>
          <p:cNvSpPr txBox="1"/>
          <p:nvPr/>
        </p:nvSpPr>
        <p:spPr>
          <a:xfrm>
            <a:off x="4800600" y="1088136"/>
            <a:ext cx="3977640" cy="3904488"/>
          </a:xfrm>
          <a:prstGeom prst="rect">
            <a:avLst/>
          </a:prstGeom>
          <a:noFill/>
          <a:ln/>
        </p:spPr>
        <p:txBody>
          <a:bodyPr wrap="square" lIns="0" tIns="0" rIns="0" bIns="0" rtlCol="0" anchor="t"/>
          <a:lstStyle/>
          <a:p>
            <a:pPr indent="0" marL="0">
              <a:buNone/>
            </a:pPr>
            <a:r>
              <a:rPr lang="en-US" sz="850" dirty="0">
                <a:solidFill>
                  <a:srgbClr val="86EFAC"/>
                </a:solidFill>
                <a:latin typeface="Courier New" pitchFamily="34" charset="0"/>
                <a:ea typeface="Courier New" pitchFamily="34" charset="-122"/>
                <a:cs typeface="Courier New" pitchFamily="34" charset="-120"/>
              </a:rPr>
              <a:t>// 3. Real-time + submit wiring</a:t>
            </a:r>
            <a:endParaRPr lang="en-US" sz="850" dirty="0"/>
          </a:p>
          <a:p>
            <a:pPr indent="0" marL="0">
              <a:buNone/>
            </a:pPr>
            <a:r>
              <a:rPr lang="en-US" sz="850" dirty="0">
                <a:solidFill>
                  <a:srgbClr val="86EFAC"/>
                </a:solidFill>
                <a:latin typeface="Courier New" pitchFamily="34" charset="0"/>
                <a:ea typeface="Courier New" pitchFamily="34" charset="-122"/>
                <a:cs typeface="Courier New" pitchFamily="34" charset="-120"/>
              </a:rPr>
              <a:t>document.getElementById('v-email')</a:t>
            </a:r>
            <a:endParaRPr lang="en-US" sz="850" dirty="0"/>
          </a:p>
          <a:p>
            <a:pPr indent="0" marL="0">
              <a:buNone/>
            </a:pPr>
            <a:r>
              <a:rPr lang="en-US" sz="850" dirty="0">
                <a:solidFill>
                  <a:srgbClr val="86EFAC"/>
                </a:solidFill>
                <a:latin typeface="Courier New" pitchFamily="34" charset="0"/>
                <a:ea typeface="Courier New" pitchFamily="34" charset="-122"/>
                <a:cs typeface="Courier New" pitchFamily="34" charset="-120"/>
              </a:rPr>
              <a:t>  .addEventListener('input', () =&gt; {</a:t>
            </a:r>
            <a:endParaRPr lang="en-US" sz="850" dirty="0"/>
          </a:p>
          <a:p>
            <a:pPr indent="0" marL="0">
              <a:buNone/>
            </a:pPr>
            <a:r>
              <a:rPr lang="en-US" sz="850" dirty="0">
                <a:solidFill>
                  <a:srgbClr val="86EFAC"/>
                </a:solidFill>
                <a:latin typeface="Courier New" pitchFamily="34" charset="0"/>
                <a:ea typeface="Courier New" pitchFamily="34" charset="-122"/>
                <a:cs typeface="Courier New" pitchFamily="34" charset="-120"/>
              </a:rPr>
              <a:t>    validateEmail();</a:t>
            </a:r>
            <a:endParaRPr lang="en-US" sz="850" dirty="0"/>
          </a:p>
          <a:p>
            <a:pPr indent="0" marL="0">
              <a:buNone/>
            </a:pPr>
            <a:r>
              <a:rPr lang="en-US" sz="850" dirty="0">
                <a:solidFill>
                  <a:srgbClr val="86EFAC"/>
                </a:solidFill>
                <a:latin typeface="Courier New" pitchFamily="34" charset="0"/>
                <a:ea typeface="Courier New" pitchFamily="34" charset="-122"/>
                <a:cs typeface="Courier New" pitchFamily="34" charset="-120"/>
              </a:rPr>
              <a:t>    submitBtn.disabled = !form.checkValidity();</a:t>
            </a:r>
            <a:endParaRPr lang="en-US" sz="850" dirty="0"/>
          </a:p>
          <a:p>
            <a:pPr indent="0" marL="0">
              <a:buNone/>
            </a:pPr>
            <a:r>
              <a:rPr lang="en-US" sz="850" dirty="0">
                <a:solidFill>
                  <a:srgbClr val="86EFAC"/>
                </a:solidFill>
                <a:latin typeface="Courier New" pitchFamily="34" charset="0"/>
                <a:ea typeface="Courier New" pitchFamily="34" charset="-122"/>
                <a:cs typeface="Courier New" pitchFamily="34" charset="-120"/>
              </a:rPr>
              <a:t>  });</a:t>
            </a:r>
            <a:endParaRPr lang="en-US" sz="850" dirty="0"/>
          </a:p>
          <a:p>
            <a:pPr indent="0" marL="0">
              <a:buNone/>
            </a:pPr>
            <a:endParaRPr lang="en-US" sz="850" dirty="0"/>
          </a:p>
          <a:p>
            <a:pPr indent="0" marL="0">
              <a:buNone/>
            </a:pPr>
            <a:r>
              <a:rPr lang="en-US" sz="850" dirty="0">
                <a:solidFill>
                  <a:srgbClr val="86EFAC"/>
                </a:solidFill>
                <a:latin typeface="Courier New" pitchFamily="34" charset="0"/>
                <a:ea typeface="Courier New" pitchFamily="34" charset="-122"/>
                <a:cs typeface="Courier New" pitchFamily="34" charset="-120"/>
              </a:rPr>
              <a:t>form.addEventListener('submit', e =&gt; {</a:t>
            </a:r>
            <a:endParaRPr lang="en-US" sz="850" dirty="0"/>
          </a:p>
          <a:p>
            <a:pPr indent="0" marL="0">
              <a:buNone/>
            </a:pPr>
            <a:r>
              <a:rPr lang="en-US" sz="850" dirty="0">
                <a:solidFill>
                  <a:srgbClr val="86EFAC"/>
                </a:solidFill>
                <a:latin typeface="Courier New" pitchFamily="34" charset="0"/>
                <a:ea typeface="Courier New" pitchFamily="34" charset="-122"/>
                <a:cs typeface="Courier New" pitchFamily="34" charset="-120"/>
              </a:rPr>
              <a:t>  e.preventDefault();</a:t>
            </a:r>
            <a:endParaRPr lang="en-US" sz="850" dirty="0"/>
          </a:p>
          <a:p>
            <a:pPr indent="0" marL="0">
              <a:buNone/>
            </a:pPr>
            <a:r>
              <a:rPr lang="en-US" sz="850" dirty="0">
                <a:solidFill>
                  <a:srgbClr val="86EFAC"/>
                </a:solidFill>
                <a:latin typeface="Courier New" pitchFamily="34" charset="0"/>
                <a:ea typeface="Courier New" pitchFamily="34" charset="-122"/>
                <a:cs typeface="Courier New" pitchFamily="34" charset="-120"/>
              </a:rPr>
              <a:t>  if (validateEmail() /* &amp;&amp; validateSid() */) {</a:t>
            </a:r>
            <a:endParaRPr lang="en-US" sz="850" dirty="0"/>
          </a:p>
          <a:p>
            <a:pPr indent="0" marL="0">
              <a:buNone/>
            </a:pPr>
            <a:r>
              <a:rPr lang="en-US" sz="850" dirty="0">
                <a:solidFill>
                  <a:srgbClr val="86EFAC"/>
                </a:solidFill>
                <a:latin typeface="Courier New" pitchFamily="34" charset="0"/>
                <a:ea typeface="Courier New" pitchFamily="34" charset="-122"/>
                <a:cs typeface="Courier New" pitchFamily="34" charset="-120"/>
              </a:rPr>
              <a:t>    showSuccess();</a:t>
            </a:r>
            <a:endParaRPr lang="en-US" sz="850" dirty="0"/>
          </a:p>
          <a:p>
            <a:pPr indent="0" marL="0">
              <a:buNone/>
            </a:pPr>
            <a:r>
              <a:rPr lang="en-US" sz="850" dirty="0">
                <a:solidFill>
                  <a:srgbClr val="86EFAC"/>
                </a:solidFill>
                <a:latin typeface="Courier New" pitchFamily="34" charset="0"/>
                <a:ea typeface="Courier New" pitchFamily="34" charset="-122"/>
                <a:cs typeface="Courier New" pitchFamily="34" charset="-120"/>
              </a:rPr>
              <a:t>  }</a:t>
            </a:r>
            <a:endParaRPr lang="en-US" sz="850" dirty="0"/>
          </a:p>
          <a:p>
            <a:pPr indent="0" marL="0">
              <a:buNone/>
            </a:pPr>
            <a:r>
              <a:rPr lang="en-US" sz="850" dirty="0">
                <a:solidFill>
                  <a:srgbClr val="86EFAC"/>
                </a:solidFill>
                <a:latin typeface="Courier New" pitchFamily="34" charset="0"/>
                <a:ea typeface="Courier New" pitchFamily="34" charset="-122"/>
                <a:cs typeface="Courier New" pitchFamily="34" charset="-120"/>
              </a:rPr>
              <a:t>});</a:t>
            </a:r>
            <a:endParaRPr lang="en-US" sz="850" dirty="0"/>
          </a:p>
          <a:p>
            <a:pPr indent="0" marL="0">
              <a:buNone/>
            </a:pPr>
            <a:endParaRPr lang="en-US" sz="850" dirty="0"/>
          </a:p>
          <a:p>
            <a:pPr indent="0" marL="0">
              <a:buNone/>
            </a:pPr>
            <a:r>
              <a:rPr lang="en-US" sz="850" dirty="0">
                <a:solidFill>
                  <a:srgbClr val="86EFAC"/>
                </a:solidFill>
                <a:latin typeface="Courier New" pitchFamily="34" charset="0"/>
                <a:ea typeface="Courier New" pitchFamily="34" charset="-122"/>
                <a:cs typeface="Courier New" pitchFamily="34" charset="-120"/>
              </a:rPr>
              <a:t>// Pattern summary:</a:t>
            </a:r>
            <a:endParaRPr lang="en-US" sz="850" dirty="0"/>
          </a:p>
          <a:p>
            <a:pPr indent="0" marL="0">
              <a:buNone/>
            </a:pPr>
            <a:r>
              <a:rPr lang="en-US" sz="850" dirty="0">
                <a:solidFill>
                  <a:srgbClr val="86EFAC"/>
                </a:solidFill>
                <a:latin typeface="Courier New" pitchFamily="34" charset="0"/>
                <a:ea typeface="Courier New" pitchFamily="34" charset="-122"/>
                <a:cs typeface="Courier New" pitchFamily="34" charset="-120"/>
              </a:rPr>
              <a:t>// markValid / markInvalid  — helpers</a:t>
            </a:r>
            <a:endParaRPr lang="en-US" sz="850" dirty="0"/>
          </a:p>
          <a:p>
            <a:pPr indent="0" marL="0">
              <a:buNone/>
            </a:pPr>
            <a:r>
              <a:rPr lang="en-US" sz="850" dirty="0">
                <a:solidFill>
                  <a:srgbClr val="86EFAC"/>
                </a:solidFill>
                <a:latin typeface="Courier New" pitchFamily="34" charset="0"/>
                <a:ea typeface="Courier New" pitchFamily="34" charset="-122"/>
                <a:cs typeface="Courier New" pitchFamily="34" charset="-120"/>
              </a:rPr>
              <a:t>// validateX()              — per field</a:t>
            </a:r>
            <a:endParaRPr lang="en-US" sz="850" dirty="0"/>
          </a:p>
          <a:p>
            <a:pPr indent="0" marL="0">
              <a:buNone/>
            </a:pPr>
            <a:r>
              <a:rPr lang="en-US" sz="850" dirty="0">
                <a:solidFill>
                  <a:srgbClr val="86EFAC"/>
                </a:solidFill>
                <a:latin typeface="Courier New" pitchFamily="34" charset="0"/>
                <a:ea typeface="Courier New" pitchFamily="34" charset="-122"/>
                <a:cs typeface="Courier New" pitchFamily="34" charset="-120"/>
              </a:rPr>
              <a:t>// input listener           — real-time</a:t>
            </a:r>
            <a:endParaRPr lang="en-US" sz="850" dirty="0"/>
          </a:p>
          <a:p>
            <a:pPr indent="0" marL="0">
              <a:buNone/>
            </a:pPr>
            <a:r>
              <a:rPr lang="en-US" sz="850" dirty="0">
                <a:solidFill>
                  <a:srgbClr val="86EFAC"/>
                </a:solidFill>
                <a:latin typeface="Courier New" pitchFamily="34" charset="0"/>
                <a:ea typeface="Courier New" pitchFamily="34" charset="-122"/>
                <a:cs typeface="Courier New" pitchFamily="34" charset="-120"/>
              </a:rPr>
              <a:t>// submit listener          — final gate</a:t>
            </a:r>
            <a:endParaRPr lang="en-US" sz="850" dirty="0"/>
          </a:p>
        </p:txBody>
      </p:sp>
      <p:sp>
        <p:nvSpPr>
          <p:cNvPr id="9" name="Text 7"/>
          <p:cNvSpPr txBox="1"/>
          <p:nvPr/>
        </p:nvSpPr>
        <p:spPr>
          <a:xfrm>
            <a:off x="320040" y="4892040"/>
            <a:ext cx="8503920" cy="182880"/>
          </a:xfrm>
          <a:prstGeom prst="rect">
            <a:avLst/>
          </a:prstGeom>
          <a:noFill/>
          <a:ln/>
        </p:spPr>
        <p:txBody>
          <a:bodyPr wrap="square" rtlCol="0" anchor="ctr"/>
          <a:lstStyle/>
          <a:p>
            <a:pPr algn="ctr" indent="0" marL="0">
              <a:buNone/>
            </a:pPr>
            <a:r>
              <a:rPr lang="en-US" sz="800" dirty="0">
                <a:solidFill>
                  <a:srgbClr val="94A3B8"/>
                </a:solidFill>
                <a:latin typeface="Calibri" pitchFamily="34" charset="0"/>
                <a:ea typeface="Calibri" pitchFamily="34" charset="-122"/>
                <a:cs typeface="Calibri" pitchFamily="34" charset="-120"/>
              </a:rPr>
              <a:t>K0126002  ·  Gachon University  ·  2026 Fall  ·  Dr. Toshpulatov</a:t>
            </a:r>
            <a:endParaRPr lang="en-US" sz="800"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bg>
      <p:bgPr>
        <a:solidFill>
          <a:srgbClr val="1A2540"/>
        </a:solidFill>
      </p:bgPr>
    </p:bg>
    <p:spTree>
      <p:nvGrpSpPr>
        <p:cNvPr id="1" name=""/>
        <p:cNvGrpSpPr/>
        <p:nvPr/>
      </p:nvGrpSpPr>
      <p:grpSpPr>
        <a:xfrm>
          <a:off x="0" y="0"/>
          <a:ext cx="0" cy="0"/>
          <a:chOff x="0" y="0"/>
          <a:chExt cx="0" cy="0"/>
        </a:xfrm>
      </p:grpSpPr>
      <p:sp>
        <p:nvSpPr>
          <p:cNvPr id="2" name="Text 0"/>
          <p:cNvSpPr txBox="1"/>
          <p:nvPr/>
        </p:nvSpPr>
        <p:spPr>
          <a:xfrm>
            <a:off x="320040" y="182880"/>
            <a:ext cx="8503920" cy="475488"/>
          </a:xfrm>
          <a:prstGeom prst="rect">
            <a:avLst/>
          </a:prstGeom>
          <a:noFill/>
          <a:ln/>
        </p:spPr>
        <p:txBody>
          <a:bodyPr wrap="square" rtlCol="0" anchor="ctr"/>
          <a:lstStyle/>
          <a:p>
            <a:pPr indent="0" marL="0">
              <a:buNone/>
            </a:pPr>
            <a:r>
              <a:rPr lang="en-US" sz="2600" b="1" dirty="0">
                <a:solidFill>
                  <a:srgbClr val="F7DF1E"/>
                </a:solidFill>
                <a:latin typeface="Cambria" pitchFamily="34" charset="0"/>
                <a:ea typeface="Cambria" pitchFamily="34" charset="-122"/>
                <a:cs typeface="Cambria" pitchFamily="34" charset="-120"/>
              </a:rPr>
              <a:t>Summary + Homework</a:t>
            </a:r>
            <a:endParaRPr lang="en-US" sz="2600" dirty="0"/>
          </a:p>
        </p:txBody>
      </p:sp>
      <p:sp>
        <p:nvSpPr>
          <p:cNvPr id="3" name="Shape 1"/>
          <p:cNvSpPr/>
          <p:nvPr/>
        </p:nvSpPr>
        <p:spPr>
          <a:xfrm>
            <a:off x="274320" y="822960"/>
            <a:ext cx="2743200" cy="960120"/>
          </a:xfrm>
          <a:prstGeom prst="rect">
            <a:avLst/>
          </a:prstGeom>
          <a:solidFill>
            <a:srgbClr val="0D1321"/>
          </a:solidFill>
          <a:ln/>
        </p:spPr>
      </p:sp>
      <p:sp>
        <p:nvSpPr>
          <p:cNvPr id="4" name="Text 2"/>
          <p:cNvSpPr txBox="1"/>
          <p:nvPr/>
        </p:nvSpPr>
        <p:spPr>
          <a:xfrm>
            <a:off x="365760" y="896112"/>
            <a:ext cx="2560320" cy="347472"/>
          </a:xfrm>
          <a:prstGeom prst="rect">
            <a:avLst/>
          </a:prstGeom>
          <a:noFill/>
          <a:ln/>
        </p:spPr>
        <p:txBody>
          <a:bodyPr wrap="square" lIns="0" tIns="0" rIns="0" bIns="0" rtlCol="0" anchor="ctr"/>
          <a:lstStyle/>
          <a:p>
            <a:pPr indent="0" marL="0">
              <a:buNone/>
            </a:pPr>
            <a:r>
              <a:rPr lang="en-US" sz="1200" b="1" dirty="0">
                <a:solidFill>
                  <a:srgbClr val="F7DF1E"/>
                </a:solidFill>
                <a:latin typeface="Courier New" pitchFamily="34" charset="0"/>
                <a:ea typeface="Courier New" pitchFamily="34" charset="-122"/>
                <a:cs typeface="Courier New" pitchFamily="34" charset="-120"/>
              </a:rPr>
              <a:t>novalidate</a:t>
            </a:r>
            <a:endParaRPr lang="en-US" sz="1200" dirty="0"/>
          </a:p>
        </p:txBody>
      </p:sp>
      <p:sp>
        <p:nvSpPr>
          <p:cNvPr id="5" name="Text 3"/>
          <p:cNvSpPr txBox="1"/>
          <p:nvPr/>
        </p:nvSpPr>
        <p:spPr>
          <a:xfrm>
            <a:off x="365760" y="1280160"/>
            <a:ext cx="2560320" cy="457200"/>
          </a:xfrm>
          <a:prstGeom prst="rect">
            <a:avLst/>
          </a:prstGeom>
          <a:noFill/>
          <a:ln/>
        </p:spPr>
        <p:txBody>
          <a:bodyPr wrap="square" lIns="0" tIns="0" rIns="0" bIns="0" rtlCol="0" anchor="ctr"/>
          <a:lstStyle/>
          <a:p>
            <a:pPr indent="0" marL="0">
              <a:buNone/>
            </a:pPr>
            <a:r>
              <a:rPr lang="en-US" sz="1000" dirty="0">
                <a:solidFill>
                  <a:srgbClr val="FFFFFF"/>
                </a:solidFill>
                <a:latin typeface="Calibri" pitchFamily="34" charset="0"/>
                <a:ea typeface="Calibri" pitchFamily="34" charset="-122"/>
                <a:cs typeface="Calibri" pitchFamily="34" charset="-120"/>
              </a:rPr>
              <a:t>Disables browser bubbles — JS takes over</a:t>
            </a:r>
            <a:endParaRPr lang="en-US" sz="1000" dirty="0"/>
          </a:p>
        </p:txBody>
      </p:sp>
      <p:sp>
        <p:nvSpPr>
          <p:cNvPr id="6" name="Shape 4"/>
          <p:cNvSpPr/>
          <p:nvPr/>
        </p:nvSpPr>
        <p:spPr>
          <a:xfrm>
            <a:off x="3154680" y="822960"/>
            <a:ext cx="2743200" cy="960120"/>
          </a:xfrm>
          <a:prstGeom prst="rect">
            <a:avLst/>
          </a:prstGeom>
          <a:solidFill>
            <a:srgbClr val="0D1321"/>
          </a:solidFill>
          <a:ln/>
        </p:spPr>
      </p:sp>
      <p:sp>
        <p:nvSpPr>
          <p:cNvPr id="7" name="Text 5"/>
          <p:cNvSpPr txBox="1"/>
          <p:nvPr/>
        </p:nvSpPr>
        <p:spPr>
          <a:xfrm>
            <a:off x="3246120" y="896112"/>
            <a:ext cx="2560320" cy="347472"/>
          </a:xfrm>
          <a:prstGeom prst="rect">
            <a:avLst/>
          </a:prstGeom>
          <a:noFill/>
          <a:ln/>
        </p:spPr>
        <p:txBody>
          <a:bodyPr wrap="square" lIns="0" tIns="0" rIns="0" bIns="0" rtlCol="0" anchor="ctr"/>
          <a:lstStyle/>
          <a:p>
            <a:pPr indent="0" marL="0">
              <a:buNone/>
            </a:pPr>
            <a:r>
              <a:rPr lang="en-US" sz="1200" b="1" dirty="0">
                <a:solidFill>
                  <a:srgbClr val="F7DF1E"/>
                </a:solidFill>
                <a:latin typeface="Courier New" pitchFamily="34" charset="0"/>
                <a:ea typeface="Courier New" pitchFamily="34" charset="-122"/>
                <a:cs typeface="Courier New" pitchFamily="34" charset="-120"/>
              </a:rPr>
              <a:t>preventDefault()</a:t>
            </a:r>
            <a:endParaRPr lang="en-US" sz="1200" dirty="0"/>
          </a:p>
        </p:txBody>
      </p:sp>
      <p:sp>
        <p:nvSpPr>
          <p:cNvPr id="8" name="Text 6"/>
          <p:cNvSpPr txBox="1"/>
          <p:nvPr/>
        </p:nvSpPr>
        <p:spPr>
          <a:xfrm>
            <a:off x="3246120" y="1280160"/>
            <a:ext cx="2560320" cy="457200"/>
          </a:xfrm>
          <a:prstGeom prst="rect">
            <a:avLst/>
          </a:prstGeom>
          <a:noFill/>
          <a:ln/>
        </p:spPr>
        <p:txBody>
          <a:bodyPr wrap="square" lIns="0" tIns="0" rIns="0" bIns="0" rtlCol="0" anchor="ctr"/>
          <a:lstStyle/>
          <a:p>
            <a:pPr indent="0" marL="0">
              <a:buNone/>
            </a:pPr>
            <a:r>
              <a:rPr lang="en-US" sz="1000" dirty="0">
                <a:solidFill>
                  <a:srgbClr val="FFFFFF"/>
                </a:solidFill>
                <a:latin typeface="Calibri" pitchFamily="34" charset="0"/>
                <a:ea typeface="Calibri" pitchFamily="34" charset="-122"/>
                <a:cs typeface="Calibri" pitchFamily="34" charset="-120"/>
              </a:rPr>
              <a:t>Stops form submit; run your checks first</a:t>
            </a:r>
            <a:endParaRPr lang="en-US" sz="1000" dirty="0"/>
          </a:p>
        </p:txBody>
      </p:sp>
      <p:sp>
        <p:nvSpPr>
          <p:cNvPr id="9" name="Shape 7"/>
          <p:cNvSpPr/>
          <p:nvPr/>
        </p:nvSpPr>
        <p:spPr>
          <a:xfrm>
            <a:off x="6035040" y="822960"/>
            <a:ext cx="2743200" cy="960120"/>
          </a:xfrm>
          <a:prstGeom prst="rect">
            <a:avLst/>
          </a:prstGeom>
          <a:solidFill>
            <a:srgbClr val="0D1321"/>
          </a:solidFill>
          <a:ln/>
        </p:spPr>
      </p:sp>
      <p:sp>
        <p:nvSpPr>
          <p:cNvPr id="10" name="Text 8"/>
          <p:cNvSpPr txBox="1"/>
          <p:nvPr/>
        </p:nvSpPr>
        <p:spPr>
          <a:xfrm>
            <a:off x="6126480" y="896112"/>
            <a:ext cx="2560320" cy="347472"/>
          </a:xfrm>
          <a:prstGeom prst="rect">
            <a:avLst/>
          </a:prstGeom>
          <a:noFill/>
          <a:ln/>
        </p:spPr>
        <p:txBody>
          <a:bodyPr wrap="square" lIns="0" tIns="0" rIns="0" bIns="0" rtlCol="0" anchor="ctr"/>
          <a:lstStyle/>
          <a:p>
            <a:pPr indent="0" marL="0">
              <a:buNone/>
            </a:pPr>
            <a:r>
              <a:rPr lang="en-US" sz="1200" b="1" dirty="0">
                <a:solidFill>
                  <a:srgbClr val="F7DF1E"/>
                </a:solidFill>
                <a:latin typeface="Courier New" pitchFamily="34" charset="0"/>
                <a:ea typeface="Courier New" pitchFamily="34" charset="-122"/>
                <a:cs typeface="Courier New" pitchFamily="34" charset="-120"/>
              </a:rPr>
              <a:t>input event</a:t>
            </a:r>
            <a:endParaRPr lang="en-US" sz="1200" dirty="0"/>
          </a:p>
        </p:txBody>
      </p:sp>
      <p:sp>
        <p:nvSpPr>
          <p:cNvPr id="11" name="Text 9"/>
          <p:cNvSpPr txBox="1"/>
          <p:nvPr/>
        </p:nvSpPr>
        <p:spPr>
          <a:xfrm>
            <a:off x="6126480" y="1280160"/>
            <a:ext cx="2560320" cy="457200"/>
          </a:xfrm>
          <a:prstGeom prst="rect">
            <a:avLst/>
          </a:prstGeom>
          <a:noFill/>
          <a:ln/>
        </p:spPr>
        <p:txBody>
          <a:bodyPr wrap="square" lIns="0" tIns="0" rIns="0" bIns="0" rtlCol="0" anchor="ctr"/>
          <a:lstStyle/>
          <a:p>
            <a:pPr indent="0" marL="0">
              <a:buNone/>
            </a:pPr>
            <a:r>
              <a:rPr lang="en-US" sz="1000" dirty="0">
                <a:solidFill>
                  <a:srgbClr val="FFFFFF"/>
                </a:solidFill>
                <a:latin typeface="Calibri" pitchFamily="34" charset="0"/>
                <a:ea typeface="Calibri" pitchFamily="34" charset="-122"/>
                <a:cs typeface="Calibri" pitchFamily="34" charset="-120"/>
              </a:rPr>
              <a:t>Real-time feedback on every keystroke</a:t>
            </a:r>
            <a:endParaRPr lang="en-US" sz="1000" dirty="0"/>
          </a:p>
        </p:txBody>
      </p:sp>
      <p:sp>
        <p:nvSpPr>
          <p:cNvPr id="12" name="Shape 10"/>
          <p:cNvSpPr/>
          <p:nvPr/>
        </p:nvSpPr>
        <p:spPr>
          <a:xfrm>
            <a:off x="274320" y="1920240"/>
            <a:ext cx="2743200" cy="960120"/>
          </a:xfrm>
          <a:prstGeom prst="rect">
            <a:avLst/>
          </a:prstGeom>
          <a:solidFill>
            <a:srgbClr val="0D1321"/>
          </a:solidFill>
          <a:ln/>
        </p:spPr>
      </p:sp>
      <p:sp>
        <p:nvSpPr>
          <p:cNvPr id="13" name="Text 11"/>
          <p:cNvSpPr txBox="1"/>
          <p:nvPr/>
        </p:nvSpPr>
        <p:spPr>
          <a:xfrm>
            <a:off x="365760" y="1993392"/>
            <a:ext cx="2560320" cy="347472"/>
          </a:xfrm>
          <a:prstGeom prst="rect">
            <a:avLst/>
          </a:prstGeom>
          <a:noFill/>
          <a:ln/>
        </p:spPr>
        <p:txBody>
          <a:bodyPr wrap="square" lIns="0" tIns="0" rIns="0" bIns="0" rtlCol="0" anchor="ctr"/>
          <a:lstStyle/>
          <a:p>
            <a:pPr indent="0" marL="0">
              <a:buNone/>
            </a:pPr>
            <a:r>
              <a:rPr lang="en-US" sz="1200" b="1" dirty="0">
                <a:solidFill>
                  <a:srgbClr val="F7DF1E"/>
                </a:solidFill>
                <a:latin typeface="Courier New" pitchFamily="34" charset="0"/>
                <a:ea typeface="Courier New" pitchFamily="34" charset="-122"/>
                <a:cs typeface="Courier New" pitchFamily="34" charset="-120"/>
              </a:rPr>
              <a:t>validity API</a:t>
            </a:r>
            <a:endParaRPr lang="en-US" sz="1200" dirty="0"/>
          </a:p>
        </p:txBody>
      </p:sp>
      <p:sp>
        <p:nvSpPr>
          <p:cNvPr id="14" name="Text 12"/>
          <p:cNvSpPr txBox="1"/>
          <p:nvPr/>
        </p:nvSpPr>
        <p:spPr>
          <a:xfrm>
            <a:off x="365760" y="2377440"/>
            <a:ext cx="2560320" cy="457200"/>
          </a:xfrm>
          <a:prstGeom prst="rect">
            <a:avLst/>
          </a:prstGeom>
          <a:noFill/>
          <a:ln/>
        </p:spPr>
        <p:txBody>
          <a:bodyPr wrap="square" lIns="0" tIns="0" rIns="0" bIns="0" rtlCol="0" anchor="ctr"/>
          <a:lstStyle/>
          <a:p>
            <a:pPr indent="0" marL="0">
              <a:buNone/>
            </a:pPr>
            <a:r>
              <a:rPr lang="en-US" sz="1000" dirty="0">
                <a:solidFill>
                  <a:srgbClr val="FFFFFF"/>
                </a:solidFill>
                <a:latin typeface="Calibri" pitchFamily="34" charset="0"/>
                <a:ea typeface="Calibri" pitchFamily="34" charset="-122"/>
                <a:cs typeface="Calibri" pitchFamily="34" charset="-120"/>
              </a:rPr>
              <a:t>valueMissing, typeMismatch, tooShort…</a:t>
            </a:r>
            <a:endParaRPr lang="en-US" sz="1000" dirty="0"/>
          </a:p>
        </p:txBody>
      </p:sp>
      <p:sp>
        <p:nvSpPr>
          <p:cNvPr id="15" name="Shape 13"/>
          <p:cNvSpPr/>
          <p:nvPr/>
        </p:nvSpPr>
        <p:spPr>
          <a:xfrm>
            <a:off x="3154680" y="1920240"/>
            <a:ext cx="2743200" cy="960120"/>
          </a:xfrm>
          <a:prstGeom prst="rect">
            <a:avLst/>
          </a:prstGeom>
          <a:solidFill>
            <a:srgbClr val="0D1321"/>
          </a:solidFill>
          <a:ln/>
        </p:spPr>
      </p:sp>
      <p:sp>
        <p:nvSpPr>
          <p:cNvPr id="16" name="Text 14"/>
          <p:cNvSpPr txBox="1"/>
          <p:nvPr/>
        </p:nvSpPr>
        <p:spPr>
          <a:xfrm>
            <a:off x="3246120" y="1993392"/>
            <a:ext cx="2560320" cy="347472"/>
          </a:xfrm>
          <a:prstGeom prst="rect">
            <a:avLst/>
          </a:prstGeom>
          <a:noFill/>
          <a:ln/>
        </p:spPr>
        <p:txBody>
          <a:bodyPr wrap="square" lIns="0" tIns="0" rIns="0" bIns="0" rtlCol="0" anchor="ctr"/>
          <a:lstStyle/>
          <a:p>
            <a:pPr indent="0" marL="0">
              <a:buNone/>
            </a:pPr>
            <a:r>
              <a:rPr lang="en-US" sz="1200" b="1" dirty="0">
                <a:solidFill>
                  <a:srgbClr val="F7DF1E"/>
                </a:solidFill>
                <a:latin typeface="Courier New" pitchFamily="34" charset="0"/>
                <a:ea typeface="Courier New" pitchFamily="34" charset="-122"/>
                <a:cs typeface="Courier New" pitchFamily="34" charset="-120"/>
              </a:rPr>
              <a:t>setCustomValidity()</a:t>
            </a:r>
            <a:endParaRPr lang="en-US" sz="1200" dirty="0"/>
          </a:p>
        </p:txBody>
      </p:sp>
      <p:sp>
        <p:nvSpPr>
          <p:cNvPr id="17" name="Text 15"/>
          <p:cNvSpPr txBox="1"/>
          <p:nvPr/>
        </p:nvSpPr>
        <p:spPr>
          <a:xfrm>
            <a:off x="3246120" y="2377440"/>
            <a:ext cx="2560320" cy="457200"/>
          </a:xfrm>
          <a:prstGeom prst="rect">
            <a:avLst/>
          </a:prstGeom>
          <a:noFill/>
          <a:ln/>
        </p:spPr>
        <p:txBody>
          <a:bodyPr wrap="square" lIns="0" tIns="0" rIns="0" bIns="0" rtlCol="0" anchor="ctr"/>
          <a:lstStyle/>
          <a:p>
            <a:pPr indent="0" marL="0">
              <a:buNone/>
            </a:pPr>
            <a:r>
              <a:rPr lang="en-US" sz="1000" dirty="0">
                <a:solidFill>
                  <a:srgbClr val="FFFFFF"/>
                </a:solidFill>
                <a:latin typeface="Calibri" pitchFamily="34" charset="0"/>
                <a:ea typeface="Calibri" pitchFamily="34" charset="-122"/>
                <a:cs typeface="Calibri" pitchFamily="34" charset="-120"/>
              </a:rPr>
              <a:t>Custom errors + clear with ""</a:t>
            </a:r>
            <a:endParaRPr lang="en-US" sz="1000" dirty="0"/>
          </a:p>
        </p:txBody>
      </p:sp>
      <p:sp>
        <p:nvSpPr>
          <p:cNvPr id="18" name="Shape 16"/>
          <p:cNvSpPr/>
          <p:nvPr/>
        </p:nvSpPr>
        <p:spPr>
          <a:xfrm>
            <a:off x="6035040" y="1920240"/>
            <a:ext cx="2743200" cy="960120"/>
          </a:xfrm>
          <a:prstGeom prst="rect">
            <a:avLst/>
          </a:prstGeom>
          <a:solidFill>
            <a:srgbClr val="0D1321"/>
          </a:solidFill>
          <a:ln/>
        </p:spPr>
      </p:sp>
      <p:sp>
        <p:nvSpPr>
          <p:cNvPr id="19" name="Text 17"/>
          <p:cNvSpPr txBox="1"/>
          <p:nvPr/>
        </p:nvSpPr>
        <p:spPr>
          <a:xfrm>
            <a:off x="6126480" y="1993392"/>
            <a:ext cx="2560320" cy="347472"/>
          </a:xfrm>
          <a:prstGeom prst="rect">
            <a:avLst/>
          </a:prstGeom>
          <a:noFill/>
          <a:ln/>
        </p:spPr>
        <p:txBody>
          <a:bodyPr wrap="square" lIns="0" tIns="0" rIns="0" bIns="0" rtlCol="0" anchor="ctr"/>
          <a:lstStyle/>
          <a:p>
            <a:pPr indent="0" marL="0">
              <a:buNone/>
            </a:pPr>
            <a:r>
              <a:rPr lang="en-US" sz="1200" b="1" dirty="0">
                <a:solidFill>
                  <a:srgbClr val="F7DF1E"/>
                </a:solidFill>
                <a:latin typeface="Courier New" pitchFamily="34" charset="0"/>
                <a:ea typeface="Courier New" pitchFamily="34" charset="-122"/>
                <a:cs typeface="Courier New" pitchFamily="34" charset="-120"/>
              </a:rPr>
              <a:t>aria-describedby</a:t>
            </a:r>
            <a:endParaRPr lang="en-US" sz="1200" dirty="0"/>
          </a:p>
        </p:txBody>
      </p:sp>
      <p:sp>
        <p:nvSpPr>
          <p:cNvPr id="20" name="Text 18"/>
          <p:cNvSpPr txBox="1"/>
          <p:nvPr/>
        </p:nvSpPr>
        <p:spPr>
          <a:xfrm>
            <a:off x="6126480" y="2377440"/>
            <a:ext cx="2560320" cy="457200"/>
          </a:xfrm>
          <a:prstGeom prst="rect">
            <a:avLst/>
          </a:prstGeom>
          <a:noFill/>
          <a:ln/>
        </p:spPr>
        <p:txBody>
          <a:bodyPr wrap="square" lIns="0" tIns="0" rIns="0" bIns="0" rtlCol="0" anchor="ctr"/>
          <a:lstStyle/>
          <a:p>
            <a:pPr indent="0" marL="0">
              <a:buNone/>
            </a:pPr>
            <a:r>
              <a:rPr lang="en-US" sz="1000" dirty="0">
                <a:solidFill>
                  <a:srgbClr val="FFFFFF"/>
                </a:solidFill>
                <a:latin typeface="Calibri" pitchFamily="34" charset="0"/>
                <a:ea typeface="Calibri" pitchFamily="34" charset="-122"/>
                <a:cs typeface="Calibri" pitchFamily="34" charset="-120"/>
              </a:rPr>
              <a:t>Links input to error span for AT</a:t>
            </a:r>
            <a:endParaRPr lang="en-US" sz="1000" dirty="0"/>
          </a:p>
        </p:txBody>
      </p:sp>
      <p:sp>
        <p:nvSpPr>
          <p:cNvPr id="21" name="Shape 19"/>
          <p:cNvSpPr/>
          <p:nvPr/>
        </p:nvSpPr>
        <p:spPr>
          <a:xfrm>
            <a:off x="274320" y="3063240"/>
            <a:ext cx="8595360" cy="1719072"/>
          </a:xfrm>
          <a:prstGeom prst="rect">
            <a:avLst/>
          </a:prstGeom>
          <a:solidFill>
            <a:srgbClr val="1A3050"/>
          </a:solidFill>
          <a:ln w="19050">
            <a:solidFill>
              <a:srgbClr val="F7DF1E"/>
            </a:solidFill>
            <a:prstDash val="solid"/>
          </a:ln>
        </p:spPr>
      </p:sp>
      <p:sp>
        <p:nvSpPr>
          <p:cNvPr id="22" name="Text 20"/>
          <p:cNvSpPr txBox="1"/>
          <p:nvPr/>
        </p:nvSpPr>
        <p:spPr>
          <a:xfrm>
            <a:off x="411480" y="3127248"/>
            <a:ext cx="8321040" cy="347472"/>
          </a:xfrm>
          <a:prstGeom prst="rect">
            <a:avLst/>
          </a:prstGeom>
          <a:noFill/>
          <a:ln/>
        </p:spPr>
        <p:txBody>
          <a:bodyPr wrap="square" lIns="0" tIns="0" rIns="0" bIns="0" rtlCol="0" anchor="ctr"/>
          <a:lstStyle/>
          <a:p>
            <a:pPr indent="0" marL="0">
              <a:buNone/>
            </a:pPr>
            <a:r>
              <a:rPr lang="en-US" sz="1400" b="1" dirty="0">
                <a:solidFill>
                  <a:srgbClr val="F7DF1E"/>
                </a:solidFill>
                <a:latin typeface="Cambria" pitchFamily="34" charset="0"/>
                <a:ea typeface="Cambria" pitchFamily="34" charset="-122"/>
                <a:cs typeface="Cambria" pitchFamily="34" charset="-120"/>
              </a:rPr>
              <a:t>HOMEWORK</a:t>
            </a:r>
            <a:endParaRPr lang="en-US" sz="1400" dirty="0"/>
          </a:p>
        </p:txBody>
      </p:sp>
      <p:sp>
        <p:nvSpPr>
          <p:cNvPr id="23" name="Text 21"/>
          <p:cNvSpPr txBox="1"/>
          <p:nvPr/>
        </p:nvSpPr>
        <p:spPr>
          <a:xfrm>
            <a:off x="411480" y="3520440"/>
            <a:ext cx="8321040" cy="1216152"/>
          </a:xfrm>
          <a:prstGeom prst="rect">
            <a:avLst/>
          </a:prstGeom>
          <a:noFill/>
          <a:ln/>
        </p:spPr>
        <p:txBody>
          <a:bodyPr wrap="square" lIns="0" tIns="0" rIns="0" bIns="0" rtlCol="0" anchor="t"/>
          <a:lstStyle/>
          <a:p>
            <a:pPr indent="0" marL="0">
              <a:buNone/>
            </a:pPr>
            <a:r>
              <a:rPr lang="en-US" sz="1200" dirty="0">
                <a:solidFill>
                  <a:srgbClr val="FFFFFF"/>
                </a:solidFill>
                <a:latin typeface="Calibri" pitchFamily="34" charset="0"/>
                <a:ea typeface="Calibri" pitchFamily="34" charset="-122"/>
                <a:cs typeface="Calibri" pitchFamily="34" charset="-120"/>
              </a:rPr>
              <a:t>Upgrade Monday's registration form — add novalidate, preventDefault, input listeners for all fields, ARIA attributes (aria-describedby + aria-invalid), password confirm with setCustomValidity(), and a success message div. Bonus: disable the Submit button until form.checkValidity() is true.</a:t>
            </a:r>
            <a:endParaRPr lang="en-US" sz="1200" dirty="0"/>
          </a:p>
        </p:txBody>
      </p:sp>
      <p:sp>
        <p:nvSpPr>
          <p:cNvPr id="24" name="Text 22"/>
          <p:cNvSpPr txBox="1"/>
          <p:nvPr/>
        </p:nvSpPr>
        <p:spPr>
          <a:xfrm>
            <a:off x="320040" y="4892040"/>
            <a:ext cx="8503920" cy="182880"/>
          </a:xfrm>
          <a:prstGeom prst="rect">
            <a:avLst/>
          </a:prstGeom>
          <a:noFill/>
          <a:ln/>
        </p:spPr>
        <p:txBody>
          <a:bodyPr wrap="square" rtlCol="0" anchor="ctr"/>
          <a:lstStyle/>
          <a:p>
            <a:pPr algn="ctr" indent="0" marL="0">
              <a:buNone/>
            </a:pPr>
            <a:r>
              <a:rPr lang="en-US" sz="800" dirty="0">
                <a:solidFill>
                  <a:srgbClr val="94A3B8"/>
                </a:solidFill>
                <a:latin typeface="Calibri" pitchFamily="34" charset="0"/>
                <a:ea typeface="Calibri" pitchFamily="34" charset="-122"/>
                <a:cs typeface="Calibri" pitchFamily="34" charset="-120"/>
              </a:rPr>
              <a:t>K0126002  ·  Gachon University  ·  2026 Fall  ·  Dr. Toshpulatov</a:t>
            </a:r>
            <a:endParaRPr lang="en-US" sz="8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19</Slides>
  <Notes>19</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19</vt:i4>
      </vt:variant>
    </vt:vector>
  </HeadingPairs>
  <TitlesOfParts>
    <vt:vector size="22"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PptxGenJS Presentation</dc:title>
  <dc:subject>PptxGenJS Presentation</dc:subject>
  <dc:creator>PptxGenJS</dc:creator>
  <cp:lastModifiedBy>PptxGenJS</cp:lastModifiedBy>
  <cp:revision>1</cp:revision>
  <dcterms:created xsi:type="dcterms:W3CDTF">2026-10-25T00:49:42Z</dcterms:created>
  <dcterms:modified xsi:type="dcterms:W3CDTF">2026-10-25T00:49:42Z</dcterms:modified>
</cp:coreProperties>
</file>