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98D1B0B7-A87F-1E49-30DB-BA25595CB805}">
          <p14:sldIdLst>
            <p14:sldId id="256"/>
            <p14:sldId id="257"/>
          </p14:sldIdLst>
        </p14:section>
        <p14:section name="GitHub Pages" id="{986620C2-7611-6DB3-93DE-EC6BB042D48B}">
          <p14:sldIdLst>
            <p14:sldId id="258"/>
            <p14:sldId id="259"/>
            <p14:sldId id="260"/>
          </p14:sldIdLst>
        </p14:section>
        <p14:section name="Static vs Dynamic" id="{517DC11A-BB6C-9F16-29B4-10AF7EC6EFF7}">
          <p14:sldIdLst>
            <p14:sldId id="261"/>
            <p14:sldId id="262"/>
          </p14:sldIdLst>
        </p14:section>
        <p14:section name="GitHub Actions" id="{F2D3019B-6E90-FD0C-1894-A9EFF79F36FD}">
          <p14:sldIdLst>
            <p14:sldId id="263"/>
          </p14:sldIdLst>
        </p14:section>
        <p14:section name="Lab" id="{67CBFA2C-C99E-6613-0ED6-0633737DCC0C}">
          <p14:sldIdLst>
            <p14:sldId id="264"/>
            <p14:sldId id="265"/>
          </p14:sldIdLst>
        </p14:section>
        <p14:section name="Summary" id="{7CDF7763-7919-B392-3DB8-730D7CAAE02E}">
          <p14:sldIdLst>
            <p14:sldId id="26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210" d="100"/>
          <a:sy n="210" d="100"/>
        </p:scale>
        <p:origin x="384" y="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44373875"/>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Friday's class — Deployment! This is the exciting moment where your code goes from your laptop to the public internet. Today we use GitHub Pages, which is completely free and perfect for static websites. By end of class, students will deploy their Book Search App live. Ask: "Who has a live website right now?" — after today, everyone will!</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Deployment = moving from localhost to a real server. Emphasize: today they learn GitHub Pages which is the easiest entry point. It requires zero server configuration. The limitation is it only serves STATIC files — HTML, CSS, JS, images. No server-side code (PHP, Python Flask, Node.js). For dynamic apps (team projects with a backend), they'll use Render or Railway in Week 12.</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GitHub Pages is a static site hosting service built into GitHub. It reads your repo's files and serves them as a website. No server setup, no Docker, no cloud billing. The URL format uses your GitHub username — that means their resume site (if they build one) would be username.github.io. Encourage students to use a clean username if they plan to job-hunt with their GitHub profile.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this LIVE. Share screen and go through Settings → Pages step by step. Let students follow on their own laptops. The most common issue: the repo is private (GitHub Pages for private repos requires GitHub Pro). Solution: make the repo public temporarily. Also: their index.html MUST be in the root of the repo, not in a subfolder. This trips many students up.</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URL is predictable and permanent once set. A student can share this URL on their resume! Important: if a student renames their repo, the URL changes — all old links break. The index.html placement is the #1 support question: "my site shows a 404" almost always means index.html is in a subfolder. Check with git ls-files index.html.</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important conceptual slide. The limitation of GitHub Pages is that it's a FILE SERVER — it just sends files as-is. It cannot EXECUTE code. So PHP echo "Hello" would serve the PHP source code as text, not execute it. The Book Search App works because it uses the Open Library API (an external server) — the JS fetches from that API, and GitHub Pages just serves the HTML/JS/CSS files.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404 error from a misplaced index.html is the most frequent support ticket after class. Show students how to fix it: either drag index.html to the repo root in GitHub's web editor, or in Settings → Pages change the source folder from /(root) to /src. Option B is easier for projects that already have a src structure.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GitHub Actions is a preview of what is coming — full CI/CD pipelines. For now, just introduce the concept: a YAML file in .github/workflows tells GitHub "when someone pushes, run these commands." GitHub Pages already has a built-in Action that does the deployment automatically. More advanced teams can add: run tests, lint code, check for broken links. Week 11 will go deeper.</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students work independently for 20 minutes. Walk around the room. Common issues to watch for: (1) index.html not in root, (2) repo is private — fix by making it public, (3) GitHub Pages not seeing latest commit — wait a minute and hard refresh. The Discord channel submission creates accountability and lets students see each other's deployed sites, which is motivating!</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slide handy during the lab. The 404 and private-repo issues account for about 70% of student problems. Teach students to check the browser console first — it often tells them exactly what failed (failed to load, CORS error, etc.). The relative path issue with CSS/JS is subtle: a path that works with Live Server may break on GitHub Pages.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Wrap up Week 9. The key message: you now have a complete professional workflow — write code, commit to Git, push to GitHub, site goes live automatically. This is what real developers do every day. Week 10 is Team Project Kickoff — remind students to have their team GitHub org set up before class. Check: is everyone on Discord and does everyone have a GitHub account?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BLANK">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A2540"/>
          </a:solidFill>
          <a:ln/>
        </p:spPr>
      </p:sp>
      <p:sp>
        <p:nvSpPr>
          <p:cNvPr id="3" name="Shape 1"/>
          <p:cNvSpPr/>
          <p:nvPr/>
        </p:nvSpPr>
        <p:spPr>
          <a:xfrm>
            <a:off x="0" y="0"/>
            <a:ext cx="9144000" cy="109728"/>
          </a:xfrm>
          <a:prstGeom prst="rect">
            <a:avLst/>
          </a:prstGeom>
          <a:solidFill>
            <a:srgbClr val="F7DF1E"/>
          </a:solidFill>
          <a:ln/>
        </p:spPr>
      </p:sp>
      <p:sp>
        <p:nvSpPr>
          <p:cNvPr id="4" name="Shape 2"/>
          <p:cNvSpPr/>
          <p:nvPr/>
        </p:nvSpPr>
        <p:spPr>
          <a:xfrm>
            <a:off x="457200" y="320040"/>
            <a:ext cx="1828800" cy="438912"/>
          </a:xfrm>
          <a:prstGeom prst="rect">
            <a:avLst/>
          </a:prstGeom>
          <a:solidFill>
            <a:srgbClr val="F7DF1E"/>
          </a:solidFill>
          <a:ln/>
        </p:spPr>
      </p:sp>
      <p:sp>
        <p:nvSpPr>
          <p:cNvPr id="5" name="Text 3"/>
          <p:cNvSpPr txBox="1"/>
          <p:nvPr/>
        </p:nvSpPr>
        <p:spPr>
          <a:xfrm>
            <a:off x="457200" y="320040"/>
            <a:ext cx="1828800" cy="438912"/>
          </a:xfrm>
          <a:prstGeom prst="rect">
            <a:avLst/>
          </a:prstGeom>
          <a:noFill/>
          <a:ln/>
        </p:spPr>
        <p:txBody>
          <a:bodyPr wrap="square" lIns="0" tIns="0" rIns="0" bIns="0" rtlCol="0" anchor="ctr"/>
          <a:lstStyle/>
          <a:p>
            <a:pPr marL="0" indent="0" algn="ctr">
              <a:buNone/>
            </a:pPr>
            <a:r>
              <a:rPr lang="en-US" sz="900" b="1" dirty="0">
                <a:solidFill>
                  <a:srgbClr val="1A2540"/>
                </a:solidFill>
              </a:rPr>
              <a:t>DEPLOYMENT MODULE</a:t>
            </a:r>
            <a:endParaRPr lang="en-US" sz="900" dirty="0"/>
          </a:p>
        </p:txBody>
      </p:sp>
      <p:sp>
        <p:nvSpPr>
          <p:cNvPr id="6" name="Shape 4"/>
          <p:cNvSpPr/>
          <p:nvPr/>
        </p:nvSpPr>
        <p:spPr>
          <a:xfrm>
            <a:off x="7132320" y="320040"/>
            <a:ext cx="1554480" cy="438912"/>
          </a:xfrm>
          <a:prstGeom prst="rect">
            <a:avLst/>
          </a:prstGeom>
          <a:solidFill>
            <a:srgbClr val="1A2540"/>
          </a:solidFill>
          <a:ln w="19050">
            <a:solidFill>
              <a:srgbClr val="F7DF1E"/>
            </a:solidFill>
            <a:prstDash val="solid"/>
          </a:ln>
        </p:spPr>
      </p:sp>
      <p:sp>
        <p:nvSpPr>
          <p:cNvPr id="7" name="Text 5"/>
          <p:cNvSpPr txBox="1"/>
          <p:nvPr/>
        </p:nvSpPr>
        <p:spPr>
          <a:xfrm>
            <a:off x="7132320" y="320040"/>
            <a:ext cx="1554480" cy="438912"/>
          </a:xfrm>
          <a:prstGeom prst="rect">
            <a:avLst/>
          </a:prstGeom>
          <a:noFill/>
          <a:ln/>
        </p:spPr>
        <p:txBody>
          <a:bodyPr wrap="square" lIns="0" tIns="0" rIns="0" bIns="0" rtlCol="0" anchor="ctr"/>
          <a:lstStyle/>
          <a:p>
            <a:pPr marL="0" indent="0" algn="ctr">
              <a:buNone/>
            </a:pPr>
            <a:r>
              <a:rPr lang="en-US" sz="900" b="1" dirty="0">
                <a:solidFill>
                  <a:srgbClr val="F7DF1E"/>
                </a:solidFill>
              </a:rPr>
              <a:t>Week 9 · Fri</a:t>
            </a:r>
            <a:endParaRPr lang="en-US" sz="900" dirty="0"/>
          </a:p>
        </p:txBody>
      </p:sp>
      <p:sp>
        <p:nvSpPr>
          <p:cNvPr id="8" name="Text 6"/>
          <p:cNvSpPr txBox="1"/>
          <p:nvPr/>
        </p:nvSpPr>
        <p:spPr>
          <a:xfrm>
            <a:off x="548640" y="960120"/>
            <a:ext cx="5943600" cy="1737360"/>
          </a:xfrm>
          <a:prstGeom prst="rect">
            <a:avLst/>
          </a:prstGeom>
          <a:noFill/>
          <a:ln/>
        </p:spPr>
        <p:txBody>
          <a:bodyPr wrap="square" lIns="0" tIns="0" rIns="0" bIns="0" rtlCol="0" anchor="ctr"/>
          <a:lstStyle/>
          <a:p>
            <a:pPr marL="0" indent="0" algn="l">
              <a:buNone/>
            </a:pPr>
            <a:r>
              <a:rPr lang="en-US" sz="4800" b="1" dirty="0">
                <a:solidFill>
                  <a:srgbClr val="FFFFFF"/>
                </a:solidFill>
                <a:latin typeface="Calibri" pitchFamily="34" charset="0"/>
                <a:ea typeface="Calibri" pitchFamily="34" charset="-122"/>
                <a:cs typeface="Calibri" pitchFamily="34" charset="-120"/>
              </a:rPr>
              <a:t>Deploying Your</a:t>
            </a:r>
            <a:endParaRPr lang="en-US" sz="4800" dirty="0"/>
          </a:p>
          <a:p>
            <a:pPr marL="0" indent="0" algn="l">
              <a:buNone/>
            </a:pPr>
            <a:r>
              <a:rPr lang="en-US" sz="4800" b="1" dirty="0">
                <a:solidFill>
                  <a:srgbClr val="FFFFFF"/>
                </a:solidFill>
                <a:latin typeface="Calibri" pitchFamily="34" charset="0"/>
                <a:ea typeface="Calibri" pitchFamily="34" charset="-122"/>
                <a:cs typeface="Calibri" pitchFamily="34" charset="-120"/>
              </a:rPr>
              <a:t>Website</a:t>
            </a:r>
            <a:endParaRPr lang="en-US" sz="4800" dirty="0"/>
          </a:p>
        </p:txBody>
      </p:sp>
      <p:sp>
        <p:nvSpPr>
          <p:cNvPr id="9" name="Shape 7"/>
          <p:cNvSpPr/>
          <p:nvPr/>
        </p:nvSpPr>
        <p:spPr>
          <a:xfrm>
            <a:off x="548640" y="2834640"/>
            <a:ext cx="4572000" cy="64008"/>
          </a:xfrm>
          <a:prstGeom prst="rect">
            <a:avLst/>
          </a:prstGeom>
          <a:solidFill>
            <a:srgbClr val="F7DF1E"/>
          </a:solidFill>
          <a:ln/>
        </p:spPr>
      </p:sp>
      <p:sp>
        <p:nvSpPr>
          <p:cNvPr id="10" name="Text 8"/>
          <p:cNvSpPr txBox="1"/>
          <p:nvPr/>
        </p:nvSpPr>
        <p:spPr>
          <a:xfrm>
            <a:off x="548640" y="2971800"/>
            <a:ext cx="7772400" cy="502920"/>
          </a:xfrm>
          <a:prstGeom prst="rect">
            <a:avLst/>
          </a:prstGeom>
          <a:noFill/>
          <a:ln/>
        </p:spPr>
        <p:txBody>
          <a:bodyPr wrap="square" lIns="0" tIns="0" rIns="0" bIns="0" rtlCol="0" anchor="ctr"/>
          <a:lstStyle/>
          <a:p>
            <a:pPr marL="0" indent="0" algn="l">
              <a:buNone/>
            </a:pPr>
            <a:r>
              <a:rPr lang="en-US" sz="1600" dirty="0">
                <a:solidFill>
                  <a:srgbClr val="8892B0"/>
                </a:solidFill>
                <a:latin typeface="Calibri" pitchFamily="34" charset="0"/>
                <a:ea typeface="Calibri" pitchFamily="34" charset="-122"/>
                <a:cs typeface="Calibri" pitchFamily="34" charset="-120"/>
              </a:rPr>
              <a:t>Making your site public on the internet — for free</a:t>
            </a:r>
            <a:endParaRPr lang="en-US" sz="1600" dirty="0"/>
          </a:p>
        </p:txBody>
      </p:sp>
      <p:sp>
        <p:nvSpPr>
          <p:cNvPr id="11" name="Shape 9"/>
          <p:cNvSpPr/>
          <p:nvPr/>
        </p:nvSpPr>
        <p:spPr>
          <a:xfrm>
            <a:off x="6858000" y="1005840"/>
            <a:ext cx="1920240" cy="1920240"/>
          </a:xfrm>
          <a:prstGeom prst="ellipse">
            <a:avLst/>
          </a:prstGeom>
          <a:solidFill>
            <a:srgbClr val="1E3060"/>
          </a:solidFill>
          <a:ln/>
        </p:spPr>
      </p:sp>
      <p:sp>
        <p:nvSpPr>
          <p:cNvPr id="12" name="Text 10"/>
          <p:cNvSpPr txBox="1"/>
          <p:nvPr/>
        </p:nvSpPr>
        <p:spPr>
          <a:xfrm>
            <a:off x="6858000" y="1005840"/>
            <a:ext cx="1920240" cy="1920240"/>
          </a:xfrm>
          <a:prstGeom prst="rect">
            <a:avLst/>
          </a:prstGeom>
          <a:noFill/>
          <a:ln/>
        </p:spPr>
        <p:txBody>
          <a:bodyPr wrap="square" lIns="0" tIns="0" rIns="0" bIns="0" rtlCol="0" anchor="ctr"/>
          <a:lstStyle/>
          <a:p>
            <a:pPr marL="0" indent="0" algn="ctr">
              <a:buNone/>
            </a:pPr>
            <a:r>
              <a:rPr lang="en-US" sz="5200" dirty="0">
                <a:solidFill>
                  <a:srgbClr val="000000"/>
                </a:solidFill>
              </a:rPr>
              <a:t>🌐</a:t>
            </a:r>
            <a:endParaRPr lang="en-US" sz="5200" dirty="0"/>
          </a:p>
        </p:txBody>
      </p:sp>
      <p:sp>
        <p:nvSpPr>
          <p:cNvPr id="13" name="Text 11"/>
          <p:cNvSpPr txBox="1"/>
          <p:nvPr/>
        </p:nvSpPr>
        <p:spPr>
          <a:xfrm>
            <a:off x="548640" y="4709160"/>
            <a:ext cx="8046720" cy="301752"/>
          </a:xfrm>
          <a:prstGeom prst="rect">
            <a:avLst/>
          </a:prstGeom>
          <a:noFill/>
          <a:ln/>
        </p:spPr>
        <p:txBody>
          <a:bodyPr wrap="square" lIns="0" tIns="0" rIns="0" bIns="0" rtlCol="0" anchor="ctr"/>
          <a:lstStyle/>
          <a:p>
            <a:pPr marL="0" indent="0" algn="l">
              <a:buNone/>
            </a:pPr>
            <a:r>
              <a:rPr lang="en-US" sz="1000" dirty="0">
                <a:solidFill>
                  <a:srgbClr val="4A5568"/>
                </a:solidFill>
                <a:latin typeface="Calibri" pitchFamily="34" charset="0"/>
                <a:ea typeface="Calibri" pitchFamily="34" charset="-122"/>
                <a:cs typeface="Calibri" pitchFamily="34" charset="-120"/>
              </a:rPr>
              <a:t>K0126002 · Gachon University · 2026 Fall · Dr. Toshpulatov</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4FF"/>
          </a:solidFill>
          <a:ln/>
        </p:spPr>
      </p:sp>
      <p:sp>
        <p:nvSpPr>
          <p:cNvPr id="3" name="Text 1"/>
          <p:cNvSpPr txBox="1"/>
          <p:nvPr/>
        </p:nvSpPr>
        <p:spPr>
          <a:xfrm>
            <a:off x="365760" y="182880"/>
            <a:ext cx="8412480" cy="594360"/>
          </a:xfrm>
          <a:prstGeom prst="rect">
            <a:avLst/>
          </a:prstGeom>
          <a:noFill/>
          <a:ln/>
        </p:spPr>
        <p:txBody>
          <a:bodyPr wrap="square" lIns="0" tIns="0" rIns="0" bIns="0" rtlCol="0" anchor="ctr"/>
          <a:lstStyle/>
          <a:p>
            <a:pPr marL="0" indent="0">
              <a:buNone/>
            </a:pPr>
            <a:r>
              <a:rPr lang="en-US" sz="2800" b="1" dirty="0">
                <a:solidFill>
                  <a:srgbClr val="1A2540"/>
                </a:solidFill>
                <a:latin typeface="Calibri" pitchFamily="34" charset="0"/>
                <a:ea typeface="Calibri" pitchFamily="34" charset="-122"/>
                <a:cs typeface="Calibri" pitchFamily="34" charset="-120"/>
              </a:rPr>
              <a:t>What is Deployment?</a:t>
            </a:r>
            <a:endParaRPr lang="en-US" sz="2800" dirty="0"/>
          </a:p>
        </p:txBody>
      </p:sp>
      <p:sp>
        <p:nvSpPr>
          <p:cNvPr id="4" name="Shape 2"/>
          <p:cNvSpPr/>
          <p:nvPr/>
        </p:nvSpPr>
        <p:spPr>
          <a:xfrm>
            <a:off x="868680" y="1005840"/>
            <a:ext cx="1097280" cy="1097280"/>
          </a:xfrm>
          <a:prstGeom prst="ellipse">
            <a:avLst/>
          </a:prstGeom>
          <a:solidFill>
            <a:srgbClr val="1A2540"/>
          </a:solidFill>
          <a:ln/>
        </p:spPr>
      </p:sp>
      <p:sp>
        <p:nvSpPr>
          <p:cNvPr id="5" name="Text 3"/>
          <p:cNvSpPr txBox="1"/>
          <p:nvPr/>
        </p:nvSpPr>
        <p:spPr>
          <a:xfrm>
            <a:off x="868680" y="1005840"/>
            <a:ext cx="1097280" cy="1097280"/>
          </a:xfrm>
          <a:prstGeom prst="rect">
            <a:avLst/>
          </a:prstGeom>
          <a:noFill/>
          <a:ln/>
        </p:spPr>
        <p:txBody>
          <a:bodyPr wrap="square" lIns="0" tIns="0" rIns="0" bIns="0" rtlCol="0" anchor="ctr"/>
          <a:lstStyle/>
          <a:p>
            <a:pPr marL="0" indent="0" algn="ctr">
              <a:buNone/>
            </a:pPr>
            <a:r>
              <a:rPr lang="en-US" sz="2800" dirty="0">
                <a:solidFill>
                  <a:srgbClr val="000000"/>
                </a:solidFill>
              </a:rPr>
              <a:t>💻</a:t>
            </a:r>
            <a:endParaRPr lang="en-US" sz="2800" dirty="0"/>
          </a:p>
        </p:txBody>
      </p:sp>
      <p:sp>
        <p:nvSpPr>
          <p:cNvPr id="6" name="Text 4"/>
          <p:cNvSpPr txBox="1"/>
          <p:nvPr/>
        </p:nvSpPr>
        <p:spPr>
          <a:xfrm>
            <a:off x="365760" y="2194560"/>
            <a:ext cx="2057400" cy="475488"/>
          </a:xfrm>
          <a:prstGeom prst="rect">
            <a:avLst/>
          </a:prstGeom>
          <a:noFill/>
          <a:ln/>
        </p:spPr>
        <p:txBody>
          <a:bodyPr wrap="square" lIns="0" tIns="0" rIns="0" bIns="0" rtlCol="0" anchor="ctr"/>
          <a:lstStyle/>
          <a:p>
            <a:pPr marL="0" indent="0" algn="ctr">
              <a:buNone/>
            </a:pPr>
            <a:r>
              <a:rPr lang="en-US" sz="1300" b="1" dirty="0">
                <a:solidFill>
                  <a:srgbClr val="1A2540"/>
                </a:solidFill>
                <a:latin typeface="Calibri" pitchFamily="34" charset="0"/>
                <a:ea typeface="Calibri" pitchFamily="34" charset="-122"/>
                <a:cs typeface="Calibri" pitchFamily="34" charset="-120"/>
              </a:rPr>
              <a:t>Your Laptop</a:t>
            </a:r>
            <a:endParaRPr lang="en-US" sz="1300" dirty="0"/>
          </a:p>
        </p:txBody>
      </p:sp>
      <p:sp>
        <p:nvSpPr>
          <p:cNvPr id="7" name="Text 5"/>
          <p:cNvSpPr txBox="1"/>
          <p:nvPr/>
        </p:nvSpPr>
        <p:spPr>
          <a:xfrm>
            <a:off x="365760" y="2697480"/>
            <a:ext cx="2057400" cy="640080"/>
          </a:xfrm>
          <a:prstGeom prst="rect">
            <a:avLst/>
          </a:prstGeom>
          <a:noFill/>
          <a:ln/>
        </p:spPr>
        <p:txBody>
          <a:bodyPr wrap="square" lIns="0" tIns="0" rIns="0" bIns="0" rtlCol="0" anchor="ctr"/>
          <a:lstStyle/>
          <a:p>
            <a:pPr marL="0" indent="0" algn="ctr">
              <a:buNone/>
            </a:pPr>
            <a:r>
              <a:rPr lang="en-US" sz="1100" dirty="0">
                <a:solidFill>
                  <a:srgbClr val="4A5568"/>
                </a:solidFill>
                <a:latin typeface="Calibri" pitchFamily="34" charset="0"/>
                <a:ea typeface="Calibri" pitchFamily="34" charset="-122"/>
                <a:cs typeface="Calibri" pitchFamily="34" charset="-120"/>
              </a:rPr>
              <a:t>Code works locally</a:t>
            </a:r>
            <a:endParaRPr lang="en-US" sz="1100" dirty="0"/>
          </a:p>
          <a:p>
            <a:pPr marL="0" indent="0" algn="ctr">
              <a:buNone/>
            </a:pPr>
            <a:r>
              <a:rPr lang="en-US" sz="1100" dirty="0">
                <a:solidFill>
                  <a:srgbClr val="4A5568"/>
                </a:solidFill>
                <a:latin typeface="Calibri" pitchFamily="34" charset="0"/>
                <a:ea typeface="Calibri" pitchFamily="34" charset="-122"/>
                <a:cs typeface="Calibri" pitchFamily="34" charset="-120"/>
              </a:rPr>
              <a:t>(localhost only)</a:t>
            </a:r>
            <a:endParaRPr lang="en-US" sz="1100" dirty="0"/>
          </a:p>
        </p:txBody>
      </p:sp>
      <p:sp>
        <p:nvSpPr>
          <p:cNvPr id="8" name="Shape 6"/>
          <p:cNvSpPr/>
          <p:nvPr/>
        </p:nvSpPr>
        <p:spPr>
          <a:xfrm>
            <a:off x="2240280" y="1508760"/>
            <a:ext cx="320040" cy="91440"/>
          </a:xfrm>
          <a:prstGeom prst="rect">
            <a:avLst/>
          </a:prstGeom>
          <a:solidFill>
            <a:srgbClr val="F7DF1E"/>
          </a:solidFill>
          <a:ln/>
        </p:spPr>
      </p:sp>
      <p:sp>
        <p:nvSpPr>
          <p:cNvPr id="9" name="Text 7"/>
          <p:cNvSpPr txBox="1"/>
          <p:nvPr/>
        </p:nvSpPr>
        <p:spPr>
          <a:xfrm>
            <a:off x="2331720" y="1389888"/>
            <a:ext cx="274320" cy="320040"/>
          </a:xfrm>
          <a:prstGeom prst="rect">
            <a:avLst/>
          </a:prstGeom>
          <a:noFill/>
          <a:ln/>
        </p:spPr>
        <p:txBody>
          <a:bodyPr wrap="square" lIns="0" tIns="0" rIns="0" bIns="0" rtlCol="0" anchor="ctr"/>
          <a:lstStyle/>
          <a:p>
            <a:pPr marL="0" indent="0" algn="ctr">
              <a:buNone/>
            </a:pPr>
            <a:r>
              <a:rPr lang="en-US" sz="1400" b="1" dirty="0">
                <a:solidFill>
                  <a:srgbClr val="F7DF1E"/>
                </a:solidFill>
              </a:rPr>
              <a:t>&gt;</a:t>
            </a:r>
            <a:endParaRPr lang="en-US" sz="1400" dirty="0"/>
          </a:p>
        </p:txBody>
      </p:sp>
      <p:sp>
        <p:nvSpPr>
          <p:cNvPr id="10" name="Shape 8"/>
          <p:cNvSpPr/>
          <p:nvPr/>
        </p:nvSpPr>
        <p:spPr>
          <a:xfrm>
            <a:off x="3017520" y="1005840"/>
            <a:ext cx="1097280" cy="1097280"/>
          </a:xfrm>
          <a:prstGeom prst="ellipse">
            <a:avLst/>
          </a:prstGeom>
          <a:solidFill>
            <a:srgbClr val="1A2540"/>
          </a:solidFill>
          <a:ln/>
        </p:spPr>
      </p:sp>
      <p:sp>
        <p:nvSpPr>
          <p:cNvPr id="11" name="Text 9"/>
          <p:cNvSpPr txBox="1"/>
          <p:nvPr/>
        </p:nvSpPr>
        <p:spPr>
          <a:xfrm>
            <a:off x="3017520" y="1005840"/>
            <a:ext cx="1097280" cy="1097280"/>
          </a:xfrm>
          <a:prstGeom prst="rect">
            <a:avLst/>
          </a:prstGeom>
          <a:noFill/>
          <a:ln/>
        </p:spPr>
        <p:txBody>
          <a:bodyPr wrap="square" lIns="0" tIns="0" rIns="0" bIns="0" rtlCol="0" anchor="ctr"/>
          <a:lstStyle/>
          <a:p>
            <a:pPr marL="0" indent="0" algn="ctr">
              <a:buNone/>
            </a:pPr>
            <a:r>
              <a:rPr lang="en-US" sz="2800" dirty="0">
                <a:solidFill>
                  <a:srgbClr val="000000"/>
                </a:solidFill>
              </a:rPr>
              <a:t>📤</a:t>
            </a:r>
            <a:endParaRPr lang="en-US" sz="2800" dirty="0"/>
          </a:p>
        </p:txBody>
      </p:sp>
      <p:sp>
        <p:nvSpPr>
          <p:cNvPr id="12" name="Text 10"/>
          <p:cNvSpPr txBox="1"/>
          <p:nvPr/>
        </p:nvSpPr>
        <p:spPr>
          <a:xfrm>
            <a:off x="2514600" y="2194560"/>
            <a:ext cx="2057400" cy="475488"/>
          </a:xfrm>
          <a:prstGeom prst="rect">
            <a:avLst/>
          </a:prstGeom>
          <a:noFill/>
          <a:ln/>
        </p:spPr>
        <p:txBody>
          <a:bodyPr wrap="square" lIns="0" tIns="0" rIns="0" bIns="0" rtlCol="0" anchor="ctr"/>
          <a:lstStyle/>
          <a:p>
            <a:pPr marL="0" indent="0" algn="ctr">
              <a:buNone/>
            </a:pPr>
            <a:r>
              <a:rPr lang="en-US" sz="1300" b="1" dirty="0">
                <a:solidFill>
                  <a:srgbClr val="1A2540"/>
                </a:solidFill>
                <a:latin typeface="Calibri" pitchFamily="34" charset="0"/>
                <a:ea typeface="Calibri" pitchFamily="34" charset="-122"/>
                <a:cs typeface="Calibri" pitchFamily="34" charset="-120"/>
              </a:rPr>
              <a:t>Push to GitHub</a:t>
            </a:r>
            <a:endParaRPr lang="en-US" sz="1300" dirty="0"/>
          </a:p>
        </p:txBody>
      </p:sp>
      <p:sp>
        <p:nvSpPr>
          <p:cNvPr id="13" name="Text 11"/>
          <p:cNvSpPr txBox="1"/>
          <p:nvPr/>
        </p:nvSpPr>
        <p:spPr>
          <a:xfrm>
            <a:off x="2514600" y="2697480"/>
            <a:ext cx="2057400" cy="640080"/>
          </a:xfrm>
          <a:prstGeom prst="rect">
            <a:avLst/>
          </a:prstGeom>
          <a:noFill/>
          <a:ln/>
        </p:spPr>
        <p:txBody>
          <a:bodyPr wrap="square" lIns="0" tIns="0" rIns="0" bIns="0" rtlCol="0" anchor="ctr"/>
          <a:lstStyle/>
          <a:p>
            <a:pPr marL="0" indent="0" algn="ctr">
              <a:buNone/>
            </a:pPr>
            <a:r>
              <a:rPr lang="en-US" sz="1100" dirty="0">
                <a:solidFill>
                  <a:srgbClr val="4A5568"/>
                </a:solidFill>
                <a:latin typeface="Calibri" pitchFamily="34" charset="0"/>
                <a:ea typeface="Calibri" pitchFamily="34" charset="-122"/>
                <a:cs typeface="Calibri" pitchFamily="34" charset="-120"/>
              </a:rPr>
              <a:t>Code is stored</a:t>
            </a:r>
            <a:endParaRPr lang="en-US" sz="1100" dirty="0"/>
          </a:p>
          <a:p>
            <a:pPr marL="0" indent="0" algn="ctr">
              <a:buNone/>
            </a:pPr>
            <a:r>
              <a:rPr lang="en-US" sz="1100" dirty="0">
                <a:solidFill>
                  <a:srgbClr val="4A5568"/>
                </a:solidFill>
                <a:latin typeface="Calibri" pitchFamily="34" charset="0"/>
                <a:ea typeface="Calibri" pitchFamily="34" charset="-122"/>
                <a:cs typeface="Calibri" pitchFamily="34" charset="-120"/>
              </a:rPr>
              <a:t>in the cloud</a:t>
            </a:r>
            <a:endParaRPr lang="en-US" sz="1100" dirty="0"/>
          </a:p>
        </p:txBody>
      </p:sp>
      <p:sp>
        <p:nvSpPr>
          <p:cNvPr id="14" name="Shape 12"/>
          <p:cNvSpPr/>
          <p:nvPr/>
        </p:nvSpPr>
        <p:spPr>
          <a:xfrm>
            <a:off x="4389120" y="1508760"/>
            <a:ext cx="320040" cy="91440"/>
          </a:xfrm>
          <a:prstGeom prst="rect">
            <a:avLst/>
          </a:prstGeom>
          <a:solidFill>
            <a:srgbClr val="F7DF1E"/>
          </a:solidFill>
          <a:ln/>
        </p:spPr>
      </p:sp>
      <p:sp>
        <p:nvSpPr>
          <p:cNvPr id="15" name="Text 13"/>
          <p:cNvSpPr txBox="1"/>
          <p:nvPr/>
        </p:nvSpPr>
        <p:spPr>
          <a:xfrm>
            <a:off x="4480560" y="1389888"/>
            <a:ext cx="274320" cy="320040"/>
          </a:xfrm>
          <a:prstGeom prst="rect">
            <a:avLst/>
          </a:prstGeom>
          <a:noFill/>
          <a:ln/>
        </p:spPr>
        <p:txBody>
          <a:bodyPr wrap="square" lIns="0" tIns="0" rIns="0" bIns="0" rtlCol="0" anchor="ctr"/>
          <a:lstStyle/>
          <a:p>
            <a:pPr marL="0" indent="0" algn="ctr">
              <a:buNone/>
            </a:pPr>
            <a:r>
              <a:rPr lang="en-US" sz="1400" b="1" dirty="0">
                <a:solidFill>
                  <a:srgbClr val="F7DF1E"/>
                </a:solidFill>
              </a:rPr>
              <a:t>&gt;</a:t>
            </a:r>
            <a:endParaRPr lang="en-US" sz="1400" dirty="0"/>
          </a:p>
        </p:txBody>
      </p:sp>
      <p:sp>
        <p:nvSpPr>
          <p:cNvPr id="16" name="Shape 14"/>
          <p:cNvSpPr/>
          <p:nvPr/>
        </p:nvSpPr>
        <p:spPr>
          <a:xfrm>
            <a:off x="5166360" y="1005840"/>
            <a:ext cx="1097280" cy="1097280"/>
          </a:xfrm>
          <a:prstGeom prst="ellipse">
            <a:avLst/>
          </a:prstGeom>
          <a:solidFill>
            <a:srgbClr val="1A2540"/>
          </a:solidFill>
          <a:ln/>
        </p:spPr>
      </p:sp>
      <p:sp>
        <p:nvSpPr>
          <p:cNvPr id="17" name="Text 15"/>
          <p:cNvSpPr txBox="1"/>
          <p:nvPr/>
        </p:nvSpPr>
        <p:spPr>
          <a:xfrm>
            <a:off x="5166360" y="1005840"/>
            <a:ext cx="1097280" cy="1097280"/>
          </a:xfrm>
          <a:prstGeom prst="rect">
            <a:avLst/>
          </a:prstGeom>
          <a:noFill/>
          <a:ln/>
        </p:spPr>
        <p:txBody>
          <a:bodyPr wrap="square" lIns="0" tIns="0" rIns="0" bIns="0" rtlCol="0" anchor="ctr"/>
          <a:lstStyle/>
          <a:p>
            <a:pPr marL="0" indent="0" algn="ctr">
              <a:buNone/>
            </a:pPr>
            <a:r>
              <a:rPr lang="en-US" sz="2800" dirty="0">
                <a:solidFill>
                  <a:srgbClr val="000000"/>
                </a:solidFill>
              </a:rPr>
              <a:t>⚙️</a:t>
            </a:r>
            <a:endParaRPr lang="en-US" sz="2800" dirty="0"/>
          </a:p>
        </p:txBody>
      </p:sp>
      <p:sp>
        <p:nvSpPr>
          <p:cNvPr id="18" name="Text 16"/>
          <p:cNvSpPr txBox="1"/>
          <p:nvPr/>
        </p:nvSpPr>
        <p:spPr>
          <a:xfrm>
            <a:off x="4663440" y="2194560"/>
            <a:ext cx="2057400" cy="475488"/>
          </a:xfrm>
          <a:prstGeom prst="rect">
            <a:avLst/>
          </a:prstGeom>
          <a:noFill/>
          <a:ln/>
        </p:spPr>
        <p:txBody>
          <a:bodyPr wrap="square" lIns="0" tIns="0" rIns="0" bIns="0" rtlCol="0" anchor="ctr"/>
          <a:lstStyle/>
          <a:p>
            <a:pPr marL="0" indent="0" algn="ctr">
              <a:buNone/>
            </a:pPr>
            <a:r>
              <a:rPr lang="en-US" sz="1300" b="1" dirty="0">
                <a:solidFill>
                  <a:srgbClr val="1A2540"/>
                </a:solidFill>
                <a:latin typeface="Calibri" pitchFamily="34" charset="0"/>
                <a:ea typeface="Calibri" pitchFamily="34" charset="-122"/>
                <a:cs typeface="Calibri" pitchFamily="34" charset="-120"/>
              </a:rPr>
              <a:t>GitHub Pages</a:t>
            </a:r>
            <a:endParaRPr lang="en-US" sz="1300" dirty="0"/>
          </a:p>
          <a:p>
            <a:pPr marL="0" indent="0" algn="ctr">
              <a:buNone/>
            </a:pPr>
            <a:r>
              <a:rPr lang="en-US" sz="1300" b="1" dirty="0">
                <a:solidFill>
                  <a:srgbClr val="1A2540"/>
                </a:solidFill>
                <a:latin typeface="Calibri" pitchFamily="34" charset="0"/>
                <a:ea typeface="Calibri" pitchFamily="34" charset="-122"/>
                <a:cs typeface="Calibri" pitchFamily="34" charset="-120"/>
              </a:rPr>
              <a:t>Builds Site</a:t>
            </a:r>
            <a:endParaRPr lang="en-US" sz="1300" dirty="0"/>
          </a:p>
        </p:txBody>
      </p:sp>
      <p:sp>
        <p:nvSpPr>
          <p:cNvPr id="19" name="Text 17"/>
          <p:cNvSpPr txBox="1"/>
          <p:nvPr/>
        </p:nvSpPr>
        <p:spPr>
          <a:xfrm>
            <a:off x="4663440" y="2697480"/>
            <a:ext cx="2057400" cy="640080"/>
          </a:xfrm>
          <a:prstGeom prst="rect">
            <a:avLst/>
          </a:prstGeom>
          <a:noFill/>
          <a:ln/>
        </p:spPr>
        <p:txBody>
          <a:bodyPr wrap="square" lIns="0" tIns="0" rIns="0" bIns="0" rtlCol="0" anchor="ctr"/>
          <a:lstStyle/>
          <a:p>
            <a:pPr marL="0" indent="0" algn="ctr">
              <a:buNone/>
            </a:pPr>
            <a:r>
              <a:rPr lang="en-US" sz="1100" dirty="0">
                <a:solidFill>
                  <a:srgbClr val="4A5568"/>
                </a:solidFill>
                <a:latin typeface="Calibri" pitchFamily="34" charset="0"/>
                <a:ea typeface="Calibri" pitchFamily="34" charset="-122"/>
                <a:cs typeface="Calibri" pitchFamily="34" charset="-120"/>
              </a:rPr>
              <a:t>Converts your repo</a:t>
            </a:r>
            <a:endParaRPr lang="en-US" sz="1100" dirty="0"/>
          </a:p>
          <a:p>
            <a:pPr marL="0" indent="0" algn="ctr">
              <a:buNone/>
            </a:pPr>
            <a:r>
              <a:rPr lang="en-US" sz="1100" dirty="0">
                <a:solidFill>
                  <a:srgbClr val="4A5568"/>
                </a:solidFill>
                <a:latin typeface="Calibri" pitchFamily="34" charset="0"/>
                <a:ea typeface="Calibri" pitchFamily="34" charset="-122"/>
                <a:cs typeface="Calibri" pitchFamily="34" charset="-120"/>
              </a:rPr>
              <a:t>into a website</a:t>
            </a:r>
            <a:endParaRPr lang="en-US" sz="1100" dirty="0"/>
          </a:p>
        </p:txBody>
      </p:sp>
      <p:sp>
        <p:nvSpPr>
          <p:cNvPr id="20" name="Shape 18"/>
          <p:cNvSpPr/>
          <p:nvPr/>
        </p:nvSpPr>
        <p:spPr>
          <a:xfrm>
            <a:off x="6537960" y="1508760"/>
            <a:ext cx="320040" cy="91440"/>
          </a:xfrm>
          <a:prstGeom prst="rect">
            <a:avLst/>
          </a:prstGeom>
          <a:solidFill>
            <a:srgbClr val="F7DF1E"/>
          </a:solidFill>
          <a:ln/>
        </p:spPr>
      </p:sp>
      <p:sp>
        <p:nvSpPr>
          <p:cNvPr id="21" name="Text 19"/>
          <p:cNvSpPr txBox="1"/>
          <p:nvPr/>
        </p:nvSpPr>
        <p:spPr>
          <a:xfrm>
            <a:off x="6629400" y="1389888"/>
            <a:ext cx="274320" cy="320040"/>
          </a:xfrm>
          <a:prstGeom prst="rect">
            <a:avLst/>
          </a:prstGeom>
          <a:noFill/>
          <a:ln/>
        </p:spPr>
        <p:txBody>
          <a:bodyPr wrap="square" lIns="0" tIns="0" rIns="0" bIns="0" rtlCol="0" anchor="ctr"/>
          <a:lstStyle/>
          <a:p>
            <a:pPr marL="0" indent="0" algn="ctr">
              <a:buNone/>
            </a:pPr>
            <a:r>
              <a:rPr lang="en-US" sz="1400" b="1" dirty="0">
                <a:solidFill>
                  <a:srgbClr val="F7DF1E"/>
                </a:solidFill>
              </a:rPr>
              <a:t>&gt;</a:t>
            </a:r>
            <a:endParaRPr lang="en-US" sz="1400" dirty="0"/>
          </a:p>
        </p:txBody>
      </p:sp>
      <p:sp>
        <p:nvSpPr>
          <p:cNvPr id="22" name="Shape 20"/>
          <p:cNvSpPr/>
          <p:nvPr/>
        </p:nvSpPr>
        <p:spPr>
          <a:xfrm>
            <a:off x="7315200" y="1005840"/>
            <a:ext cx="1097280" cy="1097280"/>
          </a:xfrm>
          <a:prstGeom prst="ellipse">
            <a:avLst/>
          </a:prstGeom>
          <a:solidFill>
            <a:srgbClr val="1A2540"/>
          </a:solidFill>
          <a:ln/>
        </p:spPr>
      </p:sp>
      <p:sp>
        <p:nvSpPr>
          <p:cNvPr id="23" name="Text 21"/>
          <p:cNvSpPr txBox="1"/>
          <p:nvPr/>
        </p:nvSpPr>
        <p:spPr>
          <a:xfrm>
            <a:off x="7315200" y="1005840"/>
            <a:ext cx="1097280" cy="1097280"/>
          </a:xfrm>
          <a:prstGeom prst="rect">
            <a:avLst/>
          </a:prstGeom>
          <a:noFill/>
          <a:ln/>
        </p:spPr>
        <p:txBody>
          <a:bodyPr wrap="square" lIns="0" tIns="0" rIns="0" bIns="0" rtlCol="0" anchor="ctr"/>
          <a:lstStyle/>
          <a:p>
            <a:pPr marL="0" indent="0" algn="ctr">
              <a:buNone/>
            </a:pPr>
            <a:r>
              <a:rPr lang="en-US" sz="2800" dirty="0">
                <a:solidFill>
                  <a:srgbClr val="000000"/>
                </a:solidFill>
              </a:rPr>
              <a:t>🌐</a:t>
            </a:r>
            <a:endParaRPr lang="en-US" sz="2800" dirty="0"/>
          </a:p>
        </p:txBody>
      </p:sp>
      <p:sp>
        <p:nvSpPr>
          <p:cNvPr id="24" name="Text 22"/>
          <p:cNvSpPr txBox="1"/>
          <p:nvPr/>
        </p:nvSpPr>
        <p:spPr>
          <a:xfrm>
            <a:off x="6812280" y="2194560"/>
            <a:ext cx="2057400" cy="475488"/>
          </a:xfrm>
          <a:prstGeom prst="rect">
            <a:avLst/>
          </a:prstGeom>
          <a:noFill/>
          <a:ln/>
        </p:spPr>
        <p:txBody>
          <a:bodyPr wrap="square" lIns="0" tIns="0" rIns="0" bIns="0" rtlCol="0" anchor="ctr"/>
          <a:lstStyle/>
          <a:p>
            <a:pPr marL="0" indent="0" algn="ctr">
              <a:buNone/>
            </a:pPr>
            <a:r>
              <a:rPr lang="en-US" sz="1300" b="1" dirty="0">
                <a:solidFill>
                  <a:srgbClr val="1A2540"/>
                </a:solidFill>
                <a:latin typeface="Calibri" pitchFamily="34" charset="0"/>
                <a:ea typeface="Calibri" pitchFamily="34" charset="-122"/>
                <a:cs typeface="Calibri" pitchFamily="34" charset="-120"/>
              </a:rPr>
              <a:t>Live on Internet!</a:t>
            </a:r>
            <a:endParaRPr lang="en-US" sz="1300" dirty="0"/>
          </a:p>
        </p:txBody>
      </p:sp>
      <p:sp>
        <p:nvSpPr>
          <p:cNvPr id="25" name="Text 23"/>
          <p:cNvSpPr txBox="1"/>
          <p:nvPr/>
        </p:nvSpPr>
        <p:spPr>
          <a:xfrm>
            <a:off x="6812280" y="2697480"/>
            <a:ext cx="2057400" cy="640080"/>
          </a:xfrm>
          <a:prstGeom prst="rect">
            <a:avLst/>
          </a:prstGeom>
          <a:noFill/>
          <a:ln/>
        </p:spPr>
        <p:txBody>
          <a:bodyPr wrap="square" lIns="0" tIns="0" rIns="0" bIns="0" rtlCol="0" anchor="ctr"/>
          <a:lstStyle/>
          <a:p>
            <a:pPr marL="0" indent="0" algn="ctr">
              <a:buNone/>
            </a:pPr>
            <a:r>
              <a:rPr lang="en-US" sz="1100" dirty="0">
                <a:solidFill>
                  <a:srgbClr val="4A5568"/>
                </a:solidFill>
                <a:latin typeface="Calibri" pitchFamily="34" charset="0"/>
                <a:ea typeface="Calibri" pitchFamily="34" charset="-122"/>
                <a:cs typeface="Calibri" pitchFamily="34" charset="-120"/>
              </a:rPr>
              <a:t>Anyone can visit</a:t>
            </a:r>
            <a:endParaRPr lang="en-US" sz="1100" dirty="0"/>
          </a:p>
          <a:p>
            <a:pPr marL="0" indent="0" algn="ctr">
              <a:buNone/>
            </a:pPr>
            <a:r>
              <a:rPr lang="en-US" sz="1100" dirty="0">
                <a:solidFill>
                  <a:srgbClr val="4A5568"/>
                </a:solidFill>
                <a:latin typeface="Calibri" pitchFamily="34" charset="0"/>
                <a:ea typeface="Calibri" pitchFamily="34" charset="-122"/>
                <a:cs typeface="Calibri" pitchFamily="34" charset="-120"/>
              </a:rPr>
              <a:t>your URL</a:t>
            </a:r>
            <a:endParaRPr lang="en-US" sz="1100" dirty="0"/>
          </a:p>
        </p:txBody>
      </p:sp>
      <p:sp>
        <p:nvSpPr>
          <p:cNvPr id="26" name="Shape 24"/>
          <p:cNvSpPr/>
          <p:nvPr/>
        </p:nvSpPr>
        <p:spPr>
          <a:xfrm>
            <a:off x="365760" y="3520440"/>
            <a:ext cx="8412480" cy="1417320"/>
          </a:xfrm>
          <a:prstGeom prst="rect">
            <a:avLst/>
          </a:prstGeom>
          <a:solidFill>
            <a:srgbClr val="1A2540"/>
          </a:solidFill>
          <a:ln/>
        </p:spPr>
      </p:sp>
      <p:sp>
        <p:nvSpPr>
          <p:cNvPr id="27" name="Text 25"/>
          <p:cNvSpPr txBox="1"/>
          <p:nvPr/>
        </p:nvSpPr>
        <p:spPr>
          <a:xfrm>
            <a:off x="502920" y="3584448"/>
            <a:ext cx="8229600" cy="365760"/>
          </a:xfrm>
          <a:prstGeom prst="rect">
            <a:avLst/>
          </a:prstGeom>
          <a:noFill/>
          <a:ln/>
        </p:spPr>
        <p:txBody>
          <a:bodyPr wrap="square" lIns="0" tIns="0" rIns="0" bIns="0" rtlCol="0" anchor="ctr"/>
          <a:lstStyle/>
          <a:p>
            <a:pPr marL="0" indent="0">
              <a:buNone/>
            </a:pPr>
            <a:r>
              <a:rPr lang="en-US" sz="1300" b="1" dirty="0">
                <a:solidFill>
                  <a:srgbClr val="F7DF1E"/>
                </a:solidFill>
                <a:latin typeface="Calibri" pitchFamily="34" charset="0"/>
                <a:ea typeface="Calibri" pitchFamily="34" charset="-122"/>
                <a:cs typeface="Calibri" pitchFamily="34" charset="-120"/>
              </a:rPr>
              <a:t>Deployment Options (from beginner to advanced)</a:t>
            </a:r>
            <a:endParaRPr lang="en-US" sz="1300" dirty="0"/>
          </a:p>
        </p:txBody>
      </p:sp>
      <p:sp>
        <p:nvSpPr>
          <p:cNvPr id="28" name="Text 26"/>
          <p:cNvSpPr txBox="1"/>
          <p:nvPr/>
        </p:nvSpPr>
        <p:spPr>
          <a:xfrm>
            <a:off x="548640" y="4005072"/>
            <a:ext cx="8138160" cy="274320"/>
          </a:xfrm>
          <a:prstGeom prst="rect">
            <a:avLst/>
          </a:prstGeom>
          <a:noFill/>
          <a:ln/>
        </p:spPr>
        <p:txBody>
          <a:bodyPr wrap="square" lIns="0" tIns="0" rIns="0" bIns="0" rtlCol="0" anchor="ctr"/>
          <a:lstStyle/>
          <a:p>
            <a:pPr marL="0" indent="0">
              <a:buNone/>
            </a:pPr>
            <a:r>
              <a:rPr lang="en-US" sz="1200" dirty="0">
                <a:solidFill>
                  <a:srgbClr val="F7DF1E"/>
                </a:solidFill>
                <a:latin typeface="Calibri" pitchFamily="34" charset="0"/>
                <a:ea typeface="Calibri" pitchFamily="34" charset="-122"/>
                <a:cs typeface="Calibri" pitchFamily="34" charset="-120"/>
              </a:rPr>
              <a:t>★ GitHub Pages — free, static sites, perfect for this course</a:t>
            </a:r>
            <a:endParaRPr lang="en-US" sz="1200" dirty="0"/>
          </a:p>
        </p:txBody>
      </p:sp>
      <p:sp>
        <p:nvSpPr>
          <p:cNvPr id="29" name="Text 27"/>
          <p:cNvSpPr txBox="1"/>
          <p:nvPr/>
        </p:nvSpPr>
        <p:spPr>
          <a:xfrm>
            <a:off x="548640" y="4306824"/>
            <a:ext cx="8138160" cy="274320"/>
          </a:xfrm>
          <a:prstGeom prst="rect">
            <a:avLst/>
          </a:prstGeom>
          <a:noFill/>
          <a:ln/>
        </p:spPr>
        <p:txBody>
          <a:bodyPr wrap="square" lIns="0" tIns="0" rIns="0" bIns="0" rtlCol="0" anchor="ctr"/>
          <a:lstStyle/>
          <a:p>
            <a:pPr marL="0" indent="0">
              <a:buNone/>
            </a:pPr>
            <a:r>
              <a:rPr lang="en-US" sz="1200" dirty="0">
                <a:solidFill>
                  <a:srgbClr val="8892B0"/>
                </a:solidFill>
                <a:latin typeface="Calibri" pitchFamily="34" charset="0"/>
                <a:ea typeface="Calibri" pitchFamily="34" charset="-122"/>
                <a:cs typeface="Calibri" pitchFamily="34" charset="-120"/>
              </a:rPr>
              <a:t>  Netlify / Vercel — free tiers, easy CI/CD, supports more frameworks</a:t>
            </a:r>
            <a:endParaRPr lang="en-US" sz="1200" dirty="0"/>
          </a:p>
        </p:txBody>
      </p:sp>
      <p:sp>
        <p:nvSpPr>
          <p:cNvPr id="30" name="Text 28"/>
          <p:cNvSpPr txBox="1"/>
          <p:nvPr/>
        </p:nvSpPr>
        <p:spPr>
          <a:xfrm>
            <a:off x="548640" y="4608576"/>
            <a:ext cx="8138160" cy="274320"/>
          </a:xfrm>
          <a:prstGeom prst="rect">
            <a:avLst/>
          </a:prstGeom>
          <a:noFill/>
          <a:ln/>
        </p:spPr>
        <p:txBody>
          <a:bodyPr wrap="square" lIns="0" tIns="0" rIns="0" bIns="0" rtlCol="0" anchor="ctr"/>
          <a:lstStyle/>
          <a:p>
            <a:pPr marL="0" indent="0">
              <a:buNone/>
            </a:pPr>
            <a:r>
              <a:rPr lang="en-US" sz="1200" dirty="0">
                <a:solidFill>
                  <a:srgbClr val="8892B0"/>
                </a:solidFill>
                <a:latin typeface="Calibri" pitchFamily="34" charset="0"/>
                <a:ea typeface="Calibri" pitchFamily="34" charset="-122"/>
                <a:cs typeface="Calibri" pitchFamily="34" charset="-120"/>
              </a:rPr>
              <a:t>  Cloud servers (AWS, GCP, Azure) — full control, paid, advanced</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4FF"/>
          </a:solidFill>
          <a:ln/>
        </p:spPr>
      </p:sp>
      <p:sp>
        <p:nvSpPr>
          <p:cNvPr id="3" name="Shape 1"/>
          <p:cNvSpPr/>
          <p:nvPr/>
        </p:nvSpPr>
        <p:spPr>
          <a:xfrm>
            <a:off x="0" y="0"/>
            <a:ext cx="3200400" cy="5143500"/>
          </a:xfrm>
          <a:prstGeom prst="rect">
            <a:avLst/>
          </a:prstGeom>
          <a:solidFill>
            <a:srgbClr val="1A2540"/>
          </a:solidFill>
          <a:ln/>
        </p:spPr>
      </p:sp>
      <p:sp>
        <p:nvSpPr>
          <p:cNvPr id="4" name="Text 2"/>
          <p:cNvSpPr txBox="1"/>
          <p:nvPr/>
        </p:nvSpPr>
        <p:spPr>
          <a:xfrm>
            <a:off x="182880" y="228600"/>
            <a:ext cx="2834640" cy="914400"/>
          </a:xfrm>
          <a:prstGeom prst="rect">
            <a:avLst/>
          </a:prstGeom>
          <a:noFill/>
          <a:ln/>
        </p:spPr>
        <p:txBody>
          <a:bodyPr wrap="square" lIns="0" tIns="0" rIns="0" bIns="0" rtlCol="0" anchor="t"/>
          <a:lstStyle/>
          <a:p>
            <a:pPr marL="0" indent="0">
              <a:buNone/>
            </a:pPr>
            <a:r>
              <a:rPr lang="en-US" sz="2000" b="1" dirty="0">
                <a:solidFill>
                  <a:srgbClr val="FFFFFF"/>
                </a:solidFill>
                <a:latin typeface="Calibri" pitchFamily="34" charset="0"/>
                <a:ea typeface="Calibri" pitchFamily="34" charset="-122"/>
                <a:cs typeface="Calibri" pitchFamily="34" charset="-120"/>
              </a:rPr>
              <a:t>GitHub Pages</a:t>
            </a:r>
            <a:endParaRPr lang="en-US" sz="2000" dirty="0"/>
          </a:p>
          <a:p>
            <a:pPr marL="0" indent="0">
              <a:buNone/>
            </a:pPr>
            <a:r>
              <a:rPr lang="en-US" sz="2000" b="1" dirty="0">
                <a:solidFill>
                  <a:srgbClr val="FFFFFF"/>
                </a:solidFill>
                <a:latin typeface="Calibri" pitchFamily="34" charset="0"/>
                <a:ea typeface="Calibri" pitchFamily="34" charset="-122"/>
                <a:cs typeface="Calibri" pitchFamily="34" charset="-120"/>
              </a:rPr>
              <a:t>Overview</a:t>
            </a:r>
            <a:endParaRPr lang="en-US" sz="2000" dirty="0"/>
          </a:p>
        </p:txBody>
      </p:sp>
      <p:sp>
        <p:nvSpPr>
          <p:cNvPr id="5" name="Shape 3"/>
          <p:cNvSpPr/>
          <p:nvPr/>
        </p:nvSpPr>
        <p:spPr>
          <a:xfrm>
            <a:off x="182880" y="1188720"/>
            <a:ext cx="2560320" cy="45720"/>
          </a:xfrm>
          <a:prstGeom prst="rect">
            <a:avLst/>
          </a:prstGeom>
          <a:solidFill>
            <a:srgbClr val="F7DF1E"/>
          </a:solidFill>
          <a:ln/>
        </p:spPr>
      </p:sp>
      <p:sp>
        <p:nvSpPr>
          <p:cNvPr id="6" name="Text 4"/>
          <p:cNvSpPr txBox="1"/>
          <p:nvPr/>
        </p:nvSpPr>
        <p:spPr>
          <a:xfrm>
            <a:off x="182880" y="1280160"/>
            <a:ext cx="2834640" cy="438912"/>
          </a:xfrm>
          <a:prstGeom prst="rect">
            <a:avLst/>
          </a:prstGeom>
          <a:noFill/>
          <a:ln/>
        </p:spPr>
        <p:txBody>
          <a:bodyPr wrap="square" lIns="0" tIns="0" rIns="0" bIns="0" rtlCol="0" anchor="t"/>
          <a:lstStyle/>
          <a:p>
            <a:pPr marL="0" indent="0">
              <a:buNone/>
            </a:pPr>
            <a:r>
              <a:rPr lang="en-US" sz="1200" b="1" dirty="0">
                <a:solidFill>
                  <a:srgbClr val="F7DF1E"/>
                </a:solidFill>
                <a:latin typeface="Calibri" pitchFamily="34" charset="0"/>
                <a:ea typeface="Calibri" pitchFamily="34" charset="-122"/>
                <a:cs typeface="Calibri" pitchFamily="34" charset="-120"/>
              </a:rPr>
              <a:t>▶ 100% Free</a:t>
            </a:r>
            <a:endParaRPr lang="en-US" sz="1200" dirty="0"/>
          </a:p>
        </p:txBody>
      </p:sp>
      <p:sp>
        <p:nvSpPr>
          <p:cNvPr id="7" name="Text 5"/>
          <p:cNvSpPr txBox="1"/>
          <p:nvPr/>
        </p:nvSpPr>
        <p:spPr>
          <a:xfrm>
            <a:off x="182880" y="1517586"/>
            <a:ext cx="2834640" cy="438912"/>
          </a:xfrm>
          <a:prstGeom prst="rect">
            <a:avLst/>
          </a:prstGeom>
          <a:noFill/>
          <a:ln/>
        </p:spPr>
        <p:txBody>
          <a:bodyPr wrap="square" lIns="0" tIns="0" rIns="0" bIns="0" rtlCol="0" anchor="t"/>
          <a:lstStyle/>
          <a:p>
            <a:pPr marL="0" indent="0">
              <a:buNone/>
            </a:pPr>
            <a:r>
              <a:rPr lang="en-US" sz="1100" dirty="0">
                <a:solidFill>
                  <a:srgbClr val="8892B0"/>
                </a:solidFill>
                <a:latin typeface="Calibri" pitchFamily="34" charset="0"/>
                <a:ea typeface="Calibri" pitchFamily="34" charset="-122"/>
                <a:cs typeface="Calibri" pitchFamily="34" charset="-120"/>
              </a:rPr>
              <a:t>For public repos</a:t>
            </a:r>
            <a:endParaRPr lang="en-US" sz="1100" dirty="0"/>
          </a:p>
        </p:txBody>
      </p:sp>
      <p:sp>
        <p:nvSpPr>
          <p:cNvPr id="8" name="Text 6"/>
          <p:cNvSpPr txBox="1"/>
          <p:nvPr/>
        </p:nvSpPr>
        <p:spPr>
          <a:xfrm>
            <a:off x="182880" y="1927098"/>
            <a:ext cx="2834640" cy="438912"/>
          </a:xfrm>
          <a:prstGeom prst="rect">
            <a:avLst/>
          </a:prstGeom>
          <a:noFill/>
          <a:ln/>
        </p:spPr>
        <p:txBody>
          <a:bodyPr wrap="square" lIns="0" tIns="0" rIns="0" bIns="0" rtlCol="0" anchor="t"/>
          <a:lstStyle/>
          <a:p>
            <a:pPr marL="0" indent="0">
              <a:buNone/>
            </a:pPr>
            <a:r>
              <a:rPr lang="en-US" sz="1200" b="1" dirty="0">
                <a:solidFill>
                  <a:srgbClr val="F7DF1E"/>
                </a:solidFill>
                <a:latin typeface="Calibri" pitchFamily="34" charset="0"/>
                <a:ea typeface="Calibri" pitchFamily="34" charset="-122"/>
                <a:cs typeface="Calibri" pitchFamily="34" charset="-120"/>
              </a:rPr>
              <a:t>▶ No server needed</a:t>
            </a:r>
            <a:endParaRPr lang="en-US" sz="1200" dirty="0"/>
          </a:p>
        </p:txBody>
      </p:sp>
      <p:sp>
        <p:nvSpPr>
          <p:cNvPr id="9" name="Text 7"/>
          <p:cNvSpPr txBox="1"/>
          <p:nvPr/>
        </p:nvSpPr>
        <p:spPr>
          <a:xfrm>
            <a:off x="182880" y="2267712"/>
            <a:ext cx="2834640" cy="438912"/>
          </a:xfrm>
          <a:prstGeom prst="rect">
            <a:avLst/>
          </a:prstGeom>
          <a:noFill/>
          <a:ln/>
        </p:spPr>
        <p:txBody>
          <a:bodyPr wrap="square" lIns="0" tIns="0" rIns="0" bIns="0" rtlCol="0" anchor="t"/>
          <a:lstStyle/>
          <a:p>
            <a:pPr marL="0" indent="0">
              <a:buNone/>
            </a:pPr>
            <a:r>
              <a:rPr lang="en-US" sz="1100" dirty="0">
                <a:solidFill>
                  <a:srgbClr val="8892B0"/>
                </a:solidFill>
                <a:latin typeface="Calibri" pitchFamily="34" charset="0"/>
                <a:ea typeface="Calibri" pitchFamily="34" charset="-122"/>
                <a:cs typeface="Calibri" pitchFamily="34" charset="-120"/>
              </a:rPr>
              <a:t>GitHub hosts for you</a:t>
            </a:r>
            <a:endParaRPr lang="en-US" sz="1100" dirty="0"/>
          </a:p>
        </p:txBody>
      </p:sp>
      <p:sp>
        <p:nvSpPr>
          <p:cNvPr id="10" name="Text 8"/>
          <p:cNvSpPr txBox="1"/>
          <p:nvPr/>
        </p:nvSpPr>
        <p:spPr>
          <a:xfrm>
            <a:off x="182880" y="2640751"/>
            <a:ext cx="2834640" cy="438912"/>
          </a:xfrm>
          <a:prstGeom prst="rect">
            <a:avLst/>
          </a:prstGeom>
          <a:noFill/>
          <a:ln/>
        </p:spPr>
        <p:txBody>
          <a:bodyPr wrap="square" lIns="0" tIns="0" rIns="0" bIns="0" rtlCol="0" anchor="t"/>
          <a:lstStyle/>
          <a:p>
            <a:pPr marL="0" indent="0">
              <a:buNone/>
            </a:pPr>
            <a:r>
              <a:rPr lang="en-US" sz="1200" b="1" dirty="0">
                <a:solidFill>
                  <a:srgbClr val="F7DF1E"/>
                </a:solidFill>
                <a:latin typeface="Calibri" pitchFamily="34" charset="0"/>
                <a:ea typeface="Calibri" pitchFamily="34" charset="-122"/>
                <a:cs typeface="Calibri" pitchFamily="34" charset="-120"/>
              </a:rPr>
              <a:t>▶ Auto-updates</a:t>
            </a:r>
            <a:endParaRPr lang="en-US" sz="1200" dirty="0"/>
          </a:p>
        </p:txBody>
      </p:sp>
      <p:sp>
        <p:nvSpPr>
          <p:cNvPr id="11" name="Text 9"/>
          <p:cNvSpPr txBox="1"/>
          <p:nvPr/>
        </p:nvSpPr>
        <p:spPr>
          <a:xfrm>
            <a:off x="182880" y="2990850"/>
            <a:ext cx="2834640" cy="438912"/>
          </a:xfrm>
          <a:prstGeom prst="rect">
            <a:avLst/>
          </a:prstGeom>
          <a:noFill/>
          <a:ln/>
        </p:spPr>
        <p:txBody>
          <a:bodyPr wrap="square" lIns="0" tIns="0" rIns="0" bIns="0" rtlCol="0" anchor="t"/>
          <a:lstStyle/>
          <a:p>
            <a:pPr marL="0" indent="0">
              <a:buNone/>
            </a:pPr>
            <a:r>
              <a:rPr lang="en-US" sz="1100" dirty="0">
                <a:solidFill>
                  <a:srgbClr val="8892B0"/>
                </a:solidFill>
                <a:latin typeface="Calibri" pitchFamily="34" charset="0"/>
                <a:ea typeface="Calibri" pitchFamily="34" charset="-122"/>
                <a:cs typeface="Calibri" pitchFamily="34" charset="-120"/>
              </a:rPr>
              <a:t>Push = site updates</a:t>
            </a:r>
            <a:endParaRPr lang="en-US" sz="1100" dirty="0"/>
          </a:p>
        </p:txBody>
      </p:sp>
      <p:sp>
        <p:nvSpPr>
          <p:cNvPr id="12" name="Text 10"/>
          <p:cNvSpPr txBox="1"/>
          <p:nvPr/>
        </p:nvSpPr>
        <p:spPr>
          <a:xfrm>
            <a:off x="182880" y="3332437"/>
            <a:ext cx="2834640" cy="438912"/>
          </a:xfrm>
          <a:prstGeom prst="rect">
            <a:avLst/>
          </a:prstGeom>
          <a:noFill/>
          <a:ln/>
        </p:spPr>
        <p:txBody>
          <a:bodyPr wrap="square" lIns="0" tIns="0" rIns="0" bIns="0" rtlCol="0" anchor="t"/>
          <a:lstStyle/>
          <a:p>
            <a:pPr marL="0" indent="0">
              <a:buNone/>
            </a:pPr>
            <a:r>
              <a:rPr lang="en-US" sz="1200" b="1" dirty="0">
                <a:solidFill>
                  <a:srgbClr val="F7DF1E"/>
                </a:solidFill>
                <a:latin typeface="Calibri" pitchFamily="34" charset="0"/>
                <a:ea typeface="Calibri" pitchFamily="34" charset="-122"/>
                <a:cs typeface="Calibri" pitchFamily="34" charset="-120"/>
              </a:rPr>
              <a:t>▶ Custom domain</a:t>
            </a:r>
            <a:endParaRPr lang="en-US" sz="1200" dirty="0"/>
          </a:p>
        </p:txBody>
      </p:sp>
      <p:sp>
        <p:nvSpPr>
          <p:cNvPr id="13" name="Text 11"/>
          <p:cNvSpPr txBox="1"/>
          <p:nvPr/>
        </p:nvSpPr>
        <p:spPr>
          <a:xfrm>
            <a:off x="182880" y="3662172"/>
            <a:ext cx="2834640" cy="438912"/>
          </a:xfrm>
          <a:prstGeom prst="rect">
            <a:avLst/>
          </a:prstGeom>
          <a:noFill/>
          <a:ln/>
        </p:spPr>
        <p:txBody>
          <a:bodyPr wrap="square" lIns="0" tIns="0" rIns="0" bIns="0" rtlCol="0" anchor="t"/>
          <a:lstStyle/>
          <a:p>
            <a:pPr marL="0" indent="0">
              <a:buNone/>
            </a:pPr>
            <a:r>
              <a:rPr lang="en-US" sz="1100" dirty="0">
                <a:solidFill>
                  <a:srgbClr val="8892B0"/>
                </a:solidFill>
                <a:latin typeface="Calibri" pitchFamily="34" charset="0"/>
                <a:ea typeface="Calibri" pitchFamily="34" charset="-122"/>
                <a:cs typeface="Calibri" pitchFamily="34" charset="-120"/>
              </a:rPr>
              <a:t>optional, free</a:t>
            </a:r>
            <a:endParaRPr lang="en-US" sz="1100" dirty="0"/>
          </a:p>
        </p:txBody>
      </p:sp>
      <p:sp>
        <p:nvSpPr>
          <p:cNvPr id="14" name="Text 12"/>
          <p:cNvSpPr txBox="1"/>
          <p:nvPr/>
        </p:nvSpPr>
        <p:spPr>
          <a:xfrm>
            <a:off x="182880" y="3957925"/>
            <a:ext cx="2834640" cy="438912"/>
          </a:xfrm>
          <a:prstGeom prst="rect">
            <a:avLst/>
          </a:prstGeom>
          <a:noFill/>
          <a:ln/>
        </p:spPr>
        <p:txBody>
          <a:bodyPr wrap="square" lIns="0" tIns="0" rIns="0" bIns="0" rtlCol="0" anchor="t"/>
          <a:lstStyle/>
          <a:p>
            <a:pPr marL="0" indent="0">
              <a:buNone/>
            </a:pPr>
            <a:r>
              <a:rPr lang="en-US" sz="1200" b="1" dirty="0">
                <a:solidFill>
                  <a:srgbClr val="F7DF1E"/>
                </a:solidFill>
                <a:latin typeface="Calibri" pitchFamily="34" charset="0"/>
                <a:ea typeface="Calibri" pitchFamily="34" charset="-122"/>
                <a:cs typeface="Calibri" pitchFamily="34" charset="-120"/>
              </a:rPr>
              <a:t>▶ HTTPS included</a:t>
            </a:r>
            <a:endParaRPr lang="en-US" sz="1200" dirty="0"/>
          </a:p>
        </p:txBody>
      </p:sp>
      <p:sp>
        <p:nvSpPr>
          <p:cNvPr id="15" name="Text 13"/>
          <p:cNvSpPr txBox="1"/>
          <p:nvPr/>
        </p:nvSpPr>
        <p:spPr>
          <a:xfrm>
            <a:off x="228600" y="4251960"/>
            <a:ext cx="2834640" cy="438912"/>
          </a:xfrm>
          <a:prstGeom prst="rect">
            <a:avLst/>
          </a:prstGeom>
          <a:noFill/>
          <a:ln/>
        </p:spPr>
        <p:txBody>
          <a:bodyPr wrap="square" lIns="0" tIns="0" rIns="0" bIns="0" rtlCol="0" anchor="t"/>
          <a:lstStyle/>
          <a:p>
            <a:pPr marL="0" indent="0">
              <a:buNone/>
            </a:pPr>
            <a:r>
              <a:rPr lang="en-US" sz="1100" dirty="0">
                <a:solidFill>
                  <a:srgbClr val="8892B0"/>
                </a:solidFill>
                <a:latin typeface="Calibri" pitchFamily="34" charset="0"/>
                <a:ea typeface="Calibri" pitchFamily="34" charset="-122"/>
                <a:cs typeface="Calibri" pitchFamily="34" charset="-120"/>
              </a:rPr>
              <a:t>Secure by default</a:t>
            </a:r>
            <a:endParaRPr lang="en-US" sz="1100" dirty="0"/>
          </a:p>
        </p:txBody>
      </p:sp>
      <p:sp>
        <p:nvSpPr>
          <p:cNvPr id="16" name="Shape 14"/>
          <p:cNvSpPr/>
          <p:nvPr/>
        </p:nvSpPr>
        <p:spPr>
          <a:xfrm>
            <a:off x="3337560" y="228600"/>
            <a:ext cx="5577840" cy="4663440"/>
          </a:xfrm>
          <a:prstGeom prst="rect">
            <a:avLst/>
          </a:prstGeom>
          <a:solidFill>
            <a:srgbClr val="0D1117"/>
          </a:solidFill>
          <a:ln w="12700">
            <a:solidFill>
              <a:srgbClr val="30363D"/>
            </a:solidFill>
            <a:prstDash val="solid"/>
          </a:ln>
        </p:spPr>
      </p:sp>
      <p:sp>
        <p:nvSpPr>
          <p:cNvPr id="17" name="Shape 15"/>
          <p:cNvSpPr/>
          <p:nvPr/>
        </p:nvSpPr>
        <p:spPr>
          <a:xfrm>
            <a:off x="3337560" y="228600"/>
            <a:ext cx="5577840" cy="347472"/>
          </a:xfrm>
          <a:prstGeom prst="rect">
            <a:avLst/>
          </a:prstGeom>
          <a:solidFill>
            <a:srgbClr val="161B22"/>
          </a:solidFill>
          <a:ln/>
        </p:spPr>
      </p:sp>
      <p:sp>
        <p:nvSpPr>
          <p:cNvPr id="18" name="Shape 16"/>
          <p:cNvSpPr/>
          <p:nvPr/>
        </p:nvSpPr>
        <p:spPr>
          <a:xfrm>
            <a:off x="3520440" y="329184"/>
            <a:ext cx="109728" cy="109728"/>
          </a:xfrm>
          <a:prstGeom prst="ellipse">
            <a:avLst/>
          </a:prstGeom>
          <a:solidFill>
            <a:srgbClr val="FF5F56"/>
          </a:solidFill>
          <a:ln/>
        </p:spPr>
      </p:sp>
      <p:sp>
        <p:nvSpPr>
          <p:cNvPr id="19" name="Shape 17"/>
          <p:cNvSpPr/>
          <p:nvPr/>
        </p:nvSpPr>
        <p:spPr>
          <a:xfrm>
            <a:off x="3721608" y="329184"/>
            <a:ext cx="109728" cy="109728"/>
          </a:xfrm>
          <a:prstGeom prst="ellipse">
            <a:avLst/>
          </a:prstGeom>
          <a:solidFill>
            <a:srgbClr val="FFBD2E"/>
          </a:solidFill>
          <a:ln/>
        </p:spPr>
      </p:sp>
      <p:sp>
        <p:nvSpPr>
          <p:cNvPr id="20" name="Shape 18"/>
          <p:cNvSpPr/>
          <p:nvPr/>
        </p:nvSpPr>
        <p:spPr>
          <a:xfrm>
            <a:off x="3922776" y="329184"/>
            <a:ext cx="109728" cy="109728"/>
          </a:xfrm>
          <a:prstGeom prst="ellipse">
            <a:avLst/>
          </a:prstGeom>
          <a:solidFill>
            <a:srgbClr val="27C93F"/>
          </a:solidFill>
          <a:ln/>
        </p:spPr>
      </p:sp>
      <p:sp>
        <p:nvSpPr>
          <p:cNvPr id="21" name="Text 19"/>
          <p:cNvSpPr txBox="1"/>
          <p:nvPr/>
        </p:nvSpPr>
        <p:spPr>
          <a:xfrm>
            <a:off x="3474720" y="292608"/>
            <a:ext cx="3200400" cy="256032"/>
          </a:xfrm>
          <a:prstGeom prst="rect">
            <a:avLst/>
          </a:prstGeom>
          <a:noFill/>
          <a:ln/>
        </p:spPr>
        <p:txBody>
          <a:bodyPr wrap="square" lIns="0" tIns="0" rIns="0" bIns="0" rtlCol="0" anchor="ctr"/>
          <a:lstStyle/>
          <a:p>
            <a:pPr marL="0" indent="0">
              <a:buNone/>
            </a:pPr>
            <a:r>
              <a:rPr lang="en-US" sz="800" dirty="0">
                <a:solidFill>
                  <a:srgbClr val="6E7681"/>
                </a:solidFill>
                <a:latin typeface="Courier New" pitchFamily="34" charset="0"/>
                <a:ea typeface="Courier New" pitchFamily="34" charset="-122"/>
                <a:cs typeface="Courier New" pitchFamily="34" charset="-120"/>
              </a:rPr>
              <a:t>Your GitHub Pages URL</a:t>
            </a:r>
            <a:endParaRPr lang="en-US" sz="800" dirty="0"/>
          </a:p>
        </p:txBody>
      </p:sp>
      <p:sp>
        <p:nvSpPr>
          <p:cNvPr id="22" name="Text 20"/>
          <p:cNvSpPr txBox="1"/>
          <p:nvPr/>
        </p:nvSpPr>
        <p:spPr>
          <a:xfrm>
            <a:off x="3474720" y="658368"/>
            <a:ext cx="5349240" cy="301752"/>
          </a:xfrm>
          <a:prstGeom prst="rect">
            <a:avLst/>
          </a:prstGeom>
          <a:noFill/>
          <a:ln/>
        </p:spPr>
        <p:txBody>
          <a:bodyPr wrap="square" lIns="0" tIns="0" rIns="0" bIns="0" rtlCol="0" anchor="t"/>
          <a:lstStyle/>
          <a:p>
            <a:pPr marL="0" indent="0" algn="l">
              <a:buNone/>
            </a:pPr>
            <a:r>
              <a:rPr lang="en-US" sz="1100" dirty="0">
                <a:solidFill>
                  <a:srgbClr val="6E7681"/>
                </a:solidFill>
                <a:latin typeface="Courier New" pitchFamily="34" charset="0"/>
                <a:ea typeface="Courier New" pitchFamily="34" charset="-122"/>
                <a:cs typeface="Courier New" pitchFamily="34" charset="-120"/>
              </a:rPr>
              <a:t># User/organization site</a:t>
            </a:r>
            <a:endParaRPr lang="en-US" sz="1100" dirty="0"/>
          </a:p>
        </p:txBody>
      </p:sp>
      <p:sp>
        <p:nvSpPr>
          <p:cNvPr id="23" name="Text 21"/>
          <p:cNvSpPr txBox="1"/>
          <p:nvPr/>
        </p:nvSpPr>
        <p:spPr>
          <a:xfrm>
            <a:off x="3474720" y="987552"/>
            <a:ext cx="5349240" cy="301752"/>
          </a:xfrm>
          <a:prstGeom prst="rect">
            <a:avLst/>
          </a:prstGeom>
          <a:noFill/>
          <a:ln/>
        </p:spPr>
        <p:txBody>
          <a:bodyPr wrap="square" lIns="0" tIns="0" rIns="0" bIns="0" rtlCol="0" anchor="t"/>
          <a:lstStyle/>
          <a:p>
            <a:pPr marL="0" indent="0" algn="l">
              <a:buNone/>
            </a:pPr>
            <a:r>
              <a:rPr lang="en-US" sz="1100" dirty="0">
                <a:solidFill>
                  <a:srgbClr val="00C896"/>
                </a:solidFill>
                <a:latin typeface="Courier New" pitchFamily="34" charset="0"/>
                <a:ea typeface="Courier New" pitchFamily="34" charset="-122"/>
                <a:cs typeface="Courier New" pitchFamily="34" charset="-120"/>
              </a:rPr>
              <a:t>username.github.io</a:t>
            </a:r>
            <a:endParaRPr lang="en-US" sz="1100" dirty="0"/>
          </a:p>
        </p:txBody>
      </p:sp>
      <p:sp>
        <p:nvSpPr>
          <p:cNvPr id="24" name="Text 22"/>
          <p:cNvSpPr txBox="1"/>
          <p:nvPr/>
        </p:nvSpPr>
        <p:spPr>
          <a:xfrm>
            <a:off x="3474720" y="1316736"/>
            <a:ext cx="5349240" cy="301752"/>
          </a:xfrm>
          <a:prstGeom prst="rect">
            <a:avLst/>
          </a:prstGeom>
          <a:noFill/>
          <a:ln/>
        </p:spPr>
        <p:txBody>
          <a:bodyPr wrap="square" lIns="0" tIns="0" rIns="0" bIns="0" rtlCol="0" anchor="t"/>
          <a:lstStyle/>
          <a:p>
            <a:pPr marL="0" indent="0" algn="l">
              <a:buNone/>
            </a:pPr>
            <a:endParaRPr lang="en-US" sz="1100" dirty="0"/>
          </a:p>
        </p:txBody>
      </p:sp>
      <p:sp>
        <p:nvSpPr>
          <p:cNvPr id="25" name="Text 23"/>
          <p:cNvSpPr txBox="1"/>
          <p:nvPr/>
        </p:nvSpPr>
        <p:spPr>
          <a:xfrm>
            <a:off x="3474720" y="1645920"/>
            <a:ext cx="5349240" cy="301752"/>
          </a:xfrm>
          <a:prstGeom prst="rect">
            <a:avLst/>
          </a:prstGeom>
          <a:noFill/>
          <a:ln/>
        </p:spPr>
        <p:txBody>
          <a:bodyPr wrap="square" lIns="0" tIns="0" rIns="0" bIns="0" rtlCol="0" anchor="t"/>
          <a:lstStyle/>
          <a:p>
            <a:pPr marL="0" indent="0" algn="l">
              <a:buNone/>
            </a:pPr>
            <a:r>
              <a:rPr lang="en-US" sz="1100" dirty="0">
                <a:solidFill>
                  <a:srgbClr val="6E7681"/>
                </a:solidFill>
                <a:latin typeface="Courier New" pitchFamily="34" charset="0"/>
                <a:ea typeface="Courier New" pitchFamily="34" charset="-122"/>
                <a:cs typeface="Courier New" pitchFamily="34" charset="-120"/>
              </a:rPr>
              <a:t># Project site (most common)</a:t>
            </a:r>
            <a:endParaRPr lang="en-US" sz="1100" dirty="0"/>
          </a:p>
        </p:txBody>
      </p:sp>
      <p:sp>
        <p:nvSpPr>
          <p:cNvPr id="26" name="Text 24"/>
          <p:cNvSpPr txBox="1"/>
          <p:nvPr/>
        </p:nvSpPr>
        <p:spPr>
          <a:xfrm>
            <a:off x="3474720" y="1975104"/>
            <a:ext cx="5349240" cy="301752"/>
          </a:xfrm>
          <a:prstGeom prst="rect">
            <a:avLst/>
          </a:prstGeom>
          <a:noFill/>
          <a:ln/>
        </p:spPr>
        <p:txBody>
          <a:bodyPr wrap="square" lIns="0" tIns="0" rIns="0" bIns="0" rtlCol="0" anchor="t"/>
          <a:lstStyle/>
          <a:p>
            <a:pPr marL="0" indent="0" algn="l">
              <a:buNone/>
            </a:pPr>
            <a:r>
              <a:rPr lang="en-US" sz="1100" dirty="0">
                <a:solidFill>
                  <a:srgbClr val="00C896"/>
                </a:solidFill>
                <a:latin typeface="Courier New" pitchFamily="34" charset="0"/>
                <a:ea typeface="Courier New" pitchFamily="34" charset="-122"/>
                <a:cs typeface="Courier New" pitchFamily="34" charset="-120"/>
              </a:rPr>
              <a:t>username.github.io/repo-name</a:t>
            </a:r>
            <a:endParaRPr lang="en-US" sz="1100" dirty="0"/>
          </a:p>
        </p:txBody>
      </p:sp>
      <p:sp>
        <p:nvSpPr>
          <p:cNvPr id="27" name="Text 25"/>
          <p:cNvSpPr txBox="1"/>
          <p:nvPr/>
        </p:nvSpPr>
        <p:spPr>
          <a:xfrm>
            <a:off x="3474720" y="2304288"/>
            <a:ext cx="5349240" cy="301752"/>
          </a:xfrm>
          <a:prstGeom prst="rect">
            <a:avLst/>
          </a:prstGeom>
          <a:noFill/>
          <a:ln/>
        </p:spPr>
        <p:txBody>
          <a:bodyPr wrap="square" lIns="0" tIns="0" rIns="0" bIns="0" rtlCol="0" anchor="t"/>
          <a:lstStyle/>
          <a:p>
            <a:pPr marL="0" indent="0" algn="l">
              <a:buNone/>
            </a:pPr>
            <a:endParaRPr lang="en-US" sz="1100" dirty="0"/>
          </a:p>
        </p:txBody>
      </p:sp>
      <p:sp>
        <p:nvSpPr>
          <p:cNvPr id="28" name="Text 26"/>
          <p:cNvSpPr txBox="1"/>
          <p:nvPr/>
        </p:nvSpPr>
        <p:spPr>
          <a:xfrm>
            <a:off x="3474720" y="2633472"/>
            <a:ext cx="5349240" cy="301752"/>
          </a:xfrm>
          <a:prstGeom prst="rect">
            <a:avLst/>
          </a:prstGeom>
          <a:noFill/>
          <a:ln/>
        </p:spPr>
        <p:txBody>
          <a:bodyPr wrap="square" lIns="0" tIns="0" rIns="0" bIns="0" rtlCol="0" anchor="t"/>
          <a:lstStyle/>
          <a:p>
            <a:pPr marL="0" indent="0" algn="l">
              <a:buNone/>
            </a:pPr>
            <a:r>
              <a:rPr lang="en-US" sz="1100" dirty="0">
                <a:solidFill>
                  <a:srgbClr val="6E7681"/>
                </a:solidFill>
                <a:latin typeface="Courier New" pitchFamily="34" charset="0"/>
                <a:ea typeface="Courier New" pitchFamily="34" charset="-122"/>
                <a:cs typeface="Courier New" pitchFamily="34" charset="-120"/>
              </a:rPr>
              <a:t># Example for this class:</a:t>
            </a:r>
            <a:endParaRPr lang="en-US" sz="1100" dirty="0"/>
          </a:p>
        </p:txBody>
      </p:sp>
      <p:sp>
        <p:nvSpPr>
          <p:cNvPr id="29" name="Text 27"/>
          <p:cNvSpPr txBox="1"/>
          <p:nvPr/>
        </p:nvSpPr>
        <p:spPr>
          <a:xfrm>
            <a:off x="3474720" y="2962656"/>
            <a:ext cx="5349240" cy="301752"/>
          </a:xfrm>
          <a:prstGeom prst="rect">
            <a:avLst/>
          </a:prstGeom>
          <a:noFill/>
          <a:ln/>
        </p:spPr>
        <p:txBody>
          <a:bodyPr wrap="square" lIns="0" tIns="0" rIns="0" bIns="0" rtlCol="0" anchor="t"/>
          <a:lstStyle/>
          <a:p>
            <a:pPr marL="0" indent="0" algn="l">
              <a:buNone/>
            </a:pPr>
            <a:r>
              <a:rPr lang="en-US" sz="1100" dirty="0">
                <a:solidFill>
                  <a:srgbClr val="64FFDA"/>
                </a:solidFill>
                <a:latin typeface="Courier New" pitchFamily="34" charset="0"/>
                <a:ea typeface="Courier New" pitchFamily="34" charset="-122"/>
                <a:cs typeface="Courier New" pitchFamily="34" charset="-120"/>
              </a:rPr>
              <a:t>juma2024.github.io/book-search-app</a:t>
            </a:r>
            <a:endParaRPr lang="en-US" sz="1100" dirty="0"/>
          </a:p>
        </p:txBody>
      </p:sp>
      <p:sp>
        <p:nvSpPr>
          <p:cNvPr id="30" name="Text 28"/>
          <p:cNvSpPr txBox="1"/>
          <p:nvPr/>
        </p:nvSpPr>
        <p:spPr>
          <a:xfrm>
            <a:off x="3474720" y="3291840"/>
            <a:ext cx="5349240" cy="301752"/>
          </a:xfrm>
          <a:prstGeom prst="rect">
            <a:avLst/>
          </a:prstGeom>
          <a:noFill/>
          <a:ln/>
        </p:spPr>
        <p:txBody>
          <a:bodyPr wrap="square" lIns="0" tIns="0" rIns="0" bIns="0" rtlCol="0" anchor="t"/>
          <a:lstStyle/>
          <a:p>
            <a:pPr marL="0" indent="0" algn="l">
              <a:buNone/>
            </a:pPr>
            <a:endParaRPr lang="en-US" sz="1100" dirty="0"/>
          </a:p>
        </p:txBody>
      </p:sp>
      <p:sp>
        <p:nvSpPr>
          <p:cNvPr id="31" name="Text 29"/>
          <p:cNvSpPr txBox="1"/>
          <p:nvPr/>
        </p:nvSpPr>
        <p:spPr>
          <a:xfrm>
            <a:off x="3474720" y="3621024"/>
            <a:ext cx="5349240" cy="301752"/>
          </a:xfrm>
          <a:prstGeom prst="rect">
            <a:avLst/>
          </a:prstGeom>
          <a:noFill/>
          <a:ln/>
        </p:spPr>
        <p:txBody>
          <a:bodyPr wrap="square" lIns="0" tIns="0" rIns="0" bIns="0" rtlCol="0" anchor="t"/>
          <a:lstStyle/>
          <a:p>
            <a:pPr marL="0" indent="0" algn="l">
              <a:buNone/>
            </a:pPr>
            <a:r>
              <a:rPr lang="en-US" sz="1100" dirty="0">
                <a:solidFill>
                  <a:srgbClr val="6E7681"/>
                </a:solidFill>
                <a:latin typeface="Courier New" pitchFamily="34" charset="0"/>
                <a:ea typeface="Courier New" pitchFamily="34" charset="-122"/>
                <a:cs typeface="Courier New" pitchFamily="34" charset="-120"/>
              </a:rPr>
              <a:t># After enabling GitHub Pages:</a:t>
            </a:r>
            <a:endParaRPr lang="en-US" sz="1100" dirty="0"/>
          </a:p>
        </p:txBody>
      </p:sp>
      <p:sp>
        <p:nvSpPr>
          <p:cNvPr id="32" name="Text 30"/>
          <p:cNvSpPr txBox="1"/>
          <p:nvPr/>
        </p:nvSpPr>
        <p:spPr>
          <a:xfrm>
            <a:off x="3474720" y="3950208"/>
            <a:ext cx="5349240" cy="301752"/>
          </a:xfrm>
          <a:prstGeom prst="rect">
            <a:avLst/>
          </a:prstGeom>
          <a:noFill/>
          <a:ln/>
        </p:spPr>
        <p:txBody>
          <a:bodyPr wrap="square" lIns="0" tIns="0" rIns="0" bIns="0" rtlCol="0" anchor="t"/>
          <a:lstStyle/>
          <a:p>
            <a:pPr marL="0" indent="0" algn="l">
              <a:buNone/>
            </a:pPr>
            <a:r>
              <a:rPr lang="en-US" sz="1100" dirty="0">
                <a:solidFill>
                  <a:srgbClr val="E5C07B"/>
                </a:solidFill>
                <a:latin typeface="Courier New" pitchFamily="34" charset="0"/>
                <a:ea typeface="Courier New" pitchFamily="34" charset="-122"/>
                <a:cs typeface="Courier New" pitchFamily="34" charset="-120"/>
              </a:rPr>
              <a:t>Your site is live in ~2 minutes</a:t>
            </a:r>
            <a:endParaRPr lang="en-US" sz="1100" dirty="0"/>
          </a:p>
        </p:txBody>
      </p:sp>
      <p:sp>
        <p:nvSpPr>
          <p:cNvPr id="33" name="Text 31"/>
          <p:cNvSpPr txBox="1"/>
          <p:nvPr/>
        </p:nvSpPr>
        <p:spPr>
          <a:xfrm>
            <a:off x="3474720" y="4279392"/>
            <a:ext cx="5349240" cy="301752"/>
          </a:xfrm>
          <a:prstGeom prst="rect">
            <a:avLst/>
          </a:prstGeom>
          <a:noFill/>
          <a:ln/>
        </p:spPr>
        <p:txBody>
          <a:bodyPr wrap="square" lIns="0" tIns="0" rIns="0" bIns="0" rtlCol="0" anchor="t"/>
          <a:lstStyle/>
          <a:p>
            <a:pPr marL="0" indent="0" algn="l">
              <a:buNone/>
            </a:pPr>
            <a:r>
              <a:rPr lang="en-US" sz="1100" dirty="0">
                <a:solidFill>
                  <a:srgbClr val="E5C07B"/>
                </a:solidFill>
                <a:latin typeface="Courier New" pitchFamily="34" charset="0"/>
                <a:ea typeface="Courier New" pitchFamily="34" charset="-122"/>
                <a:cs typeface="Courier New" pitchFamily="34" charset="-120"/>
              </a:rPr>
              <a:t>Updates on every git push</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4FF"/>
          </a:solidFill>
          <a:ln/>
        </p:spPr>
      </p:sp>
      <p:sp>
        <p:nvSpPr>
          <p:cNvPr id="3" name="Shape 1"/>
          <p:cNvSpPr/>
          <p:nvPr/>
        </p:nvSpPr>
        <p:spPr>
          <a:xfrm>
            <a:off x="0" y="0"/>
            <a:ext cx="9144000" cy="914400"/>
          </a:xfrm>
          <a:prstGeom prst="rect">
            <a:avLst/>
          </a:prstGeom>
          <a:solidFill>
            <a:srgbClr val="1A2540"/>
          </a:solidFill>
          <a:ln/>
        </p:spPr>
      </p:sp>
      <p:sp>
        <p:nvSpPr>
          <p:cNvPr id="4" name="Text 2"/>
          <p:cNvSpPr txBox="1"/>
          <p:nvPr/>
        </p:nvSpPr>
        <p:spPr>
          <a:xfrm>
            <a:off x="365760" y="137160"/>
            <a:ext cx="7772400" cy="594360"/>
          </a:xfrm>
          <a:prstGeom prst="rect">
            <a:avLst/>
          </a:prstGeom>
          <a:noFill/>
          <a:ln/>
        </p:spPr>
        <p:txBody>
          <a:bodyPr wrap="square" lIns="0" tIns="0" rIns="0" bIns="0"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Enable GitHub Pages — Step by Step</a:t>
            </a:r>
            <a:endParaRPr lang="en-US" sz="2400" dirty="0"/>
          </a:p>
        </p:txBody>
      </p:sp>
      <p:sp>
        <p:nvSpPr>
          <p:cNvPr id="5" name="Text 3"/>
          <p:cNvSpPr txBox="1"/>
          <p:nvPr/>
        </p:nvSpPr>
        <p:spPr>
          <a:xfrm>
            <a:off x="7315200" y="228600"/>
            <a:ext cx="1645920" cy="365760"/>
          </a:xfrm>
          <a:prstGeom prst="rect">
            <a:avLst/>
          </a:prstGeom>
          <a:noFill/>
          <a:ln/>
        </p:spPr>
        <p:txBody>
          <a:bodyPr wrap="square" lIns="0" tIns="0" rIns="0" bIns="0" rtlCol="0" anchor="ctr"/>
          <a:lstStyle/>
          <a:p>
            <a:pPr marL="0" indent="0" algn="r">
              <a:buNone/>
            </a:pPr>
            <a:r>
              <a:rPr lang="en-US" sz="1100" dirty="0">
                <a:solidFill>
                  <a:srgbClr val="F7DF1E"/>
                </a:solidFill>
                <a:latin typeface="Calibri" pitchFamily="34" charset="0"/>
                <a:ea typeface="Calibri" pitchFamily="34" charset="-122"/>
                <a:cs typeface="Calibri" pitchFamily="34" charset="-120"/>
              </a:rPr>
              <a:t>Settings → Pages → Deploy</a:t>
            </a:r>
            <a:endParaRPr lang="en-US" sz="1100" dirty="0"/>
          </a:p>
        </p:txBody>
      </p:sp>
      <p:sp>
        <p:nvSpPr>
          <p:cNvPr id="6" name="Shape 4"/>
          <p:cNvSpPr/>
          <p:nvPr/>
        </p:nvSpPr>
        <p:spPr>
          <a:xfrm>
            <a:off x="320040" y="1078992"/>
            <a:ext cx="502920" cy="502920"/>
          </a:xfrm>
          <a:prstGeom prst="ellipse">
            <a:avLst/>
          </a:prstGeom>
          <a:solidFill>
            <a:srgbClr val="F7DF1E"/>
          </a:solidFill>
          <a:ln/>
        </p:spPr>
      </p:sp>
      <p:sp>
        <p:nvSpPr>
          <p:cNvPr id="7" name="Text 5"/>
          <p:cNvSpPr txBox="1"/>
          <p:nvPr/>
        </p:nvSpPr>
        <p:spPr>
          <a:xfrm>
            <a:off x="320040" y="1078992"/>
            <a:ext cx="502920" cy="502920"/>
          </a:xfrm>
          <a:prstGeom prst="rect">
            <a:avLst/>
          </a:prstGeom>
          <a:noFill/>
          <a:ln/>
        </p:spPr>
        <p:txBody>
          <a:bodyPr wrap="square" lIns="0" tIns="0" rIns="0" bIns="0" rtlCol="0" anchor="ctr"/>
          <a:lstStyle/>
          <a:p>
            <a:pPr marL="0" indent="0" algn="ctr">
              <a:buNone/>
            </a:pPr>
            <a:r>
              <a:rPr lang="en-US" sz="1600" b="1" dirty="0">
                <a:solidFill>
                  <a:srgbClr val="1A2540"/>
                </a:solidFill>
              </a:rPr>
              <a:t>1</a:t>
            </a:r>
            <a:endParaRPr lang="en-US" sz="1600" dirty="0"/>
          </a:p>
        </p:txBody>
      </p:sp>
      <p:sp>
        <p:nvSpPr>
          <p:cNvPr id="8" name="Text 6"/>
          <p:cNvSpPr txBox="1"/>
          <p:nvPr/>
        </p:nvSpPr>
        <p:spPr>
          <a:xfrm>
            <a:off x="960120" y="1060704"/>
            <a:ext cx="7955280" cy="347472"/>
          </a:xfrm>
          <a:prstGeom prst="rect">
            <a:avLst/>
          </a:prstGeom>
          <a:noFill/>
          <a:ln/>
        </p:spPr>
        <p:txBody>
          <a:bodyPr wrap="square" lIns="0" tIns="0" rIns="0" bIns="0" rtlCol="0" anchor="ctr"/>
          <a:lstStyle/>
          <a:p>
            <a:pPr marL="0" indent="0">
              <a:buNone/>
            </a:pPr>
            <a:r>
              <a:rPr lang="en-US" sz="1400" b="1" dirty="0">
                <a:solidFill>
                  <a:srgbClr val="1A2540"/>
                </a:solidFill>
                <a:latin typeface="Calibri" pitchFamily="34" charset="0"/>
                <a:ea typeface="Calibri" pitchFamily="34" charset="-122"/>
                <a:cs typeface="Calibri" pitchFamily="34" charset="-120"/>
              </a:rPr>
              <a:t>Open your repo on GitHub</a:t>
            </a:r>
            <a:endParaRPr lang="en-US" sz="1400" dirty="0"/>
          </a:p>
        </p:txBody>
      </p:sp>
      <p:sp>
        <p:nvSpPr>
          <p:cNvPr id="9" name="Text 7"/>
          <p:cNvSpPr txBox="1"/>
          <p:nvPr/>
        </p:nvSpPr>
        <p:spPr>
          <a:xfrm>
            <a:off x="960120" y="1408176"/>
            <a:ext cx="7955280" cy="310896"/>
          </a:xfrm>
          <a:prstGeom prst="rect">
            <a:avLst/>
          </a:prstGeom>
          <a:noFill/>
          <a:ln/>
        </p:spPr>
        <p:txBody>
          <a:bodyPr wrap="square" lIns="0" tIns="0" rIns="0" bIns="0" rtlCol="0" anchor="ctr"/>
          <a:lstStyle/>
          <a:p>
            <a:pPr marL="0" indent="0">
              <a:buNone/>
            </a:pPr>
            <a:r>
              <a:rPr lang="en-US" sz="1200" dirty="0">
                <a:solidFill>
                  <a:srgbClr val="4A5568"/>
                </a:solidFill>
                <a:latin typeface="Calibri" pitchFamily="34" charset="0"/>
                <a:ea typeface="Calibri" pitchFamily="34" charset="-122"/>
                <a:cs typeface="Calibri" pitchFamily="34" charset="-120"/>
              </a:rPr>
              <a:t>Go to github.com → your repo page (the Book Search App repo from Monday)</a:t>
            </a:r>
            <a:endParaRPr lang="en-US" sz="1200" dirty="0"/>
          </a:p>
        </p:txBody>
      </p:sp>
      <p:sp>
        <p:nvSpPr>
          <p:cNvPr id="10" name="Shape 8"/>
          <p:cNvSpPr/>
          <p:nvPr/>
        </p:nvSpPr>
        <p:spPr>
          <a:xfrm>
            <a:off x="320040" y="1883664"/>
            <a:ext cx="502920" cy="502920"/>
          </a:xfrm>
          <a:prstGeom prst="ellipse">
            <a:avLst/>
          </a:prstGeom>
          <a:solidFill>
            <a:srgbClr val="F7DF1E"/>
          </a:solidFill>
          <a:ln/>
        </p:spPr>
      </p:sp>
      <p:sp>
        <p:nvSpPr>
          <p:cNvPr id="11" name="Text 9"/>
          <p:cNvSpPr txBox="1"/>
          <p:nvPr/>
        </p:nvSpPr>
        <p:spPr>
          <a:xfrm>
            <a:off x="320040" y="1883664"/>
            <a:ext cx="502920" cy="502920"/>
          </a:xfrm>
          <a:prstGeom prst="rect">
            <a:avLst/>
          </a:prstGeom>
          <a:noFill/>
          <a:ln/>
        </p:spPr>
        <p:txBody>
          <a:bodyPr wrap="square" lIns="0" tIns="0" rIns="0" bIns="0" rtlCol="0" anchor="ctr"/>
          <a:lstStyle/>
          <a:p>
            <a:pPr marL="0" indent="0" algn="ctr">
              <a:buNone/>
            </a:pPr>
            <a:r>
              <a:rPr lang="en-US" sz="1600" b="1" dirty="0">
                <a:solidFill>
                  <a:srgbClr val="1A2540"/>
                </a:solidFill>
              </a:rPr>
              <a:t>2</a:t>
            </a:r>
            <a:endParaRPr lang="en-US" sz="1600" dirty="0"/>
          </a:p>
        </p:txBody>
      </p:sp>
      <p:sp>
        <p:nvSpPr>
          <p:cNvPr id="12" name="Text 10"/>
          <p:cNvSpPr txBox="1"/>
          <p:nvPr/>
        </p:nvSpPr>
        <p:spPr>
          <a:xfrm>
            <a:off x="960120" y="1865376"/>
            <a:ext cx="7955280" cy="347472"/>
          </a:xfrm>
          <a:prstGeom prst="rect">
            <a:avLst/>
          </a:prstGeom>
          <a:noFill/>
          <a:ln/>
        </p:spPr>
        <p:txBody>
          <a:bodyPr wrap="square" lIns="0" tIns="0" rIns="0" bIns="0" rtlCol="0" anchor="ctr"/>
          <a:lstStyle/>
          <a:p>
            <a:pPr marL="0" indent="0">
              <a:buNone/>
            </a:pPr>
            <a:r>
              <a:rPr lang="en-US" sz="1400" b="1" dirty="0">
                <a:solidFill>
                  <a:srgbClr val="1A2540"/>
                </a:solidFill>
                <a:latin typeface="Calibri" pitchFamily="34" charset="0"/>
                <a:ea typeface="Calibri" pitchFamily="34" charset="-122"/>
                <a:cs typeface="Calibri" pitchFamily="34" charset="-120"/>
              </a:rPr>
              <a:t>Click Settings tab</a:t>
            </a:r>
            <a:endParaRPr lang="en-US" sz="1400" dirty="0"/>
          </a:p>
        </p:txBody>
      </p:sp>
      <p:sp>
        <p:nvSpPr>
          <p:cNvPr id="13" name="Text 11"/>
          <p:cNvSpPr txBox="1"/>
          <p:nvPr/>
        </p:nvSpPr>
        <p:spPr>
          <a:xfrm>
            <a:off x="960120" y="2212848"/>
            <a:ext cx="7955280" cy="310896"/>
          </a:xfrm>
          <a:prstGeom prst="rect">
            <a:avLst/>
          </a:prstGeom>
          <a:noFill/>
          <a:ln/>
        </p:spPr>
        <p:txBody>
          <a:bodyPr wrap="square" lIns="0" tIns="0" rIns="0" bIns="0" rtlCol="0" anchor="ctr"/>
          <a:lstStyle/>
          <a:p>
            <a:pPr marL="0" indent="0">
              <a:buNone/>
            </a:pPr>
            <a:r>
              <a:rPr lang="en-US" sz="1200" dirty="0">
                <a:solidFill>
                  <a:srgbClr val="4A5568"/>
                </a:solidFill>
                <a:latin typeface="Calibri" pitchFamily="34" charset="0"/>
                <a:ea typeface="Calibri" pitchFamily="34" charset="-122"/>
                <a:cs typeface="Calibri" pitchFamily="34" charset="-120"/>
              </a:rPr>
              <a:t>Top navigation: Code, Issues, Pull requests ... Settings. Click Settings.</a:t>
            </a:r>
            <a:endParaRPr lang="en-US" sz="1200" dirty="0"/>
          </a:p>
        </p:txBody>
      </p:sp>
      <p:sp>
        <p:nvSpPr>
          <p:cNvPr id="14" name="Shape 12"/>
          <p:cNvSpPr/>
          <p:nvPr/>
        </p:nvSpPr>
        <p:spPr>
          <a:xfrm>
            <a:off x="320040" y="2688336"/>
            <a:ext cx="502920" cy="502920"/>
          </a:xfrm>
          <a:prstGeom prst="ellipse">
            <a:avLst/>
          </a:prstGeom>
          <a:solidFill>
            <a:srgbClr val="F7DF1E"/>
          </a:solidFill>
          <a:ln/>
        </p:spPr>
      </p:sp>
      <p:sp>
        <p:nvSpPr>
          <p:cNvPr id="15" name="Text 13"/>
          <p:cNvSpPr txBox="1"/>
          <p:nvPr/>
        </p:nvSpPr>
        <p:spPr>
          <a:xfrm>
            <a:off x="320040" y="2688336"/>
            <a:ext cx="502920" cy="502920"/>
          </a:xfrm>
          <a:prstGeom prst="rect">
            <a:avLst/>
          </a:prstGeom>
          <a:noFill/>
          <a:ln/>
        </p:spPr>
        <p:txBody>
          <a:bodyPr wrap="square" lIns="0" tIns="0" rIns="0" bIns="0" rtlCol="0" anchor="ctr"/>
          <a:lstStyle/>
          <a:p>
            <a:pPr marL="0" indent="0" algn="ctr">
              <a:buNone/>
            </a:pPr>
            <a:r>
              <a:rPr lang="en-US" sz="1600" b="1" dirty="0">
                <a:solidFill>
                  <a:srgbClr val="1A2540"/>
                </a:solidFill>
              </a:rPr>
              <a:t>3</a:t>
            </a:r>
            <a:endParaRPr lang="en-US" sz="1600" dirty="0"/>
          </a:p>
        </p:txBody>
      </p:sp>
      <p:sp>
        <p:nvSpPr>
          <p:cNvPr id="16" name="Text 14"/>
          <p:cNvSpPr txBox="1"/>
          <p:nvPr/>
        </p:nvSpPr>
        <p:spPr>
          <a:xfrm>
            <a:off x="960120" y="2670048"/>
            <a:ext cx="7955280" cy="347472"/>
          </a:xfrm>
          <a:prstGeom prst="rect">
            <a:avLst/>
          </a:prstGeom>
          <a:noFill/>
          <a:ln/>
        </p:spPr>
        <p:txBody>
          <a:bodyPr wrap="square" lIns="0" tIns="0" rIns="0" bIns="0" rtlCol="0" anchor="ctr"/>
          <a:lstStyle/>
          <a:p>
            <a:pPr marL="0" indent="0">
              <a:buNone/>
            </a:pPr>
            <a:r>
              <a:rPr lang="en-US" sz="1400" b="1" dirty="0">
                <a:solidFill>
                  <a:srgbClr val="1A2540"/>
                </a:solidFill>
                <a:latin typeface="Calibri" pitchFamily="34" charset="0"/>
                <a:ea typeface="Calibri" pitchFamily="34" charset="-122"/>
                <a:cs typeface="Calibri" pitchFamily="34" charset="-120"/>
              </a:rPr>
              <a:t>Scroll to Pages section</a:t>
            </a:r>
            <a:endParaRPr lang="en-US" sz="1400" dirty="0"/>
          </a:p>
        </p:txBody>
      </p:sp>
      <p:sp>
        <p:nvSpPr>
          <p:cNvPr id="17" name="Text 15"/>
          <p:cNvSpPr txBox="1"/>
          <p:nvPr/>
        </p:nvSpPr>
        <p:spPr>
          <a:xfrm>
            <a:off x="960120" y="3017520"/>
            <a:ext cx="7955280" cy="310896"/>
          </a:xfrm>
          <a:prstGeom prst="rect">
            <a:avLst/>
          </a:prstGeom>
          <a:noFill/>
          <a:ln/>
        </p:spPr>
        <p:txBody>
          <a:bodyPr wrap="square" lIns="0" tIns="0" rIns="0" bIns="0" rtlCol="0" anchor="ctr"/>
          <a:lstStyle/>
          <a:p>
            <a:pPr marL="0" indent="0">
              <a:buNone/>
            </a:pPr>
            <a:r>
              <a:rPr lang="en-US" sz="1200" dirty="0">
                <a:solidFill>
                  <a:srgbClr val="4A5568"/>
                </a:solidFill>
                <a:latin typeface="Calibri" pitchFamily="34" charset="0"/>
                <a:ea typeface="Calibri" pitchFamily="34" charset="-122"/>
                <a:cs typeface="Calibri" pitchFamily="34" charset="-120"/>
              </a:rPr>
              <a:t>Left sidebar: find "Pages" under Code and Automation section</a:t>
            </a:r>
            <a:endParaRPr lang="en-US" sz="1200" dirty="0"/>
          </a:p>
        </p:txBody>
      </p:sp>
      <p:sp>
        <p:nvSpPr>
          <p:cNvPr id="18" name="Shape 16"/>
          <p:cNvSpPr/>
          <p:nvPr/>
        </p:nvSpPr>
        <p:spPr>
          <a:xfrm>
            <a:off x="320040" y="3493008"/>
            <a:ext cx="502920" cy="502920"/>
          </a:xfrm>
          <a:prstGeom prst="ellipse">
            <a:avLst/>
          </a:prstGeom>
          <a:solidFill>
            <a:srgbClr val="F7DF1E"/>
          </a:solidFill>
          <a:ln/>
        </p:spPr>
      </p:sp>
      <p:sp>
        <p:nvSpPr>
          <p:cNvPr id="19" name="Text 17"/>
          <p:cNvSpPr txBox="1"/>
          <p:nvPr/>
        </p:nvSpPr>
        <p:spPr>
          <a:xfrm>
            <a:off x="320040" y="3493008"/>
            <a:ext cx="502920" cy="502920"/>
          </a:xfrm>
          <a:prstGeom prst="rect">
            <a:avLst/>
          </a:prstGeom>
          <a:noFill/>
          <a:ln/>
        </p:spPr>
        <p:txBody>
          <a:bodyPr wrap="square" lIns="0" tIns="0" rIns="0" bIns="0" rtlCol="0" anchor="ctr"/>
          <a:lstStyle/>
          <a:p>
            <a:pPr marL="0" indent="0" algn="ctr">
              <a:buNone/>
            </a:pPr>
            <a:r>
              <a:rPr lang="en-US" sz="1600" b="1" dirty="0">
                <a:solidFill>
                  <a:srgbClr val="1A2540"/>
                </a:solidFill>
              </a:rPr>
              <a:t>4</a:t>
            </a:r>
            <a:endParaRPr lang="en-US" sz="1600" dirty="0"/>
          </a:p>
        </p:txBody>
      </p:sp>
      <p:sp>
        <p:nvSpPr>
          <p:cNvPr id="20" name="Text 18"/>
          <p:cNvSpPr txBox="1"/>
          <p:nvPr/>
        </p:nvSpPr>
        <p:spPr>
          <a:xfrm>
            <a:off x="960120" y="3474720"/>
            <a:ext cx="7955280" cy="347472"/>
          </a:xfrm>
          <a:prstGeom prst="rect">
            <a:avLst/>
          </a:prstGeom>
          <a:noFill/>
          <a:ln/>
        </p:spPr>
        <p:txBody>
          <a:bodyPr wrap="square" lIns="0" tIns="0" rIns="0" bIns="0" rtlCol="0" anchor="ctr"/>
          <a:lstStyle/>
          <a:p>
            <a:pPr marL="0" indent="0">
              <a:buNone/>
            </a:pPr>
            <a:r>
              <a:rPr lang="en-US" sz="1400" b="1" dirty="0">
                <a:solidFill>
                  <a:srgbClr val="1A2540"/>
                </a:solidFill>
                <a:latin typeface="Calibri" pitchFamily="34" charset="0"/>
                <a:ea typeface="Calibri" pitchFamily="34" charset="-122"/>
                <a:cs typeface="Calibri" pitchFamily="34" charset="-120"/>
              </a:rPr>
              <a:t>Set Source to "main" branch</a:t>
            </a:r>
            <a:endParaRPr lang="en-US" sz="1400" dirty="0"/>
          </a:p>
        </p:txBody>
      </p:sp>
      <p:sp>
        <p:nvSpPr>
          <p:cNvPr id="21" name="Text 19"/>
          <p:cNvSpPr txBox="1"/>
          <p:nvPr/>
        </p:nvSpPr>
        <p:spPr>
          <a:xfrm>
            <a:off x="960120" y="3822192"/>
            <a:ext cx="7955280" cy="310896"/>
          </a:xfrm>
          <a:prstGeom prst="rect">
            <a:avLst/>
          </a:prstGeom>
          <a:noFill/>
          <a:ln/>
        </p:spPr>
        <p:txBody>
          <a:bodyPr wrap="square" lIns="0" tIns="0" rIns="0" bIns="0" rtlCol="0" anchor="ctr"/>
          <a:lstStyle/>
          <a:p>
            <a:pPr marL="0" indent="0">
              <a:buNone/>
            </a:pPr>
            <a:r>
              <a:rPr lang="en-US" sz="1200" dirty="0">
                <a:solidFill>
                  <a:srgbClr val="4A5568"/>
                </a:solidFill>
                <a:latin typeface="Calibri" pitchFamily="34" charset="0"/>
                <a:ea typeface="Calibri" pitchFamily="34" charset="-122"/>
                <a:cs typeface="Calibri" pitchFamily="34" charset="-120"/>
              </a:rPr>
              <a:t>Under "Build and deployment" → Source: Deploy from branch → Branch: main → /(root)</a:t>
            </a:r>
            <a:endParaRPr lang="en-US" sz="1200" dirty="0"/>
          </a:p>
        </p:txBody>
      </p:sp>
      <p:sp>
        <p:nvSpPr>
          <p:cNvPr id="22" name="Shape 20"/>
          <p:cNvSpPr/>
          <p:nvPr/>
        </p:nvSpPr>
        <p:spPr>
          <a:xfrm>
            <a:off x="320040" y="4297680"/>
            <a:ext cx="502920" cy="502920"/>
          </a:xfrm>
          <a:prstGeom prst="ellipse">
            <a:avLst/>
          </a:prstGeom>
          <a:solidFill>
            <a:srgbClr val="F7DF1E"/>
          </a:solidFill>
          <a:ln/>
        </p:spPr>
      </p:sp>
      <p:sp>
        <p:nvSpPr>
          <p:cNvPr id="23" name="Text 21"/>
          <p:cNvSpPr txBox="1"/>
          <p:nvPr/>
        </p:nvSpPr>
        <p:spPr>
          <a:xfrm>
            <a:off x="320040" y="4297680"/>
            <a:ext cx="502920" cy="502920"/>
          </a:xfrm>
          <a:prstGeom prst="rect">
            <a:avLst/>
          </a:prstGeom>
          <a:noFill/>
          <a:ln/>
        </p:spPr>
        <p:txBody>
          <a:bodyPr wrap="square" lIns="0" tIns="0" rIns="0" bIns="0" rtlCol="0" anchor="ctr"/>
          <a:lstStyle/>
          <a:p>
            <a:pPr marL="0" indent="0" algn="ctr">
              <a:buNone/>
            </a:pPr>
            <a:r>
              <a:rPr lang="en-US" sz="1600" b="1" dirty="0">
                <a:solidFill>
                  <a:srgbClr val="1A2540"/>
                </a:solidFill>
              </a:rPr>
              <a:t>5</a:t>
            </a:r>
            <a:endParaRPr lang="en-US" sz="1600" dirty="0"/>
          </a:p>
        </p:txBody>
      </p:sp>
      <p:sp>
        <p:nvSpPr>
          <p:cNvPr id="24" name="Text 22"/>
          <p:cNvSpPr txBox="1"/>
          <p:nvPr/>
        </p:nvSpPr>
        <p:spPr>
          <a:xfrm>
            <a:off x="960120" y="4279392"/>
            <a:ext cx="7955280" cy="347472"/>
          </a:xfrm>
          <a:prstGeom prst="rect">
            <a:avLst/>
          </a:prstGeom>
          <a:noFill/>
          <a:ln/>
        </p:spPr>
        <p:txBody>
          <a:bodyPr wrap="square" lIns="0" tIns="0" rIns="0" bIns="0" rtlCol="0" anchor="ctr"/>
          <a:lstStyle/>
          <a:p>
            <a:pPr marL="0" indent="0">
              <a:buNone/>
            </a:pPr>
            <a:r>
              <a:rPr lang="en-US" sz="1400" b="1" dirty="0">
                <a:solidFill>
                  <a:srgbClr val="1A2540"/>
                </a:solidFill>
                <a:latin typeface="Calibri" pitchFamily="34" charset="0"/>
                <a:ea typeface="Calibri" pitchFamily="34" charset="-122"/>
                <a:cs typeface="Calibri" pitchFamily="34" charset="-120"/>
              </a:rPr>
              <a:t>Click Save</a:t>
            </a:r>
            <a:endParaRPr lang="en-US" sz="1400" dirty="0"/>
          </a:p>
        </p:txBody>
      </p:sp>
      <p:sp>
        <p:nvSpPr>
          <p:cNvPr id="25" name="Text 23"/>
          <p:cNvSpPr txBox="1"/>
          <p:nvPr/>
        </p:nvSpPr>
        <p:spPr>
          <a:xfrm>
            <a:off x="960120" y="4626864"/>
            <a:ext cx="7955280" cy="310896"/>
          </a:xfrm>
          <a:prstGeom prst="rect">
            <a:avLst/>
          </a:prstGeom>
          <a:noFill/>
          <a:ln/>
        </p:spPr>
        <p:txBody>
          <a:bodyPr wrap="square" lIns="0" tIns="0" rIns="0" bIns="0" rtlCol="0" anchor="ctr"/>
          <a:lstStyle/>
          <a:p>
            <a:pPr marL="0" indent="0">
              <a:buNone/>
            </a:pPr>
            <a:r>
              <a:rPr lang="en-US" sz="1200" dirty="0">
                <a:solidFill>
                  <a:srgbClr val="4A5568"/>
                </a:solidFill>
                <a:latin typeface="Calibri" pitchFamily="34" charset="0"/>
                <a:ea typeface="Calibri" pitchFamily="34" charset="-122"/>
                <a:cs typeface="Calibri" pitchFamily="34" charset="-120"/>
              </a:rPr>
              <a:t>GitHub starts building. Wait ~2 minutes. Refresh the page to see your live URL.</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A2540"/>
          </a:solidFill>
          <a:ln/>
        </p:spPr>
      </p:sp>
      <p:sp>
        <p:nvSpPr>
          <p:cNvPr id="3" name="Shape 1"/>
          <p:cNvSpPr/>
          <p:nvPr/>
        </p:nvSpPr>
        <p:spPr>
          <a:xfrm>
            <a:off x="0" y="0"/>
            <a:ext cx="9144000" cy="109728"/>
          </a:xfrm>
          <a:prstGeom prst="rect">
            <a:avLst/>
          </a:prstGeom>
          <a:solidFill>
            <a:srgbClr val="F7DF1E"/>
          </a:solidFill>
          <a:ln/>
        </p:spPr>
      </p:sp>
      <p:sp>
        <p:nvSpPr>
          <p:cNvPr id="4" name="Text 2"/>
          <p:cNvSpPr txBox="1"/>
          <p:nvPr/>
        </p:nvSpPr>
        <p:spPr>
          <a:xfrm>
            <a:off x="365760" y="182880"/>
            <a:ext cx="8412480" cy="594360"/>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Your GitHub Pages URL</a:t>
            </a:r>
            <a:endParaRPr lang="en-US" sz="2600" dirty="0"/>
          </a:p>
        </p:txBody>
      </p:sp>
      <p:sp>
        <p:nvSpPr>
          <p:cNvPr id="5" name="Shape 3"/>
          <p:cNvSpPr/>
          <p:nvPr/>
        </p:nvSpPr>
        <p:spPr>
          <a:xfrm>
            <a:off x="365760" y="1005840"/>
            <a:ext cx="8412480" cy="1097280"/>
          </a:xfrm>
          <a:prstGeom prst="rect">
            <a:avLst/>
          </a:prstGeom>
          <a:solidFill>
            <a:srgbClr val="111827"/>
          </a:solidFill>
          <a:ln/>
        </p:spPr>
      </p:sp>
      <p:sp>
        <p:nvSpPr>
          <p:cNvPr id="6" name="Text 4"/>
          <p:cNvSpPr txBox="1"/>
          <p:nvPr/>
        </p:nvSpPr>
        <p:spPr>
          <a:xfrm>
            <a:off x="640080" y="1143000"/>
            <a:ext cx="1737360" cy="777240"/>
          </a:xfrm>
          <a:prstGeom prst="rect">
            <a:avLst/>
          </a:prstGeom>
          <a:noFill/>
          <a:ln/>
        </p:spPr>
        <p:txBody>
          <a:bodyPr wrap="square" lIns="0" tIns="0" rIns="0" bIns="0" rtlCol="0" anchor="ctr"/>
          <a:lstStyle/>
          <a:p>
            <a:pPr marL="0" indent="0" algn="l">
              <a:buNone/>
            </a:pPr>
            <a:r>
              <a:rPr lang="en-US" sz="2800" b="1" dirty="0">
                <a:solidFill>
                  <a:srgbClr val="F7DF1E"/>
                </a:solidFill>
                <a:latin typeface="Courier New" pitchFamily="34" charset="0"/>
                <a:ea typeface="Courier New" pitchFamily="34" charset="-122"/>
                <a:cs typeface="Courier New" pitchFamily="34" charset="-120"/>
              </a:rPr>
              <a:t>juma2024</a:t>
            </a:r>
            <a:endParaRPr lang="en-US" sz="2800" dirty="0"/>
          </a:p>
        </p:txBody>
      </p:sp>
      <p:sp>
        <p:nvSpPr>
          <p:cNvPr id="7" name="Text 5"/>
          <p:cNvSpPr txBox="1"/>
          <p:nvPr/>
        </p:nvSpPr>
        <p:spPr>
          <a:xfrm>
            <a:off x="2286000" y="1120255"/>
            <a:ext cx="2372436" cy="777240"/>
          </a:xfrm>
          <a:prstGeom prst="rect">
            <a:avLst/>
          </a:prstGeom>
          <a:noFill/>
          <a:ln/>
        </p:spPr>
        <p:txBody>
          <a:bodyPr wrap="square" lIns="0" tIns="0" rIns="0" bIns="0" rtlCol="0" anchor="ctr"/>
          <a:lstStyle/>
          <a:p>
            <a:pPr marL="0" indent="0" algn="l">
              <a:buNone/>
            </a:pPr>
            <a:r>
              <a:rPr lang="en-US" sz="2800" b="1" dirty="0">
                <a:solidFill>
                  <a:srgbClr val="FFFFFF"/>
                </a:solidFill>
                <a:latin typeface="Courier New" pitchFamily="34" charset="0"/>
                <a:ea typeface="Courier New" pitchFamily="34" charset="-122"/>
                <a:cs typeface="Courier New" pitchFamily="34" charset="-120"/>
              </a:rPr>
              <a:t>.github.io/</a:t>
            </a:r>
            <a:endParaRPr lang="en-US" sz="2800" dirty="0"/>
          </a:p>
        </p:txBody>
      </p:sp>
      <p:sp>
        <p:nvSpPr>
          <p:cNvPr id="8" name="Text 6"/>
          <p:cNvSpPr txBox="1"/>
          <p:nvPr/>
        </p:nvSpPr>
        <p:spPr>
          <a:xfrm>
            <a:off x="4658436" y="1134357"/>
            <a:ext cx="3651231" cy="777240"/>
          </a:xfrm>
          <a:prstGeom prst="rect">
            <a:avLst/>
          </a:prstGeom>
          <a:noFill/>
          <a:ln/>
        </p:spPr>
        <p:txBody>
          <a:bodyPr wrap="square" lIns="0" tIns="0" rIns="0" bIns="0" rtlCol="0" anchor="ctr"/>
          <a:lstStyle/>
          <a:p>
            <a:pPr marL="0" indent="0" algn="l">
              <a:buNone/>
            </a:pPr>
            <a:r>
              <a:rPr lang="en-US" sz="2800" b="1" dirty="0">
                <a:solidFill>
                  <a:srgbClr val="64FFDA"/>
                </a:solidFill>
                <a:latin typeface="Courier New" pitchFamily="34" charset="0"/>
                <a:ea typeface="Courier New" pitchFamily="34" charset="-122"/>
                <a:cs typeface="Courier New" pitchFamily="34" charset="-120"/>
              </a:rPr>
              <a:t>book-search-app</a:t>
            </a:r>
            <a:endParaRPr lang="en-US" sz="2800" dirty="0"/>
          </a:p>
        </p:txBody>
      </p:sp>
      <p:sp>
        <p:nvSpPr>
          <p:cNvPr id="9" name="Shape 7"/>
          <p:cNvSpPr/>
          <p:nvPr/>
        </p:nvSpPr>
        <p:spPr>
          <a:xfrm>
            <a:off x="685800" y="2194560"/>
            <a:ext cx="1554480" cy="36576"/>
          </a:xfrm>
          <a:prstGeom prst="rect">
            <a:avLst/>
          </a:prstGeom>
          <a:solidFill>
            <a:srgbClr val="F7DF1E"/>
          </a:solidFill>
          <a:ln/>
        </p:spPr>
      </p:sp>
      <p:sp>
        <p:nvSpPr>
          <p:cNvPr id="10" name="Text 8"/>
          <p:cNvSpPr txBox="1"/>
          <p:nvPr/>
        </p:nvSpPr>
        <p:spPr>
          <a:xfrm>
            <a:off x="640080" y="2304288"/>
            <a:ext cx="1645920" cy="502920"/>
          </a:xfrm>
          <a:prstGeom prst="rect">
            <a:avLst/>
          </a:prstGeom>
          <a:noFill/>
          <a:ln/>
        </p:spPr>
        <p:txBody>
          <a:bodyPr wrap="square" lIns="0" tIns="0" rIns="0" bIns="0" rtlCol="0" anchor="ctr"/>
          <a:lstStyle/>
          <a:p>
            <a:pPr marL="0" indent="0" algn="ctr">
              <a:buNone/>
            </a:pPr>
            <a:r>
              <a:rPr lang="en-US" sz="1100" dirty="0">
                <a:solidFill>
                  <a:srgbClr val="F7DF1E"/>
                </a:solidFill>
                <a:latin typeface="Calibri" pitchFamily="34" charset="0"/>
                <a:ea typeface="Calibri" pitchFamily="34" charset="-122"/>
                <a:cs typeface="Calibri" pitchFamily="34" charset="-120"/>
              </a:rPr>
              <a:t>Your GitHub</a:t>
            </a:r>
            <a:endParaRPr lang="en-US" sz="1100" dirty="0"/>
          </a:p>
          <a:p>
            <a:pPr marL="0" indent="0" algn="ctr">
              <a:buNone/>
            </a:pPr>
            <a:r>
              <a:rPr lang="en-US" sz="1100" dirty="0">
                <a:solidFill>
                  <a:srgbClr val="F7DF1E"/>
                </a:solidFill>
                <a:latin typeface="Calibri" pitchFamily="34" charset="0"/>
                <a:ea typeface="Calibri" pitchFamily="34" charset="-122"/>
                <a:cs typeface="Calibri" pitchFamily="34" charset="-120"/>
              </a:rPr>
              <a:t>username</a:t>
            </a:r>
            <a:endParaRPr lang="en-US" sz="1100" dirty="0"/>
          </a:p>
        </p:txBody>
      </p:sp>
      <p:sp>
        <p:nvSpPr>
          <p:cNvPr id="11" name="Shape 9"/>
          <p:cNvSpPr/>
          <p:nvPr/>
        </p:nvSpPr>
        <p:spPr>
          <a:xfrm>
            <a:off x="2331720" y="2194560"/>
            <a:ext cx="1645920" cy="36576"/>
          </a:xfrm>
          <a:prstGeom prst="rect">
            <a:avLst/>
          </a:prstGeom>
          <a:solidFill>
            <a:srgbClr val="FFFFFF"/>
          </a:solidFill>
          <a:ln/>
        </p:spPr>
      </p:sp>
      <p:sp>
        <p:nvSpPr>
          <p:cNvPr id="12" name="Text 10"/>
          <p:cNvSpPr txBox="1"/>
          <p:nvPr/>
        </p:nvSpPr>
        <p:spPr>
          <a:xfrm>
            <a:off x="2286000" y="2304288"/>
            <a:ext cx="1737360" cy="502920"/>
          </a:xfrm>
          <a:prstGeom prst="rect">
            <a:avLst/>
          </a:prstGeom>
          <a:noFill/>
          <a:ln/>
        </p:spPr>
        <p:txBody>
          <a:bodyPr wrap="square" lIns="0" tIns="0" rIns="0" bIns="0"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GitHub Pages</a:t>
            </a:r>
            <a:endParaRPr lang="en-US" sz="1100" dirty="0"/>
          </a:p>
          <a:p>
            <a:pPr marL="0" indent="0" algn="ctr">
              <a:buNone/>
            </a:pPr>
            <a:r>
              <a:rPr lang="en-US" sz="1100" dirty="0">
                <a:solidFill>
                  <a:srgbClr val="FFFFFF"/>
                </a:solidFill>
                <a:latin typeface="Calibri" pitchFamily="34" charset="0"/>
                <a:ea typeface="Calibri" pitchFamily="34" charset="-122"/>
                <a:cs typeface="Calibri" pitchFamily="34" charset="-120"/>
              </a:rPr>
              <a:t>domain</a:t>
            </a:r>
            <a:endParaRPr lang="en-US" sz="1100" dirty="0"/>
          </a:p>
        </p:txBody>
      </p:sp>
      <p:sp>
        <p:nvSpPr>
          <p:cNvPr id="13" name="Shape 11"/>
          <p:cNvSpPr/>
          <p:nvPr/>
        </p:nvSpPr>
        <p:spPr>
          <a:xfrm>
            <a:off x="4069080" y="2194560"/>
            <a:ext cx="2194560" cy="36576"/>
          </a:xfrm>
          <a:prstGeom prst="rect">
            <a:avLst/>
          </a:prstGeom>
          <a:solidFill>
            <a:srgbClr val="64FFDA"/>
          </a:solidFill>
          <a:ln/>
        </p:spPr>
      </p:sp>
      <p:sp>
        <p:nvSpPr>
          <p:cNvPr id="14" name="Text 12"/>
          <p:cNvSpPr txBox="1"/>
          <p:nvPr/>
        </p:nvSpPr>
        <p:spPr>
          <a:xfrm>
            <a:off x="4023360" y="2304288"/>
            <a:ext cx="2286000" cy="502920"/>
          </a:xfrm>
          <a:prstGeom prst="rect">
            <a:avLst/>
          </a:prstGeom>
          <a:noFill/>
          <a:ln/>
        </p:spPr>
        <p:txBody>
          <a:bodyPr wrap="square" lIns="0" tIns="0" rIns="0" bIns="0" rtlCol="0" anchor="ctr"/>
          <a:lstStyle/>
          <a:p>
            <a:pPr marL="0" indent="0" algn="ctr">
              <a:buNone/>
            </a:pPr>
            <a:r>
              <a:rPr lang="en-US" sz="1100" dirty="0">
                <a:solidFill>
                  <a:srgbClr val="64FFDA"/>
                </a:solidFill>
                <a:latin typeface="Calibri" pitchFamily="34" charset="0"/>
                <a:ea typeface="Calibri" pitchFamily="34" charset="-122"/>
                <a:cs typeface="Calibri" pitchFamily="34" charset="-120"/>
              </a:rPr>
              <a:t>Your repository</a:t>
            </a:r>
            <a:endParaRPr lang="en-US" sz="1100" dirty="0"/>
          </a:p>
          <a:p>
            <a:pPr marL="0" indent="0" algn="ctr">
              <a:buNone/>
            </a:pPr>
            <a:r>
              <a:rPr lang="en-US" sz="1100" dirty="0">
                <a:solidFill>
                  <a:srgbClr val="64FFDA"/>
                </a:solidFill>
                <a:latin typeface="Calibri" pitchFamily="34" charset="0"/>
                <a:ea typeface="Calibri" pitchFamily="34" charset="-122"/>
                <a:cs typeface="Calibri" pitchFamily="34" charset="-120"/>
              </a:rPr>
              <a:t>name (exact match)</a:t>
            </a:r>
            <a:endParaRPr lang="en-US" sz="1100" dirty="0"/>
          </a:p>
        </p:txBody>
      </p:sp>
      <p:sp>
        <p:nvSpPr>
          <p:cNvPr id="15" name="Shape 13"/>
          <p:cNvSpPr/>
          <p:nvPr/>
        </p:nvSpPr>
        <p:spPr>
          <a:xfrm>
            <a:off x="365760" y="3017520"/>
            <a:ext cx="8412480" cy="548640"/>
          </a:xfrm>
          <a:prstGeom prst="rect">
            <a:avLst/>
          </a:prstGeom>
          <a:solidFill>
            <a:srgbClr val="1E3060"/>
          </a:solidFill>
          <a:ln/>
        </p:spPr>
      </p:sp>
      <p:sp>
        <p:nvSpPr>
          <p:cNvPr id="16" name="Text 14"/>
          <p:cNvSpPr txBox="1"/>
          <p:nvPr/>
        </p:nvSpPr>
        <p:spPr>
          <a:xfrm>
            <a:off x="502920" y="3063240"/>
            <a:ext cx="8229600" cy="457200"/>
          </a:xfrm>
          <a:prstGeom prst="rect">
            <a:avLst/>
          </a:prstGeom>
          <a:noFill/>
          <a:ln/>
        </p:spPr>
        <p:txBody>
          <a:bodyPr wrap="square" lIns="0" tIns="0" rIns="0" bIns="0" rtlCol="0" anchor="ctr"/>
          <a:lstStyle/>
          <a:p>
            <a:pPr marL="0" indent="0">
              <a:buNone/>
            </a:pPr>
            <a:r>
              <a:rPr lang="en-US" sz="1300" dirty="0">
                <a:solidFill>
                  <a:srgbClr val="8892B0"/>
                </a:solidFill>
                <a:latin typeface="Calibri" pitchFamily="34" charset="0"/>
                <a:ea typeface="Calibri" pitchFamily="34" charset="-122"/>
                <a:cs typeface="Calibri" pitchFamily="34" charset="-120"/>
              </a:rPr>
              <a:t>⚠️  Repo name must be lowercase and use hyphens — spaces are not allowed</a:t>
            </a:r>
            <a:endParaRPr lang="en-US" sz="1300" dirty="0"/>
          </a:p>
        </p:txBody>
      </p:sp>
      <p:sp>
        <p:nvSpPr>
          <p:cNvPr id="17" name="Shape 15"/>
          <p:cNvSpPr/>
          <p:nvPr/>
        </p:nvSpPr>
        <p:spPr>
          <a:xfrm>
            <a:off x="365760" y="3657600"/>
            <a:ext cx="8412480" cy="548640"/>
          </a:xfrm>
          <a:prstGeom prst="rect">
            <a:avLst/>
          </a:prstGeom>
          <a:solidFill>
            <a:srgbClr val="1E3060"/>
          </a:solidFill>
          <a:ln/>
        </p:spPr>
      </p:sp>
      <p:sp>
        <p:nvSpPr>
          <p:cNvPr id="18" name="Text 16"/>
          <p:cNvSpPr txBox="1"/>
          <p:nvPr/>
        </p:nvSpPr>
        <p:spPr>
          <a:xfrm>
            <a:off x="502920" y="3703320"/>
            <a:ext cx="8229600" cy="457200"/>
          </a:xfrm>
          <a:prstGeom prst="rect">
            <a:avLst/>
          </a:prstGeom>
          <a:noFill/>
          <a:ln/>
        </p:spPr>
        <p:txBody>
          <a:bodyPr wrap="square" lIns="0" tIns="0" rIns="0" bIns="0" rtlCol="0" anchor="ctr"/>
          <a:lstStyle/>
          <a:p>
            <a:pPr marL="0" indent="0">
              <a:buNone/>
            </a:pPr>
            <a:r>
              <a:rPr lang="en-US" sz="1300" dirty="0">
                <a:solidFill>
                  <a:srgbClr val="8892B0"/>
                </a:solidFill>
                <a:latin typeface="Calibri" pitchFamily="34" charset="0"/>
                <a:ea typeface="Calibri" pitchFamily="34" charset="-122"/>
                <a:cs typeface="Calibri" pitchFamily="34" charset="-120"/>
              </a:rPr>
              <a:t>✅  The EXACT repo name becomes part of your URL — rename carefully</a:t>
            </a:r>
            <a:endParaRPr lang="en-US" sz="1300" dirty="0"/>
          </a:p>
        </p:txBody>
      </p:sp>
      <p:sp>
        <p:nvSpPr>
          <p:cNvPr id="19" name="Shape 17"/>
          <p:cNvSpPr/>
          <p:nvPr/>
        </p:nvSpPr>
        <p:spPr>
          <a:xfrm>
            <a:off x="365760" y="4297680"/>
            <a:ext cx="8412480" cy="548640"/>
          </a:xfrm>
          <a:prstGeom prst="rect">
            <a:avLst/>
          </a:prstGeom>
          <a:solidFill>
            <a:srgbClr val="1E3060"/>
          </a:solidFill>
          <a:ln/>
        </p:spPr>
      </p:sp>
      <p:sp>
        <p:nvSpPr>
          <p:cNvPr id="20" name="Text 18"/>
          <p:cNvSpPr txBox="1"/>
          <p:nvPr/>
        </p:nvSpPr>
        <p:spPr>
          <a:xfrm>
            <a:off x="502920" y="4343400"/>
            <a:ext cx="8229600" cy="457200"/>
          </a:xfrm>
          <a:prstGeom prst="rect">
            <a:avLst/>
          </a:prstGeom>
          <a:noFill/>
          <a:ln/>
        </p:spPr>
        <p:txBody>
          <a:bodyPr wrap="square" lIns="0" tIns="0" rIns="0" bIns="0" rtlCol="0" anchor="ctr"/>
          <a:lstStyle/>
          <a:p>
            <a:pPr marL="0" indent="0">
              <a:buNone/>
            </a:pPr>
            <a:r>
              <a:rPr lang="en-US" sz="1300" dirty="0">
                <a:solidFill>
                  <a:srgbClr val="8892B0"/>
                </a:solidFill>
                <a:latin typeface="Calibri" pitchFamily="34" charset="0"/>
                <a:ea typeface="Calibri" pitchFamily="34" charset="-122"/>
                <a:cs typeface="Calibri" pitchFamily="34" charset="-120"/>
              </a:rPr>
              <a:t>📁  index.html must be in the ROOT folder of your repo (not in /src or /public)</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4FF"/>
          </a:solidFill>
          <a:ln/>
        </p:spPr>
      </p:sp>
      <p:sp>
        <p:nvSpPr>
          <p:cNvPr id="3" name="Text 1"/>
          <p:cNvSpPr txBox="1"/>
          <p:nvPr/>
        </p:nvSpPr>
        <p:spPr>
          <a:xfrm>
            <a:off x="365760" y="182880"/>
            <a:ext cx="8412480" cy="594360"/>
          </a:xfrm>
          <a:prstGeom prst="rect">
            <a:avLst/>
          </a:prstGeom>
          <a:noFill/>
          <a:ln/>
        </p:spPr>
        <p:txBody>
          <a:bodyPr wrap="square" lIns="0" tIns="0" rIns="0" bIns="0" rtlCol="0" anchor="ctr"/>
          <a:lstStyle/>
          <a:p>
            <a:pPr marL="0" indent="0">
              <a:buNone/>
            </a:pPr>
            <a:r>
              <a:rPr lang="en-US" sz="2600" b="1" dirty="0">
                <a:solidFill>
                  <a:srgbClr val="1A2540"/>
                </a:solidFill>
                <a:latin typeface="Calibri" pitchFamily="34" charset="0"/>
                <a:ea typeface="Calibri" pitchFamily="34" charset="-122"/>
                <a:cs typeface="Calibri" pitchFamily="34" charset="-120"/>
              </a:rPr>
              <a:t>Static vs Dynamic — What Works?</a:t>
            </a:r>
            <a:endParaRPr lang="en-US" sz="2600" dirty="0"/>
          </a:p>
        </p:txBody>
      </p:sp>
      <p:sp>
        <p:nvSpPr>
          <p:cNvPr id="4" name="Shape 2"/>
          <p:cNvSpPr/>
          <p:nvPr/>
        </p:nvSpPr>
        <p:spPr>
          <a:xfrm>
            <a:off x="365760" y="914400"/>
            <a:ext cx="3931920" cy="502920"/>
          </a:xfrm>
          <a:prstGeom prst="rect">
            <a:avLst/>
          </a:prstGeom>
          <a:solidFill>
            <a:srgbClr val="00C896"/>
          </a:solidFill>
          <a:ln/>
        </p:spPr>
      </p:sp>
      <p:sp>
        <p:nvSpPr>
          <p:cNvPr id="5" name="Text 3"/>
          <p:cNvSpPr txBox="1"/>
          <p:nvPr/>
        </p:nvSpPr>
        <p:spPr>
          <a:xfrm>
            <a:off x="365760" y="914400"/>
            <a:ext cx="3931920" cy="502920"/>
          </a:xfrm>
          <a:prstGeom prst="rect">
            <a:avLst/>
          </a:prstGeom>
          <a:noFill/>
          <a:ln/>
        </p:spPr>
        <p:txBody>
          <a:bodyPr wrap="square" lIns="0" tIns="0" rIns="0" bIns="0" rtlCol="0" anchor="ctr"/>
          <a:lstStyle/>
          <a:p>
            <a:pPr marL="0" indent="0" algn="ctr">
              <a:buNone/>
            </a:pPr>
            <a:r>
              <a:rPr lang="en-US" sz="1500" b="1" dirty="0">
                <a:solidFill>
                  <a:srgbClr val="1A2540"/>
                </a:solidFill>
                <a:latin typeface="Calibri" pitchFamily="34" charset="0"/>
                <a:ea typeface="Calibri" pitchFamily="34" charset="-122"/>
                <a:cs typeface="Calibri" pitchFamily="34" charset="-120"/>
              </a:rPr>
              <a:t>✅  Works on GitHub Pages</a:t>
            </a:r>
            <a:endParaRPr lang="en-US" sz="1500" dirty="0"/>
          </a:p>
        </p:txBody>
      </p:sp>
      <p:sp>
        <p:nvSpPr>
          <p:cNvPr id="6" name="Shape 4"/>
          <p:cNvSpPr/>
          <p:nvPr/>
        </p:nvSpPr>
        <p:spPr>
          <a:xfrm>
            <a:off x="365760" y="1463040"/>
            <a:ext cx="3931920" cy="402336"/>
          </a:xfrm>
          <a:prstGeom prst="rect">
            <a:avLst/>
          </a:prstGeom>
          <a:solidFill>
            <a:srgbClr val="E8F8F2"/>
          </a:solidFill>
          <a:ln/>
        </p:spPr>
      </p:sp>
      <p:sp>
        <p:nvSpPr>
          <p:cNvPr id="7" name="Text 5"/>
          <p:cNvSpPr txBox="1"/>
          <p:nvPr/>
        </p:nvSpPr>
        <p:spPr>
          <a:xfrm>
            <a:off x="502920" y="1490472"/>
            <a:ext cx="3657600" cy="347472"/>
          </a:xfrm>
          <a:prstGeom prst="rect">
            <a:avLst/>
          </a:prstGeom>
          <a:noFill/>
          <a:ln/>
        </p:spPr>
        <p:txBody>
          <a:bodyPr wrap="square" lIns="0" tIns="0" rIns="0" bIns="0" rtlCol="0" anchor="ctr"/>
          <a:lstStyle/>
          <a:p>
            <a:pPr marL="0" indent="0">
              <a:buNone/>
            </a:pPr>
            <a:r>
              <a:rPr lang="en-US" sz="1200" dirty="0">
                <a:solidFill>
                  <a:srgbClr val="4A5568"/>
                </a:solidFill>
                <a:latin typeface="Calibri" pitchFamily="34" charset="0"/>
                <a:ea typeface="Calibri" pitchFamily="34" charset="-122"/>
                <a:cs typeface="Calibri" pitchFamily="34" charset="-120"/>
              </a:rPr>
              <a:t>✓  HTML files (.html)</a:t>
            </a:r>
            <a:endParaRPr lang="en-US" sz="1200" dirty="0"/>
          </a:p>
        </p:txBody>
      </p:sp>
      <p:sp>
        <p:nvSpPr>
          <p:cNvPr id="8" name="Shape 6"/>
          <p:cNvSpPr/>
          <p:nvPr/>
        </p:nvSpPr>
        <p:spPr>
          <a:xfrm>
            <a:off x="365760" y="1901952"/>
            <a:ext cx="3931920" cy="402336"/>
          </a:xfrm>
          <a:prstGeom prst="rect">
            <a:avLst/>
          </a:prstGeom>
          <a:solidFill>
            <a:srgbClr val="FFFFFF"/>
          </a:solidFill>
          <a:ln/>
        </p:spPr>
      </p:sp>
      <p:sp>
        <p:nvSpPr>
          <p:cNvPr id="9" name="Text 7"/>
          <p:cNvSpPr txBox="1"/>
          <p:nvPr/>
        </p:nvSpPr>
        <p:spPr>
          <a:xfrm>
            <a:off x="502920" y="1929384"/>
            <a:ext cx="3657600" cy="347472"/>
          </a:xfrm>
          <a:prstGeom prst="rect">
            <a:avLst/>
          </a:prstGeom>
          <a:noFill/>
          <a:ln/>
        </p:spPr>
        <p:txBody>
          <a:bodyPr wrap="square" lIns="0" tIns="0" rIns="0" bIns="0" rtlCol="0" anchor="ctr"/>
          <a:lstStyle/>
          <a:p>
            <a:pPr marL="0" indent="0">
              <a:buNone/>
            </a:pPr>
            <a:r>
              <a:rPr lang="en-US" sz="1200" dirty="0">
                <a:solidFill>
                  <a:srgbClr val="4A5568"/>
                </a:solidFill>
                <a:latin typeface="Calibri" pitchFamily="34" charset="0"/>
                <a:ea typeface="Calibri" pitchFamily="34" charset="-122"/>
                <a:cs typeface="Calibri" pitchFamily="34" charset="-120"/>
              </a:rPr>
              <a:t>✓  CSS stylesheets (.css)</a:t>
            </a:r>
            <a:endParaRPr lang="en-US" sz="1200" dirty="0"/>
          </a:p>
        </p:txBody>
      </p:sp>
      <p:sp>
        <p:nvSpPr>
          <p:cNvPr id="10" name="Shape 8"/>
          <p:cNvSpPr/>
          <p:nvPr/>
        </p:nvSpPr>
        <p:spPr>
          <a:xfrm>
            <a:off x="365760" y="2340864"/>
            <a:ext cx="3931920" cy="402336"/>
          </a:xfrm>
          <a:prstGeom prst="rect">
            <a:avLst/>
          </a:prstGeom>
          <a:solidFill>
            <a:srgbClr val="E8F8F2"/>
          </a:solidFill>
          <a:ln/>
        </p:spPr>
      </p:sp>
      <p:sp>
        <p:nvSpPr>
          <p:cNvPr id="11" name="Text 9"/>
          <p:cNvSpPr txBox="1"/>
          <p:nvPr/>
        </p:nvSpPr>
        <p:spPr>
          <a:xfrm>
            <a:off x="502920" y="2368296"/>
            <a:ext cx="3657600" cy="347472"/>
          </a:xfrm>
          <a:prstGeom prst="rect">
            <a:avLst/>
          </a:prstGeom>
          <a:noFill/>
          <a:ln/>
        </p:spPr>
        <p:txBody>
          <a:bodyPr wrap="square" lIns="0" tIns="0" rIns="0" bIns="0" rtlCol="0" anchor="ctr"/>
          <a:lstStyle/>
          <a:p>
            <a:pPr marL="0" indent="0">
              <a:buNone/>
            </a:pPr>
            <a:r>
              <a:rPr lang="en-US" sz="1200" dirty="0">
                <a:solidFill>
                  <a:srgbClr val="4A5568"/>
                </a:solidFill>
                <a:latin typeface="Calibri" pitchFamily="34" charset="0"/>
                <a:ea typeface="Calibri" pitchFamily="34" charset="-122"/>
                <a:cs typeface="Calibri" pitchFamily="34" charset="-120"/>
              </a:rPr>
              <a:t>✓  JavaScript files (.js)</a:t>
            </a:r>
            <a:endParaRPr lang="en-US" sz="1200" dirty="0"/>
          </a:p>
        </p:txBody>
      </p:sp>
      <p:sp>
        <p:nvSpPr>
          <p:cNvPr id="12" name="Shape 10"/>
          <p:cNvSpPr/>
          <p:nvPr/>
        </p:nvSpPr>
        <p:spPr>
          <a:xfrm>
            <a:off x="365760" y="2779776"/>
            <a:ext cx="3931920" cy="402336"/>
          </a:xfrm>
          <a:prstGeom prst="rect">
            <a:avLst/>
          </a:prstGeom>
          <a:solidFill>
            <a:srgbClr val="FFFFFF"/>
          </a:solidFill>
          <a:ln/>
        </p:spPr>
      </p:sp>
      <p:sp>
        <p:nvSpPr>
          <p:cNvPr id="13" name="Text 11"/>
          <p:cNvSpPr txBox="1"/>
          <p:nvPr/>
        </p:nvSpPr>
        <p:spPr>
          <a:xfrm>
            <a:off x="502920" y="2807208"/>
            <a:ext cx="3657600" cy="347472"/>
          </a:xfrm>
          <a:prstGeom prst="rect">
            <a:avLst/>
          </a:prstGeom>
          <a:noFill/>
          <a:ln/>
        </p:spPr>
        <p:txBody>
          <a:bodyPr wrap="square" lIns="0" tIns="0" rIns="0" bIns="0" rtlCol="0" anchor="ctr"/>
          <a:lstStyle/>
          <a:p>
            <a:pPr marL="0" indent="0">
              <a:buNone/>
            </a:pPr>
            <a:r>
              <a:rPr lang="en-US" sz="1200" dirty="0">
                <a:solidFill>
                  <a:srgbClr val="4A5568"/>
                </a:solidFill>
                <a:latin typeface="Calibri" pitchFamily="34" charset="0"/>
                <a:ea typeface="Calibri" pitchFamily="34" charset="-122"/>
                <a:cs typeface="Calibri" pitchFamily="34" charset="-120"/>
              </a:rPr>
              <a:t>✓  Images (PNG, JPG, SVG)</a:t>
            </a:r>
            <a:endParaRPr lang="en-US" sz="1200" dirty="0"/>
          </a:p>
        </p:txBody>
      </p:sp>
      <p:sp>
        <p:nvSpPr>
          <p:cNvPr id="14" name="Shape 12"/>
          <p:cNvSpPr/>
          <p:nvPr/>
        </p:nvSpPr>
        <p:spPr>
          <a:xfrm>
            <a:off x="365760" y="3218688"/>
            <a:ext cx="3931920" cy="402336"/>
          </a:xfrm>
          <a:prstGeom prst="rect">
            <a:avLst/>
          </a:prstGeom>
          <a:solidFill>
            <a:srgbClr val="E8F8F2"/>
          </a:solidFill>
          <a:ln/>
        </p:spPr>
      </p:sp>
      <p:sp>
        <p:nvSpPr>
          <p:cNvPr id="15" name="Text 13"/>
          <p:cNvSpPr txBox="1"/>
          <p:nvPr/>
        </p:nvSpPr>
        <p:spPr>
          <a:xfrm>
            <a:off x="502920" y="3246120"/>
            <a:ext cx="3657600" cy="347472"/>
          </a:xfrm>
          <a:prstGeom prst="rect">
            <a:avLst/>
          </a:prstGeom>
          <a:noFill/>
          <a:ln/>
        </p:spPr>
        <p:txBody>
          <a:bodyPr wrap="square" lIns="0" tIns="0" rIns="0" bIns="0" rtlCol="0" anchor="ctr"/>
          <a:lstStyle/>
          <a:p>
            <a:pPr marL="0" indent="0">
              <a:buNone/>
            </a:pPr>
            <a:r>
              <a:rPr lang="en-US" sz="1200" dirty="0">
                <a:solidFill>
                  <a:srgbClr val="4A5568"/>
                </a:solidFill>
                <a:latin typeface="Calibri" pitchFamily="34" charset="0"/>
                <a:ea typeface="Calibri" pitchFamily="34" charset="-122"/>
                <a:cs typeface="Calibri" pitchFamily="34" charset="-120"/>
              </a:rPr>
              <a:t>✓  JSON data files</a:t>
            </a:r>
            <a:endParaRPr lang="en-US" sz="1200" dirty="0"/>
          </a:p>
        </p:txBody>
      </p:sp>
      <p:sp>
        <p:nvSpPr>
          <p:cNvPr id="16" name="Shape 14"/>
          <p:cNvSpPr/>
          <p:nvPr/>
        </p:nvSpPr>
        <p:spPr>
          <a:xfrm>
            <a:off x="365760" y="3657600"/>
            <a:ext cx="3931920" cy="402336"/>
          </a:xfrm>
          <a:prstGeom prst="rect">
            <a:avLst/>
          </a:prstGeom>
          <a:solidFill>
            <a:srgbClr val="FFFFFF"/>
          </a:solidFill>
          <a:ln/>
        </p:spPr>
      </p:sp>
      <p:sp>
        <p:nvSpPr>
          <p:cNvPr id="17" name="Text 15"/>
          <p:cNvSpPr txBox="1"/>
          <p:nvPr/>
        </p:nvSpPr>
        <p:spPr>
          <a:xfrm>
            <a:off x="502920" y="3685032"/>
            <a:ext cx="3657600" cy="347472"/>
          </a:xfrm>
          <a:prstGeom prst="rect">
            <a:avLst/>
          </a:prstGeom>
          <a:noFill/>
          <a:ln/>
        </p:spPr>
        <p:txBody>
          <a:bodyPr wrap="square" lIns="0" tIns="0" rIns="0" bIns="0" rtlCol="0" anchor="ctr"/>
          <a:lstStyle/>
          <a:p>
            <a:pPr marL="0" indent="0">
              <a:buNone/>
            </a:pPr>
            <a:r>
              <a:rPr lang="en-US" sz="1200" dirty="0">
                <a:solidFill>
                  <a:srgbClr val="4A5568"/>
                </a:solidFill>
                <a:latin typeface="Calibri" pitchFamily="34" charset="0"/>
                <a:ea typeface="Calibri" pitchFamily="34" charset="-122"/>
                <a:cs typeface="Calibri" pitchFamily="34" charset="-120"/>
              </a:rPr>
              <a:t>✓  Web fonts</a:t>
            </a:r>
            <a:endParaRPr lang="en-US" sz="1200" dirty="0"/>
          </a:p>
        </p:txBody>
      </p:sp>
      <p:sp>
        <p:nvSpPr>
          <p:cNvPr id="18" name="Shape 16"/>
          <p:cNvSpPr/>
          <p:nvPr/>
        </p:nvSpPr>
        <p:spPr>
          <a:xfrm>
            <a:off x="365760" y="4096512"/>
            <a:ext cx="3931920" cy="402336"/>
          </a:xfrm>
          <a:prstGeom prst="rect">
            <a:avLst/>
          </a:prstGeom>
          <a:solidFill>
            <a:srgbClr val="E8F8F2"/>
          </a:solidFill>
          <a:ln/>
        </p:spPr>
      </p:sp>
      <p:sp>
        <p:nvSpPr>
          <p:cNvPr id="19" name="Text 17"/>
          <p:cNvSpPr txBox="1"/>
          <p:nvPr/>
        </p:nvSpPr>
        <p:spPr>
          <a:xfrm>
            <a:off x="502920" y="4123944"/>
            <a:ext cx="3657600" cy="347472"/>
          </a:xfrm>
          <a:prstGeom prst="rect">
            <a:avLst/>
          </a:prstGeom>
          <a:noFill/>
          <a:ln/>
        </p:spPr>
        <p:txBody>
          <a:bodyPr wrap="square" lIns="0" tIns="0" rIns="0" bIns="0" rtlCol="0" anchor="ctr"/>
          <a:lstStyle/>
          <a:p>
            <a:pPr marL="0" indent="0">
              <a:buNone/>
            </a:pPr>
            <a:r>
              <a:rPr lang="en-US" sz="1200" dirty="0">
                <a:solidFill>
                  <a:srgbClr val="4A5568"/>
                </a:solidFill>
                <a:latin typeface="Calibri" pitchFamily="34" charset="0"/>
                <a:ea typeface="Calibri" pitchFamily="34" charset="-122"/>
                <a:cs typeface="Calibri" pitchFamily="34" charset="-120"/>
              </a:rPr>
              <a:t>✓  Client-side frameworks (React, Vue with build step)</a:t>
            </a:r>
            <a:endParaRPr lang="en-US" sz="1200" dirty="0"/>
          </a:p>
        </p:txBody>
      </p:sp>
      <p:sp>
        <p:nvSpPr>
          <p:cNvPr id="20" name="Shape 18"/>
          <p:cNvSpPr/>
          <p:nvPr/>
        </p:nvSpPr>
        <p:spPr>
          <a:xfrm>
            <a:off x="365760" y="4535424"/>
            <a:ext cx="3931920" cy="402336"/>
          </a:xfrm>
          <a:prstGeom prst="rect">
            <a:avLst/>
          </a:prstGeom>
          <a:solidFill>
            <a:srgbClr val="FFFFFF"/>
          </a:solidFill>
          <a:ln/>
        </p:spPr>
      </p:sp>
      <p:sp>
        <p:nvSpPr>
          <p:cNvPr id="21" name="Text 19"/>
          <p:cNvSpPr txBox="1"/>
          <p:nvPr/>
        </p:nvSpPr>
        <p:spPr>
          <a:xfrm>
            <a:off x="502920" y="4562856"/>
            <a:ext cx="3657600" cy="347472"/>
          </a:xfrm>
          <a:prstGeom prst="rect">
            <a:avLst/>
          </a:prstGeom>
          <a:noFill/>
          <a:ln/>
        </p:spPr>
        <p:txBody>
          <a:bodyPr wrap="square" lIns="0" tIns="0" rIns="0" bIns="0" rtlCol="0" anchor="ctr"/>
          <a:lstStyle/>
          <a:p>
            <a:pPr marL="0" indent="0">
              <a:buNone/>
            </a:pPr>
            <a:r>
              <a:rPr lang="en-US" sz="1200" dirty="0">
                <a:solidFill>
                  <a:srgbClr val="4A5568"/>
                </a:solidFill>
                <a:latin typeface="Calibri" pitchFamily="34" charset="0"/>
                <a:ea typeface="Calibri" pitchFamily="34" charset="-122"/>
                <a:cs typeface="Calibri" pitchFamily="34" charset="-120"/>
              </a:rPr>
              <a:t>✓  Fetch requests to external APIs</a:t>
            </a:r>
            <a:endParaRPr lang="en-US" sz="1200" dirty="0"/>
          </a:p>
        </p:txBody>
      </p:sp>
      <p:sp>
        <p:nvSpPr>
          <p:cNvPr id="22" name="Shape 20"/>
          <p:cNvSpPr/>
          <p:nvPr/>
        </p:nvSpPr>
        <p:spPr>
          <a:xfrm>
            <a:off x="4846320" y="914400"/>
            <a:ext cx="3931920" cy="502920"/>
          </a:xfrm>
          <a:prstGeom prst="rect">
            <a:avLst/>
          </a:prstGeom>
          <a:solidFill>
            <a:srgbClr val="E06C75"/>
          </a:solidFill>
          <a:ln/>
        </p:spPr>
      </p:sp>
      <p:sp>
        <p:nvSpPr>
          <p:cNvPr id="23" name="Text 21"/>
          <p:cNvSpPr txBox="1"/>
          <p:nvPr/>
        </p:nvSpPr>
        <p:spPr>
          <a:xfrm>
            <a:off x="4846320" y="914400"/>
            <a:ext cx="3931920" cy="50292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  Does NOT Work</a:t>
            </a:r>
            <a:endParaRPr lang="en-US" sz="1500" dirty="0"/>
          </a:p>
        </p:txBody>
      </p:sp>
      <p:sp>
        <p:nvSpPr>
          <p:cNvPr id="24" name="Shape 22"/>
          <p:cNvSpPr/>
          <p:nvPr/>
        </p:nvSpPr>
        <p:spPr>
          <a:xfrm>
            <a:off x="4846320" y="1463040"/>
            <a:ext cx="3931920" cy="402336"/>
          </a:xfrm>
          <a:prstGeom prst="rect">
            <a:avLst/>
          </a:prstGeom>
          <a:solidFill>
            <a:srgbClr val="FDF0EF"/>
          </a:solidFill>
          <a:ln/>
        </p:spPr>
      </p:sp>
      <p:sp>
        <p:nvSpPr>
          <p:cNvPr id="25" name="Text 23"/>
          <p:cNvSpPr txBox="1"/>
          <p:nvPr/>
        </p:nvSpPr>
        <p:spPr>
          <a:xfrm>
            <a:off x="4983480" y="1490472"/>
            <a:ext cx="3657600" cy="347472"/>
          </a:xfrm>
          <a:prstGeom prst="rect">
            <a:avLst/>
          </a:prstGeom>
          <a:noFill/>
          <a:ln/>
        </p:spPr>
        <p:txBody>
          <a:bodyPr wrap="square" lIns="0" tIns="0" rIns="0" bIns="0" rtlCol="0" anchor="ctr"/>
          <a:lstStyle/>
          <a:p>
            <a:pPr marL="0" indent="0">
              <a:buNone/>
            </a:pPr>
            <a:r>
              <a:rPr lang="en-US" sz="1200" dirty="0">
                <a:solidFill>
                  <a:srgbClr val="4A5568"/>
                </a:solidFill>
                <a:latin typeface="Calibri" pitchFamily="34" charset="0"/>
                <a:ea typeface="Calibri" pitchFamily="34" charset="-122"/>
                <a:cs typeface="Calibri" pitchFamily="34" charset="-120"/>
              </a:rPr>
              <a:t>✖  PHP (server-side language)</a:t>
            </a:r>
            <a:endParaRPr lang="en-US" sz="1200" dirty="0"/>
          </a:p>
        </p:txBody>
      </p:sp>
      <p:sp>
        <p:nvSpPr>
          <p:cNvPr id="26" name="Shape 24"/>
          <p:cNvSpPr/>
          <p:nvPr/>
        </p:nvSpPr>
        <p:spPr>
          <a:xfrm>
            <a:off x="4846320" y="1901952"/>
            <a:ext cx="3931920" cy="402336"/>
          </a:xfrm>
          <a:prstGeom prst="rect">
            <a:avLst/>
          </a:prstGeom>
          <a:solidFill>
            <a:srgbClr val="FFFFFF"/>
          </a:solidFill>
          <a:ln/>
        </p:spPr>
      </p:sp>
      <p:sp>
        <p:nvSpPr>
          <p:cNvPr id="27" name="Text 25"/>
          <p:cNvSpPr txBox="1"/>
          <p:nvPr/>
        </p:nvSpPr>
        <p:spPr>
          <a:xfrm>
            <a:off x="4983480" y="1929384"/>
            <a:ext cx="3657600" cy="347472"/>
          </a:xfrm>
          <a:prstGeom prst="rect">
            <a:avLst/>
          </a:prstGeom>
          <a:noFill/>
          <a:ln/>
        </p:spPr>
        <p:txBody>
          <a:bodyPr wrap="square" lIns="0" tIns="0" rIns="0" bIns="0" rtlCol="0" anchor="ctr"/>
          <a:lstStyle/>
          <a:p>
            <a:pPr marL="0" indent="0">
              <a:buNone/>
            </a:pPr>
            <a:r>
              <a:rPr lang="en-US" sz="1200" dirty="0">
                <a:solidFill>
                  <a:srgbClr val="4A5568"/>
                </a:solidFill>
                <a:latin typeface="Calibri" pitchFamily="34" charset="0"/>
                <a:ea typeface="Calibri" pitchFamily="34" charset="-122"/>
                <a:cs typeface="Calibri" pitchFamily="34" charset="-120"/>
              </a:rPr>
              <a:t>✖  Python / Flask / Django</a:t>
            </a:r>
            <a:endParaRPr lang="en-US" sz="1200" dirty="0"/>
          </a:p>
        </p:txBody>
      </p:sp>
      <p:sp>
        <p:nvSpPr>
          <p:cNvPr id="28" name="Shape 26"/>
          <p:cNvSpPr/>
          <p:nvPr/>
        </p:nvSpPr>
        <p:spPr>
          <a:xfrm>
            <a:off x="4846320" y="2340864"/>
            <a:ext cx="3931920" cy="402336"/>
          </a:xfrm>
          <a:prstGeom prst="rect">
            <a:avLst/>
          </a:prstGeom>
          <a:solidFill>
            <a:srgbClr val="FDF0EF"/>
          </a:solidFill>
          <a:ln/>
        </p:spPr>
      </p:sp>
      <p:sp>
        <p:nvSpPr>
          <p:cNvPr id="29" name="Text 27"/>
          <p:cNvSpPr txBox="1"/>
          <p:nvPr/>
        </p:nvSpPr>
        <p:spPr>
          <a:xfrm>
            <a:off x="4983480" y="2368296"/>
            <a:ext cx="3657600" cy="347472"/>
          </a:xfrm>
          <a:prstGeom prst="rect">
            <a:avLst/>
          </a:prstGeom>
          <a:noFill/>
          <a:ln/>
        </p:spPr>
        <p:txBody>
          <a:bodyPr wrap="square" lIns="0" tIns="0" rIns="0" bIns="0" rtlCol="0" anchor="ctr"/>
          <a:lstStyle/>
          <a:p>
            <a:pPr marL="0" indent="0">
              <a:buNone/>
            </a:pPr>
            <a:r>
              <a:rPr lang="en-US" sz="1200" dirty="0">
                <a:solidFill>
                  <a:srgbClr val="4A5568"/>
                </a:solidFill>
                <a:latin typeface="Calibri" pitchFamily="34" charset="0"/>
                <a:ea typeface="Calibri" pitchFamily="34" charset="-122"/>
                <a:cs typeface="Calibri" pitchFamily="34" charset="-120"/>
              </a:rPr>
              <a:t>✖  Node.js / Express</a:t>
            </a:r>
            <a:endParaRPr lang="en-US" sz="1200" dirty="0"/>
          </a:p>
        </p:txBody>
      </p:sp>
      <p:sp>
        <p:nvSpPr>
          <p:cNvPr id="30" name="Shape 28"/>
          <p:cNvSpPr/>
          <p:nvPr/>
        </p:nvSpPr>
        <p:spPr>
          <a:xfrm>
            <a:off x="4846320" y="2779776"/>
            <a:ext cx="3931920" cy="402336"/>
          </a:xfrm>
          <a:prstGeom prst="rect">
            <a:avLst/>
          </a:prstGeom>
          <a:solidFill>
            <a:srgbClr val="FFFFFF"/>
          </a:solidFill>
          <a:ln/>
        </p:spPr>
      </p:sp>
      <p:sp>
        <p:nvSpPr>
          <p:cNvPr id="31" name="Text 29"/>
          <p:cNvSpPr txBox="1"/>
          <p:nvPr/>
        </p:nvSpPr>
        <p:spPr>
          <a:xfrm>
            <a:off x="4983480" y="2807208"/>
            <a:ext cx="3657600" cy="347472"/>
          </a:xfrm>
          <a:prstGeom prst="rect">
            <a:avLst/>
          </a:prstGeom>
          <a:noFill/>
          <a:ln/>
        </p:spPr>
        <p:txBody>
          <a:bodyPr wrap="square" lIns="0" tIns="0" rIns="0" bIns="0" rtlCol="0" anchor="ctr"/>
          <a:lstStyle/>
          <a:p>
            <a:pPr marL="0" indent="0">
              <a:buNone/>
            </a:pPr>
            <a:r>
              <a:rPr lang="en-US" sz="1200" dirty="0">
                <a:solidFill>
                  <a:srgbClr val="4A5568"/>
                </a:solidFill>
                <a:latin typeface="Calibri" pitchFamily="34" charset="0"/>
                <a:ea typeface="Calibri" pitchFamily="34" charset="-122"/>
                <a:cs typeface="Calibri" pitchFamily="34" charset="-120"/>
              </a:rPr>
              <a:t>✖  Databases (MySQL, MongoDB)</a:t>
            </a:r>
            <a:endParaRPr lang="en-US" sz="1200" dirty="0"/>
          </a:p>
        </p:txBody>
      </p:sp>
      <p:sp>
        <p:nvSpPr>
          <p:cNvPr id="32" name="Shape 30"/>
          <p:cNvSpPr/>
          <p:nvPr/>
        </p:nvSpPr>
        <p:spPr>
          <a:xfrm>
            <a:off x="4846320" y="3218688"/>
            <a:ext cx="3931920" cy="402336"/>
          </a:xfrm>
          <a:prstGeom prst="rect">
            <a:avLst/>
          </a:prstGeom>
          <a:solidFill>
            <a:srgbClr val="FDF0EF"/>
          </a:solidFill>
          <a:ln/>
        </p:spPr>
      </p:sp>
      <p:sp>
        <p:nvSpPr>
          <p:cNvPr id="33" name="Text 31"/>
          <p:cNvSpPr txBox="1"/>
          <p:nvPr/>
        </p:nvSpPr>
        <p:spPr>
          <a:xfrm>
            <a:off x="4983480" y="3246120"/>
            <a:ext cx="3657600" cy="347472"/>
          </a:xfrm>
          <a:prstGeom prst="rect">
            <a:avLst/>
          </a:prstGeom>
          <a:noFill/>
          <a:ln/>
        </p:spPr>
        <p:txBody>
          <a:bodyPr wrap="square" lIns="0" tIns="0" rIns="0" bIns="0" rtlCol="0" anchor="ctr"/>
          <a:lstStyle/>
          <a:p>
            <a:pPr marL="0" indent="0">
              <a:buNone/>
            </a:pPr>
            <a:r>
              <a:rPr lang="en-US" sz="1200" dirty="0">
                <a:solidFill>
                  <a:srgbClr val="4A5568"/>
                </a:solidFill>
                <a:latin typeface="Calibri" pitchFamily="34" charset="0"/>
                <a:ea typeface="Calibri" pitchFamily="34" charset="-122"/>
                <a:cs typeface="Calibri" pitchFamily="34" charset="-120"/>
              </a:rPr>
              <a:t>✖  File system writes</a:t>
            </a:r>
            <a:endParaRPr lang="en-US" sz="1200" dirty="0"/>
          </a:p>
        </p:txBody>
      </p:sp>
      <p:sp>
        <p:nvSpPr>
          <p:cNvPr id="34" name="Shape 32"/>
          <p:cNvSpPr/>
          <p:nvPr/>
        </p:nvSpPr>
        <p:spPr>
          <a:xfrm>
            <a:off x="4846320" y="3657600"/>
            <a:ext cx="3931920" cy="402336"/>
          </a:xfrm>
          <a:prstGeom prst="rect">
            <a:avLst/>
          </a:prstGeom>
          <a:solidFill>
            <a:srgbClr val="FFFFFF"/>
          </a:solidFill>
          <a:ln/>
        </p:spPr>
      </p:sp>
      <p:sp>
        <p:nvSpPr>
          <p:cNvPr id="35" name="Text 33"/>
          <p:cNvSpPr txBox="1"/>
          <p:nvPr/>
        </p:nvSpPr>
        <p:spPr>
          <a:xfrm>
            <a:off x="4983480" y="3685032"/>
            <a:ext cx="3657600" cy="347472"/>
          </a:xfrm>
          <a:prstGeom prst="rect">
            <a:avLst/>
          </a:prstGeom>
          <a:noFill/>
          <a:ln/>
        </p:spPr>
        <p:txBody>
          <a:bodyPr wrap="square" lIns="0" tIns="0" rIns="0" bIns="0" rtlCol="0" anchor="ctr"/>
          <a:lstStyle/>
          <a:p>
            <a:pPr marL="0" indent="0">
              <a:buNone/>
            </a:pPr>
            <a:r>
              <a:rPr lang="en-US" sz="1200" dirty="0">
                <a:solidFill>
                  <a:srgbClr val="4A5568"/>
                </a:solidFill>
                <a:latin typeface="Calibri" pitchFamily="34" charset="0"/>
                <a:ea typeface="Calibri" pitchFamily="34" charset="-122"/>
                <a:cs typeface="Calibri" pitchFamily="34" charset="-120"/>
              </a:rPr>
              <a:t>✖  User authentication (sessions)</a:t>
            </a:r>
            <a:endParaRPr lang="en-US" sz="1200" dirty="0"/>
          </a:p>
        </p:txBody>
      </p:sp>
      <p:sp>
        <p:nvSpPr>
          <p:cNvPr id="36" name="Shape 34"/>
          <p:cNvSpPr/>
          <p:nvPr/>
        </p:nvSpPr>
        <p:spPr>
          <a:xfrm>
            <a:off x="4846320" y="4096512"/>
            <a:ext cx="3931920" cy="402336"/>
          </a:xfrm>
          <a:prstGeom prst="rect">
            <a:avLst/>
          </a:prstGeom>
          <a:solidFill>
            <a:srgbClr val="FDF0EF"/>
          </a:solidFill>
          <a:ln/>
        </p:spPr>
      </p:sp>
      <p:sp>
        <p:nvSpPr>
          <p:cNvPr id="37" name="Text 35"/>
          <p:cNvSpPr txBox="1"/>
          <p:nvPr/>
        </p:nvSpPr>
        <p:spPr>
          <a:xfrm>
            <a:off x="4983480" y="4123944"/>
            <a:ext cx="3657600" cy="347472"/>
          </a:xfrm>
          <a:prstGeom prst="rect">
            <a:avLst/>
          </a:prstGeom>
          <a:noFill/>
          <a:ln/>
        </p:spPr>
        <p:txBody>
          <a:bodyPr wrap="square" lIns="0" tIns="0" rIns="0" bIns="0" rtlCol="0" anchor="ctr"/>
          <a:lstStyle/>
          <a:p>
            <a:pPr marL="0" indent="0">
              <a:buNone/>
            </a:pPr>
            <a:r>
              <a:rPr lang="en-US" sz="1200" dirty="0">
                <a:solidFill>
                  <a:srgbClr val="4A5568"/>
                </a:solidFill>
                <a:latin typeface="Calibri" pitchFamily="34" charset="0"/>
                <a:ea typeface="Calibri" pitchFamily="34" charset="-122"/>
                <a:cs typeface="Calibri" pitchFamily="34" charset="-120"/>
              </a:rPr>
              <a:t>✖  .htaccess server config</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4FF"/>
          </a:solidFill>
          <a:ln/>
        </p:spPr>
      </p:sp>
      <p:sp>
        <p:nvSpPr>
          <p:cNvPr id="3" name="Shape 1"/>
          <p:cNvSpPr/>
          <p:nvPr/>
        </p:nvSpPr>
        <p:spPr>
          <a:xfrm>
            <a:off x="0" y="0"/>
            <a:ext cx="3200400" cy="5143500"/>
          </a:xfrm>
          <a:prstGeom prst="rect">
            <a:avLst/>
          </a:prstGeom>
          <a:solidFill>
            <a:srgbClr val="1A2540"/>
          </a:solidFill>
          <a:ln/>
        </p:spPr>
      </p:sp>
      <p:sp>
        <p:nvSpPr>
          <p:cNvPr id="4" name="Text 2"/>
          <p:cNvSpPr txBox="1"/>
          <p:nvPr/>
        </p:nvSpPr>
        <p:spPr>
          <a:xfrm>
            <a:off x="182880" y="228600"/>
            <a:ext cx="2834640" cy="1097280"/>
          </a:xfrm>
          <a:prstGeom prst="rect">
            <a:avLst/>
          </a:prstGeom>
          <a:noFill/>
          <a:ln/>
        </p:spPr>
        <p:txBody>
          <a:bodyPr wrap="square" lIns="0" tIns="0" rIns="0" bIns="0" rtlCol="0" anchor="t"/>
          <a:lstStyle/>
          <a:p>
            <a:pPr marL="0" indent="0">
              <a:buNone/>
            </a:pPr>
            <a:r>
              <a:rPr lang="en-US" sz="2000" b="1" dirty="0">
                <a:solidFill>
                  <a:srgbClr val="FFFFFF"/>
                </a:solidFill>
                <a:latin typeface="Calibri" pitchFamily="34" charset="0"/>
                <a:ea typeface="Calibri" pitchFamily="34" charset="-122"/>
                <a:cs typeface="Calibri" pitchFamily="34" charset="-120"/>
              </a:rPr>
              <a:t>index.html is</a:t>
            </a:r>
            <a:endParaRPr lang="en-US" sz="2000" dirty="0"/>
          </a:p>
          <a:p>
            <a:pPr marL="0" indent="0">
              <a:buNone/>
            </a:pPr>
            <a:r>
              <a:rPr lang="en-US" sz="2000" b="1" dirty="0">
                <a:solidFill>
                  <a:srgbClr val="FFFFFF"/>
                </a:solidFill>
                <a:latin typeface="Calibri" pitchFamily="34" charset="0"/>
                <a:ea typeface="Calibri" pitchFamily="34" charset="-122"/>
                <a:cs typeface="Calibri" pitchFamily="34" charset="-120"/>
              </a:rPr>
              <a:t>Your Entry Point</a:t>
            </a:r>
            <a:endParaRPr lang="en-US" sz="2000" dirty="0"/>
          </a:p>
        </p:txBody>
      </p:sp>
      <p:sp>
        <p:nvSpPr>
          <p:cNvPr id="5" name="Shape 3"/>
          <p:cNvSpPr/>
          <p:nvPr/>
        </p:nvSpPr>
        <p:spPr>
          <a:xfrm>
            <a:off x="182880" y="1371600"/>
            <a:ext cx="2560320" cy="45720"/>
          </a:xfrm>
          <a:prstGeom prst="rect">
            <a:avLst/>
          </a:prstGeom>
          <a:solidFill>
            <a:srgbClr val="F7DF1E"/>
          </a:solidFill>
          <a:ln/>
        </p:spPr>
      </p:sp>
      <p:sp>
        <p:nvSpPr>
          <p:cNvPr id="6" name="Text 4"/>
          <p:cNvSpPr txBox="1"/>
          <p:nvPr/>
        </p:nvSpPr>
        <p:spPr>
          <a:xfrm>
            <a:off x="182880" y="1463040"/>
            <a:ext cx="2834640" cy="274320"/>
          </a:xfrm>
          <a:prstGeom prst="rect">
            <a:avLst/>
          </a:prstGeom>
          <a:noFill/>
          <a:ln/>
        </p:spPr>
        <p:txBody>
          <a:bodyPr wrap="square" lIns="0" tIns="0" rIns="0" bIns="0" rtlCol="0" anchor="t"/>
          <a:lstStyle/>
          <a:p>
            <a:pPr marL="0" indent="0">
              <a:buNone/>
            </a:pPr>
            <a:r>
              <a:rPr lang="en-US" sz="1200" b="1" dirty="0">
                <a:solidFill>
                  <a:srgbClr val="F7DF1E"/>
                </a:solidFill>
                <a:latin typeface="Calibri" pitchFamily="34" charset="0"/>
                <a:ea typeface="Calibri" pitchFamily="34" charset="-122"/>
                <a:cs typeface="Calibri" pitchFamily="34" charset="-120"/>
              </a:rPr>
              <a:t>▶ Must be named</a:t>
            </a:r>
            <a:endParaRPr lang="en-US" sz="1200" dirty="0"/>
          </a:p>
        </p:txBody>
      </p:sp>
      <p:sp>
        <p:nvSpPr>
          <p:cNvPr id="7" name="Text 5"/>
          <p:cNvSpPr txBox="1"/>
          <p:nvPr/>
        </p:nvSpPr>
        <p:spPr>
          <a:xfrm>
            <a:off x="182880" y="1773936"/>
            <a:ext cx="2834640" cy="274320"/>
          </a:xfrm>
          <a:prstGeom prst="rect">
            <a:avLst/>
          </a:prstGeom>
          <a:noFill/>
          <a:ln/>
        </p:spPr>
        <p:txBody>
          <a:bodyPr wrap="square" lIns="0" tIns="0" rIns="0" bIns="0" rtlCol="0" anchor="t"/>
          <a:lstStyle/>
          <a:p>
            <a:pPr marL="0" indent="0">
              <a:buNone/>
            </a:pPr>
            <a:r>
              <a:rPr lang="en-US" sz="1100" dirty="0">
                <a:solidFill>
                  <a:srgbClr val="8892B0"/>
                </a:solidFill>
                <a:latin typeface="Calibri" pitchFamily="34" charset="0"/>
                <a:ea typeface="Calibri" pitchFamily="34" charset="-122"/>
                <a:cs typeface="Calibri" pitchFamily="34" charset="-120"/>
              </a:rPr>
              <a:t>"index.html"</a:t>
            </a:r>
            <a:endParaRPr lang="en-US" sz="1100" dirty="0"/>
          </a:p>
        </p:txBody>
      </p:sp>
      <p:sp>
        <p:nvSpPr>
          <p:cNvPr id="8" name="Text 6"/>
          <p:cNvSpPr txBox="1"/>
          <p:nvPr/>
        </p:nvSpPr>
        <p:spPr>
          <a:xfrm>
            <a:off x="182880" y="2084832"/>
            <a:ext cx="2834640" cy="274320"/>
          </a:xfrm>
          <a:prstGeom prst="rect">
            <a:avLst/>
          </a:prstGeom>
          <a:noFill/>
          <a:ln/>
        </p:spPr>
        <p:txBody>
          <a:bodyPr wrap="square" lIns="0" tIns="0" rIns="0" bIns="0" rtlCol="0" anchor="t"/>
          <a:lstStyle/>
          <a:p>
            <a:pPr marL="0" indent="0">
              <a:buNone/>
            </a:pPr>
            <a:r>
              <a:rPr lang="en-US" sz="1100" dirty="0">
                <a:solidFill>
                  <a:srgbClr val="8892B0"/>
                </a:solidFill>
                <a:latin typeface="Calibri" pitchFamily="34" charset="0"/>
                <a:ea typeface="Calibri" pitchFamily="34" charset="-122"/>
                <a:cs typeface="Calibri" pitchFamily="34" charset="-120"/>
              </a:rPr>
              <a:t>exactly</a:t>
            </a:r>
            <a:endParaRPr lang="en-US" sz="1100" dirty="0"/>
          </a:p>
        </p:txBody>
      </p:sp>
      <p:sp>
        <p:nvSpPr>
          <p:cNvPr id="9" name="Text 7"/>
          <p:cNvSpPr txBox="1"/>
          <p:nvPr/>
        </p:nvSpPr>
        <p:spPr>
          <a:xfrm>
            <a:off x="182880" y="2395728"/>
            <a:ext cx="2834640" cy="274320"/>
          </a:xfrm>
          <a:prstGeom prst="rect">
            <a:avLst/>
          </a:prstGeom>
          <a:noFill/>
          <a:ln/>
        </p:spPr>
        <p:txBody>
          <a:bodyPr wrap="square" lIns="0" tIns="0" rIns="0" bIns="0" rtlCol="0" anchor="t"/>
          <a:lstStyle/>
          <a:p>
            <a:pPr marL="0" indent="0">
              <a:buNone/>
            </a:pPr>
            <a:endParaRPr lang="en-US" sz="1100" dirty="0"/>
          </a:p>
        </p:txBody>
      </p:sp>
      <p:sp>
        <p:nvSpPr>
          <p:cNvPr id="10" name="Text 8"/>
          <p:cNvSpPr txBox="1"/>
          <p:nvPr/>
        </p:nvSpPr>
        <p:spPr>
          <a:xfrm>
            <a:off x="182880" y="2706624"/>
            <a:ext cx="2834640" cy="274320"/>
          </a:xfrm>
          <a:prstGeom prst="rect">
            <a:avLst/>
          </a:prstGeom>
          <a:noFill/>
          <a:ln/>
        </p:spPr>
        <p:txBody>
          <a:bodyPr wrap="square" lIns="0" tIns="0" rIns="0" bIns="0" rtlCol="0" anchor="t"/>
          <a:lstStyle/>
          <a:p>
            <a:pPr marL="0" indent="0">
              <a:buNone/>
            </a:pPr>
            <a:endParaRPr lang="en-US" sz="1100" dirty="0"/>
          </a:p>
        </p:txBody>
      </p:sp>
      <p:sp>
        <p:nvSpPr>
          <p:cNvPr id="11" name="Text 9"/>
          <p:cNvSpPr txBox="1"/>
          <p:nvPr/>
        </p:nvSpPr>
        <p:spPr>
          <a:xfrm>
            <a:off x="182880" y="2617186"/>
            <a:ext cx="2834640" cy="274320"/>
          </a:xfrm>
          <a:prstGeom prst="rect">
            <a:avLst/>
          </a:prstGeom>
          <a:noFill/>
          <a:ln/>
        </p:spPr>
        <p:txBody>
          <a:bodyPr wrap="square" lIns="0" tIns="0" rIns="0" bIns="0" rtlCol="0" anchor="t"/>
          <a:lstStyle/>
          <a:p>
            <a:pPr marL="0" indent="0">
              <a:buNone/>
            </a:pPr>
            <a:r>
              <a:rPr lang="en-US" sz="1200" b="1" dirty="0">
                <a:solidFill>
                  <a:srgbClr val="F7DF1E"/>
                </a:solidFill>
                <a:latin typeface="Calibri" pitchFamily="34" charset="0"/>
                <a:ea typeface="Calibri" pitchFamily="34" charset="-122"/>
                <a:cs typeface="Calibri" pitchFamily="34" charset="-120"/>
              </a:rPr>
              <a:t>▶ Must be in</a:t>
            </a:r>
            <a:endParaRPr lang="en-US" sz="1200" dirty="0"/>
          </a:p>
        </p:txBody>
      </p:sp>
      <p:sp>
        <p:nvSpPr>
          <p:cNvPr id="12" name="Text 10"/>
          <p:cNvSpPr txBox="1"/>
          <p:nvPr/>
        </p:nvSpPr>
        <p:spPr>
          <a:xfrm>
            <a:off x="182880" y="2928082"/>
            <a:ext cx="2834640" cy="274320"/>
          </a:xfrm>
          <a:prstGeom prst="rect">
            <a:avLst/>
          </a:prstGeom>
          <a:noFill/>
          <a:ln/>
        </p:spPr>
        <p:txBody>
          <a:bodyPr wrap="square" lIns="0" tIns="0" rIns="0" bIns="0" rtlCol="0" anchor="t"/>
          <a:lstStyle/>
          <a:p>
            <a:pPr marL="0" indent="0">
              <a:buNone/>
            </a:pPr>
            <a:r>
              <a:rPr lang="en-US" sz="1100" dirty="0">
                <a:solidFill>
                  <a:srgbClr val="8892B0"/>
                </a:solidFill>
                <a:latin typeface="Calibri" pitchFamily="34" charset="0"/>
                <a:ea typeface="Calibri" pitchFamily="34" charset="-122"/>
                <a:cs typeface="Calibri" pitchFamily="34" charset="-120"/>
              </a:rPr>
              <a:t>the ROOT folder</a:t>
            </a:r>
            <a:endParaRPr lang="en-US" sz="1100" dirty="0"/>
          </a:p>
        </p:txBody>
      </p:sp>
      <p:sp>
        <p:nvSpPr>
          <p:cNvPr id="13" name="Text 11"/>
          <p:cNvSpPr txBox="1"/>
          <p:nvPr/>
        </p:nvSpPr>
        <p:spPr>
          <a:xfrm>
            <a:off x="182880" y="3238978"/>
            <a:ext cx="2834640" cy="274320"/>
          </a:xfrm>
          <a:prstGeom prst="rect">
            <a:avLst/>
          </a:prstGeom>
          <a:noFill/>
          <a:ln/>
        </p:spPr>
        <p:txBody>
          <a:bodyPr wrap="square" lIns="0" tIns="0" rIns="0" bIns="0" rtlCol="0" anchor="t"/>
          <a:lstStyle/>
          <a:p>
            <a:pPr marL="0" indent="0">
              <a:buNone/>
            </a:pPr>
            <a:r>
              <a:rPr lang="en-US" sz="1100" dirty="0">
                <a:solidFill>
                  <a:srgbClr val="8892B0"/>
                </a:solidFill>
                <a:latin typeface="Calibri" pitchFamily="34" charset="0"/>
                <a:ea typeface="Calibri" pitchFamily="34" charset="-122"/>
                <a:cs typeface="Calibri" pitchFamily="34" charset="-120"/>
              </a:rPr>
              <a:t>of your repo</a:t>
            </a:r>
            <a:endParaRPr lang="en-US" sz="1100" dirty="0"/>
          </a:p>
        </p:txBody>
      </p:sp>
      <p:sp>
        <p:nvSpPr>
          <p:cNvPr id="14" name="Text 12"/>
          <p:cNvSpPr txBox="1"/>
          <p:nvPr/>
        </p:nvSpPr>
        <p:spPr>
          <a:xfrm>
            <a:off x="182880" y="3549874"/>
            <a:ext cx="2834640" cy="274320"/>
          </a:xfrm>
          <a:prstGeom prst="rect">
            <a:avLst/>
          </a:prstGeom>
          <a:noFill/>
          <a:ln/>
        </p:spPr>
        <p:txBody>
          <a:bodyPr wrap="square" lIns="0" tIns="0" rIns="0" bIns="0" rtlCol="0" anchor="t"/>
          <a:lstStyle/>
          <a:p>
            <a:pPr marL="0" indent="0">
              <a:buNone/>
            </a:pPr>
            <a:endParaRPr lang="en-US" sz="1100" dirty="0"/>
          </a:p>
        </p:txBody>
      </p:sp>
      <p:sp>
        <p:nvSpPr>
          <p:cNvPr id="15" name="Text 13"/>
          <p:cNvSpPr txBox="1"/>
          <p:nvPr/>
        </p:nvSpPr>
        <p:spPr>
          <a:xfrm>
            <a:off x="182880" y="3860770"/>
            <a:ext cx="2834640" cy="274320"/>
          </a:xfrm>
          <a:prstGeom prst="rect">
            <a:avLst/>
          </a:prstGeom>
          <a:noFill/>
          <a:ln/>
        </p:spPr>
        <p:txBody>
          <a:bodyPr wrap="square" lIns="0" tIns="0" rIns="0" bIns="0" rtlCol="0" anchor="t"/>
          <a:lstStyle/>
          <a:p>
            <a:pPr marL="0" indent="0">
              <a:buNone/>
            </a:pPr>
            <a:endParaRPr lang="en-US" sz="1100" dirty="0"/>
          </a:p>
        </p:txBody>
      </p:sp>
      <p:sp>
        <p:nvSpPr>
          <p:cNvPr id="16" name="Text 14"/>
          <p:cNvSpPr txBox="1"/>
          <p:nvPr/>
        </p:nvSpPr>
        <p:spPr>
          <a:xfrm>
            <a:off x="182880" y="3650458"/>
            <a:ext cx="2834640" cy="274320"/>
          </a:xfrm>
          <a:prstGeom prst="rect">
            <a:avLst/>
          </a:prstGeom>
          <a:noFill/>
          <a:ln/>
        </p:spPr>
        <p:txBody>
          <a:bodyPr wrap="square" lIns="0" tIns="0" rIns="0" bIns="0" rtlCol="0" anchor="t"/>
          <a:lstStyle/>
          <a:p>
            <a:pPr marL="0" indent="0">
              <a:buNone/>
            </a:pPr>
            <a:r>
              <a:rPr lang="en-US" sz="1200" b="1" dirty="0">
                <a:solidFill>
                  <a:srgbClr val="F7DF1E"/>
                </a:solidFill>
                <a:latin typeface="Calibri" pitchFamily="34" charset="0"/>
                <a:ea typeface="Calibri" pitchFamily="34" charset="-122"/>
                <a:cs typeface="Calibri" pitchFamily="34" charset="-120"/>
              </a:rPr>
              <a:t>▶ Other pages</a:t>
            </a:r>
            <a:endParaRPr lang="en-US" sz="1200" dirty="0"/>
          </a:p>
        </p:txBody>
      </p:sp>
      <p:sp>
        <p:nvSpPr>
          <p:cNvPr id="17" name="Text 15"/>
          <p:cNvSpPr txBox="1"/>
          <p:nvPr/>
        </p:nvSpPr>
        <p:spPr>
          <a:xfrm>
            <a:off x="182880" y="3990265"/>
            <a:ext cx="2834640" cy="274320"/>
          </a:xfrm>
          <a:prstGeom prst="rect">
            <a:avLst/>
          </a:prstGeom>
          <a:noFill/>
          <a:ln/>
        </p:spPr>
        <p:txBody>
          <a:bodyPr wrap="square" lIns="0" tIns="0" rIns="0" bIns="0" rtlCol="0" anchor="t"/>
          <a:lstStyle/>
          <a:p>
            <a:pPr marL="0" indent="0">
              <a:buNone/>
            </a:pPr>
            <a:r>
              <a:rPr lang="en-US" sz="1100" dirty="0">
                <a:solidFill>
                  <a:srgbClr val="8892B0"/>
                </a:solidFill>
                <a:latin typeface="Calibri" pitchFamily="34" charset="0"/>
                <a:ea typeface="Calibri" pitchFamily="34" charset="-122"/>
                <a:cs typeface="Calibri" pitchFamily="34" charset="-120"/>
              </a:rPr>
              <a:t>link relatively:</a:t>
            </a:r>
            <a:endParaRPr lang="en-US" sz="1100" dirty="0"/>
          </a:p>
        </p:txBody>
      </p:sp>
      <p:sp>
        <p:nvSpPr>
          <p:cNvPr id="18" name="Text 16"/>
          <p:cNvSpPr txBox="1"/>
          <p:nvPr/>
        </p:nvSpPr>
        <p:spPr>
          <a:xfrm>
            <a:off x="182880" y="4229555"/>
            <a:ext cx="2834640" cy="274320"/>
          </a:xfrm>
          <a:prstGeom prst="rect">
            <a:avLst/>
          </a:prstGeom>
          <a:noFill/>
          <a:ln/>
        </p:spPr>
        <p:txBody>
          <a:bodyPr wrap="square" lIns="0" tIns="0" rIns="0" bIns="0" rtlCol="0" anchor="t"/>
          <a:lstStyle/>
          <a:p>
            <a:pPr marL="0" indent="0">
              <a:buNone/>
            </a:pPr>
            <a:r>
              <a:rPr lang="en-US" sz="1100" dirty="0">
                <a:solidFill>
                  <a:srgbClr val="8892B0"/>
                </a:solidFill>
                <a:latin typeface="Calibri" pitchFamily="34" charset="0"/>
                <a:ea typeface="Calibri" pitchFamily="34" charset="-122"/>
                <a:cs typeface="Calibri" pitchFamily="34" charset="-120"/>
              </a:rPr>
              <a:t>./about.html</a:t>
            </a:r>
            <a:endParaRPr lang="en-US" sz="1100" dirty="0"/>
          </a:p>
        </p:txBody>
      </p:sp>
      <p:sp>
        <p:nvSpPr>
          <p:cNvPr id="19" name="Shape 17"/>
          <p:cNvSpPr/>
          <p:nvPr/>
        </p:nvSpPr>
        <p:spPr>
          <a:xfrm>
            <a:off x="3337560" y="228600"/>
            <a:ext cx="5577840" cy="4663440"/>
          </a:xfrm>
          <a:prstGeom prst="rect">
            <a:avLst/>
          </a:prstGeom>
          <a:solidFill>
            <a:srgbClr val="0D1117"/>
          </a:solidFill>
          <a:ln w="12700">
            <a:solidFill>
              <a:srgbClr val="30363D"/>
            </a:solidFill>
            <a:prstDash val="solid"/>
          </a:ln>
        </p:spPr>
      </p:sp>
      <p:sp>
        <p:nvSpPr>
          <p:cNvPr id="20" name="Shape 18"/>
          <p:cNvSpPr/>
          <p:nvPr/>
        </p:nvSpPr>
        <p:spPr>
          <a:xfrm>
            <a:off x="3337560" y="228600"/>
            <a:ext cx="5577840" cy="347472"/>
          </a:xfrm>
          <a:prstGeom prst="rect">
            <a:avLst/>
          </a:prstGeom>
          <a:solidFill>
            <a:srgbClr val="161B22"/>
          </a:solidFill>
          <a:ln/>
        </p:spPr>
      </p:sp>
      <p:sp>
        <p:nvSpPr>
          <p:cNvPr id="21" name="Shape 19"/>
          <p:cNvSpPr/>
          <p:nvPr/>
        </p:nvSpPr>
        <p:spPr>
          <a:xfrm>
            <a:off x="3520440" y="329184"/>
            <a:ext cx="109728" cy="109728"/>
          </a:xfrm>
          <a:prstGeom prst="ellipse">
            <a:avLst/>
          </a:prstGeom>
          <a:solidFill>
            <a:srgbClr val="FF5F56"/>
          </a:solidFill>
          <a:ln/>
        </p:spPr>
      </p:sp>
      <p:sp>
        <p:nvSpPr>
          <p:cNvPr id="22" name="Shape 20"/>
          <p:cNvSpPr/>
          <p:nvPr/>
        </p:nvSpPr>
        <p:spPr>
          <a:xfrm>
            <a:off x="3721608" y="329184"/>
            <a:ext cx="109728" cy="109728"/>
          </a:xfrm>
          <a:prstGeom prst="ellipse">
            <a:avLst/>
          </a:prstGeom>
          <a:solidFill>
            <a:srgbClr val="FFBD2E"/>
          </a:solidFill>
          <a:ln/>
        </p:spPr>
      </p:sp>
      <p:sp>
        <p:nvSpPr>
          <p:cNvPr id="23" name="Shape 21"/>
          <p:cNvSpPr/>
          <p:nvPr/>
        </p:nvSpPr>
        <p:spPr>
          <a:xfrm>
            <a:off x="3922776" y="329184"/>
            <a:ext cx="109728" cy="109728"/>
          </a:xfrm>
          <a:prstGeom prst="ellipse">
            <a:avLst/>
          </a:prstGeom>
          <a:solidFill>
            <a:srgbClr val="27C93F"/>
          </a:solidFill>
          <a:ln/>
        </p:spPr>
      </p:sp>
      <p:sp>
        <p:nvSpPr>
          <p:cNvPr id="24" name="Text 22"/>
          <p:cNvSpPr txBox="1"/>
          <p:nvPr/>
        </p:nvSpPr>
        <p:spPr>
          <a:xfrm>
            <a:off x="3489687" y="361188"/>
            <a:ext cx="2743200" cy="256032"/>
          </a:xfrm>
          <a:prstGeom prst="rect">
            <a:avLst/>
          </a:prstGeom>
          <a:noFill/>
          <a:ln/>
        </p:spPr>
        <p:txBody>
          <a:bodyPr wrap="square" lIns="0" tIns="0" rIns="0" bIns="0" rtlCol="0" anchor="ctr"/>
          <a:lstStyle/>
          <a:p>
            <a:pPr marL="0" indent="0">
              <a:buNone/>
            </a:pPr>
            <a:r>
              <a:rPr lang="en-US" sz="800" dirty="0">
                <a:solidFill>
                  <a:srgbClr val="6E7681"/>
                </a:solidFill>
                <a:latin typeface="Courier New" pitchFamily="34" charset="0"/>
                <a:ea typeface="Courier New" pitchFamily="34" charset="-122"/>
                <a:cs typeface="Courier New" pitchFamily="34" charset="-120"/>
              </a:rPr>
              <a:t>Correct repo structure</a:t>
            </a:r>
            <a:endParaRPr lang="en-US" sz="800" dirty="0"/>
          </a:p>
        </p:txBody>
      </p:sp>
      <p:sp>
        <p:nvSpPr>
          <p:cNvPr id="25" name="Text 23"/>
          <p:cNvSpPr txBox="1"/>
          <p:nvPr/>
        </p:nvSpPr>
        <p:spPr>
          <a:xfrm>
            <a:off x="3474720" y="658368"/>
            <a:ext cx="5349240" cy="283464"/>
          </a:xfrm>
          <a:prstGeom prst="rect">
            <a:avLst/>
          </a:prstGeom>
          <a:noFill/>
          <a:ln/>
        </p:spPr>
        <p:txBody>
          <a:bodyPr wrap="square" lIns="0" tIns="0" rIns="0" bIns="0" rtlCol="0" anchor="t"/>
          <a:lstStyle/>
          <a:p>
            <a:pPr marL="0" indent="0" algn="l">
              <a:buNone/>
            </a:pPr>
            <a:r>
              <a:rPr lang="en-US" sz="1100" dirty="0">
                <a:solidFill>
                  <a:srgbClr val="F7DF1E"/>
                </a:solidFill>
                <a:latin typeface="Courier New" pitchFamily="34" charset="0"/>
                <a:ea typeface="Courier New" pitchFamily="34" charset="-122"/>
                <a:cs typeface="Courier New" pitchFamily="34" charset="-120"/>
              </a:rPr>
              <a:t>book-search-app/</a:t>
            </a:r>
            <a:endParaRPr lang="en-US" sz="1100" dirty="0"/>
          </a:p>
        </p:txBody>
      </p:sp>
      <p:sp>
        <p:nvSpPr>
          <p:cNvPr id="26" name="Text 24"/>
          <p:cNvSpPr txBox="1"/>
          <p:nvPr/>
        </p:nvSpPr>
        <p:spPr>
          <a:xfrm>
            <a:off x="3474720" y="969264"/>
            <a:ext cx="5349240" cy="283464"/>
          </a:xfrm>
          <a:prstGeom prst="rect">
            <a:avLst/>
          </a:prstGeom>
          <a:noFill/>
          <a:ln/>
        </p:spPr>
        <p:txBody>
          <a:bodyPr wrap="square" lIns="0" tIns="0" rIns="0" bIns="0" rtlCol="0" anchor="t"/>
          <a:lstStyle/>
          <a:p>
            <a:pPr marL="0" indent="0" algn="l">
              <a:buNone/>
            </a:pPr>
            <a:r>
              <a:rPr lang="en-US" sz="1100" dirty="0">
                <a:solidFill>
                  <a:srgbClr val="00C896"/>
                </a:solidFill>
                <a:latin typeface="Courier New" pitchFamily="34" charset="0"/>
                <a:ea typeface="Courier New" pitchFamily="34" charset="-122"/>
                <a:cs typeface="Courier New" pitchFamily="34" charset="-120"/>
              </a:rPr>
              <a:t>  index.html        &lt;- ENTRY POINT</a:t>
            </a:r>
            <a:endParaRPr lang="en-US" sz="1100" dirty="0"/>
          </a:p>
        </p:txBody>
      </p:sp>
      <p:sp>
        <p:nvSpPr>
          <p:cNvPr id="27" name="Text 25"/>
          <p:cNvSpPr txBox="1"/>
          <p:nvPr/>
        </p:nvSpPr>
        <p:spPr>
          <a:xfrm>
            <a:off x="3474720" y="1280160"/>
            <a:ext cx="5349240" cy="283464"/>
          </a:xfrm>
          <a:prstGeom prst="rect">
            <a:avLst/>
          </a:prstGeom>
          <a:noFill/>
          <a:ln/>
        </p:spPr>
        <p:txBody>
          <a:bodyPr wrap="square" lIns="0" tIns="0" rIns="0" bIns="0" rtlCol="0" anchor="t"/>
          <a:lstStyle/>
          <a:p>
            <a:pPr marL="0" indent="0" algn="l">
              <a:buNone/>
            </a:pPr>
            <a:r>
              <a:rPr lang="en-US" sz="1100" dirty="0">
                <a:solidFill>
                  <a:srgbClr val="FFFFFF"/>
                </a:solidFill>
                <a:latin typeface="Courier New" pitchFamily="34" charset="0"/>
                <a:ea typeface="Courier New" pitchFamily="34" charset="-122"/>
                <a:cs typeface="Courier New" pitchFamily="34" charset="-120"/>
              </a:rPr>
              <a:t>  style.css</a:t>
            </a:r>
            <a:endParaRPr lang="en-US" sz="1100" dirty="0"/>
          </a:p>
        </p:txBody>
      </p:sp>
      <p:sp>
        <p:nvSpPr>
          <p:cNvPr id="28" name="Text 26"/>
          <p:cNvSpPr txBox="1"/>
          <p:nvPr/>
        </p:nvSpPr>
        <p:spPr>
          <a:xfrm>
            <a:off x="3474720" y="1591056"/>
            <a:ext cx="5349240" cy="283464"/>
          </a:xfrm>
          <a:prstGeom prst="rect">
            <a:avLst/>
          </a:prstGeom>
          <a:noFill/>
          <a:ln/>
        </p:spPr>
        <p:txBody>
          <a:bodyPr wrap="square" lIns="0" tIns="0" rIns="0" bIns="0" rtlCol="0" anchor="t"/>
          <a:lstStyle/>
          <a:p>
            <a:pPr marL="0" indent="0" algn="l">
              <a:buNone/>
            </a:pPr>
            <a:r>
              <a:rPr lang="en-US" sz="1100" dirty="0">
                <a:solidFill>
                  <a:srgbClr val="FFFFFF"/>
                </a:solidFill>
                <a:latin typeface="Courier New" pitchFamily="34" charset="0"/>
                <a:ea typeface="Courier New" pitchFamily="34" charset="-122"/>
                <a:cs typeface="Courier New" pitchFamily="34" charset="-120"/>
              </a:rPr>
              <a:t>  app.js</a:t>
            </a:r>
            <a:endParaRPr lang="en-US" sz="1100" dirty="0"/>
          </a:p>
        </p:txBody>
      </p:sp>
      <p:sp>
        <p:nvSpPr>
          <p:cNvPr id="29" name="Text 27"/>
          <p:cNvSpPr txBox="1"/>
          <p:nvPr/>
        </p:nvSpPr>
        <p:spPr>
          <a:xfrm>
            <a:off x="3474720" y="1901952"/>
            <a:ext cx="5349240" cy="283464"/>
          </a:xfrm>
          <a:prstGeom prst="rect">
            <a:avLst/>
          </a:prstGeom>
          <a:noFill/>
          <a:ln/>
        </p:spPr>
        <p:txBody>
          <a:bodyPr wrap="square" lIns="0" tIns="0" rIns="0" bIns="0" rtlCol="0" anchor="t"/>
          <a:lstStyle/>
          <a:p>
            <a:pPr marL="0" indent="0" algn="l">
              <a:buNone/>
            </a:pPr>
            <a:r>
              <a:rPr lang="en-US" sz="1100" dirty="0">
                <a:solidFill>
                  <a:srgbClr val="8892B0"/>
                </a:solidFill>
                <a:latin typeface="Courier New" pitchFamily="34" charset="0"/>
                <a:ea typeface="Courier New" pitchFamily="34" charset="-122"/>
                <a:cs typeface="Courier New" pitchFamily="34" charset="-120"/>
              </a:rPr>
              <a:t>  README.md</a:t>
            </a:r>
            <a:endParaRPr lang="en-US" sz="1100" dirty="0"/>
          </a:p>
        </p:txBody>
      </p:sp>
      <p:sp>
        <p:nvSpPr>
          <p:cNvPr id="30" name="Text 28"/>
          <p:cNvSpPr txBox="1"/>
          <p:nvPr/>
        </p:nvSpPr>
        <p:spPr>
          <a:xfrm>
            <a:off x="3474720" y="2212848"/>
            <a:ext cx="5349240" cy="283464"/>
          </a:xfrm>
          <a:prstGeom prst="rect">
            <a:avLst/>
          </a:prstGeom>
          <a:noFill/>
          <a:ln/>
        </p:spPr>
        <p:txBody>
          <a:bodyPr wrap="square" lIns="0" tIns="0" rIns="0" bIns="0" rtlCol="0" anchor="t"/>
          <a:lstStyle/>
          <a:p>
            <a:pPr marL="0" indent="0" algn="l">
              <a:buNone/>
            </a:pPr>
            <a:endParaRPr lang="en-US" sz="1100" dirty="0"/>
          </a:p>
        </p:txBody>
      </p:sp>
      <p:sp>
        <p:nvSpPr>
          <p:cNvPr id="31" name="Text 29"/>
          <p:cNvSpPr txBox="1"/>
          <p:nvPr/>
        </p:nvSpPr>
        <p:spPr>
          <a:xfrm>
            <a:off x="3474720" y="2523744"/>
            <a:ext cx="5349240" cy="283464"/>
          </a:xfrm>
          <a:prstGeom prst="rect">
            <a:avLst/>
          </a:prstGeom>
          <a:noFill/>
          <a:ln/>
        </p:spPr>
        <p:txBody>
          <a:bodyPr wrap="square" lIns="0" tIns="0" rIns="0" bIns="0" rtlCol="0" anchor="t"/>
          <a:lstStyle/>
          <a:p>
            <a:pPr marL="0" indent="0" algn="l">
              <a:buNone/>
            </a:pPr>
            <a:r>
              <a:rPr lang="en-US" sz="1100" dirty="0">
                <a:solidFill>
                  <a:srgbClr val="6E7681"/>
                </a:solidFill>
                <a:latin typeface="Courier New" pitchFamily="34" charset="0"/>
                <a:ea typeface="Courier New" pitchFamily="34" charset="-122"/>
                <a:cs typeface="Courier New" pitchFamily="34" charset="-120"/>
              </a:rPr>
              <a:t># Wrong! (causes 404)</a:t>
            </a:r>
            <a:endParaRPr lang="en-US" sz="1100" dirty="0"/>
          </a:p>
        </p:txBody>
      </p:sp>
      <p:sp>
        <p:nvSpPr>
          <p:cNvPr id="32" name="Text 30"/>
          <p:cNvSpPr txBox="1"/>
          <p:nvPr/>
        </p:nvSpPr>
        <p:spPr>
          <a:xfrm>
            <a:off x="3474720" y="2834640"/>
            <a:ext cx="5349240" cy="283464"/>
          </a:xfrm>
          <a:prstGeom prst="rect">
            <a:avLst/>
          </a:prstGeom>
          <a:noFill/>
          <a:ln/>
        </p:spPr>
        <p:txBody>
          <a:bodyPr wrap="square" lIns="0" tIns="0" rIns="0" bIns="0" rtlCol="0" anchor="t"/>
          <a:lstStyle/>
          <a:p>
            <a:pPr marL="0" indent="0" algn="l">
              <a:buNone/>
            </a:pPr>
            <a:r>
              <a:rPr lang="en-US" sz="1100" dirty="0">
                <a:solidFill>
                  <a:srgbClr val="F7DF1E"/>
                </a:solidFill>
                <a:latin typeface="Courier New" pitchFamily="34" charset="0"/>
                <a:ea typeface="Courier New" pitchFamily="34" charset="-122"/>
                <a:cs typeface="Courier New" pitchFamily="34" charset="-120"/>
              </a:rPr>
              <a:t>book-search-app/</a:t>
            </a:r>
            <a:endParaRPr lang="en-US" sz="1100" dirty="0"/>
          </a:p>
        </p:txBody>
      </p:sp>
      <p:sp>
        <p:nvSpPr>
          <p:cNvPr id="33" name="Text 31"/>
          <p:cNvSpPr txBox="1"/>
          <p:nvPr/>
        </p:nvSpPr>
        <p:spPr>
          <a:xfrm>
            <a:off x="3474720" y="3145536"/>
            <a:ext cx="5349240" cy="283464"/>
          </a:xfrm>
          <a:prstGeom prst="rect">
            <a:avLst/>
          </a:prstGeom>
          <a:noFill/>
          <a:ln/>
        </p:spPr>
        <p:txBody>
          <a:bodyPr wrap="square" lIns="0" tIns="0" rIns="0" bIns="0" rtlCol="0" anchor="t"/>
          <a:lstStyle/>
          <a:p>
            <a:pPr marL="0" indent="0" algn="l">
              <a:buNone/>
            </a:pPr>
            <a:r>
              <a:rPr lang="en-US" sz="1100" dirty="0">
                <a:solidFill>
                  <a:srgbClr val="F7DF1E"/>
                </a:solidFill>
                <a:latin typeface="Courier New" pitchFamily="34" charset="0"/>
                <a:ea typeface="Courier New" pitchFamily="34" charset="-122"/>
                <a:cs typeface="Courier New" pitchFamily="34" charset="-120"/>
              </a:rPr>
              <a:t>  src/</a:t>
            </a:r>
            <a:endParaRPr lang="en-US" sz="1100" dirty="0"/>
          </a:p>
        </p:txBody>
      </p:sp>
      <p:sp>
        <p:nvSpPr>
          <p:cNvPr id="34" name="Text 32"/>
          <p:cNvSpPr txBox="1"/>
          <p:nvPr/>
        </p:nvSpPr>
        <p:spPr>
          <a:xfrm>
            <a:off x="3474720" y="3456432"/>
            <a:ext cx="5349240" cy="283464"/>
          </a:xfrm>
          <a:prstGeom prst="rect">
            <a:avLst/>
          </a:prstGeom>
          <a:noFill/>
          <a:ln/>
        </p:spPr>
        <p:txBody>
          <a:bodyPr wrap="square" lIns="0" tIns="0" rIns="0" bIns="0" rtlCol="0" anchor="t"/>
          <a:lstStyle/>
          <a:p>
            <a:pPr marL="0" indent="0" algn="l">
              <a:buNone/>
            </a:pPr>
            <a:r>
              <a:rPr lang="en-US" sz="1100" dirty="0">
                <a:solidFill>
                  <a:srgbClr val="E06C75"/>
                </a:solidFill>
                <a:latin typeface="Courier New" pitchFamily="34" charset="0"/>
                <a:ea typeface="Courier New" pitchFamily="34" charset="-122"/>
                <a:cs typeface="Courier New" pitchFamily="34" charset="-120"/>
              </a:rPr>
              <a:t>    index.html      &lt;- NOT found!</a:t>
            </a:r>
            <a:endParaRPr lang="en-US" sz="1100" dirty="0"/>
          </a:p>
        </p:txBody>
      </p:sp>
      <p:sp>
        <p:nvSpPr>
          <p:cNvPr id="35" name="Text 33"/>
          <p:cNvSpPr txBox="1"/>
          <p:nvPr/>
        </p:nvSpPr>
        <p:spPr>
          <a:xfrm>
            <a:off x="3474720" y="3767328"/>
            <a:ext cx="5349240" cy="283464"/>
          </a:xfrm>
          <a:prstGeom prst="rect">
            <a:avLst/>
          </a:prstGeom>
          <a:noFill/>
          <a:ln/>
        </p:spPr>
        <p:txBody>
          <a:bodyPr wrap="square" lIns="0" tIns="0" rIns="0" bIns="0" rtlCol="0" anchor="t"/>
          <a:lstStyle/>
          <a:p>
            <a:pPr marL="0" indent="0" algn="l">
              <a:buNone/>
            </a:pPr>
            <a:endParaRPr lang="en-US" sz="1100" dirty="0"/>
          </a:p>
        </p:txBody>
      </p:sp>
      <p:sp>
        <p:nvSpPr>
          <p:cNvPr id="36" name="Text 34"/>
          <p:cNvSpPr txBox="1"/>
          <p:nvPr/>
        </p:nvSpPr>
        <p:spPr>
          <a:xfrm>
            <a:off x="3474720" y="4078224"/>
            <a:ext cx="5349240" cy="283464"/>
          </a:xfrm>
          <a:prstGeom prst="rect">
            <a:avLst/>
          </a:prstGeom>
          <a:noFill/>
          <a:ln/>
        </p:spPr>
        <p:txBody>
          <a:bodyPr wrap="square" lIns="0" tIns="0" rIns="0" bIns="0" rtlCol="0" anchor="t"/>
          <a:lstStyle/>
          <a:p>
            <a:pPr marL="0" indent="0" algn="l">
              <a:buNone/>
            </a:pPr>
            <a:r>
              <a:rPr lang="en-US" sz="1100" dirty="0">
                <a:solidFill>
                  <a:srgbClr val="6E7681"/>
                </a:solidFill>
                <a:latin typeface="Courier New" pitchFamily="34" charset="0"/>
                <a:ea typeface="Courier New" pitchFamily="34" charset="-122"/>
                <a:cs typeface="Courier New" pitchFamily="34" charset="-120"/>
              </a:rPr>
              <a:t># Fix: move index.html to root OR</a:t>
            </a:r>
            <a:endParaRPr lang="en-US" sz="1100" dirty="0"/>
          </a:p>
        </p:txBody>
      </p:sp>
      <p:sp>
        <p:nvSpPr>
          <p:cNvPr id="37" name="Text 35"/>
          <p:cNvSpPr txBox="1"/>
          <p:nvPr/>
        </p:nvSpPr>
        <p:spPr>
          <a:xfrm>
            <a:off x="3474720" y="4389120"/>
            <a:ext cx="5349240" cy="283464"/>
          </a:xfrm>
          <a:prstGeom prst="rect">
            <a:avLst/>
          </a:prstGeom>
          <a:noFill/>
          <a:ln/>
        </p:spPr>
        <p:txBody>
          <a:bodyPr wrap="square" lIns="0" tIns="0" rIns="0" bIns="0" rtlCol="0" anchor="t"/>
          <a:lstStyle/>
          <a:p>
            <a:pPr marL="0" indent="0" algn="l">
              <a:buNone/>
            </a:pPr>
            <a:r>
              <a:rPr lang="en-US" sz="1100" dirty="0">
                <a:solidFill>
                  <a:srgbClr val="6E7681"/>
                </a:solidFill>
                <a:latin typeface="Courier New" pitchFamily="34" charset="0"/>
                <a:ea typeface="Courier New" pitchFamily="34" charset="-122"/>
                <a:cs typeface="Courier New" pitchFamily="34" charset="-120"/>
              </a:rPr>
              <a:t># set Pages source to /src folder</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4FF"/>
          </a:solidFill>
          <a:ln/>
        </p:spPr>
      </p:sp>
      <p:sp>
        <p:nvSpPr>
          <p:cNvPr id="3" name="Text 1"/>
          <p:cNvSpPr txBox="1"/>
          <p:nvPr/>
        </p:nvSpPr>
        <p:spPr>
          <a:xfrm>
            <a:off x="365760" y="182880"/>
            <a:ext cx="8412480" cy="594360"/>
          </a:xfrm>
          <a:prstGeom prst="rect">
            <a:avLst/>
          </a:prstGeom>
          <a:noFill/>
          <a:ln/>
        </p:spPr>
        <p:txBody>
          <a:bodyPr wrap="square" lIns="0" tIns="0" rIns="0" bIns="0" rtlCol="0" anchor="ctr"/>
          <a:lstStyle/>
          <a:p>
            <a:pPr marL="0" indent="0">
              <a:buNone/>
            </a:pPr>
            <a:r>
              <a:rPr lang="en-US" sz="2400" b="1" dirty="0">
                <a:solidFill>
                  <a:srgbClr val="1A2540"/>
                </a:solidFill>
                <a:latin typeface="Calibri" pitchFamily="34" charset="0"/>
                <a:ea typeface="Calibri" pitchFamily="34" charset="-122"/>
                <a:cs typeface="Calibri" pitchFamily="34" charset="-120"/>
              </a:rPr>
              <a:t>GitHub Actions — Automation &amp; CI/CD</a:t>
            </a:r>
            <a:endParaRPr lang="en-US" sz="2400" dirty="0"/>
          </a:p>
        </p:txBody>
      </p:sp>
      <p:sp>
        <p:nvSpPr>
          <p:cNvPr id="4" name="Shape 2"/>
          <p:cNvSpPr/>
          <p:nvPr/>
        </p:nvSpPr>
        <p:spPr>
          <a:xfrm>
            <a:off x="365760" y="914400"/>
            <a:ext cx="2651760" cy="2743200"/>
          </a:xfrm>
          <a:prstGeom prst="rect">
            <a:avLst/>
          </a:prstGeom>
          <a:solidFill>
            <a:srgbClr val="1A2540"/>
          </a:solidFill>
          <a:ln/>
        </p:spPr>
      </p:sp>
      <p:sp>
        <p:nvSpPr>
          <p:cNvPr id="5" name="Text 3"/>
          <p:cNvSpPr txBox="1"/>
          <p:nvPr/>
        </p:nvSpPr>
        <p:spPr>
          <a:xfrm>
            <a:off x="365760" y="1051560"/>
            <a:ext cx="2651760" cy="640080"/>
          </a:xfrm>
          <a:prstGeom prst="rect">
            <a:avLst/>
          </a:prstGeom>
          <a:noFill/>
          <a:ln/>
        </p:spPr>
        <p:txBody>
          <a:bodyPr wrap="square" lIns="0" tIns="0" rIns="0" bIns="0" rtlCol="0" anchor="ctr"/>
          <a:lstStyle/>
          <a:p>
            <a:pPr marL="0" indent="0" algn="ctr">
              <a:buNone/>
            </a:pPr>
            <a:r>
              <a:rPr lang="en-US" sz="3000" dirty="0">
                <a:solidFill>
                  <a:srgbClr val="000000"/>
                </a:solidFill>
              </a:rPr>
              <a:t>🤖</a:t>
            </a:r>
            <a:endParaRPr lang="en-US" sz="3000" dirty="0"/>
          </a:p>
        </p:txBody>
      </p:sp>
      <p:sp>
        <p:nvSpPr>
          <p:cNvPr id="6" name="Text 4"/>
          <p:cNvSpPr txBox="1"/>
          <p:nvPr/>
        </p:nvSpPr>
        <p:spPr>
          <a:xfrm>
            <a:off x="502920" y="1737360"/>
            <a:ext cx="2377440" cy="457200"/>
          </a:xfrm>
          <a:prstGeom prst="rect">
            <a:avLst/>
          </a:prstGeom>
          <a:noFill/>
          <a:ln/>
        </p:spPr>
        <p:txBody>
          <a:bodyPr wrap="square" lIns="0" tIns="0" rIns="0" bIns="0" rtlCol="0" anchor="ctr"/>
          <a:lstStyle/>
          <a:p>
            <a:pPr marL="0" indent="0" algn="ctr">
              <a:buNone/>
            </a:pPr>
            <a:r>
              <a:rPr lang="en-US" sz="1500" b="1" dirty="0">
                <a:solidFill>
                  <a:srgbClr val="F7DF1E"/>
                </a:solidFill>
                <a:latin typeface="Calibri" pitchFamily="34" charset="0"/>
                <a:ea typeface="Calibri" pitchFamily="34" charset="-122"/>
                <a:cs typeface="Calibri" pitchFamily="34" charset="-120"/>
              </a:rPr>
              <a:t>What is it?</a:t>
            </a:r>
            <a:endParaRPr lang="en-US" sz="1500" dirty="0"/>
          </a:p>
        </p:txBody>
      </p:sp>
      <p:sp>
        <p:nvSpPr>
          <p:cNvPr id="7" name="Text 5"/>
          <p:cNvSpPr txBox="1"/>
          <p:nvPr/>
        </p:nvSpPr>
        <p:spPr>
          <a:xfrm>
            <a:off x="502920" y="2240280"/>
            <a:ext cx="2377440" cy="1280160"/>
          </a:xfrm>
          <a:prstGeom prst="rect">
            <a:avLst/>
          </a:prstGeom>
          <a:noFill/>
          <a:ln/>
        </p:spPr>
        <p:txBody>
          <a:bodyPr wrap="square" lIns="0" tIns="0" rIns="0" bIns="0" rtlCol="0" anchor="ctr"/>
          <a:lstStyle/>
          <a:p>
            <a:pPr marL="0" indent="0" algn="ctr">
              <a:buNone/>
            </a:pPr>
            <a:r>
              <a:rPr lang="en-US" sz="1200" dirty="0">
                <a:solidFill>
                  <a:srgbClr val="8892B0"/>
                </a:solidFill>
                <a:latin typeface="Calibri" pitchFamily="34" charset="0"/>
                <a:ea typeface="Calibri" pitchFamily="34" charset="-122"/>
                <a:cs typeface="Calibri" pitchFamily="34" charset="-120"/>
              </a:rPr>
              <a:t>Automated workflows that run when something happens in your repo (push, PR, schedule).</a:t>
            </a:r>
            <a:endParaRPr lang="en-US" sz="1200" dirty="0"/>
          </a:p>
        </p:txBody>
      </p:sp>
      <p:sp>
        <p:nvSpPr>
          <p:cNvPr id="8" name="Shape 6"/>
          <p:cNvSpPr/>
          <p:nvPr/>
        </p:nvSpPr>
        <p:spPr>
          <a:xfrm>
            <a:off x="3246120" y="914400"/>
            <a:ext cx="2651760" cy="2743200"/>
          </a:xfrm>
          <a:prstGeom prst="rect">
            <a:avLst/>
          </a:prstGeom>
          <a:solidFill>
            <a:srgbClr val="1A2540"/>
          </a:solidFill>
          <a:ln/>
        </p:spPr>
      </p:sp>
      <p:sp>
        <p:nvSpPr>
          <p:cNvPr id="9" name="Text 7"/>
          <p:cNvSpPr txBox="1"/>
          <p:nvPr/>
        </p:nvSpPr>
        <p:spPr>
          <a:xfrm>
            <a:off x="3246120" y="1051560"/>
            <a:ext cx="2651760" cy="640080"/>
          </a:xfrm>
          <a:prstGeom prst="rect">
            <a:avLst/>
          </a:prstGeom>
          <a:noFill/>
          <a:ln/>
        </p:spPr>
        <p:txBody>
          <a:bodyPr wrap="square" lIns="0" tIns="0" rIns="0" bIns="0" rtlCol="0" anchor="ctr"/>
          <a:lstStyle/>
          <a:p>
            <a:pPr marL="0" indent="0" algn="ctr">
              <a:buNone/>
            </a:pPr>
            <a:r>
              <a:rPr lang="en-US" sz="3000" dirty="0">
                <a:solidFill>
                  <a:srgbClr val="000000"/>
                </a:solidFill>
              </a:rPr>
              <a:t>🔁</a:t>
            </a:r>
            <a:endParaRPr lang="en-US" sz="3000" dirty="0"/>
          </a:p>
        </p:txBody>
      </p:sp>
      <p:sp>
        <p:nvSpPr>
          <p:cNvPr id="10" name="Text 8"/>
          <p:cNvSpPr txBox="1"/>
          <p:nvPr/>
        </p:nvSpPr>
        <p:spPr>
          <a:xfrm>
            <a:off x="3383280" y="1737360"/>
            <a:ext cx="2377440" cy="457200"/>
          </a:xfrm>
          <a:prstGeom prst="rect">
            <a:avLst/>
          </a:prstGeom>
          <a:noFill/>
          <a:ln/>
        </p:spPr>
        <p:txBody>
          <a:bodyPr wrap="square" lIns="0" tIns="0" rIns="0" bIns="0" rtlCol="0" anchor="ctr"/>
          <a:lstStyle/>
          <a:p>
            <a:pPr marL="0" indent="0" algn="ctr">
              <a:buNone/>
            </a:pPr>
            <a:r>
              <a:rPr lang="en-US" sz="1500" b="1" dirty="0">
                <a:solidFill>
                  <a:srgbClr val="F7DF1E"/>
                </a:solidFill>
                <a:latin typeface="Calibri" pitchFamily="34" charset="0"/>
                <a:ea typeface="Calibri" pitchFamily="34" charset="-122"/>
                <a:cs typeface="Calibri" pitchFamily="34" charset="-120"/>
              </a:rPr>
              <a:t>CI/CD Concept</a:t>
            </a:r>
            <a:endParaRPr lang="en-US" sz="1500" dirty="0"/>
          </a:p>
        </p:txBody>
      </p:sp>
      <p:sp>
        <p:nvSpPr>
          <p:cNvPr id="11" name="Text 9"/>
          <p:cNvSpPr txBox="1"/>
          <p:nvPr/>
        </p:nvSpPr>
        <p:spPr>
          <a:xfrm>
            <a:off x="3383280" y="2240280"/>
            <a:ext cx="2377440" cy="1280160"/>
          </a:xfrm>
          <a:prstGeom prst="rect">
            <a:avLst/>
          </a:prstGeom>
          <a:noFill/>
          <a:ln/>
        </p:spPr>
        <p:txBody>
          <a:bodyPr wrap="square" lIns="0" tIns="0" rIns="0" bIns="0" rtlCol="0" anchor="ctr"/>
          <a:lstStyle/>
          <a:p>
            <a:pPr marL="0" indent="0" algn="ctr">
              <a:buNone/>
            </a:pPr>
            <a:r>
              <a:rPr lang="en-US" sz="1200" dirty="0">
                <a:solidFill>
                  <a:srgbClr val="8892B0"/>
                </a:solidFill>
                <a:latin typeface="Calibri" pitchFamily="34" charset="0"/>
                <a:ea typeface="Calibri" pitchFamily="34" charset="-122"/>
                <a:cs typeface="Calibri" pitchFamily="34" charset="-120"/>
              </a:rPr>
              <a:t>CI = run tests automatically on every push. CD = deploy automatically when tests pass.</a:t>
            </a:r>
            <a:endParaRPr lang="en-US" sz="1200" dirty="0"/>
          </a:p>
        </p:txBody>
      </p:sp>
      <p:sp>
        <p:nvSpPr>
          <p:cNvPr id="12" name="Shape 10"/>
          <p:cNvSpPr/>
          <p:nvPr/>
        </p:nvSpPr>
        <p:spPr>
          <a:xfrm>
            <a:off x="6126480" y="914400"/>
            <a:ext cx="2651760" cy="2743200"/>
          </a:xfrm>
          <a:prstGeom prst="rect">
            <a:avLst/>
          </a:prstGeom>
          <a:solidFill>
            <a:srgbClr val="1A2540"/>
          </a:solidFill>
          <a:ln/>
        </p:spPr>
      </p:sp>
      <p:sp>
        <p:nvSpPr>
          <p:cNvPr id="13" name="Text 11"/>
          <p:cNvSpPr txBox="1"/>
          <p:nvPr/>
        </p:nvSpPr>
        <p:spPr>
          <a:xfrm>
            <a:off x="6126480" y="1051560"/>
            <a:ext cx="2651760" cy="640080"/>
          </a:xfrm>
          <a:prstGeom prst="rect">
            <a:avLst/>
          </a:prstGeom>
          <a:noFill/>
          <a:ln/>
        </p:spPr>
        <p:txBody>
          <a:bodyPr wrap="square" lIns="0" tIns="0" rIns="0" bIns="0" rtlCol="0" anchor="ctr"/>
          <a:lstStyle/>
          <a:p>
            <a:pPr marL="0" indent="0" algn="ctr">
              <a:buNone/>
            </a:pPr>
            <a:r>
              <a:rPr lang="en-US" sz="3000" dirty="0">
                <a:solidFill>
                  <a:srgbClr val="000000"/>
                </a:solidFill>
              </a:rPr>
              <a:t>📋</a:t>
            </a:r>
            <a:endParaRPr lang="en-US" sz="3000" dirty="0"/>
          </a:p>
        </p:txBody>
      </p:sp>
      <p:sp>
        <p:nvSpPr>
          <p:cNvPr id="14" name="Text 12"/>
          <p:cNvSpPr txBox="1"/>
          <p:nvPr/>
        </p:nvSpPr>
        <p:spPr>
          <a:xfrm>
            <a:off x="6263640" y="1737360"/>
            <a:ext cx="2377440" cy="457200"/>
          </a:xfrm>
          <a:prstGeom prst="rect">
            <a:avLst/>
          </a:prstGeom>
          <a:noFill/>
          <a:ln/>
        </p:spPr>
        <p:txBody>
          <a:bodyPr wrap="square" lIns="0" tIns="0" rIns="0" bIns="0" rtlCol="0" anchor="ctr"/>
          <a:lstStyle/>
          <a:p>
            <a:pPr marL="0" indent="0" algn="ctr">
              <a:buNone/>
            </a:pPr>
            <a:r>
              <a:rPr lang="en-US" sz="1500" b="1" dirty="0">
                <a:solidFill>
                  <a:srgbClr val="F7DF1E"/>
                </a:solidFill>
                <a:latin typeface="Calibri" pitchFamily="34" charset="0"/>
                <a:ea typeface="Calibri" pitchFamily="34" charset="-122"/>
                <a:cs typeface="Calibri" pitchFamily="34" charset="-120"/>
              </a:rPr>
              <a:t>Workflow File</a:t>
            </a:r>
            <a:endParaRPr lang="en-US" sz="1500" dirty="0"/>
          </a:p>
        </p:txBody>
      </p:sp>
      <p:sp>
        <p:nvSpPr>
          <p:cNvPr id="15" name="Text 13"/>
          <p:cNvSpPr txBox="1"/>
          <p:nvPr/>
        </p:nvSpPr>
        <p:spPr>
          <a:xfrm>
            <a:off x="6263640" y="2240280"/>
            <a:ext cx="2377440" cy="1280160"/>
          </a:xfrm>
          <a:prstGeom prst="rect">
            <a:avLst/>
          </a:prstGeom>
          <a:noFill/>
          <a:ln/>
        </p:spPr>
        <p:txBody>
          <a:bodyPr wrap="square" lIns="0" tIns="0" rIns="0" bIns="0" rtlCol="0" anchor="ctr"/>
          <a:lstStyle/>
          <a:p>
            <a:pPr marL="0" indent="0" algn="ctr">
              <a:buNone/>
            </a:pPr>
            <a:r>
              <a:rPr lang="en-US" sz="1200" dirty="0">
                <a:solidFill>
                  <a:srgbClr val="8892B0"/>
                </a:solidFill>
                <a:latin typeface="Calibri" pitchFamily="34" charset="0"/>
                <a:ea typeface="Calibri" pitchFamily="34" charset="-122"/>
                <a:cs typeface="Calibri" pitchFamily="34" charset="-120"/>
              </a:rPr>
              <a:t>A YAML file in .github/workflows/ tells GitHub WHAT to run and WHEN to run it.</a:t>
            </a:r>
            <a:endParaRPr lang="en-US" sz="1200" dirty="0"/>
          </a:p>
        </p:txBody>
      </p:sp>
      <p:sp>
        <p:nvSpPr>
          <p:cNvPr id="16" name="Shape 14"/>
          <p:cNvSpPr/>
          <p:nvPr/>
        </p:nvSpPr>
        <p:spPr>
          <a:xfrm>
            <a:off x="365760" y="3794760"/>
            <a:ext cx="8412480" cy="1143000"/>
          </a:xfrm>
          <a:prstGeom prst="rect">
            <a:avLst/>
          </a:prstGeom>
          <a:solidFill>
            <a:srgbClr val="0D1117"/>
          </a:solidFill>
          <a:ln/>
        </p:spPr>
      </p:sp>
      <p:sp>
        <p:nvSpPr>
          <p:cNvPr id="17" name="Text 15"/>
          <p:cNvSpPr txBox="1"/>
          <p:nvPr/>
        </p:nvSpPr>
        <p:spPr>
          <a:xfrm>
            <a:off x="502920" y="3858768"/>
            <a:ext cx="8046720" cy="228600"/>
          </a:xfrm>
          <a:prstGeom prst="rect">
            <a:avLst/>
          </a:prstGeom>
          <a:noFill/>
          <a:ln/>
        </p:spPr>
        <p:txBody>
          <a:bodyPr wrap="square" lIns="0" tIns="0" rIns="0" bIns="0" rtlCol="0" anchor="ctr"/>
          <a:lstStyle/>
          <a:p>
            <a:pPr marL="0" indent="0">
              <a:buNone/>
            </a:pPr>
            <a:r>
              <a:rPr lang="en-US" sz="1100" dirty="0">
                <a:solidFill>
                  <a:srgbClr val="6E7681"/>
                </a:solidFill>
                <a:latin typeface="Courier New" pitchFamily="34" charset="0"/>
                <a:ea typeface="Courier New" pitchFamily="34" charset="-122"/>
                <a:cs typeface="Courier New" pitchFamily="34" charset="-120"/>
              </a:rPr>
              <a:t>on: push    # trigger: on every push</a:t>
            </a:r>
            <a:endParaRPr lang="en-US" sz="1100" dirty="0"/>
          </a:p>
        </p:txBody>
      </p:sp>
      <p:sp>
        <p:nvSpPr>
          <p:cNvPr id="18" name="Text 16"/>
          <p:cNvSpPr txBox="1"/>
          <p:nvPr/>
        </p:nvSpPr>
        <p:spPr>
          <a:xfrm>
            <a:off x="502920" y="4105656"/>
            <a:ext cx="8046720" cy="228600"/>
          </a:xfrm>
          <a:prstGeom prst="rect">
            <a:avLst/>
          </a:prstGeom>
          <a:noFill/>
          <a:ln/>
        </p:spPr>
        <p:txBody>
          <a:bodyPr wrap="square" lIns="0" tIns="0" rIns="0" bIns="0" rtlCol="0" anchor="ctr"/>
          <a:lstStyle/>
          <a:p>
            <a:pPr marL="0" indent="0">
              <a:buNone/>
            </a:pPr>
            <a:r>
              <a:rPr lang="en-US" sz="1100" dirty="0">
                <a:solidFill>
                  <a:srgbClr val="61AFEF"/>
                </a:solidFill>
                <a:latin typeface="Courier New" pitchFamily="34" charset="0"/>
                <a:ea typeface="Courier New" pitchFamily="34" charset="-122"/>
                <a:cs typeface="Courier New" pitchFamily="34" charset="-120"/>
              </a:rPr>
              <a:t>jobs:</a:t>
            </a:r>
            <a:endParaRPr lang="en-US" sz="1100" dirty="0"/>
          </a:p>
        </p:txBody>
      </p:sp>
      <p:sp>
        <p:nvSpPr>
          <p:cNvPr id="19" name="Text 17"/>
          <p:cNvSpPr txBox="1"/>
          <p:nvPr/>
        </p:nvSpPr>
        <p:spPr>
          <a:xfrm>
            <a:off x="502920" y="4352544"/>
            <a:ext cx="8046720" cy="228600"/>
          </a:xfrm>
          <a:prstGeom prst="rect">
            <a:avLst/>
          </a:prstGeom>
          <a:noFill/>
          <a:ln/>
        </p:spPr>
        <p:txBody>
          <a:bodyPr wrap="square" lIns="0" tIns="0" rIns="0" bIns="0" rtlCol="0" anchor="ctr"/>
          <a:lstStyle/>
          <a:p>
            <a:pPr marL="0" indent="0">
              <a:buNone/>
            </a:pPr>
            <a:r>
              <a:rPr lang="en-US" sz="1100" dirty="0">
                <a:solidFill>
                  <a:srgbClr val="FFFFFF"/>
                </a:solidFill>
                <a:latin typeface="Courier New" pitchFamily="34" charset="0"/>
                <a:ea typeface="Courier New" pitchFamily="34" charset="-122"/>
                <a:cs typeface="Courier New" pitchFamily="34" charset="-120"/>
              </a:rPr>
              <a:t>  deploy:</a:t>
            </a:r>
            <a:endParaRPr lang="en-US" sz="1100" dirty="0"/>
          </a:p>
        </p:txBody>
      </p:sp>
      <p:sp>
        <p:nvSpPr>
          <p:cNvPr id="20" name="Text 18"/>
          <p:cNvSpPr txBox="1"/>
          <p:nvPr/>
        </p:nvSpPr>
        <p:spPr>
          <a:xfrm>
            <a:off x="502920" y="4599432"/>
            <a:ext cx="8046720" cy="228600"/>
          </a:xfrm>
          <a:prstGeom prst="rect">
            <a:avLst/>
          </a:prstGeom>
          <a:noFill/>
          <a:ln/>
        </p:spPr>
        <p:txBody>
          <a:bodyPr wrap="square" lIns="0" tIns="0" rIns="0" bIns="0" rtlCol="0" anchor="ctr"/>
          <a:lstStyle/>
          <a:p>
            <a:pPr marL="0" indent="0">
              <a:buNone/>
            </a:pPr>
            <a:r>
              <a:rPr lang="en-US" sz="1100" dirty="0">
                <a:solidFill>
                  <a:srgbClr val="FFFFFF"/>
                </a:solidFill>
                <a:latin typeface="Courier New" pitchFamily="34" charset="0"/>
                <a:ea typeface="Courier New" pitchFamily="34" charset="-122"/>
                <a:cs typeface="Courier New" pitchFamily="34" charset="-120"/>
              </a:rPr>
              <a:t>    runs-on: ubuntu-latest</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A2540"/>
          </a:solidFill>
          <a:ln/>
        </p:spPr>
      </p:sp>
      <p:sp>
        <p:nvSpPr>
          <p:cNvPr id="3" name="Shape 1"/>
          <p:cNvSpPr/>
          <p:nvPr/>
        </p:nvSpPr>
        <p:spPr>
          <a:xfrm>
            <a:off x="0" y="0"/>
            <a:ext cx="9144000" cy="109728"/>
          </a:xfrm>
          <a:prstGeom prst="rect">
            <a:avLst/>
          </a:prstGeom>
          <a:solidFill>
            <a:srgbClr val="F7DF1E"/>
          </a:solidFill>
          <a:ln/>
        </p:spPr>
      </p:sp>
      <p:sp>
        <p:nvSpPr>
          <p:cNvPr id="4" name="Text 2"/>
          <p:cNvSpPr txBox="1"/>
          <p:nvPr/>
        </p:nvSpPr>
        <p:spPr>
          <a:xfrm>
            <a:off x="365760" y="182880"/>
            <a:ext cx="8412480" cy="59436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Lab Activity</a:t>
            </a:r>
            <a:endParaRPr lang="en-US" sz="2800" dirty="0"/>
          </a:p>
        </p:txBody>
      </p:sp>
      <p:sp>
        <p:nvSpPr>
          <p:cNvPr id="5" name="Text 3"/>
          <p:cNvSpPr txBox="1"/>
          <p:nvPr/>
        </p:nvSpPr>
        <p:spPr>
          <a:xfrm>
            <a:off x="365760" y="822960"/>
            <a:ext cx="8412480" cy="594360"/>
          </a:xfrm>
          <a:prstGeom prst="rect">
            <a:avLst/>
          </a:prstGeom>
          <a:noFill/>
          <a:ln/>
        </p:spPr>
        <p:txBody>
          <a:bodyPr wrap="square" lIns="0" tIns="0" rIns="0" bIns="0" rtlCol="0" anchor="ctr"/>
          <a:lstStyle/>
          <a:p>
            <a:pPr marL="0" indent="0">
              <a:buNone/>
            </a:pPr>
            <a:r>
              <a:rPr lang="en-US" sz="2000" dirty="0">
                <a:solidFill>
                  <a:srgbClr val="F7DF1E"/>
                </a:solidFill>
                <a:latin typeface="Calibri" pitchFamily="34" charset="0"/>
                <a:ea typeface="Calibri" pitchFamily="34" charset="-122"/>
                <a:cs typeface="Calibri" pitchFamily="34" charset="-120"/>
              </a:rPr>
              <a:t>Deploy Your Book Search App to GitHub Pages</a:t>
            </a:r>
            <a:endParaRPr lang="en-US" sz="2000" dirty="0"/>
          </a:p>
        </p:txBody>
      </p:sp>
      <p:sp>
        <p:nvSpPr>
          <p:cNvPr id="6" name="Shape 4"/>
          <p:cNvSpPr/>
          <p:nvPr/>
        </p:nvSpPr>
        <p:spPr>
          <a:xfrm>
            <a:off x="365760" y="1691640"/>
            <a:ext cx="502920" cy="502920"/>
          </a:xfrm>
          <a:prstGeom prst="ellipse">
            <a:avLst/>
          </a:prstGeom>
          <a:solidFill>
            <a:srgbClr val="F7DF1E"/>
          </a:solidFill>
          <a:ln/>
        </p:spPr>
      </p:sp>
      <p:sp>
        <p:nvSpPr>
          <p:cNvPr id="7" name="Text 5"/>
          <p:cNvSpPr txBox="1"/>
          <p:nvPr/>
        </p:nvSpPr>
        <p:spPr>
          <a:xfrm>
            <a:off x="365760" y="1691640"/>
            <a:ext cx="502920" cy="502920"/>
          </a:xfrm>
          <a:prstGeom prst="rect">
            <a:avLst/>
          </a:prstGeom>
          <a:noFill/>
          <a:ln/>
        </p:spPr>
        <p:txBody>
          <a:bodyPr wrap="square" lIns="0" tIns="0" rIns="0" bIns="0" rtlCol="0" anchor="ctr"/>
          <a:lstStyle/>
          <a:p>
            <a:pPr marL="0" indent="0" algn="ctr">
              <a:buNone/>
            </a:pPr>
            <a:r>
              <a:rPr lang="en-US" sz="1400" b="1" dirty="0">
                <a:solidFill>
                  <a:srgbClr val="1A2540"/>
                </a:solidFill>
              </a:rPr>
              <a:t>1</a:t>
            </a:r>
            <a:endParaRPr lang="en-US" sz="1400" dirty="0"/>
          </a:p>
        </p:txBody>
      </p:sp>
      <p:sp>
        <p:nvSpPr>
          <p:cNvPr id="8" name="Text 6"/>
          <p:cNvSpPr txBox="1"/>
          <p:nvPr/>
        </p:nvSpPr>
        <p:spPr>
          <a:xfrm>
            <a:off x="960120" y="1709928"/>
            <a:ext cx="3657600" cy="36576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Verify repo structure</a:t>
            </a:r>
            <a:endParaRPr lang="en-US" sz="1400" dirty="0"/>
          </a:p>
        </p:txBody>
      </p:sp>
      <p:sp>
        <p:nvSpPr>
          <p:cNvPr id="9" name="Text 7"/>
          <p:cNvSpPr txBox="1"/>
          <p:nvPr/>
        </p:nvSpPr>
        <p:spPr>
          <a:xfrm>
            <a:off x="960120" y="2075688"/>
            <a:ext cx="3657600" cy="502920"/>
          </a:xfrm>
          <a:prstGeom prst="rect">
            <a:avLst/>
          </a:prstGeom>
          <a:noFill/>
          <a:ln/>
        </p:spPr>
        <p:txBody>
          <a:bodyPr wrap="square" lIns="0" tIns="0" rIns="0" bIns="0" rtlCol="0" anchor="ctr"/>
          <a:lstStyle/>
          <a:p>
            <a:pPr marL="0" indent="0">
              <a:buNone/>
            </a:pPr>
            <a:r>
              <a:rPr lang="en-US" sz="1100" dirty="0">
                <a:solidFill>
                  <a:srgbClr val="8892B0"/>
                </a:solidFill>
                <a:latin typeface="Calibri" pitchFamily="34" charset="0"/>
                <a:ea typeface="Calibri" pitchFamily="34" charset="-122"/>
                <a:cs typeface="Calibri" pitchFamily="34" charset="-120"/>
              </a:rPr>
              <a:t>index.html must be in root. Check with: ls -la</a:t>
            </a:r>
            <a:endParaRPr lang="en-US" sz="1100" dirty="0"/>
          </a:p>
        </p:txBody>
      </p:sp>
      <p:sp>
        <p:nvSpPr>
          <p:cNvPr id="10" name="Shape 8"/>
          <p:cNvSpPr/>
          <p:nvPr/>
        </p:nvSpPr>
        <p:spPr>
          <a:xfrm>
            <a:off x="365760" y="2880360"/>
            <a:ext cx="502920" cy="502920"/>
          </a:xfrm>
          <a:prstGeom prst="ellipse">
            <a:avLst/>
          </a:prstGeom>
          <a:solidFill>
            <a:srgbClr val="F7DF1E"/>
          </a:solidFill>
          <a:ln/>
        </p:spPr>
      </p:sp>
      <p:sp>
        <p:nvSpPr>
          <p:cNvPr id="11" name="Text 9"/>
          <p:cNvSpPr txBox="1"/>
          <p:nvPr/>
        </p:nvSpPr>
        <p:spPr>
          <a:xfrm>
            <a:off x="365760" y="2880360"/>
            <a:ext cx="502920" cy="502920"/>
          </a:xfrm>
          <a:prstGeom prst="rect">
            <a:avLst/>
          </a:prstGeom>
          <a:noFill/>
          <a:ln/>
        </p:spPr>
        <p:txBody>
          <a:bodyPr wrap="square" lIns="0" tIns="0" rIns="0" bIns="0" rtlCol="0" anchor="ctr"/>
          <a:lstStyle/>
          <a:p>
            <a:pPr marL="0" indent="0" algn="ctr">
              <a:buNone/>
            </a:pPr>
            <a:r>
              <a:rPr lang="en-US" sz="1400" b="1" dirty="0">
                <a:solidFill>
                  <a:srgbClr val="1A2540"/>
                </a:solidFill>
              </a:rPr>
              <a:t>2</a:t>
            </a:r>
            <a:endParaRPr lang="en-US" sz="1400" dirty="0"/>
          </a:p>
        </p:txBody>
      </p:sp>
      <p:sp>
        <p:nvSpPr>
          <p:cNvPr id="12" name="Text 10"/>
          <p:cNvSpPr txBox="1"/>
          <p:nvPr/>
        </p:nvSpPr>
        <p:spPr>
          <a:xfrm>
            <a:off x="960120" y="2898648"/>
            <a:ext cx="3657600" cy="36576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Push latest code</a:t>
            </a:r>
            <a:endParaRPr lang="en-US" sz="1400" dirty="0"/>
          </a:p>
        </p:txBody>
      </p:sp>
      <p:sp>
        <p:nvSpPr>
          <p:cNvPr id="13" name="Text 11"/>
          <p:cNvSpPr txBox="1"/>
          <p:nvPr/>
        </p:nvSpPr>
        <p:spPr>
          <a:xfrm>
            <a:off x="960120" y="3264408"/>
            <a:ext cx="3657600" cy="502920"/>
          </a:xfrm>
          <a:prstGeom prst="rect">
            <a:avLst/>
          </a:prstGeom>
          <a:noFill/>
          <a:ln/>
        </p:spPr>
        <p:txBody>
          <a:bodyPr wrap="square" lIns="0" tIns="0" rIns="0" bIns="0" rtlCol="0" anchor="ctr"/>
          <a:lstStyle/>
          <a:p>
            <a:pPr marL="0" indent="0">
              <a:buNone/>
            </a:pPr>
            <a:r>
              <a:rPr lang="en-US" sz="1100" dirty="0">
                <a:solidFill>
                  <a:srgbClr val="8892B0"/>
                </a:solidFill>
                <a:latin typeface="Calibri" pitchFamily="34" charset="0"/>
                <a:ea typeface="Calibri" pitchFamily="34" charset="-122"/>
                <a:cs typeface="Calibri" pitchFamily="34" charset="-120"/>
              </a:rPr>
              <a:t>git add . </a:t>
            </a:r>
          </a:p>
          <a:p>
            <a:pPr marL="0" indent="0">
              <a:buNone/>
            </a:pPr>
            <a:r>
              <a:rPr lang="en-US" sz="1100" dirty="0">
                <a:solidFill>
                  <a:srgbClr val="8892B0"/>
                </a:solidFill>
                <a:latin typeface="Calibri" pitchFamily="34" charset="0"/>
                <a:ea typeface="Calibri" pitchFamily="34" charset="-122"/>
                <a:cs typeface="Calibri" pitchFamily="34" charset="-120"/>
              </a:rPr>
              <a:t>git commit -m "Final for deployment" </a:t>
            </a:r>
          </a:p>
          <a:p>
            <a:pPr marL="0" indent="0">
              <a:buNone/>
            </a:pPr>
            <a:r>
              <a:rPr lang="en-US" sz="1100" dirty="0">
                <a:solidFill>
                  <a:srgbClr val="8892B0"/>
                </a:solidFill>
                <a:latin typeface="Calibri" pitchFamily="34" charset="0"/>
                <a:ea typeface="Calibri" pitchFamily="34" charset="-122"/>
                <a:cs typeface="Calibri" pitchFamily="34" charset="-120"/>
              </a:rPr>
              <a:t>git push origin main</a:t>
            </a:r>
            <a:endParaRPr lang="en-US" sz="1100" dirty="0"/>
          </a:p>
        </p:txBody>
      </p:sp>
      <p:sp>
        <p:nvSpPr>
          <p:cNvPr id="14" name="Shape 12"/>
          <p:cNvSpPr/>
          <p:nvPr/>
        </p:nvSpPr>
        <p:spPr>
          <a:xfrm>
            <a:off x="365760" y="4069080"/>
            <a:ext cx="502920" cy="502920"/>
          </a:xfrm>
          <a:prstGeom prst="ellipse">
            <a:avLst/>
          </a:prstGeom>
          <a:solidFill>
            <a:srgbClr val="F7DF1E"/>
          </a:solidFill>
          <a:ln/>
        </p:spPr>
      </p:sp>
      <p:sp>
        <p:nvSpPr>
          <p:cNvPr id="15" name="Text 13"/>
          <p:cNvSpPr txBox="1"/>
          <p:nvPr/>
        </p:nvSpPr>
        <p:spPr>
          <a:xfrm>
            <a:off x="365760" y="4069080"/>
            <a:ext cx="502920" cy="502920"/>
          </a:xfrm>
          <a:prstGeom prst="rect">
            <a:avLst/>
          </a:prstGeom>
          <a:noFill/>
          <a:ln/>
        </p:spPr>
        <p:txBody>
          <a:bodyPr wrap="square" lIns="0" tIns="0" rIns="0" bIns="0" rtlCol="0" anchor="ctr"/>
          <a:lstStyle/>
          <a:p>
            <a:pPr marL="0" indent="0" algn="ctr">
              <a:buNone/>
            </a:pPr>
            <a:r>
              <a:rPr lang="en-US" sz="1400" b="1" dirty="0">
                <a:solidFill>
                  <a:srgbClr val="1A2540"/>
                </a:solidFill>
              </a:rPr>
              <a:t>3</a:t>
            </a:r>
            <a:endParaRPr lang="en-US" sz="1400" dirty="0"/>
          </a:p>
        </p:txBody>
      </p:sp>
      <p:sp>
        <p:nvSpPr>
          <p:cNvPr id="16" name="Text 14"/>
          <p:cNvSpPr txBox="1"/>
          <p:nvPr/>
        </p:nvSpPr>
        <p:spPr>
          <a:xfrm>
            <a:off x="960120" y="4087368"/>
            <a:ext cx="3657600" cy="36576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Enable GitHub Pages</a:t>
            </a:r>
            <a:endParaRPr lang="en-US" sz="1400" dirty="0"/>
          </a:p>
        </p:txBody>
      </p:sp>
      <p:sp>
        <p:nvSpPr>
          <p:cNvPr id="17" name="Text 15"/>
          <p:cNvSpPr txBox="1"/>
          <p:nvPr/>
        </p:nvSpPr>
        <p:spPr>
          <a:xfrm>
            <a:off x="960120" y="4453128"/>
            <a:ext cx="3657600" cy="502920"/>
          </a:xfrm>
          <a:prstGeom prst="rect">
            <a:avLst/>
          </a:prstGeom>
          <a:noFill/>
          <a:ln/>
        </p:spPr>
        <p:txBody>
          <a:bodyPr wrap="square" lIns="0" tIns="0" rIns="0" bIns="0" rtlCol="0" anchor="ctr"/>
          <a:lstStyle/>
          <a:p>
            <a:pPr marL="0" indent="0">
              <a:buNone/>
            </a:pPr>
            <a:r>
              <a:rPr lang="en-US" sz="1100" dirty="0">
                <a:solidFill>
                  <a:srgbClr val="8892B0"/>
                </a:solidFill>
                <a:latin typeface="Calibri" pitchFamily="34" charset="0"/>
                <a:ea typeface="Calibri" pitchFamily="34" charset="-122"/>
                <a:cs typeface="Calibri" pitchFamily="34" charset="-120"/>
              </a:rPr>
              <a:t>GitHub repo → Settings → Pages → Source: main branch → Save</a:t>
            </a:r>
            <a:endParaRPr lang="en-US" sz="1100" dirty="0"/>
          </a:p>
        </p:txBody>
      </p:sp>
      <p:sp>
        <p:nvSpPr>
          <p:cNvPr id="18" name="Shape 16"/>
          <p:cNvSpPr/>
          <p:nvPr/>
        </p:nvSpPr>
        <p:spPr>
          <a:xfrm>
            <a:off x="4800600" y="1691640"/>
            <a:ext cx="502920" cy="502920"/>
          </a:xfrm>
          <a:prstGeom prst="ellipse">
            <a:avLst/>
          </a:prstGeom>
          <a:solidFill>
            <a:srgbClr val="F7DF1E"/>
          </a:solidFill>
          <a:ln/>
        </p:spPr>
      </p:sp>
      <p:sp>
        <p:nvSpPr>
          <p:cNvPr id="19" name="Text 17"/>
          <p:cNvSpPr txBox="1"/>
          <p:nvPr/>
        </p:nvSpPr>
        <p:spPr>
          <a:xfrm>
            <a:off x="4800600" y="1691640"/>
            <a:ext cx="502920" cy="502920"/>
          </a:xfrm>
          <a:prstGeom prst="rect">
            <a:avLst/>
          </a:prstGeom>
          <a:noFill/>
          <a:ln/>
        </p:spPr>
        <p:txBody>
          <a:bodyPr wrap="square" lIns="0" tIns="0" rIns="0" bIns="0" rtlCol="0" anchor="ctr"/>
          <a:lstStyle/>
          <a:p>
            <a:pPr marL="0" indent="0" algn="ctr">
              <a:buNone/>
            </a:pPr>
            <a:r>
              <a:rPr lang="en-US" sz="1400" b="1" dirty="0">
                <a:solidFill>
                  <a:srgbClr val="1A2540"/>
                </a:solidFill>
              </a:rPr>
              <a:t>4</a:t>
            </a:r>
            <a:endParaRPr lang="en-US" sz="1400" dirty="0"/>
          </a:p>
        </p:txBody>
      </p:sp>
      <p:sp>
        <p:nvSpPr>
          <p:cNvPr id="20" name="Text 18"/>
          <p:cNvSpPr txBox="1"/>
          <p:nvPr/>
        </p:nvSpPr>
        <p:spPr>
          <a:xfrm>
            <a:off x="5394960" y="1709928"/>
            <a:ext cx="3657600" cy="36576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Wait for build</a:t>
            </a:r>
            <a:endParaRPr lang="en-US" sz="1400" dirty="0"/>
          </a:p>
        </p:txBody>
      </p:sp>
      <p:sp>
        <p:nvSpPr>
          <p:cNvPr id="21" name="Text 19"/>
          <p:cNvSpPr txBox="1"/>
          <p:nvPr/>
        </p:nvSpPr>
        <p:spPr>
          <a:xfrm>
            <a:off x="5394960" y="2075688"/>
            <a:ext cx="3657600" cy="502920"/>
          </a:xfrm>
          <a:prstGeom prst="rect">
            <a:avLst/>
          </a:prstGeom>
          <a:noFill/>
          <a:ln/>
        </p:spPr>
        <p:txBody>
          <a:bodyPr wrap="square" lIns="0" tIns="0" rIns="0" bIns="0" rtlCol="0" anchor="ctr"/>
          <a:lstStyle/>
          <a:p>
            <a:pPr marL="0" indent="0">
              <a:buNone/>
            </a:pPr>
            <a:r>
              <a:rPr lang="en-US" sz="1100" dirty="0">
                <a:solidFill>
                  <a:srgbClr val="8892B0"/>
                </a:solidFill>
                <a:latin typeface="Calibri" pitchFamily="34" charset="0"/>
                <a:ea typeface="Calibri" pitchFamily="34" charset="-122"/>
                <a:cs typeface="Calibri" pitchFamily="34" charset="-120"/>
              </a:rPr>
              <a:t>~2 minutes. Refresh Settings → Pages until you see the green URL.</a:t>
            </a:r>
            <a:endParaRPr lang="en-US" sz="1100" dirty="0"/>
          </a:p>
        </p:txBody>
      </p:sp>
      <p:sp>
        <p:nvSpPr>
          <p:cNvPr id="22" name="Shape 20"/>
          <p:cNvSpPr/>
          <p:nvPr/>
        </p:nvSpPr>
        <p:spPr>
          <a:xfrm>
            <a:off x="4800600" y="2880360"/>
            <a:ext cx="502920" cy="502920"/>
          </a:xfrm>
          <a:prstGeom prst="ellipse">
            <a:avLst/>
          </a:prstGeom>
          <a:solidFill>
            <a:srgbClr val="F7DF1E"/>
          </a:solidFill>
          <a:ln/>
        </p:spPr>
      </p:sp>
      <p:sp>
        <p:nvSpPr>
          <p:cNvPr id="23" name="Text 21"/>
          <p:cNvSpPr txBox="1"/>
          <p:nvPr/>
        </p:nvSpPr>
        <p:spPr>
          <a:xfrm>
            <a:off x="4800600" y="2880360"/>
            <a:ext cx="502920" cy="502920"/>
          </a:xfrm>
          <a:prstGeom prst="rect">
            <a:avLst/>
          </a:prstGeom>
          <a:noFill/>
          <a:ln/>
        </p:spPr>
        <p:txBody>
          <a:bodyPr wrap="square" lIns="0" tIns="0" rIns="0" bIns="0" rtlCol="0" anchor="ctr"/>
          <a:lstStyle/>
          <a:p>
            <a:pPr marL="0" indent="0" algn="ctr">
              <a:buNone/>
            </a:pPr>
            <a:r>
              <a:rPr lang="en-US" sz="1400" b="1" dirty="0">
                <a:solidFill>
                  <a:srgbClr val="1A2540"/>
                </a:solidFill>
              </a:rPr>
              <a:t>5</a:t>
            </a:r>
            <a:endParaRPr lang="en-US" sz="1400" dirty="0"/>
          </a:p>
        </p:txBody>
      </p:sp>
      <p:sp>
        <p:nvSpPr>
          <p:cNvPr id="24" name="Text 22"/>
          <p:cNvSpPr txBox="1"/>
          <p:nvPr/>
        </p:nvSpPr>
        <p:spPr>
          <a:xfrm>
            <a:off x="5394960" y="2898648"/>
            <a:ext cx="3657600" cy="36576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Test your live site</a:t>
            </a:r>
            <a:endParaRPr lang="en-US" sz="1400" dirty="0"/>
          </a:p>
        </p:txBody>
      </p:sp>
      <p:sp>
        <p:nvSpPr>
          <p:cNvPr id="25" name="Text 23"/>
          <p:cNvSpPr txBox="1"/>
          <p:nvPr/>
        </p:nvSpPr>
        <p:spPr>
          <a:xfrm>
            <a:off x="5394960" y="3264408"/>
            <a:ext cx="3657600" cy="502920"/>
          </a:xfrm>
          <a:prstGeom prst="rect">
            <a:avLst/>
          </a:prstGeom>
          <a:noFill/>
          <a:ln/>
        </p:spPr>
        <p:txBody>
          <a:bodyPr wrap="square" lIns="0" tIns="0" rIns="0" bIns="0" rtlCol="0" anchor="ctr"/>
          <a:lstStyle/>
          <a:p>
            <a:pPr marL="0" indent="0">
              <a:buNone/>
            </a:pPr>
            <a:r>
              <a:rPr lang="en-US" sz="1100" dirty="0">
                <a:solidFill>
                  <a:srgbClr val="8892B0"/>
                </a:solidFill>
                <a:latin typeface="Calibri" pitchFamily="34" charset="0"/>
                <a:ea typeface="Calibri" pitchFamily="34" charset="-122"/>
                <a:cs typeface="Calibri" pitchFamily="34" charset="-120"/>
              </a:rPr>
              <a:t>Open the URL in a browser. Test search. Open on your phone!</a:t>
            </a:r>
            <a:endParaRPr lang="en-US" sz="1100" dirty="0"/>
          </a:p>
        </p:txBody>
      </p:sp>
      <p:sp>
        <p:nvSpPr>
          <p:cNvPr id="26" name="Shape 24"/>
          <p:cNvSpPr/>
          <p:nvPr/>
        </p:nvSpPr>
        <p:spPr>
          <a:xfrm>
            <a:off x="4800600" y="4069080"/>
            <a:ext cx="502920" cy="502920"/>
          </a:xfrm>
          <a:prstGeom prst="ellipse">
            <a:avLst/>
          </a:prstGeom>
          <a:solidFill>
            <a:srgbClr val="F7DF1E"/>
          </a:solidFill>
          <a:ln/>
        </p:spPr>
      </p:sp>
      <p:sp>
        <p:nvSpPr>
          <p:cNvPr id="27" name="Text 25"/>
          <p:cNvSpPr txBox="1"/>
          <p:nvPr/>
        </p:nvSpPr>
        <p:spPr>
          <a:xfrm>
            <a:off x="4800600" y="4069080"/>
            <a:ext cx="502920" cy="502920"/>
          </a:xfrm>
          <a:prstGeom prst="rect">
            <a:avLst/>
          </a:prstGeom>
          <a:noFill/>
          <a:ln/>
        </p:spPr>
        <p:txBody>
          <a:bodyPr wrap="square" lIns="0" tIns="0" rIns="0" bIns="0" rtlCol="0" anchor="ctr"/>
          <a:lstStyle/>
          <a:p>
            <a:pPr marL="0" indent="0" algn="ctr">
              <a:buNone/>
            </a:pPr>
            <a:r>
              <a:rPr lang="en-US" sz="1400" b="1" dirty="0">
                <a:solidFill>
                  <a:srgbClr val="1A2540"/>
                </a:solidFill>
              </a:rPr>
              <a:t>6</a:t>
            </a:r>
            <a:endParaRPr lang="en-US" sz="1400" dirty="0"/>
          </a:p>
        </p:txBody>
      </p:sp>
      <p:sp>
        <p:nvSpPr>
          <p:cNvPr id="28" name="Text 26"/>
          <p:cNvSpPr txBox="1"/>
          <p:nvPr/>
        </p:nvSpPr>
        <p:spPr>
          <a:xfrm>
            <a:off x="5394960" y="4087368"/>
            <a:ext cx="3657600" cy="36576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Share your URL</a:t>
            </a:r>
            <a:endParaRPr lang="en-US" sz="1400" dirty="0"/>
          </a:p>
        </p:txBody>
      </p:sp>
      <p:sp>
        <p:nvSpPr>
          <p:cNvPr id="29" name="Text 27"/>
          <p:cNvSpPr txBox="1"/>
          <p:nvPr/>
        </p:nvSpPr>
        <p:spPr>
          <a:xfrm>
            <a:off x="5394960" y="4453128"/>
            <a:ext cx="3657600" cy="502920"/>
          </a:xfrm>
          <a:prstGeom prst="rect">
            <a:avLst/>
          </a:prstGeom>
          <a:noFill/>
          <a:ln/>
        </p:spPr>
        <p:txBody>
          <a:bodyPr wrap="square" lIns="0" tIns="0" rIns="0" bIns="0" rtlCol="0" anchor="ctr"/>
          <a:lstStyle/>
          <a:p>
            <a:pPr marL="0" indent="0">
              <a:buNone/>
            </a:pPr>
            <a:r>
              <a:rPr lang="en-US" sz="1100" dirty="0">
                <a:solidFill>
                  <a:srgbClr val="8892B0"/>
                </a:solidFill>
                <a:latin typeface="Calibri" pitchFamily="34" charset="0"/>
                <a:ea typeface="Calibri" pitchFamily="34" charset="-122"/>
                <a:cs typeface="Calibri" pitchFamily="34" charset="-120"/>
              </a:rPr>
              <a:t>Post your live site URL in the week9-deploy </a:t>
            </a:r>
            <a:r>
              <a:rPr lang="en-US" altLang="ko-KR" sz="1100" dirty="0" err="1">
                <a:solidFill>
                  <a:srgbClr val="8892B0"/>
                </a:solidFill>
                <a:latin typeface="Calibri" pitchFamily="34" charset="0"/>
                <a:ea typeface="Calibri" pitchFamily="34" charset="-122"/>
                <a:cs typeface="Calibri" pitchFamily="34" charset="-120"/>
              </a:rPr>
              <a:t>Cybercampus</a:t>
            </a:r>
            <a:r>
              <a:rPr lang="en-US" sz="1100" dirty="0">
                <a:solidFill>
                  <a:srgbClr val="8892B0"/>
                </a:solidFill>
                <a:latin typeface="Calibri" pitchFamily="34" charset="0"/>
                <a:ea typeface="Calibri" pitchFamily="34" charset="-122"/>
                <a:cs typeface="Calibri" pitchFamily="34" charset="-120"/>
              </a:rPr>
              <a:t>.</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4FF"/>
          </a:solidFill>
          <a:ln/>
        </p:spPr>
      </p:sp>
      <p:sp>
        <p:nvSpPr>
          <p:cNvPr id="3" name="Text 1"/>
          <p:cNvSpPr txBox="1"/>
          <p:nvPr/>
        </p:nvSpPr>
        <p:spPr>
          <a:xfrm>
            <a:off x="365760" y="182880"/>
            <a:ext cx="8412480" cy="594360"/>
          </a:xfrm>
          <a:prstGeom prst="rect">
            <a:avLst/>
          </a:prstGeom>
          <a:noFill/>
          <a:ln/>
        </p:spPr>
        <p:txBody>
          <a:bodyPr wrap="square" lIns="0" tIns="0" rIns="0" bIns="0" rtlCol="0" anchor="ctr"/>
          <a:lstStyle/>
          <a:p>
            <a:pPr marL="0" indent="0">
              <a:buNone/>
            </a:pPr>
            <a:r>
              <a:rPr lang="en-US" sz="2600" b="1" dirty="0">
                <a:solidFill>
                  <a:srgbClr val="1A2540"/>
                </a:solidFill>
                <a:latin typeface="Calibri" pitchFamily="34" charset="0"/>
                <a:ea typeface="Calibri" pitchFamily="34" charset="-122"/>
                <a:cs typeface="Calibri" pitchFamily="34" charset="-120"/>
              </a:rPr>
              <a:t>Common Issues &amp; Fixes</a:t>
            </a:r>
            <a:endParaRPr lang="en-US" sz="2600" dirty="0"/>
          </a:p>
        </p:txBody>
      </p:sp>
      <p:sp>
        <p:nvSpPr>
          <p:cNvPr id="4" name="Shape 2"/>
          <p:cNvSpPr/>
          <p:nvPr/>
        </p:nvSpPr>
        <p:spPr>
          <a:xfrm>
            <a:off x="365760" y="914400"/>
            <a:ext cx="8412480" cy="777240"/>
          </a:xfrm>
          <a:prstGeom prst="rect">
            <a:avLst/>
          </a:prstGeom>
          <a:solidFill>
            <a:srgbClr val="FFFFFF"/>
          </a:solidFill>
          <a:ln w="12700">
            <a:solidFill>
              <a:srgbClr val="DDE2F0"/>
            </a:solidFill>
            <a:prstDash val="solid"/>
          </a:ln>
        </p:spPr>
      </p:sp>
      <p:sp>
        <p:nvSpPr>
          <p:cNvPr id="5" name="Shape 3"/>
          <p:cNvSpPr/>
          <p:nvPr/>
        </p:nvSpPr>
        <p:spPr>
          <a:xfrm>
            <a:off x="365760" y="914400"/>
            <a:ext cx="164592" cy="777240"/>
          </a:xfrm>
          <a:prstGeom prst="rect">
            <a:avLst/>
          </a:prstGeom>
          <a:solidFill>
            <a:srgbClr val="E06C75"/>
          </a:solidFill>
          <a:ln/>
        </p:spPr>
      </p:sp>
      <p:sp>
        <p:nvSpPr>
          <p:cNvPr id="6" name="Text 4"/>
          <p:cNvSpPr txBox="1"/>
          <p:nvPr/>
        </p:nvSpPr>
        <p:spPr>
          <a:xfrm>
            <a:off x="640080" y="969264"/>
            <a:ext cx="7955280" cy="292608"/>
          </a:xfrm>
          <a:prstGeom prst="rect">
            <a:avLst/>
          </a:prstGeom>
          <a:noFill/>
          <a:ln/>
        </p:spPr>
        <p:txBody>
          <a:bodyPr wrap="square" lIns="0" tIns="0" rIns="0" bIns="0" rtlCol="0" anchor="ctr"/>
          <a:lstStyle/>
          <a:p>
            <a:pPr marL="0" indent="0">
              <a:buNone/>
            </a:pPr>
            <a:r>
              <a:rPr lang="en-US" sz="1300" b="1" dirty="0">
                <a:solidFill>
                  <a:srgbClr val="1A2540"/>
                </a:solidFill>
                <a:latin typeface="Calibri" pitchFamily="34" charset="0"/>
                <a:ea typeface="Calibri" pitchFamily="34" charset="-122"/>
                <a:cs typeface="Calibri" pitchFamily="34" charset="-120"/>
              </a:rPr>
              <a:t>Problem: 404 Not Found error</a:t>
            </a:r>
            <a:endParaRPr lang="en-US" sz="1300" dirty="0"/>
          </a:p>
        </p:txBody>
      </p:sp>
      <p:sp>
        <p:nvSpPr>
          <p:cNvPr id="7" name="Text 5"/>
          <p:cNvSpPr txBox="1"/>
          <p:nvPr/>
        </p:nvSpPr>
        <p:spPr>
          <a:xfrm>
            <a:off x="640080" y="1298448"/>
            <a:ext cx="7955280" cy="320040"/>
          </a:xfrm>
          <a:prstGeom prst="rect">
            <a:avLst/>
          </a:prstGeom>
          <a:noFill/>
          <a:ln/>
        </p:spPr>
        <p:txBody>
          <a:bodyPr wrap="square" lIns="0" tIns="0" rIns="0" bIns="0" rtlCol="0" anchor="ctr"/>
          <a:lstStyle/>
          <a:p>
            <a:pPr marL="0" indent="0">
              <a:buNone/>
            </a:pPr>
            <a:r>
              <a:rPr lang="en-US" sz="1100" dirty="0">
                <a:solidFill>
                  <a:srgbClr val="4A5568"/>
                </a:solidFill>
                <a:latin typeface="Calibri" pitchFamily="34" charset="0"/>
                <a:ea typeface="Calibri" pitchFamily="34" charset="-122"/>
                <a:cs typeface="Calibri" pitchFamily="34" charset="-120"/>
              </a:rPr>
              <a:t>Fix: Check index.html is in the repo root. Rename it from Index.html or INDEX.HTML — casing matters!</a:t>
            </a:r>
            <a:endParaRPr lang="en-US" sz="1100" dirty="0"/>
          </a:p>
        </p:txBody>
      </p:sp>
      <p:sp>
        <p:nvSpPr>
          <p:cNvPr id="8" name="Shape 6"/>
          <p:cNvSpPr/>
          <p:nvPr/>
        </p:nvSpPr>
        <p:spPr>
          <a:xfrm>
            <a:off x="365760" y="1755648"/>
            <a:ext cx="8412480" cy="777240"/>
          </a:xfrm>
          <a:prstGeom prst="rect">
            <a:avLst/>
          </a:prstGeom>
          <a:solidFill>
            <a:srgbClr val="F8F9FF"/>
          </a:solidFill>
          <a:ln w="12700">
            <a:solidFill>
              <a:srgbClr val="DDE2F0"/>
            </a:solidFill>
            <a:prstDash val="solid"/>
          </a:ln>
        </p:spPr>
      </p:sp>
      <p:sp>
        <p:nvSpPr>
          <p:cNvPr id="9" name="Shape 7"/>
          <p:cNvSpPr/>
          <p:nvPr/>
        </p:nvSpPr>
        <p:spPr>
          <a:xfrm>
            <a:off x="365760" y="1755648"/>
            <a:ext cx="164592" cy="777240"/>
          </a:xfrm>
          <a:prstGeom prst="rect">
            <a:avLst/>
          </a:prstGeom>
          <a:solidFill>
            <a:srgbClr val="F7DF1E"/>
          </a:solidFill>
          <a:ln/>
        </p:spPr>
      </p:sp>
      <p:sp>
        <p:nvSpPr>
          <p:cNvPr id="10" name="Text 8"/>
          <p:cNvSpPr txBox="1"/>
          <p:nvPr/>
        </p:nvSpPr>
        <p:spPr>
          <a:xfrm>
            <a:off x="640080" y="1810512"/>
            <a:ext cx="7955280" cy="292608"/>
          </a:xfrm>
          <a:prstGeom prst="rect">
            <a:avLst/>
          </a:prstGeom>
          <a:noFill/>
          <a:ln/>
        </p:spPr>
        <p:txBody>
          <a:bodyPr wrap="square" lIns="0" tIns="0" rIns="0" bIns="0" rtlCol="0" anchor="ctr"/>
          <a:lstStyle/>
          <a:p>
            <a:pPr marL="0" indent="0">
              <a:buNone/>
            </a:pPr>
            <a:r>
              <a:rPr lang="en-US" sz="1300" b="1" dirty="0">
                <a:solidFill>
                  <a:srgbClr val="1A2540"/>
                </a:solidFill>
                <a:latin typeface="Calibri" pitchFamily="34" charset="0"/>
                <a:ea typeface="Calibri" pitchFamily="34" charset="-122"/>
                <a:cs typeface="Calibri" pitchFamily="34" charset="-120"/>
              </a:rPr>
              <a:t>Problem: Site shows old code after push</a:t>
            </a:r>
            <a:endParaRPr lang="en-US" sz="1300" dirty="0"/>
          </a:p>
        </p:txBody>
      </p:sp>
      <p:sp>
        <p:nvSpPr>
          <p:cNvPr id="11" name="Text 9"/>
          <p:cNvSpPr txBox="1"/>
          <p:nvPr/>
        </p:nvSpPr>
        <p:spPr>
          <a:xfrm>
            <a:off x="640080" y="2139696"/>
            <a:ext cx="7955280" cy="320040"/>
          </a:xfrm>
          <a:prstGeom prst="rect">
            <a:avLst/>
          </a:prstGeom>
          <a:noFill/>
          <a:ln/>
        </p:spPr>
        <p:txBody>
          <a:bodyPr wrap="square" lIns="0" tIns="0" rIns="0" bIns="0" rtlCol="0" anchor="ctr"/>
          <a:lstStyle/>
          <a:p>
            <a:pPr marL="0" indent="0">
              <a:buNone/>
            </a:pPr>
            <a:r>
              <a:rPr lang="en-US" sz="1100" dirty="0">
                <a:solidFill>
                  <a:srgbClr val="4A5568"/>
                </a:solidFill>
                <a:latin typeface="Calibri" pitchFamily="34" charset="0"/>
                <a:ea typeface="Calibri" pitchFamily="34" charset="-122"/>
                <a:cs typeface="Calibri" pitchFamily="34" charset="-120"/>
              </a:rPr>
              <a:t>Fix: Hard refresh: Ctrl+Shift+R (Windows) or Cmd+Shift+R (Mac). GitHub Pages cache can lag 1-2 minutes.</a:t>
            </a:r>
            <a:endParaRPr lang="en-US" sz="1100" dirty="0"/>
          </a:p>
        </p:txBody>
      </p:sp>
      <p:sp>
        <p:nvSpPr>
          <p:cNvPr id="12" name="Shape 10"/>
          <p:cNvSpPr/>
          <p:nvPr/>
        </p:nvSpPr>
        <p:spPr>
          <a:xfrm>
            <a:off x="365760" y="2596896"/>
            <a:ext cx="8412480" cy="777240"/>
          </a:xfrm>
          <a:prstGeom prst="rect">
            <a:avLst/>
          </a:prstGeom>
          <a:solidFill>
            <a:srgbClr val="FFFFFF"/>
          </a:solidFill>
          <a:ln w="12700">
            <a:solidFill>
              <a:srgbClr val="DDE2F0"/>
            </a:solidFill>
            <a:prstDash val="solid"/>
          </a:ln>
        </p:spPr>
      </p:sp>
      <p:sp>
        <p:nvSpPr>
          <p:cNvPr id="13" name="Shape 11"/>
          <p:cNvSpPr/>
          <p:nvPr/>
        </p:nvSpPr>
        <p:spPr>
          <a:xfrm>
            <a:off x="365760" y="2596896"/>
            <a:ext cx="164592" cy="777240"/>
          </a:xfrm>
          <a:prstGeom prst="rect">
            <a:avLst/>
          </a:prstGeom>
          <a:solidFill>
            <a:srgbClr val="E06C75"/>
          </a:solidFill>
          <a:ln/>
        </p:spPr>
      </p:sp>
      <p:sp>
        <p:nvSpPr>
          <p:cNvPr id="14" name="Text 12"/>
          <p:cNvSpPr txBox="1"/>
          <p:nvPr/>
        </p:nvSpPr>
        <p:spPr>
          <a:xfrm>
            <a:off x="640080" y="2651760"/>
            <a:ext cx="7955280" cy="292608"/>
          </a:xfrm>
          <a:prstGeom prst="rect">
            <a:avLst/>
          </a:prstGeom>
          <a:noFill/>
          <a:ln/>
        </p:spPr>
        <p:txBody>
          <a:bodyPr wrap="square" lIns="0" tIns="0" rIns="0" bIns="0" rtlCol="0" anchor="ctr"/>
          <a:lstStyle/>
          <a:p>
            <a:pPr marL="0" indent="0">
              <a:buNone/>
            </a:pPr>
            <a:r>
              <a:rPr lang="en-US" sz="1300" b="1" dirty="0">
                <a:solidFill>
                  <a:srgbClr val="1A2540"/>
                </a:solidFill>
                <a:latin typeface="Calibri" pitchFamily="34" charset="0"/>
                <a:ea typeface="Calibri" pitchFamily="34" charset="-122"/>
                <a:cs typeface="Calibri" pitchFamily="34" charset="-120"/>
              </a:rPr>
              <a:t>Problem: GitHub Pages option is grey / not available</a:t>
            </a:r>
            <a:endParaRPr lang="en-US" sz="1300" dirty="0"/>
          </a:p>
        </p:txBody>
      </p:sp>
      <p:sp>
        <p:nvSpPr>
          <p:cNvPr id="15" name="Text 13"/>
          <p:cNvSpPr txBox="1"/>
          <p:nvPr/>
        </p:nvSpPr>
        <p:spPr>
          <a:xfrm>
            <a:off x="640080" y="2980944"/>
            <a:ext cx="7955280" cy="320040"/>
          </a:xfrm>
          <a:prstGeom prst="rect">
            <a:avLst/>
          </a:prstGeom>
          <a:noFill/>
          <a:ln/>
        </p:spPr>
        <p:txBody>
          <a:bodyPr wrap="square" lIns="0" tIns="0" rIns="0" bIns="0" rtlCol="0" anchor="ctr"/>
          <a:lstStyle/>
          <a:p>
            <a:pPr marL="0" indent="0">
              <a:buNone/>
            </a:pPr>
            <a:r>
              <a:rPr lang="en-US" sz="1100" dirty="0">
                <a:solidFill>
                  <a:srgbClr val="4A5568"/>
                </a:solidFill>
                <a:latin typeface="Calibri" pitchFamily="34" charset="0"/>
                <a:ea typeface="Calibri" pitchFamily="34" charset="-122"/>
                <a:cs typeface="Calibri" pitchFamily="34" charset="-120"/>
              </a:rPr>
              <a:t>Fix: Repository must be PUBLIC. Go to Settings → General → Danger Zone → Change visibility → Public.</a:t>
            </a:r>
            <a:endParaRPr lang="en-US" sz="1100" dirty="0"/>
          </a:p>
        </p:txBody>
      </p:sp>
      <p:sp>
        <p:nvSpPr>
          <p:cNvPr id="16" name="Shape 14"/>
          <p:cNvSpPr/>
          <p:nvPr/>
        </p:nvSpPr>
        <p:spPr>
          <a:xfrm>
            <a:off x="365760" y="3438144"/>
            <a:ext cx="8412480" cy="777240"/>
          </a:xfrm>
          <a:prstGeom prst="rect">
            <a:avLst/>
          </a:prstGeom>
          <a:solidFill>
            <a:srgbClr val="F8F9FF"/>
          </a:solidFill>
          <a:ln w="12700">
            <a:solidFill>
              <a:srgbClr val="DDE2F0"/>
            </a:solidFill>
            <a:prstDash val="solid"/>
          </a:ln>
        </p:spPr>
      </p:sp>
      <p:sp>
        <p:nvSpPr>
          <p:cNvPr id="17" name="Shape 15"/>
          <p:cNvSpPr/>
          <p:nvPr/>
        </p:nvSpPr>
        <p:spPr>
          <a:xfrm>
            <a:off x="365760" y="3438144"/>
            <a:ext cx="164592" cy="777240"/>
          </a:xfrm>
          <a:prstGeom prst="rect">
            <a:avLst/>
          </a:prstGeom>
          <a:solidFill>
            <a:srgbClr val="F7DF1E"/>
          </a:solidFill>
          <a:ln/>
        </p:spPr>
      </p:sp>
      <p:sp>
        <p:nvSpPr>
          <p:cNvPr id="18" name="Text 16"/>
          <p:cNvSpPr txBox="1"/>
          <p:nvPr/>
        </p:nvSpPr>
        <p:spPr>
          <a:xfrm>
            <a:off x="640080" y="3493008"/>
            <a:ext cx="7955280" cy="292608"/>
          </a:xfrm>
          <a:prstGeom prst="rect">
            <a:avLst/>
          </a:prstGeom>
          <a:noFill/>
          <a:ln/>
        </p:spPr>
        <p:txBody>
          <a:bodyPr wrap="square" lIns="0" tIns="0" rIns="0" bIns="0" rtlCol="0" anchor="ctr"/>
          <a:lstStyle/>
          <a:p>
            <a:pPr marL="0" indent="0">
              <a:buNone/>
            </a:pPr>
            <a:r>
              <a:rPr lang="en-US" sz="1300" b="1" dirty="0">
                <a:solidFill>
                  <a:srgbClr val="1A2540"/>
                </a:solidFill>
                <a:latin typeface="Calibri" pitchFamily="34" charset="0"/>
                <a:ea typeface="Calibri" pitchFamily="34" charset="-122"/>
                <a:cs typeface="Calibri" pitchFamily="34" charset="-120"/>
              </a:rPr>
              <a:t>Problem: Images/CSS/JS not loading</a:t>
            </a:r>
            <a:endParaRPr lang="en-US" sz="1300" dirty="0"/>
          </a:p>
        </p:txBody>
      </p:sp>
      <p:sp>
        <p:nvSpPr>
          <p:cNvPr id="19" name="Text 17"/>
          <p:cNvSpPr txBox="1"/>
          <p:nvPr/>
        </p:nvSpPr>
        <p:spPr>
          <a:xfrm>
            <a:off x="640080" y="3822192"/>
            <a:ext cx="7955280" cy="320040"/>
          </a:xfrm>
          <a:prstGeom prst="rect">
            <a:avLst/>
          </a:prstGeom>
          <a:noFill/>
          <a:ln/>
        </p:spPr>
        <p:txBody>
          <a:bodyPr wrap="square" lIns="0" tIns="0" rIns="0" bIns="0" rtlCol="0" anchor="ctr"/>
          <a:lstStyle/>
          <a:p>
            <a:pPr marL="0" indent="0">
              <a:buNone/>
            </a:pPr>
            <a:r>
              <a:rPr lang="en-US" sz="1100" dirty="0">
                <a:solidFill>
                  <a:srgbClr val="4A5568"/>
                </a:solidFill>
                <a:latin typeface="Calibri" pitchFamily="34" charset="0"/>
                <a:ea typeface="Calibri" pitchFamily="34" charset="-122"/>
                <a:cs typeface="Calibri" pitchFamily="34" charset="-120"/>
              </a:rPr>
              <a:t>Fix: All file paths must be relative (./style.css not /style.css). Absolute paths break on GitHub Pages.</a:t>
            </a:r>
            <a:endParaRPr lang="en-US" sz="1100" dirty="0"/>
          </a:p>
        </p:txBody>
      </p:sp>
      <p:sp>
        <p:nvSpPr>
          <p:cNvPr id="20" name="Shape 18"/>
          <p:cNvSpPr/>
          <p:nvPr/>
        </p:nvSpPr>
        <p:spPr>
          <a:xfrm>
            <a:off x="365760" y="4279392"/>
            <a:ext cx="8412480" cy="777240"/>
          </a:xfrm>
          <a:prstGeom prst="rect">
            <a:avLst/>
          </a:prstGeom>
          <a:solidFill>
            <a:srgbClr val="FFFFFF"/>
          </a:solidFill>
          <a:ln w="12700">
            <a:solidFill>
              <a:srgbClr val="DDE2F0"/>
            </a:solidFill>
            <a:prstDash val="solid"/>
          </a:ln>
        </p:spPr>
      </p:sp>
      <p:sp>
        <p:nvSpPr>
          <p:cNvPr id="21" name="Shape 19"/>
          <p:cNvSpPr/>
          <p:nvPr/>
        </p:nvSpPr>
        <p:spPr>
          <a:xfrm>
            <a:off x="365760" y="4279392"/>
            <a:ext cx="164592" cy="777240"/>
          </a:xfrm>
          <a:prstGeom prst="rect">
            <a:avLst/>
          </a:prstGeom>
          <a:solidFill>
            <a:srgbClr val="E06C75"/>
          </a:solidFill>
          <a:ln/>
        </p:spPr>
      </p:sp>
      <p:sp>
        <p:nvSpPr>
          <p:cNvPr id="22" name="Text 20"/>
          <p:cNvSpPr txBox="1"/>
          <p:nvPr/>
        </p:nvSpPr>
        <p:spPr>
          <a:xfrm>
            <a:off x="640080" y="4334256"/>
            <a:ext cx="7955280" cy="292608"/>
          </a:xfrm>
          <a:prstGeom prst="rect">
            <a:avLst/>
          </a:prstGeom>
          <a:noFill/>
          <a:ln/>
        </p:spPr>
        <p:txBody>
          <a:bodyPr wrap="square" lIns="0" tIns="0" rIns="0" bIns="0" rtlCol="0" anchor="ctr"/>
          <a:lstStyle/>
          <a:p>
            <a:pPr marL="0" indent="0">
              <a:buNone/>
            </a:pPr>
            <a:r>
              <a:rPr lang="en-US" sz="1300" b="1" dirty="0">
                <a:solidFill>
                  <a:srgbClr val="1A2540"/>
                </a:solidFill>
                <a:latin typeface="Calibri" pitchFamily="34" charset="0"/>
                <a:ea typeface="Calibri" pitchFamily="34" charset="-122"/>
                <a:cs typeface="Calibri" pitchFamily="34" charset="-120"/>
              </a:rPr>
              <a:t>Problem: API fetch returns error on live site</a:t>
            </a:r>
            <a:endParaRPr lang="en-US" sz="1300" dirty="0"/>
          </a:p>
        </p:txBody>
      </p:sp>
      <p:sp>
        <p:nvSpPr>
          <p:cNvPr id="23" name="Text 21"/>
          <p:cNvSpPr txBox="1"/>
          <p:nvPr/>
        </p:nvSpPr>
        <p:spPr>
          <a:xfrm>
            <a:off x="640080" y="4663440"/>
            <a:ext cx="7955280" cy="320040"/>
          </a:xfrm>
          <a:prstGeom prst="rect">
            <a:avLst/>
          </a:prstGeom>
          <a:noFill/>
          <a:ln/>
        </p:spPr>
        <p:txBody>
          <a:bodyPr wrap="square" lIns="0" tIns="0" rIns="0" bIns="0" rtlCol="0" anchor="ctr"/>
          <a:lstStyle/>
          <a:p>
            <a:pPr marL="0" indent="0">
              <a:buNone/>
            </a:pPr>
            <a:r>
              <a:rPr lang="en-US" sz="1100" dirty="0">
                <a:solidFill>
                  <a:srgbClr val="4A5568"/>
                </a:solidFill>
                <a:latin typeface="Calibri" pitchFamily="34" charset="0"/>
                <a:ea typeface="Calibri" pitchFamily="34" charset="-122"/>
                <a:cs typeface="Calibri" pitchFamily="34" charset="-120"/>
              </a:rPr>
              <a:t>Fix: Check browser console. The API must allow CORS. Open Library API used in class supports CORS.</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A2540"/>
          </a:solidFill>
          <a:ln/>
        </p:spPr>
      </p:sp>
      <p:sp>
        <p:nvSpPr>
          <p:cNvPr id="3" name="Shape 1"/>
          <p:cNvSpPr/>
          <p:nvPr/>
        </p:nvSpPr>
        <p:spPr>
          <a:xfrm>
            <a:off x="0" y="0"/>
            <a:ext cx="9144000" cy="109728"/>
          </a:xfrm>
          <a:prstGeom prst="rect">
            <a:avLst/>
          </a:prstGeom>
          <a:solidFill>
            <a:srgbClr val="F7DF1E"/>
          </a:solidFill>
          <a:ln/>
        </p:spPr>
      </p:sp>
      <p:sp>
        <p:nvSpPr>
          <p:cNvPr id="4" name="Text 2"/>
          <p:cNvSpPr txBox="1"/>
          <p:nvPr/>
        </p:nvSpPr>
        <p:spPr>
          <a:xfrm>
            <a:off x="365760" y="182880"/>
            <a:ext cx="8412480" cy="594360"/>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Week 9 Summary &amp; Next Steps</a:t>
            </a:r>
            <a:endParaRPr lang="en-US" sz="2600" dirty="0"/>
          </a:p>
        </p:txBody>
      </p:sp>
      <p:sp>
        <p:nvSpPr>
          <p:cNvPr id="5" name="Text 3"/>
          <p:cNvSpPr txBox="1"/>
          <p:nvPr/>
        </p:nvSpPr>
        <p:spPr>
          <a:xfrm>
            <a:off x="365760" y="914400"/>
            <a:ext cx="4114800" cy="411480"/>
          </a:xfrm>
          <a:prstGeom prst="rect">
            <a:avLst/>
          </a:prstGeom>
          <a:noFill/>
          <a:ln/>
        </p:spPr>
        <p:txBody>
          <a:bodyPr wrap="square" lIns="0" tIns="0" rIns="0" bIns="0" rtlCol="0" anchor="ctr"/>
          <a:lstStyle/>
          <a:p>
            <a:pPr marL="0" indent="0">
              <a:buNone/>
            </a:pPr>
            <a:r>
              <a:rPr lang="en-US" sz="1500" b="1" dirty="0">
                <a:solidFill>
                  <a:srgbClr val="F7DF1E"/>
                </a:solidFill>
                <a:latin typeface="Calibri" pitchFamily="34" charset="0"/>
                <a:ea typeface="Calibri" pitchFamily="34" charset="-122"/>
                <a:cs typeface="Calibri" pitchFamily="34" charset="-120"/>
              </a:rPr>
              <a:t>This week you learned:</a:t>
            </a:r>
            <a:endParaRPr lang="en-US" sz="1500" dirty="0"/>
          </a:p>
        </p:txBody>
      </p:sp>
      <p:sp>
        <p:nvSpPr>
          <p:cNvPr id="6" name="Shape 4"/>
          <p:cNvSpPr/>
          <p:nvPr/>
        </p:nvSpPr>
        <p:spPr>
          <a:xfrm>
            <a:off x="365760" y="1389888"/>
            <a:ext cx="274320" cy="274320"/>
          </a:xfrm>
          <a:prstGeom prst="ellipse">
            <a:avLst/>
          </a:prstGeom>
          <a:solidFill>
            <a:srgbClr val="00C896"/>
          </a:solidFill>
          <a:ln/>
        </p:spPr>
      </p:sp>
      <p:sp>
        <p:nvSpPr>
          <p:cNvPr id="7" name="Text 5"/>
          <p:cNvSpPr txBox="1"/>
          <p:nvPr/>
        </p:nvSpPr>
        <p:spPr>
          <a:xfrm>
            <a:off x="749808" y="1371600"/>
            <a:ext cx="3749040" cy="310896"/>
          </a:xfrm>
          <a:prstGeom prst="rect">
            <a:avLst/>
          </a:prstGeom>
          <a:noFill/>
          <a:ln/>
        </p:spPr>
        <p:txBody>
          <a:bodyPr wrap="square" lIns="0" tIns="0" rIns="0" bIns="0" rtlCol="0" anchor="ctr"/>
          <a:lstStyle/>
          <a:p>
            <a:pPr marL="0" indent="0">
              <a:buNone/>
            </a:pPr>
            <a:r>
              <a:rPr lang="en-US" sz="1300" dirty="0">
                <a:solidFill>
                  <a:srgbClr val="8892B0"/>
                </a:solidFill>
                <a:latin typeface="Calibri" pitchFamily="34" charset="0"/>
                <a:ea typeface="Calibri" pitchFamily="34" charset="-122"/>
                <a:cs typeface="Calibri" pitchFamily="34" charset="-120"/>
              </a:rPr>
              <a:t>Git basics: init, add, commit, log</a:t>
            </a:r>
            <a:endParaRPr lang="en-US" sz="1300" dirty="0"/>
          </a:p>
        </p:txBody>
      </p:sp>
      <p:sp>
        <p:nvSpPr>
          <p:cNvPr id="8" name="Shape 6"/>
          <p:cNvSpPr/>
          <p:nvPr/>
        </p:nvSpPr>
        <p:spPr>
          <a:xfrm>
            <a:off x="365760" y="1892808"/>
            <a:ext cx="274320" cy="274320"/>
          </a:xfrm>
          <a:prstGeom prst="ellipse">
            <a:avLst/>
          </a:prstGeom>
          <a:solidFill>
            <a:srgbClr val="00C896"/>
          </a:solidFill>
          <a:ln/>
        </p:spPr>
      </p:sp>
      <p:sp>
        <p:nvSpPr>
          <p:cNvPr id="9" name="Text 7"/>
          <p:cNvSpPr txBox="1"/>
          <p:nvPr/>
        </p:nvSpPr>
        <p:spPr>
          <a:xfrm>
            <a:off x="749808" y="1874520"/>
            <a:ext cx="3749040" cy="310896"/>
          </a:xfrm>
          <a:prstGeom prst="rect">
            <a:avLst/>
          </a:prstGeom>
          <a:noFill/>
          <a:ln/>
        </p:spPr>
        <p:txBody>
          <a:bodyPr wrap="square" lIns="0" tIns="0" rIns="0" bIns="0" rtlCol="0" anchor="ctr"/>
          <a:lstStyle/>
          <a:p>
            <a:pPr marL="0" indent="0">
              <a:buNone/>
            </a:pPr>
            <a:r>
              <a:rPr lang="en-US" sz="1300" dirty="0">
                <a:solidFill>
                  <a:srgbClr val="8892B0"/>
                </a:solidFill>
                <a:latin typeface="Calibri" pitchFamily="34" charset="0"/>
                <a:ea typeface="Calibri" pitchFamily="34" charset="-122"/>
                <a:cs typeface="Calibri" pitchFamily="34" charset="-120"/>
              </a:rPr>
              <a:t>Branching and merging</a:t>
            </a:r>
            <a:endParaRPr lang="en-US" sz="1300" dirty="0"/>
          </a:p>
        </p:txBody>
      </p:sp>
      <p:sp>
        <p:nvSpPr>
          <p:cNvPr id="10" name="Shape 8"/>
          <p:cNvSpPr/>
          <p:nvPr/>
        </p:nvSpPr>
        <p:spPr>
          <a:xfrm>
            <a:off x="365760" y="2395728"/>
            <a:ext cx="274320" cy="274320"/>
          </a:xfrm>
          <a:prstGeom prst="ellipse">
            <a:avLst/>
          </a:prstGeom>
          <a:solidFill>
            <a:srgbClr val="00C896"/>
          </a:solidFill>
          <a:ln/>
        </p:spPr>
      </p:sp>
      <p:sp>
        <p:nvSpPr>
          <p:cNvPr id="11" name="Text 9"/>
          <p:cNvSpPr txBox="1"/>
          <p:nvPr/>
        </p:nvSpPr>
        <p:spPr>
          <a:xfrm>
            <a:off x="749808" y="2377440"/>
            <a:ext cx="3749040" cy="310896"/>
          </a:xfrm>
          <a:prstGeom prst="rect">
            <a:avLst/>
          </a:prstGeom>
          <a:noFill/>
          <a:ln/>
        </p:spPr>
        <p:txBody>
          <a:bodyPr wrap="square" lIns="0" tIns="0" rIns="0" bIns="0" rtlCol="0" anchor="ctr"/>
          <a:lstStyle/>
          <a:p>
            <a:pPr marL="0" indent="0">
              <a:buNone/>
            </a:pPr>
            <a:r>
              <a:rPr lang="en-US" sz="1300" dirty="0">
                <a:solidFill>
                  <a:srgbClr val="8892B0"/>
                </a:solidFill>
                <a:latin typeface="Calibri" pitchFamily="34" charset="0"/>
                <a:ea typeface="Calibri" pitchFamily="34" charset="-122"/>
                <a:cs typeface="Calibri" pitchFamily="34" charset="-120"/>
              </a:rPr>
              <a:t>Working with GitHub remote</a:t>
            </a:r>
            <a:endParaRPr lang="en-US" sz="1300" dirty="0"/>
          </a:p>
        </p:txBody>
      </p:sp>
      <p:sp>
        <p:nvSpPr>
          <p:cNvPr id="12" name="Shape 10"/>
          <p:cNvSpPr/>
          <p:nvPr/>
        </p:nvSpPr>
        <p:spPr>
          <a:xfrm>
            <a:off x="365760" y="2898648"/>
            <a:ext cx="274320" cy="274320"/>
          </a:xfrm>
          <a:prstGeom prst="ellipse">
            <a:avLst/>
          </a:prstGeom>
          <a:solidFill>
            <a:srgbClr val="00C896"/>
          </a:solidFill>
          <a:ln/>
        </p:spPr>
      </p:sp>
      <p:sp>
        <p:nvSpPr>
          <p:cNvPr id="13" name="Text 11"/>
          <p:cNvSpPr txBox="1"/>
          <p:nvPr/>
        </p:nvSpPr>
        <p:spPr>
          <a:xfrm>
            <a:off x="749808" y="2880360"/>
            <a:ext cx="3749040" cy="310896"/>
          </a:xfrm>
          <a:prstGeom prst="rect">
            <a:avLst/>
          </a:prstGeom>
          <a:noFill/>
          <a:ln/>
        </p:spPr>
        <p:txBody>
          <a:bodyPr wrap="square" lIns="0" tIns="0" rIns="0" bIns="0" rtlCol="0" anchor="ctr"/>
          <a:lstStyle/>
          <a:p>
            <a:pPr marL="0" indent="0">
              <a:buNone/>
            </a:pPr>
            <a:r>
              <a:rPr lang="en-US" sz="1300" dirty="0">
                <a:solidFill>
                  <a:srgbClr val="8892B0"/>
                </a:solidFill>
                <a:latin typeface="Calibri" pitchFamily="34" charset="0"/>
                <a:ea typeface="Calibri" pitchFamily="34" charset="-122"/>
                <a:cs typeface="Calibri" pitchFamily="34" charset="-120"/>
              </a:rPr>
              <a:t>GitHub Pages deployment</a:t>
            </a:r>
            <a:endParaRPr lang="en-US" sz="1300" dirty="0"/>
          </a:p>
        </p:txBody>
      </p:sp>
      <p:sp>
        <p:nvSpPr>
          <p:cNvPr id="14" name="Shape 12"/>
          <p:cNvSpPr/>
          <p:nvPr/>
        </p:nvSpPr>
        <p:spPr>
          <a:xfrm>
            <a:off x="365760" y="3401568"/>
            <a:ext cx="274320" cy="274320"/>
          </a:xfrm>
          <a:prstGeom prst="ellipse">
            <a:avLst/>
          </a:prstGeom>
          <a:solidFill>
            <a:srgbClr val="00C896"/>
          </a:solidFill>
          <a:ln/>
        </p:spPr>
      </p:sp>
      <p:sp>
        <p:nvSpPr>
          <p:cNvPr id="15" name="Text 13"/>
          <p:cNvSpPr txBox="1"/>
          <p:nvPr/>
        </p:nvSpPr>
        <p:spPr>
          <a:xfrm>
            <a:off x="749808" y="3383280"/>
            <a:ext cx="3749040" cy="310896"/>
          </a:xfrm>
          <a:prstGeom prst="rect">
            <a:avLst/>
          </a:prstGeom>
          <a:noFill/>
          <a:ln/>
        </p:spPr>
        <p:txBody>
          <a:bodyPr wrap="square" lIns="0" tIns="0" rIns="0" bIns="0" rtlCol="0" anchor="ctr"/>
          <a:lstStyle/>
          <a:p>
            <a:pPr marL="0" indent="0">
              <a:buNone/>
            </a:pPr>
            <a:r>
              <a:rPr lang="en-US" sz="1300" dirty="0">
                <a:solidFill>
                  <a:srgbClr val="8892B0"/>
                </a:solidFill>
                <a:latin typeface="Calibri" pitchFamily="34" charset="0"/>
                <a:ea typeface="Calibri" pitchFamily="34" charset="-122"/>
                <a:cs typeface="Calibri" pitchFamily="34" charset="-120"/>
              </a:rPr>
              <a:t>Static vs dynamic site hosting</a:t>
            </a:r>
            <a:endParaRPr lang="en-US" sz="1300" dirty="0"/>
          </a:p>
        </p:txBody>
      </p:sp>
      <p:sp>
        <p:nvSpPr>
          <p:cNvPr id="16" name="Shape 14"/>
          <p:cNvSpPr/>
          <p:nvPr/>
        </p:nvSpPr>
        <p:spPr>
          <a:xfrm>
            <a:off x="365760" y="3904488"/>
            <a:ext cx="274320" cy="274320"/>
          </a:xfrm>
          <a:prstGeom prst="ellipse">
            <a:avLst/>
          </a:prstGeom>
          <a:solidFill>
            <a:srgbClr val="00C896"/>
          </a:solidFill>
          <a:ln/>
        </p:spPr>
      </p:sp>
      <p:sp>
        <p:nvSpPr>
          <p:cNvPr id="17" name="Text 15"/>
          <p:cNvSpPr txBox="1"/>
          <p:nvPr/>
        </p:nvSpPr>
        <p:spPr>
          <a:xfrm>
            <a:off x="749808" y="3886200"/>
            <a:ext cx="3749040" cy="310896"/>
          </a:xfrm>
          <a:prstGeom prst="rect">
            <a:avLst/>
          </a:prstGeom>
          <a:noFill/>
          <a:ln/>
        </p:spPr>
        <p:txBody>
          <a:bodyPr wrap="square" lIns="0" tIns="0" rIns="0" bIns="0" rtlCol="0" anchor="ctr"/>
          <a:lstStyle/>
          <a:p>
            <a:pPr marL="0" indent="0">
              <a:buNone/>
            </a:pPr>
            <a:r>
              <a:rPr lang="en-US" sz="1300" dirty="0">
                <a:solidFill>
                  <a:srgbClr val="8892B0"/>
                </a:solidFill>
                <a:latin typeface="Calibri" pitchFamily="34" charset="0"/>
                <a:ea typeface="Calibri" pitchFamily="34" charset="-122"/>
                <a:cs typeface="Calibri" pitchFamily="34" charset="-120"/>
              </a:rPr>
              <a:t>GitHub Actions (concept)</a:t>
            </a:r>
            <a:endParaRPr lang="en-US" sz="1300" dirty="0"/>
          </a:p>
        </p:txBody>
      </p:sp>
      <p:sp>
        <p:nvSpPr>
          <p:cNvPr id="18" name="Text 16"/>
          <p:cNvSpPr txBox="1"/>
          <p:nvPr/>
        </p:nvSpPr>
        <p:spPr>
          <a:xfrm>
            <a:off x="4937760" y="914400"/>
            <a:ext cx="3840480" cy="411480"/>
          </a:xfrm>
          <a:prstGeom prst="rect">
            <a:avLst/>
          </a:prstGeom>
          <a:noFill/>
          <a:ln/>
        </p:spPr>
        <p:txBody>
          <a:bodyPr wrap="square" lIns="0" tIns="0" rIns="0" bIns="0" rtlCol="0" anchor="ctr"/>
          <a:lstStyle/>
          <a:p>
            <a:pPr marL="0" indent="0">
              <a:buNone/>
            </a:pPr>
            <a:r>
              <a:rPr lang="en-US" sz="1500" b="1" dirty="0">
                <a:solidFill>
                  <a:srgbClr val="F7DF1E"/>
                </a:solidFill>
                <a:latin typeface="Calibri" pitchFamily="34" charset="0"/>
                <a:ea typeface="Calibri" pitchFamily="34" charset="-122"/>
                <a:cs typeface="Calibri" pitchFamily="34" charset="-120"/>
              </a:rPr>
              <a:t>Coming up:</a:t>
            </a:r>
            <a:endParaRPr lang="en-US" sz="1500" dirty="0"/>
          </a:p>
        </p:txBody>
      </p:sp>
      <p:sp>
        <p:nvSpPr>
          <p:cNvPr id="19" name="Shape 17"/>
          <p:cNvSpPr/>
          <p:nvPr/>
        </p:nvSpPr>
        <p:spPr>
          <a:xfrm>
            <a:off x="4937760" y="1389888"/>
            <a:ext cx="3840480" cy="868680"/>
          </a:xfrm>
          <a:prstGeom prst="rect">
            <a:avLst/>
          </a:prstGeom>
          <a:solidFill>
            <a:srgbClr val="1E3060"/>
          </a:solidFill>
          <a:ln/>
        </p:spPr>
      </p:sp>
      <p:sp>
        <p:nvSpPr>
          <p:cNvPr id="20" name="Text 18"/>
          <p:cNvSpPr txBox="1"/>
          <p:nvPr/>
        </p:nvSpPr>
        <p:spPr>
          <a:xfrm>
            <a:off x="5074920" y="1444752"/>
            <a:ext cx="3657600" cy="320040"/>
          </a:xfrm>
          <a:prstGeom prst="rect">
            <a:avLst/>
          </a:prstGeom>
          <a:noFill/>
          <a:ln/>
        </p:spPr>
        <p:txBody>
          <a:bodyPr wrap="square" lIns="0" tIns="0" rIns="0" bIns="0" rtlCol="0" anchor="ctr"/>
          <a:lstStyle/>
          <a:p>
            <a:pPr marL="0" indent="0">
              <a:buNone/>
            </a:pPr>
            <a:r>
              <a:rPr lang="en-US" sz="1300" b="1" dirty="0">
                <a:solidFill>
                  <a:srgbClr val="F7DF1E"/>
                </a:solidFill>
                <a:latin typeface="Calibri" pitchFamily="34" charset="0"/>
                <a:ea typeface="Calibri" pitchFamily="34" charset="-122"/>
                <a:cs typeface="Calibri" pitchFamily="34" charset="-120"/>
              </a:rPr>
              <a:t>Week 10</a:t>
            </a:r>
            <a:endParaRPr lang="en-US" sz="1300" dirty="0"/>
          </a:p>
        </p:txBody>
      </p:sp>
      <p:sp>
        <p:nvSpPr>
          <p:cNvPr id="21" name="Text 19"/>
          <p:cNvSpPr txBox="1"/>
          <p:nvPr/>
        </p:nvSpPr>
        <p:spPr>
          <a:xfrm>
            <a:off x="5074920" y="1737360"/>
            <a:ext cx="3657600" cy="411480"/>
          </a:xfrm>
          <a:prstGeom prst="rect">
            <a:avLst/>
          </a:prstGeom>
          <a:noFill/>
          <a:ln/>
        </p:spPr>
        <p:txBody>
          <a:bodyPr wrap="square" lIns="0" tIns="0" rIns="0" bIns="0" rtlCol="0" anchor="ctr"/>
          <a:lstStyle/>
          <a:p>
            <a:pPr marL="0" indent="0">
              <a:buNone/>
            </a:pPr>
            <a:r>
              <a:rPr lang="en-US" sz="1200" dirty="0">
                <a:solidFill>
                  <a:srgbClr val="8892B0"/>
                </a:solidFill>
                <a:latin typeface="Calibri" pitchFamily="34" charset="0"/>
                <a:ea typeface="Calibri" pitchFamily="34" charset="-122"/>
                <a:cs typeface="Calibri" pitchFamily="34" charset="-120"/>
              </a:rPr>
              <a:t>Team Project Kickoff — plan, repo setup, first commits</a:t>
            </a:r>
            <a:endParaRPr lang="en-US" sz="1200" dirty="0"/>
          </a:p>
        </p:txBody>
      </p:sp>
      <p:sp>
        <p:nvSpPr>
          <p:cNvPr id="22" name="Shape 20"/>
          <p:cNvSpPr/>
          <p:nvPr/>
        </p:nvSpPr>
        <p:spPr>
          <a:xfrm>
            <a:off x="4937760" y="2395728"/>
            <a:ext cx="3840480" cy="868680"/>
          </a:xfrm>
          <a:prstGeom prst="rect">
            <a:avLst/>
          </a:prstGeom>
          <a:solidFill>
            <a:srgbClr val="1E3060"/>
          </a:solidFill>
          <a:ln/>
        </p:spPr>
      </p:sp>
      <p:sp>
        <p:nvSpPr>
          <p:cNvPr id="23" name="Text 21"/>
          <p:cNvSpPr txBox="1"/>
          <p:nvPr/>
        </p:nvSpPr>
        <p:spPr>
          <a:xfrm>
            <a:off x="5074920" y="2450592"/>
            <a:ext cx="3657600" cy="320040"/>
          </a:xfrm>
          <a:prstGeom prst="rect">
            <a:avLst/>
          </a:prstGeom>
          <a:noFill/>
          <a:ln/>
        </p:spPr>
        <p:txBody>
          <a:bodyPr wrap="square" lIns="0" tIns="0" rIns="0" bIns="0" rtlCol="0" anchor="ctr"/>
          <a:lstStyle/>
          <a:p>
            <a:pPr marL="0" indent="0">
              <a:buNone/>
            </a:pPr>
            <a:r>
              <a:rPr lang="en-US" sz="1300" b="1" dirty="0">
                <a:solidFill>
                  <a:srgbClr val="F7DF1E"/>
                </a:solidFill>
                <a:latin typeface="Calibri" pitchFamily="34" charset="0"/>
                <a:ea typeface="Calibri" pitchFamily="34" charset="-122"/>
                <a:cs typeface="Calibri" pitchFamily="34" charset="-120"/>
              </a:rPr>
              <a:t>Week 11</a:t>
            </a:r>
            <a:endParaRPr lang="en-US" sz="1300" dirty="0"/>
          </a:p>
        </p:txBody>
      </p:sp>
      <p:sp>
        <p:nvSpPr>
          <p:cNvPr id="24" name="Text 22"/>
          <p:cNvSpPr txBox="1"/>
          <p:nvPr/>
        </p:nvSpPr>
        <p:spPr>
          <a:xfrm>
            <a:off x="5074920" y="2743200"/>
            <a:ext cx="3657600" cy="411480"/>
          </a:xfrm>
          <a:prstGeom prst="rect">
            <a:avLst/>
          </a:prstGeom>
          <a:noFill/>
          <a:ln/>
        </p:spPr>
        <p:txBody>
          <a:bodyPr wrap="square" lIns="0" tIns="0" rIns="0" bIns="0" rtlCol="0" anchor="ctr"/>
          <a:lstStyle/>
          <a:p>
            <a:pPr marL="0" indent="0">
              <a:buNone/>
            </a:pPr>
            <a:r>
              <a:rPr lang="en-US" sz="1200" dirty="0">
                <a:solidFill>
                  <a:srgbClr val="8892B0"/>
                </a:solidFill>
                <a:latin typeface="Calibri" pitchFamily="34" charset="0"/>
                <a:ea typeface="Calibri" pitchFamily="34" charset="-122"/>
                <a:cs typeface="Calibri" pitchFamily="34" charset="-120"/>
              </a:rPr>
              <a:t>Advanced JS — Promises, async/await, APIs in depth</a:t>
            </a:r>
            <a:endParaRPr lang="en-US" sz="1200" dirty="0"/>
          </a:p>
        </p:txBody>
      </p:sp>
      <p:sp>
        <p:nvSpPr>
          <p:cNvPr id="25" name="Shape 23"/>
          <p:cNvSpPr/>
          <p:nvPr/>
        </p:nvSpPr>
        <p:spPr>
          <a:xfrm>
            <a:off x="4937760" y="3401568"/>
            <a:ext cx="3840480" cy="868680"/>
          </a:xfrm>
          <a:prstGeom prst="rect">
            <a:avLst/>
          </a:prstGeom>
          <a:solidFill>
            <a:srgbClr val="1E3060"/>
          </a:solidFill>
          <a:ln/>
        </p:spPr>
      </p:sp>
      <p:sp>
        <p:nvSpPr>
          <p:cNvPr id="26" name="Text 24"/>
          <p:cNvSpPr txBox="1"/>
          <p:nvPr/>
        </p:nvSpPr>
        <p:spPr>
          <a:xfrm>
            <a:off x="5074920" y="3456432"/>
            <a:ext cx="3657600" cy="320040"/>
          </a:xfrm>
          <a:prstGeom prst="rect">
            <a:avLst/>
          </a:prstGeom>
          <a:noFill/>
          <a:ln/>
        </p:spPr>
        <p:txBody>
          <a:bodyPr wrap="square" lIns="0" tIns="0" rIns="0" bIns="0" rtlCol="0" anchor="ctr"/>
          <a:lstStyle/>
          <a:p>
            <a:pPr marL="0" indent="0">
              <a:buNone/>
            </a:pPr>
            <a:r>
              <a:rPr lang="en-US" sz="1300" b="1" dirty="0">
                <a:solidFill>
                  <a:srgbClr val="F7DF1E"/>
                </a:solidFill>
                <a:latin typeface="Calibri" pitchFamily="34" charset="0"/>
                <a:ea typeface="Calibri" pitchFamily="34" charset="-122"/>
                <a:cs typeface="Calibri" pitchFamily="34" charset="-120"/>
              </a:rPr>
              <a:t>Week 12</a:t>
            </a:r>
            <a:endParaRPr lang="en-US" sz="1300" dirty="0"/>
          </a:p>
        </p:txBody>
      </p:sp>
      <p:sp>
        <p:nvSpPr>
          <p:cNvPr id="27" name="Text 25"/>
          <p:cNvSpPr txBox="1"/>
          <p:nvPr/>
        </p:nvSpPr>
        <p:spPr>
          <a:xfrm>
            <a:off x="5074920" y="3749040"/>
            <a:ext cx="3657600" cy="411480"/>
          </a:xfrm>
          <a:prstGeom prst="rect">
            <a:avLst/>
          </a:prstGeom>
          <a:noFill/>
          <a:ln/>
        </p:spPr>
        <p:txBody>
          <a:bodyPr wrap="square" lIns="0" tIns="0" rIns="0" bIns="0" rtlCol="0" anchor="ctr"/>
          <a:lstStyle/>
          <a:p>
            <a:pPr marL="0" indent="0">
              <a:buNone/>
            </a:pPr>
            <a:r>
              <a:rPr lang="en-US" sz="1200" dirty="0">
                <a:solidFill>
                  <a:srgbClr val="8892B0"/>
                </a:solidFill>
                <a:latin typeface="Calibri" pitchFamily="34" charset="0"/>
                <a:ea typeface="Calibri" pitchFamily="34" charset="-122"/>
                <a:cs typeface="Calibri" pitchFamily="34" charset="-120"/>
              </a:rPr>
              <a:t>Backend intro — Node.js + Express server deployment</a:t>
            </a:r>
            <a:endParaRPr lang="en-US" sz="1200" dirty="0"/>
          </a:p>
        </p:txBody>
      </p:sp>
      <p:sp>
        <p:nvSpPr>
          <p:cNvPr id="28" name="Shape 26"/>
          <p:cNvSpPr/>
          <p:nvPr/>
        </p:nvSpPr>
        <p:spPr>
          <a:xfrm>
            <a:off x="365760" y="4251960"/>
            <a:ext cx="8412480" cy="713232"/>
          </a:xfrm>
          <a:prstGeom prst="rect">
            <a:avLst/>
          </a:prstGeom>
          <a:solidFill>
            <a:srgbClr val="1E3060"/>
          </a:solidFill>
          <a:ln w="19050">
            <a:solidFill>
              <a:srgbClr val="F7DF1E"/>
            </a:solidFill>
            <a:prstDash val="solid"/>
          </a:ln>
        </p:spPr>
      </p:sp>
      <p:sp>
        <p:nvSpPr>
          <p:cNvPr id="29" name="Text 27"/>
          <p:cNvSpPr txBox="1"/>
          <p:nvPr/>
        </p:nvSpPr>
        <p:spPr>
          <a:xfrm>
            <a:off x="502920" y="4297680"/>
            <a:ext cx="8229600" cy="621792"/>
          </a:xfrm>
          <a:prstGeom prst="rect">
            <a:avLst/>
          </a:prstGeom>
          <a:noFill/>
          <a:ln/>
        </p:spPr>
        <p:txBody>
          <a:bodyPr wrap="square" lIns="0" tIns="0" rIns="0" bIns="0" rtlCol="0" anchor="ctr"/>
          <a:lstStyle/>
          <a:p>
            <a:pPr marL="0" indent="0">
              <a:buNone/>
            </a:pPr>
            <a:r>
              <a:rPr lang="en-US" sz="1200" dirty="0">
                <a:solidFill>
                  <a:srgbClr val="F7DF1E"/>
                </a:solidFill>
                <a:latin typeface="Calibri" pitchFamily="34" charset="0"/>
                <a:ea typeface="Calibri" pitchFamily="34" charset="-122"/>
                <a:cs typeface="Calibri" pitchFamily="34" charset="-120"/>
              </a:rPr>
              <a:t>HOMEWORK: Add form validation to your team project contact/signup form (from Friday's Monday class notes). Share your GitHub Pages URL + PR link on </a:t>
            </a:r>
            <a:r>
              <a:rPr lang="en-US" sz="1200">
                <a:solidFill>
                  <a:srgbClr val="F7DF1E"/>
                </a:solidFill>
                <a:latin typeface="Calibri" pitchFamily="34" charset="0"/>
                <a:ea typeface="Calibri" pitchFamily="34" charset="-122"/>
                <a:cs typeface="Calibri" pitchFamily="34" charset="-120"/>
              </a:rPr>
              <a:t>Cybercampus </a:t>
            </a:r>
            <a:r>
              <a:rPr lang="en-US" sz="1200" dirty="0">
                <a:solidFill>
                  <a:srgbClr val="F7DF1E"/>
                </a:solidFill>
                <a:latin typeface="Calibri" pitchFamily="34" charset="0"/>
                <a:ea typeface="Calibri" pitchFamily="34" charset="-122"/>
                <a:cs typeface="Calibri" pitchFamily="34" charset="-120"/>
              </a:rPr>
              <a:t>by Sunday.</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17</TotalTime>
  <Words>1980</Words>
  <Application>Microsoft Office PowerPoint</Application>
  <PresentationFormat>On-screen Show (16:9)</PresentationFormat>
  <Paragraphs>210</Paragraphs>
  <Slides>11</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Calibri</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Gachon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Deploying Your Website</dc:title>
  <dc:subject>PptxGenJS Presentation</dc:subject>
  <dc:creator>Dr. Mukhiddin Toshpulatov</dc:creator>
  <cp:lastModifiedBy>Mukhiddin Toshpulatov</cp:lastModifiedBy>
  <cp:revision>9</cp:revision>
  <dcterms:created xsi:type="dcterms:W3CDTF">2026-10-21T06:50:05Z</dcterms:created>
  <dcterms:modified xsi:type="dcterms:W3CDTF">2026-10-21T08:00:09Z</dcterms:modified>
</cp:coreProperties>
</file>