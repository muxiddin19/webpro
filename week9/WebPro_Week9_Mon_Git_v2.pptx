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with the pain point: "Who has done file_v1, file_v2, file_FINAL, file_FINAL2?" Git automates that.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confusion is universal among beginners. Git is the local tool. GitHub is a website. Other platforms: GitLab, Bitbucket.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diagram is the most important concept slide. The three-stage model is unique to Git. The staging area lets you commit ONLY some of your changes.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demo! Open a terminal and type every command as you teach. Students follow along. git init creates a hidden .git folder — the database.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git log is your history book. Each commit has a unique hash. git diff shows EXACTLY what changed. Commit messages matter — make them descriptive!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Branching is where Git becomes truly powerful. main = stable production code, feature branches = active development.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Branches are just pointers to commits — extremely cheap to create. NEVER commit directly to main. Always use feature branches.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-u flag on first push sets upstream, so future pushes are just "git push". git pull = git fetch + git merge. Always pull before you push.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open-source contribution workflow AND the team project workflow. Pull Requests are how you review each other's code before merging.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every student follow along. Pause after each command. Expected duration: 15-20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homework forces them to create their first real GitHub repo. Friday's lecture (GitHub Pages) builds directly on this.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7315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MODULE  ·  Week 9  ·  Mon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&amp;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Version Control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7889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changes. Collaborate fearlessly. Never lose work.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0" y="46634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K0126002  ·  Gachon University  ·  2026 Fall  ·  Dr. Toshpulatov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Version Control?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960120"/>
            <a:ext cx="2834640" cy="3840480"/>
          </a:xfrm>
          <a:prstGeom prst="rect">
            <a:avLst/>
          </a:prstGeom>
          <a:solidFill>
            <a:srgbClr val="152038"/>
          </a:solidFill>
          <a:ln w="25400">
            <a:solidFill>
              <a:srgbClr val="F7DF1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74320" y="109728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📸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347472" y="1783080"/>
            <a:ext cx="26883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Changes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347472" y="2286000"/>
            <a:ext cx="2688336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save is a snapshot. See exactly what changed, when, and who changed it.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27832" y="960120"/>
            <a:ext cx="2834640" cy="3840480"/>
          </a:xfrm>
          <a:prstGeom prst="rect">
            <a:avLst/>
          </a:prstGeom>
          <a:solidFill>
            <a:srgbClr val="152038"/>
          </a:solidFill>
          <a:ln w="25400">
            <a:solidFill>
              <a:srgbClr val="40A0E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27832" y="109728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🔙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3300984" y="1783080"/>
            <a:ext cx="26883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Anytime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300984" y="2286000"/>
            <a:ext cx="2688336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 something? Rewind to any previous working state in seconds.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81344" y="960120"/>
            <a:ext cx="2834640" cy="3840480"/>
          </a:xfrm>
          <a:prstGeom prst="rect">
            <a:avLst/>
          </a:prstGeom>
          <a:solidFill>
            <a:srgbClr val="152038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81344" y="109728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🤝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6254496" y="1783080"/>
            <a:ext cx="26883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Collaborate Safely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254496" y="2286000"/>
            <a:ext cx="2688336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people edit the same project without overwriting each other.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vs GitHub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914400"/>
            <a:ext cx="4160520" cy="3840480"/>
          </a:xfrm>
          <a:prstGeom prst="rect">
            <a:avLst/>
          </a:prstGeom>
          <a:solidFill>
            <a:srgbClr val="152038"/>
          </a:solidFill>
          <a:ln w="25400">
            <a:solidFill>
              <a:srgbClr val="F7DF1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74320" y="1051560"/>
            <a:ext cx="4160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173736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212848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Free, open-source tool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670048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Runs on YOUR computer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127248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Tracks changes locally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584448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Works offline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09160" y="914400"/>
            <a:ext cx="4160520" cy="3840480"/>
          </a:xfrm>
          <a:prstGeom prst="rect">
            <a:avLst/>
          </a:prstGeom>
          <a:solidFill>
            <a:srgbClr val="152038"/>
          </a:solidFill>
          <a:ln w="25400">
            <a:solidFill>
              <a:srgbClr val="40A0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09160" y="1051560"/>
            <a:ext cx="4160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0A0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GH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4800600" y="173736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800600" y="2212848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Cloud hosting platform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800600" y="2670048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Stores your Git repos online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800600" y="3127248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Team collaboration hub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800600" y="3584448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Free for public repos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274320" y="47091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Analogy: Git = MS Word Track Changes (local)  |  GitHub = Google Drive (cloud sharing)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Git Workflow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914400"/>
            <a:ext cx="2743200" cy="3017520"/>
          </a:xfrm>
          <a:prstGeom prst="rect">
            <a:avLst/>
          </a:prstGeom>
          <a:solidFill>
            <a:srgbClr val="152038"/>
          </a:solidFill>
          <a:ln w="25400">
            <a:solidFill>
              <a:srgbClr val="F7DF1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74320" y="10058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📁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1627632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23317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project files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(edited, not saved to Git)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0" y="914400"/>
            <a:ext cx="2743200" cy="3017520"/>
          </a:xfrm>
          <a:prstGeom prst="rect">
            <a:avLst/>
          </a:prstGeom>
          <a:solidFill>
            <a:srgbClr val="152038"/>
          </a:solidFill>
          <a:ln w="25400">
            <a:solidFill>
              <a:srgbClr val="40A0E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00400" y="10058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📋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3291840" y="1627632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291840" y="23317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queued for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commit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914400"/>
            <a:ext cx="2743200" cy="3017520"/>
          </a:xfrm>
          <a:prstGeom prst="rect">
            <a:avLst/>
          </a:prstGeom>
          <a:solidFill>
            <a:srgbClr val="152038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26480" y="10058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🗄️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1627632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23317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 history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(all your commits)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880360" y="20574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2788920" y="25603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add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5806440" y="20574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5669280" y="256032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commit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4160520"/>
            <a:ext cx="8595360" cy="685800"/>
          </a:xfrm>
          <a:prstGeom prst="rect">
            <a:avLst/>
          </a:prstGeom>
          <a:solidFill>
            <a:srgbClr val="162840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65760" y="42062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Repository (GitHub)  ←  git push  /  git pull  →  teammates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1828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QUICK QUIZ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64008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does `git init` do?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874520"/>
            <a:ext cx="3931920" cy="777240"/>
          </a:xfrm>
          <a:prstGeom prst="rect">
            <a:avLst/>
          </a:prstGeom>
          <a:solidFill>
            <a:srgbClr val="1E3A5F"/>
          </a:solidFill>
          <a:ln w="9525">
            <a:solidFill>
              <a:srgbClr val="2A4A6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9202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Installs Git on your computer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92040" y="1874520"/>
            <a:ext cx="3931920" cy="777240"/>
          </a:xfrm>
          <a:prstGeom prst="rect">
            <a:avLst/>
          </a:prstGeom>
          <a:solidFill>
            <a:srgbClr val="1A4040"/>
          </a:solidFill>
          <a:ln w="9525">
            <a:solidFill>
              <a:srgbClr val="2A4A6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0" y="19202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new Git repository in the current folder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0040" y="2788920"/>
            <a:ext cx="3931920" cy="777240"/>
          </a:xfrm>
          <a:prstGeom prst="rect">
            <a:avLst/>
          </a:prstGeom>
          <a:solidFill>
            <a:srgbClr val="2D1B4E"/>
          </a:solidFill>
          <a:ln w="9525">
            <a:solidFill>
              <a:srgbClr val="2A4A6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8346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Clones a remote repository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892040" y="2788920"/>
            <a:ext cx="3931920" cy="777240"/>
          </a:xfrm>
          <a:prstGeom prst="rect">
            <a:avLst/>
          </a:prstGeom>
          <a:solidFill>
            <a:srgbClr val="1A3A2A"/>
          </a:solidFill>
          <a:ln w="9525">
            <a:solidFill>
              <a:srgbClr val="2A4A6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9200" y="28346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 all current files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0" y="46634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Discuss — then we'll reveal the answer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1828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ANSWER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59436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does `git init` do?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" y="1874520"/>
            <a:ext cx="3931920" cy="777240"/>
          </a:xfrm>
          <a:prstGeom prst="rect">
            <a:avLst/>
          </a:prstGeom>
          <a:solidFill>
            <a:srgbClr val="2A2A3A"/>
          </a:solidFill>
          <a:ln w="9525">
            <a:solidFill>
              <a:srgbClr val="3A3A5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9202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</a:t>
            </a:r>
            <a:pPr indent="0" marL="0">
              <a:buNone/>
            </a:pPr>
            <a:r>
              <a:rPr lang="en-US" sz="1300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Installs Git on your computer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92040" y="1874520"/>
            <a:ext cx="3931920" cy="777240"/>
          </a:xfrm>
          <a:prstGeom prst="rect">
            <a:avLst/>
          </a:prstGeom>
          <a:solidFill>
            <a:srgbClr val="22C55E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0" y="19202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</a:t>
            </a:r>
            <a:pPr indent="0" marL="0">
              <a:buNone/>
            </a:pPr>
            <a:r>
              <a:rPr lang="en-US" sz="1300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new Git repository in the current folder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0040" y="2788920"/>
            <a:ext cx="3931920" cy="777240"/>
          </a:xfrm>
          <a:prstGeom prst="rect">
            <a:avLst/>
          </a:prstGeom>
          <a:solidFill>
            <a:srgbClr val="2A2A3A"/>
          </a:solidFill>
          <a:ln w="9525">
            <a:solidFill>
              <a:srgbClr val="3A3A5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8346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</a:t>
            </a:r>
            <a:pPr indent="0" marL="0">
              <a:buNone/>
            </a:pPr>
            <a:r>
              <a:rPr lang="en-US" sz="1300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Clones a remote repository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892040" y="2788920"/>
            <a:ext cx="3931920" cy="777240"/>
          </a:xfrm>
          <a:prstGeom prst="rect">
            <a:avLst/>
          </a:prstGeom>
          <a:solidFill>
            <a:srgbClr val="2A2A3A"/>
          </a:solidFill>
          <a:ln w="9525">
            <a:solidFill>
              <a:srgbClr val="3A3A5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9200" y="28346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 </a:t>
            </a:r>
            <a:pPr indent="0" marL="0">
              <a:buNone/>
            </a:pPr>
            <a:r>
              <a:rPr lang="en-US" sz="1300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 all current files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40740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init creates a hidden .git/ folder that starts tracking your project. It does NOT clone, push, or install anything.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Commands — Start &amp; Save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822960"/>
            <a:ext cx="4937760" cy="4069080"/>
          </a:xfrm>
          <a:prstGeom prst="rect">
            <a:avLst/>
          </a:prstGeom>
          <a:solidFill>
            <a:srgbClr val="0A1628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84048" y="932688"/>
            <a:ext cx="4736592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Create a new local repository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init my-project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cd my-project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Check current state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status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branch main — nothing to commit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Stage files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add index.html    # specific file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add .             # all changes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Commit with message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commit -m "Initial commit: add index.html"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349240" y="822960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Commands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349240" y="1325880"/>
            <a:ext cx="3520440" cy="594360"/>
          </a:xfrm>
          <a:prstGeom prst="rect">
            <a:avLst/>
          </a:prstGeom>
          <a:solidFill>
            <a:srgbClr val="152038"/>
          </a:solidFill>
          <a:ln w="9525">
            <a:solidFill>
              <a:srgbClr val="2A40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40680" y="1353312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init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40680" y="1627632"/>
            <a:ext cx="33375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 new repo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49240" y="2029968"/>
            <a:ext cx="3520440" cy="594360"/>
          </a:xfrm>
          <a:prstGeom prst="rect">
            <a:avLst/>
          </a:prstGeom>
          <a:solidFill>
            <a:srgbClr val="152038"/>
          </a:solidFill>
          <a:ln w="9525">
            <a:solidFill>
              <a:srgbClr val="2A406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40680" y="205740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status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440680" y="2331720"/>
            <a:ext cx="33375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what changed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349240" y="2734056"/>
            <a:ext cx="3520440" cy="594360"/>
          </a:xfrm>
          <a:prstGeom prst="rect">
            <a:avLst/>
          </a:prstGeom>
          <a:solidFill>
            <a:srgbClr val="152038"/>
          </a:solidFill>
          <a:ln w="9525">
            <a:solidFill>
              <a:srgbClr val="2A406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40680" y="2761488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add 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440680" y="3035808"/>
            <a:ext cx="33375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all changes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349240" y="3438144"/>
            <a:ext cx="3520440" cy="594360"/>
          </a:xfrm>
          <a:prstGeom prst="rect">
            <a:avLst/>
          </a:prstGeom>
          <a:solidFill>
            <a:srgbClr val="152038"/>
          </a:solidFill>
          <a:ln w="9525">
            <a:solidFill>
              <a:srgbClr val="2A406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40680" y="3465576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commit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440680" y="3739896"/>
            <a:ext cx="33375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 snapshot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1828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QUICK QUIZ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64008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run `git add index.html` then `git commit -m "add homepage"`. What happened?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874520"/>
            <a:ext cx="3931920" cy="777240"/>
          </a:xfrm>
          <a:prstGeom prst="rect">
            <a:avLst/>
          </a:prstGeom>
          <a:solidFill>
            <a:srgbClr val="1E3A5F"/>
          </a:solidFill>
          <a:ln w="9525">
            <a:solidFill>
              <a:srgbClr val="2A4A6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9202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 was uploaded to GitHub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92040" y="1874520"/>
            <a:ext cx="3931920" cy="777240"/>
          </a:xfrm>
          <a:prstGeom prst="rect">
            <a:avLst/>
          </a:prstGeom>
          <a:solidFill>
            <a:srgbClr val="1A4040"/>
          </a:solidFill>
          <a:ln w="9525">
            <a:solidFill>
              <a:srgbClr val="2A4A6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0" y="19202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snapshot of index.html was saved to local history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0040" y="2788920"/>
            <a:ext cx="3931920" cy="777240"/>
          </a:xfrm>
          <a:prstGeom prst="rect">
            <a:avLst/>
          </a:prstGeom>
          <a:solidFill>
            <a:srgbClr val="2D1B4E"/>
          </a:solidFill>
          <a:ln w="9525">
            <a:solidFill>
              <a:srgbClr val="2A4A6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8346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 was backed up to the cloud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892040" y="2788920"/>
            <a:ext cx="3931920" cy="777240"/>
          </a:xfrm>
          <a:prstGeom prst="rect">
            <a:avLst/>
          </a:prstGeom>
          <a:solidFill>
            <a:srgbClr val="1A3A2A"/>
          </a:solidFill>
          <a:ln w="9525">
            <a:solidFill>
              <a:srgbClr val="2A4A6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9200" y="28346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 was published online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0" y="46634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Discuss — then we'll reveal the answer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1828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ANSWER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59436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run `git add index.html` then `git commit -m "add homepage"`. What happened?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" y="1874520"/>
            <a:ext cx="3931920" cy="777240"/>
          </a:xfrm>
          <a:prstGeom prst="rect">
            <a:avLst/>
          </a:prstGeom>
          <a:solidFill>
            <a:srgbClr val="2A2A3A"/>
          </a:solidFill>
          <a:ln w="9525">
            <a:solidFill>
              <a:srgbClr val="3A3A5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9202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</a:t>
            </a:r>
            <a:pPr indent="0" marL="0">
              <a:buNone/>
            </a:pPr>
            <a:r>
              <a:rPr lang="en-US" sz="1300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 was uploaded to GitHub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92040" y="1874520"/>
            <a:ext cx="3931920" cy="777240"/>
          </a:xfrm>
          <a:prstGeom prst="rect">
            <a:avLst/>
          </a:prstGeom>
          <a:solidFill>
            <a:srgbClr val="22C55E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0" y="19202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</a:t>
            </a:r>
            <a:pPr indent="0" marL="0">
              <a:buNone/>
            </a:pPr>
            <a:r>
              <a:rPr lang="en-US" sz="1300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snapshot of index.html was saved to local history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0040" y="2788920"/>
            <a:ext cx="3931920" cy="777240"/>
          </a:xfrm>
          <a:prstGeom prst="rect">
            <a:avLst/>
          </a:prstGeom>
          <a:solidFill>
            <a:srgbClr val="2A2A3A"/>
          </a:solidFill>
          <a:ln w="9525">
            <a:solidFill>
              <a:srgbClr val="3A3A5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8346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</a:t>
            </a:r>
            <a:pPr indent="0" marL="0">
              <a:buNone/>
            </a:pPr>
            <a:r>
              <a:rPr lang="en-US" sz="1300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 was backed up to the cloud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892040" y="2788920"/>
            <a:ext cx="3931920" cy="777240"/>
          </a:xfrm>
          <a:prstGeom prst="rect">
            <a:avLst/>
          </a:prstGeom>
          <a:solidFill>
            <a:srgbClr val="2A2A3A"/>
          </a:solidFill>
          <a:ln w="9525">
            <a:solidFill>
              <a:srgbClr val="3A3A5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9200" y="28346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 </a:t>
            </a:r>
            <a:pPr indent="0" marL="0">
              <a:buNone/>
            </a:pPr>
            <a:r>
              <a:rPr lang="en-US" sz="1300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 was published online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40740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add stages the file; git commit saves a snapshot to your LOCAL repo history. Nothing is sent online until you git push.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Viewing History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822960"/>
            <a:ext cx="4937760" cy="4069080"/>
          </a:xfrm>
          <a:prstGeom prst="rect">
            <a:avLst/>
          </a:prstGeom>
          <a:solidFill>
            <a:srgbClr val="0A1628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84048" y="932688"/>
            <a:ext cx="4736592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log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 a3f9b12 (HEAD -&gt; main)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Author: Juma &lt;juma@gachon.ac.kr&gt;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Date:   Oct 27 09:15:23 2026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 search feature to Book App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log --oneline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a3f9b12 Add search feature to Book App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7c21e44 Fix button color on mobile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diff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old line (removed)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new line (added)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349240" y="822960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History Commands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349240" y="1325880"/>
            <a:ext cx="3520440" cy="868680"/>
          </a:xfrm>
          <a:prstGeom prst="rect">
            <a:avLst/>
          </a:prstGeom>
          <a:solidFill>
            <a:srgbClr val="152038"/>
          </a:solidFill>
          <a:ln w="9525">
            <a:solidFill>
              <a:srgbClr val="2A40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40680" y="137160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log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40680" y="169164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all commits with hash + message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49240" y="2331720"/>
            <a:ext cx="3520440" cy="868680"/>
          </a:xfrm>
          <a:prstGeom prst="rect">
            <a:avLst/>
          </a:prstGeom>
          <a:solidFill>
            <a:srgbClr val="152038"/>
          </a:solidFill>
          <a:ln w="9525">
            <a:solidFill>
              <a:srgbClr val="2A406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40680" y="237744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log --oneline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440680" y="269748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one-line per commit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349240" y="3337560"/>
            <a:ext cx="3520440" cy="868680"/>
          </a:xfrm>
          <a:prstGeom prst="rect">
            <a:avLst/>
          </a:prstGeom>
          <a:solidFill>
            <a:srgbClr val="152038"/>
          </a:solidFill>
          <a:ln w="9525">
            <a:solidFill>
              <a:srgbClr val="2A406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40680" y="338328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diff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440680" y="370332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exactly what lines changed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Branching &amp; Merging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697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on features in isolation — merge when ready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Branching — git branch, checkout, merge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868680"/>
            <a:ext cx="8595360" cy="2286000"/>
          </a:xfrm>
          <a:prstGeom prst="rect">
            <a:avLst/>
          </a:prstGeom>
          <a:solidFill>
            <a:srgbClr val="0D1B2E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097280"/>
            <a:ext cx="548640" cy="457200"/>
          </a:xfrm>
          <a:prstGeom prst="roundRect">
            <a:avLst>
              <a:gd name="adj" fmla="val 16000"/>
            </a:avLst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0972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57276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606040" y="1097280"/>
            <a:ext cx="548640" cy="457200"/>
          </a:xfrm>
          <a:prstGeom prst="roundRect">
            <a:avLst>
              <a:gd name="adj" fmla="val 16000"/>
            </a:avLst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06040" y="10972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2560320" y="157276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63440" y="1097280"/>
            <a:ext cx="548640" cy="457200"/>
          </a:xfrm>
          <a:prstGeom prst="roundRect">
            <a:avLst>
              <a:gd name="adj" fmla="val 16000"/>
            </a:avLst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63440" y="10972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c5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157276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720840" y="1097280"/>
            <a:ext cx="548640" cy="457200"/>
          </a:xfrm>
          <a:prstGeom prst="roundRect">
            <a:avLst>
              <a:gd name="adj" fmla="val 16000"/>
            </a:avLst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720840" y="10972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c6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675120" y="157276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606040" y="1874520"/>
            <a:ext cx="548640" cy="457200"/>
          </a:xfrm>
          <a:prstGeom prst="roundRect">
            <a:avLst>
              <a:gd name="adj" fmla="val 16000"/>
            </a:avLst>
          </a:prstGeom>
          <a:solidFill>
            <a:srgbClr val="40A0E0"/>
          </a:solidFill>
          <a:ln w="12700">
            <a:solidFill>
              <a:srgbClr val="40A0E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606040" y="18745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1874520"/>
            <a:ext cx="548640" cy="457200"/>
          </a:xfrm>
          <a:prstGeom prst="roundRect">
            <a:avLst>
              <a:gd name="adj" fmla="val 16000"/>
            </a:avLst>
          </a:prstGeom>
          <a:solidFill>
            <a:srgbClr val="40A0E0"/>
          </a:solidFill>
          <a:ln w="12700">
            <a:solidFill>
              <a:srgbClr val="40A0E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663440" y="18745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2560320" y="233172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0A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feature/search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3291840"/>
            <a:ext cx="8595360" cy="475488"/>
          </a:xfrm>
          <a:prstGeom prst="rect">
            <a:avLst/>
          </a:prstGeom>
          <a:solidFill>
            <a:srgbClr val="152038"/>
          </a:solidFill>
          <a:ln w="9525">
            <a:solidFill>
              <a:srgbClr val="2A406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11480" y="3319272"/>
            <a:ext cx="4572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checkout -b feature/search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074920" y="3319272"/>
            <a:ext cx="3566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+ switch to new branch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" y="3858768"/>
            <a:ext cx="8595360" cy="475488"/>
          </a:xfrm>
          <a:prstGeom prst="rect">
            <a:avLst/>
          </a:prstGeom>
          <a:solidFill>
            <a:srgbClr val="152038"/>
          </a:solidFill>
          <a:ln w="9525">
            <a:solidFill>
              <a:srgbClr val="2A406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11480" y="3886200"/>
            <a:ext cx="4572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branch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074920" y="3886200"/>
            <a:ext cx="3566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all branches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74320" y="4425696"/>
            <a:ext cx="8595360" cy="475488"/>
          </a:xfrm>
          <a:prstGeom prst="rect">
            <a:avLst/>
          </a:prstGeom>
          <a:solidFill>
            <a:srgbClr val="152038"/>
          </a:solidFill>
          <a:ln w="9525">
            <a:solidFill>
              <a:srgbClr val="2A406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11480" y="4453128"/>
            <a:ext cx="4572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merge feature/search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5074920" y="4453128"/>
            <a:ext cx="3566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branch into main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1828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QUICK QUIZ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64008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does `git checkout -b feature-login` do?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874520"/>
            <a:ext cx="3931920" cy="777240"/>
          </a:xfrm>
          <a:prstGeom prst="rect">
            <a:avLst/>
          </a:prstGeom>
          <a:solidFill>
            <a:srgbClr val="1E3A5F"/>
          </a:solidFill>
          <a:ln w="9525">
            <a:solidFill>
              <a:srgbClr val="2A4A6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9202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Deletes the feature-login branch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92040" y="1874520"/>
            <a:ext cx="3931920" cy="777240"/>
          </a:xfrm>
          <a:prstGeom prst="rect">
            <a:avLst/>
          </a:prstGeom>
          <a:solidFill>
            <a:srgbClr val="1A4040"/>
          </a:solidFill>
          <a:ln w="9525">
            <a:solidFill>
              <a:srgbClr val="2A4A6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0" y="19202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Merges feature-login into main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0040" y="2788920"/>
            <a:ext cx="3931920" cy="777240"/>
          </a:xfrm>
          <a:prstGeom prst="rect">
            <a:avLst/>
          </a:prstGeom>
          <a:solidFill>
            <a:srgbClr val="2D1B4E"/>
          </a:solidFill>
          <a:ln w="9525">
            <a:solidFill>
              <a:srgbClr val="2A4A6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8346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new branch AND switches to it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892040" y="2788920"/>
            <a:ext cx="3931920" cy="777240"/>
          </a:xfrm>
          <a:prstGeom prst="rect">
            <a:avLst/>
          </a:prstGeom>
          <a:solidFill>
            <a:srgbClr val="1A3A2A"/>
          </a:solidFill>
          <a:ln w="9525">
            <a:solidFill>
              <a:srgbClr val="2A4A6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9200" y="28346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all branches named feature-login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0" y="46634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Discuss — then we'll reveal the answer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1828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ANSWER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59436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does `git checkout -b feature-login` do?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" y="1874520"/>
            <a:ext cx="3931920" cy="777240"/>
          </a:xfrm>
          <a:prstGeom prst="rect">
            <a:avLst/>
          </a:prstGeom>
          <a:solidFill>
            <a:srgbClr val="2A2A3A"/>
          </a:solidFill>
          <a:ln w="9525">
            <a:solidFill>
              <a:srgbClr val="3A3A5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9202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</a:t>
            </a:r>
            <a:pPr indent="0" marL="0">
              <a:buNone/>
            </a:pPr>
            <a:r>
              <a:rPr lang="en-US" sz="1300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Deletes the feature-login branch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92040" y="1874520"/>
            <a:ext cx="3931920" cy="777240"/>
          </a:xfrm>
          <a:prstGeom prst="rect">
            <a:avLst/>
          </a:prstGeom>
          <a:solidFill>
            <a:srgbClr val="2A2A3A"/>
          </a:solidFill>
          <a:ln w="9525">
            <a:solidFill>
              <a:srgbClr val="3A3A5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0" y="19202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</a:t>
            </a:r>
            <a:pPr indent="0" marL="0">
              <a:buNone/>
            </a:pPr>
            <a:r>
              <a:rPr lang="en-US" sz="1300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Merges feature-login into main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0040" y="2788920"/>
            <a:ext cx="3931920" cy="777240"/>
          </a:xfrm>
          <a:prstGeom prst="rect">
            <a:avLst/>
          </a:prstGeom>
          <a:solidFill>
            <a:srgbClr val="22C55E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8346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</a:t>
            </a:r>
            <a:pPr indent="0" marL="0">
              <a:buNone/>
            </a:pPr>
            <a:r>
              <a:rPr lang="en-US" sz="1300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new branch AND switches to it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892040" y="2788920"/>
            <a:ext cx="3931920" cy="777240"/>
          </a:xfrm>
          <a:prstGeom prst="rect">
            <a:avLst/>
          </a:prstGeom>
          <a:solidFill>
            <a:srgbClr val="2A2A3A"/>
          </a:solidFill>
          <a:ln w="9525">
            <a:solidFill>
              <a:srgbClr val="3A3A5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9200" y="28346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 </a:t>
            </a:r>
            <a:pPr indent="0" marL="0">
              <a:buNone/>
            </a:pPr>
            <a:r>
              <a:rPr lang="en-US" sz="1300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all branches named feature-login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40740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-b creates the branch and checkout switches to it immediately. Without -b, checkout only switches to an existing branch.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with Remote (GitHub)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822960"/>
            <a:ext cx="4937760" cy="4069080"/>
          </a:xfrm>
          <a:prstGeom prst="rect">
            <a:avLst/>
          </a:prstGeom>
          <a:solidFill>
            <a:srgbClr val="0A1628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84048" y="932688"/>
            <a:ext cx="4736592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Link local repo to GitHub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remote add origin https://github.com/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username/my-project.git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Push commits to GitHub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push -u origin main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Get teammates latest changes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pull origin main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Copy someone else's repo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clone https://github.com/user/repo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349240" y="822960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Remote Commands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349240" y="1325880"/>
            <a:ext cx="3520440" cy="594360"/>
          </a:xfrm>
          <a:prstGeom prst="rect">
            <a:avLst/>
          </a:prstGeom>
          <a:solidFill>
            <a:srgbClr val="152038"/>
          </a:solidFill>
          <a:ln w="9525">
            <a:solidFill>
              <a:srgbClr val="2A40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40680" y="1353312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remote add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40680" y="1627632"/>
            <a:ext cx="33375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local to GitHub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49240" y="2029968"/>
            <a:ext cx="3520440" cy="594360"/>
          </a:xfrm>
          <a:prstGeom prst="rect">
            <a:avLst/>
          </a:prstGeom>
          <a:solidFill>
            <a:srgbClr val="152038"/>
          </a:solidFill>
          <a:ln w="9525">
            <a:solidFill>
              <a:srgbClr val="2A406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40680" y="205740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440680" y="2331720"/>
            <a:ext cx="33375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commits to GitHub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349240" y="2734056"/>
            <a:ext cx="3520440" cy="594360"/>
          </a:xfrm>
          <a:prstGeom prst="rect">
            <a:avLst/>
          </a:prstGeom>
          <a:solidFill>
            <a:srgbClr val="152038"/>
          </a:solidFill>
          <a:ln w="9525">
            <a:solidFill>
              <a:srgbClr val="2A406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40680" y="2761488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pull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440680" y="3035808"/>
            <a:ext cx="33375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+ merge remote changes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349240" y="3438144"/>
            <a:ext cx="3520440" cy="594360"/>
          </a:xfrm>
          <a:prstGeom prst="rect">
            <a:avLst/>
          </a:prstGeom>
          <a:solidFill>
            <a:srgbClr val="152038"/>
          </a:solidFill>
          <a:ln w="9525">
            <a:solidFill>
              <a:srgbClr val="2A406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40680" y="3465576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clone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440680" y="3739896"/>
            <a:ext cx="33375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a remote repo locally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1828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QUICK QUIZ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64008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teammate pushed new commits. Which command downloads AND merges their changes into your branch?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874520"/>
            <a:ext cx="3931920" cy="777240"/>
          </a:xfrm>
          <a:prstGeom prst="rect">
            <a:avLst/>
          </a:prstGeom>
          <a:solidFill>
            <a:srgbClr val="1E3A5F"/>
          </a:solidFill>
          <a:ln w="9525">
            <a:solidFill>
              <a:srgbClr val="2A4A6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9202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fetch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92040" y="1874520"/>
            <a:ext cx="3931920" cy="777240"/>
          </a:xfrm>
          <a:prstGeom prst="rect">
            <a:avLst/>
          </a:prstGeom>
          <a:solidFill>
            <a:srgbClr val="1A4040"/>
          </a:solidFill>
          <a:ln w="9525">
            <a:solidFill>
              <a:srgbClr val="2A4A6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0" y="19202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clone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0040" y="2788920"/>
            <a:ext cx="3931920" cy="777240"/>
          </a:xfrm>
          <a:prstGeom prst="rect">
            <a:avLst/>
          </a:prstGeom>
          <a:solidFill>
            <a:srgbClr val="2D1B4E"/>
          </a:solidFill>
          <a:ln w="9525">
            <a:solidFill>
              <a:srgbClr val="2A4A6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8346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pull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892040" y="2788920"/>
            <a:ext cx="3931920" cy="777240"/>
          </a:xfrm>
          <a:prstGeom prst="rect">
            <a:avLst/>
          </a:prstGeom>
          <a:solidFill>
            <a:srgbClr val="1A3A2A"/>
          </a:solidFill>
          <a:ln w="9525">
            <a:solidFill>
              <a:srgbClr val="2A4A6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9200" y="28346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sync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0" y="46634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Discuss — then we'll reveal the answer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1828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ANSWER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59436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teammate pushed new commits. Which command downloads AND merges their changes into your branch?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" y="1874520"/>
            <a:ext cx="3931920" cy="777240"/>
          </a:xfrm>
          <a:prstGeom prst="rect">
            <a:avLst/>
          </a:prstGeom>
          <a:solidFill>
            <a:srgbClr val="2A2A3A"/>
          </a:solidFill>
          <a:ln w="9525">
            <a:solidFill>
              <a:srgbClr val="3A3A5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9202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</a:t>
            </a:r>
            <a:pPr indent="0" marL="0">
              <a:buNone/>
            </a:pPr>
            <a:r>
              <a:rPr lang="en-US" sz="1300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fetch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92040" y="1874520"/>
            <a:ext cx="3931920" cy="777240"/>
          </a:xfrm>
          <a:prstGeom prst="rect">
            <a:avLst/>
          </a:prstGeom>
          <a:solidFill>
            <a:srgbClr val="2A2A3A"/>
          </a:solidFill>
          <a:ln w="9525">
            <a:solidFill>
              <a:srgbClr val="3A3A5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0" y="19202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</a:t>
            </a:r>
            <a:pPr indent="0" marL="0">
              <a:buNone/>
            </a:pPr>
            <a:r>
              <a:rPr lang="en-US" sz="1300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clone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0040" y="2788920"/>
            <a:ext cx="3931920" cy="777240"/>
          </a:xfrm>
          <a:prstGeom prst="rect">
            <a:avLst/>
          </a:prstGeom>
          <a:solidFill>
            <a:srgbClr val="22C55E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8346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</a:t>
            </a:r>
            <a:pPr indent="0" marL="0">
              <a:buNone/>
            </a:pPr>
            <a:r>
              <a:rPr lang="en-US" sz="1300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pull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892040" y="2788920"/>
            <a:ext cx="3931920" cy="777240"/>
          </a:xfrm>
          <a:prstGeom prst="rect">
            <a:avLst/>
          </a:prstGeom>
          <a:solidFill>
            <a:srgbClr val="2A2A3A"/>
          </a:solidFill>
          <a:ln w="9525">
            <a:solidFill>
              <a:srgbClr val="3A3A5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9200" y="28346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 </a:t>
            </a:r>
            <a:pPr indent="0" marL="0">
              <a:buNone/>
            </a:pPr>
            <a:r>
              <a:rPr lang="en-US" sz="1300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sync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40740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pull = git fetch + git merge. It downloads remote commits and applies them to your current branch. git fetch downloads but does NOT merge.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Collaboration Workflow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28600" y="960120"/>
            <a:ext cx="2834640" cy="1508760"/>
          </a:xfrm>
          <a:prstGeom prst="rect">
            <a:avLst/>
          </a:prstGeom>
          <a:solidFill>
            <a:srgbClr val="152038"/>
          </a:solidFill>
          <a:ln w="9525">
            <a:solidFill>
              <a:srgbClr val="2A406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20040" y="102412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🍴 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143560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320040" y="1764792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the repo to your GitHub account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182112" y="960120"/>
            <a:ext cx="2834640" cy="1508760"/>
          </a:xfrm>
          <a:prstGeom prst="rect">
            <a:avLst/>
          </a:prstGeom>
          <a:solidFill>
            <a:srgbClr val="152038"/>
          </a:solidFill>
          <a:ln w="9525">
            <a:solidFill>
              <a:srgbClr val="2A406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73552" y="102412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273552" y="143560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273552" y="1764792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your fork to your laptop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35624" y="960120"/>
            <a:ext cx="2834640" cy="1508760"/>
          </a:xfrm>
          <a:prstGeom prst="rect">
            <a:avLst/>
          </a:prstGeom>
          <a:solidFill>
            <a:srgbClr val="152038"/>
          </a:solidFill>
          <a:ln w="9525">
            <a:solidFill>
              <a:srgbClr val="2A406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27064" y="102412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🌿 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227064" y="143560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227064" y="1764792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feature branch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28600" y="2651760"/>
            <a:ext cx="2834640" cy="1508760"/>
          </a:xfrm>
          <a:prstGeom prst="rect">
            <a:avLst/>
          </a:prstGeom>
          <a:solidFill>
            <a:srgbClr val="152038"/>
          </a:solidFill>
          <a:ln w="9525">
            <a:solidFill>
              <a:srgbClr val="2A406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20040" y="271576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4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320040" y="312724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&amp; Commit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20040" y="3456432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changes and commit them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182112" y="2651760"/>
            <a:ext cx="2834640" cy="1508760"/>
          </a:xfrm>
          <a:prstGeom prst="rect">
            <a:avLst/>
          </a:prstGeom>
          <a:solidFill>
            <a:srgbClr val="152038"/>
          </a:solidFill>
          <a:ln w="9525">
            <a:solidFill>
              <a:srgbClr val="2A406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273552" y="271576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5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3273552" y="312724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3273552" y="3456432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your branch to GitHub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35624" y="2651760"/>
            <a:ext cx="2834640" cy="1508760"/>
          </a:xfrm>
          <a:prstGeom prst="rect">
            <a:avLst/>
          </a:prstGeom>
          <a:solidFill>
            <a:srgbClr val="152038"/>
          </a:solidFill>
          <a:ln w="9525">
            <a:solidFill>
              <a:srgbClr val="2A406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227064" y="271576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 6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6227064" y="312724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227064" y="3456432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to merge into the original repo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 — Follow Along!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74980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your terminal now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1188720"/>
            <a:ext cx="4343400" cy="548640"/>
          </a:xfrm>
          <a:prstGeom prst="rect">
            <a:avLst/>
          </a:prstGeom>
          <a:solidFill>
            <a:srgbClr val="0D1B2E"/>
          </a:solidFill>
          <a:ln w="9525">
            <a:solidFill>
              <a:srgbClr val="2A406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74320" y="1216152"/>
            <a:ext cx="3840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216152"/>
            <a:ext cx="39776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mkdir book-app-git &amp;&amp; cd book-app-git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" y="1828800"/>
            <a:ext cx="4343400" cy="548640"/>
          </a:xfrm>
          <a:prstGeom prst="rect">
            <a:avLst/>
          </a:prstGeom>
          <a:solidFill>
            <a:srgbClr val="0D1B2E"/>
          </a:solidFill>
          <a:ln w="9525">
            <a:solidFill>
              <a:srgbClr val="2A406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74320" y="1856232"/>
            <a:ext cx="3840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856232"/>
            <a:ext cx="39776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init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" y="2468880"/>
            <a:ext cx="4343400" cy="548640"/>
          </a:xfrm>
          <a:prstGeom prst="rect">
            <a:avLst/>
          </a:prstGeom>
          <a:solidFill>
            <a:srgbClr val="0D1B2E"/>
          </a:solidFill>
          <a:ln w="9525">
            <a:solidFill>
              <a:srgbClr val="2A406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4320" y="2496312"/>
            <a:ext cx="3840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2496312"/>
            <a:ext cx="39776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"Hello Git" &gt; index.html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28600" y="3108960"/>
            <a:ext cx="4343400" cy="548640"/>
          </a:xfrm>
          <a:prstGeom prst="rect">
            <a:avLst/>
          </a:prstGeom>
          <a:solidFill>
            <a:srgbClr val="0D1B2E"/>
          </a:solidFill>
          <a:ln w="9525">
            <a:solidFill>
              <a:srgbClr val="2A406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74320" y="3136392"/>
            <a:ext cx="3840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3136392"/>
            <a:ext cx="39776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status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8600" y="3749040"/>
            <a:ext cx="4343400" cy="548640"/>
          </a:xfrm>
          <a:prstGeom prst="rect">
            <a:avLst/>
          </a:prstGeom>
          <a:solidFill>
            <a:srgbClr val="0D1B2E"/>
          </a:solidFill>
          <a:ln w="9525">
            <a:solidFill>
              <a:srgbClr val="2A406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74320" y="3776472"/>
            <a:ext cx="3840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3776472"/>
            <a:ext cx="39776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index.html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28600" y="4389120"/>
            <a:ext cx="4343400" cy="548640"/>
          </a:xfrm>
          <a:prstGeom prst="rect">
            <a:avLst/>
          </a:prstGeom>
          <a:solidFill>
            <a:srgbClr val="0D1B2E"/>
          </a:solidFill>
          <a:ln w="9525">
            <a:solidFill>
              <a:srgbClr val="2A406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74320" y="4416552"/>
            <a:ext cx="3840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85800" y="4416552"/>
            <a:ext cx="39776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"Initial commit: add index.html"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1188720"/>
            <a:ext cx="4343400" cy="548640"/>
          </a:xfrm>
          <a:prstGeom prst="rect">
            <a:avLst/>
          </a:prstGeom>
          <a:solidFill>
            <a:srgbClr val="0D1B2E"/>
          </a:solidFill>
          <a:ln w="9525">
            <a:solidFill>
              <a:srgbClr val="2A406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800600" y="1216152"/>
            <a:ext cx="3840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212080" y="1216152"/>
            <a:ext cx="39776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log --oneline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1828800"/>
            <a:ext cx="4343400" cy="548640"/>
          </a:xfrm>
          <a:prstGeom prst="rect">
            <a:avLst/>
          </a:prstGeom>
          <a:solidFill>
            <a:srgbClr val="0D1B2E"/>
          </a:solidFill>
          <a:ln w="9525">
            <a:solidFill>
              <a:srgbClr val="2A406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800600" y="1856232"/>
            <a:ext cx="3840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212080" y="1856232"/>
            <a:ext cx="39776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checkout -b feature/search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54880" y="2468880"/>
            <a:ext cx="4343400" cy="548640"/>
          </a:xfrm>
          <a:prstGeom prst="rect">
            <a:avLst/>
          </a:prstGeom>
          <a:solidFill>
            <a:srgbClr val="0D1B2E"/>
          </a:solidFill>
          <a:ln w="9525">
            <a:solidFill>
              <a:srgbClr val="2A406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800600" y="2496312"/>
            <a:ext cx="3840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212080" y="2496312"/>
            <a:ext cx="39776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"&lt;input&gt;" &gt;&gt; index.html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54880" y="3108960"/>
            <a:ext cx="4343400" cy="548640"/>
          </a:xfrm>
          <a:prstGeom prst="rect">
            <a:avLst/>
          </a:prstGeom>
          <a:solidFill>
            <a:srgbClr val="0D1B2E"/>
          </a:solidFill>
          <a:ln w="9525">
            <a:solidFill>
              <a:srgbClr val="2A406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800600" y="3136392"/>
            <a:ext cx="3840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5212080" y="3136392"/>
            <a:ext cx="39776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. &amp;&amp; git commit -m "Add search input"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54880" y="3749040"/>
            <a:ext cx="4343400" cy="548640"/>
          </a:xfrm>
          <a:prstGeom prst="rect">
            <a:avLst/>
          </a:prstGeom>
          <a:solidFill>
            <a:srgbClr val="0D1B2E"/>
          </a:solidFill>
          <a:ln w="9525">
            <a:solidFill>
              <a:srgbClr val="2A406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800600" y="3776472"/>
            <a:ext cx="3840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5212080" y="3776472"/>
            <a:ext cx="39776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checkout main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754880" y="4389120"/>
            <a:ext cx="4343400" cy="548640"/>
          </a:xfrm>
          <a:prstGeom prst="rect">
            <a:avLst/>
          </a:prstGeom>
          <a:solidFill>
            <a:srgbClr val="0D1B2E"/>
          </a:solidFill>
          <a:ln w="9525">
            <a:solidFill>
              <a:srgbClr val="2A4060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800600" y="4416552"/>
            <a:ext cx="3840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5212080" y="4416552"/>
            <a:ext cx="39776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merge feature/search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&amp; Homework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28600" y="914400"/>
            <a:ext cx="4343400" cy="658368"/>
          </a:xfrm>
          <a:prstGeom prst="rect">
            <a:avLst/>
          </a:prstGeom>
          <a:solidFill>
            <a:srgbClr val="152038"/>
          </a:solidFill>
          <a:ln w="9525">
            <a:solidFill>
              <a:srgbClr val="2A406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20040" y="950976"/>
            <a:ext cx="416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init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1243584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new repo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1664208"/>
            <a:ext cx="4343400" cy="658368"/>
          </a:xfrm>
          <a:prstGeom prst="rect">
            <a:avLst/>
          </a:prstGeom>
          <a:solidFill>
            <a:srgbClr val="152038"/>
          </a:solidFill>
          <a:ln w="9525">
            <a:solidFill>
              <a:srgbClr val="2A40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20040" y="1700784"/>
            <a:ext cx="416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status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20040" y="1993392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what changed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8600" y="2414016"/>
            <a:ext cx="4343400" cy="658368"/>
          </a:xfrm>
          <a:prstGeom prst="rect">
            <a:avLst/>
          </a:prstGeom>
          <a:solidFill>
            <a:srgbClr val="152038"/>
          </a:solidFill>
          <a:ln w="9525">
            <a:solidFill>
              <a:srgbClr val="2A406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0040" y="2450592"/>
            <a:ext cx="416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add 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20040" y="2743200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all changes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8600" y="3163824"/>
            <a:ext cx="4343400" cy="658368"/>
          </a:xfrm>
          <a:prstGeom prst="rect">
            <a:avLst/>
          </a:prstGeom>
          <a:solidFill>
            <a:srgbClr val="152038"/>
          </a:solidFill>
          <a:ln w="9525">
            <a:solidFill>
              <a:srgbClr val="2A406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20040" y="3200400"/>
            <a:ext cx="416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commit -m "msg"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20040" y="3493008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snapshot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28600" y="3913632"/>
            <a:ext cx="4343400" cy="658368"/>
          </a:xfrm>
          <a:prstGeom prst="rect">
            <a:avLst/>
          </a:prstGeom>
          <a:solidFill>
            <a:srgbClr val="152038"/>
          </a:solidFill>
          <a:ln w="9525">
            <a:solidFill>
              <a:srgbClr val="2A406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20040" y="3950208"/>
            <a:ext cx="416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log --oneline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20040" y="4242816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history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914400"/>
            <a:ext cx="4343400" cy="658368"/>
          </a:xfrm>
          <a:prstGeom prst="rect">
            <a:avLst/>
          </a:prstGeom>
          <a:solidFill>
            <a:srgbClr val="152038"/>
          </a:solidFill>
          <a:ln w="9525">
            <a:solidFill>
              <a:srgbClr val="2A406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846320" y="950976"/>
            <a:ext cx="416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checkout -b name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846320" y="1243584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+ switch branch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1664208"/>
            <a:ext cx="4343400" cy="658368"/>
          </a:xfrm>
          <a:prstGeom prst="rect">
            <a:avLst/>
          </a:prstGeom>
          <a:solidFill>
            <a:srgbClr val="152038"/>
          </a:solidFill>
          <a:ln w="9525">
            <a:solidFill>
              <a:srgbClr val="2A406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846320" y="1700784"/>
            <a:ext cx="416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merge branch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846320" y="1993392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branch into current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2414016"/>
            <a:ext cx="4343400" cy="658368"/>
          </a:xfrm>
          <a:prstGeom prst="rect">
            <a:avLst/>
          </a:prstGeom>
          <a:solidFill>
            <a:srgbClr val="152038"/>
          </a:solidFill>
          <a:ln w="9525">
            <a:solidFill>
              <a:srgbClr val="2A406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846320" y="2450592"/>
            <a:ext cx="416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 origin main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846320" y="2743200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to GitHub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54880" y="3163824"/>
            <a:ext cx="4343400" cy="658368"/>
          </a:xfrm>
          <a:prstGeom prst="rect">
            <a:avLst/>
          </a:prstGeom>
          <a:solidFill>
            <a:srgbClr val="152038"/>
          </a:solidFill>
          <a:ln w="9525">
            <a:solidFill>
              <a:srgbClr val="2A406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846320" y="3200400"/>
            <a:ext cx="416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pull origin main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4846320" y="3493008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from GitHub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28600" y="4617720"/>
            <a:ext cx="8686800" cy="347472"/>
          </a:xfrm>
          <a:prstGeom prst="rect">
            <a:avLst/>
          </a:prstGeom>
          <a:solidFill>
            <a:srgbClr val="1A3060"/>
          </a:solidFill>
          <a:ln w="19050">
            <a:solidFill>
              <a:srgbClr val="F7DF1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20040" y="4636008"/>
            <a:ext cx="8503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HOMEWORK: Init a local Git repo for your team project. Make 3 commits (add HTML, add CSS, add JS). Push to GitHub. Share the URL on Discord by Wednesday.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1828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QUICK QUIZ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64008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is to GitHub as _____ is to _____.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874520"/>
            <a:ext cx="3931920" cy="777240"/>
          </a:xfrm>
          <a:prstGeom prst="rect">
            <a:avLst/>
          </a:prstGeom>
          <a:solidFill>
            <a:srgbClr val="1E3A5F"/>
          </a:solidFill>
          <a:ln w="9525">
            <a:solidFill>
              <a:srgbClr val="2A4A6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9202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is to folder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92040" y="1874520"/>
            <a:ext cx="3931920" cy="777240"/>
          </a:xfrm>
          <a:prstGeom prst="rect">
            <a:avLst/>
          </a:prstGeom>
          <a:solidFill>
            <a:srgbClr val="1A4040"/>
          </a:solidFill>
          <a:ln w="9525">
            <a:solidFill>
              <a:srgbClr val="2A4A6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0" y="19202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is to website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0040" y="2788920"/>
            <a:ext cx="3931920" cy="777240"/>
          </a:xfrm>
          <a:prstGeom prst="rect">
            <a:avLst/>
          </a:prstGeom>
          <a:solidFill>
            <a:srgbClr val="2D1B4E"/>
          </a:solidFill>
          <a:ln w="9525">
            <a:solidFill>
              <a:srgbClr val="2A4A6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8346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version control tool is to cloud hosting platform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892040" y="2788920"/>
            <a:ext cx="3931920" cy="777240"/>
          </a:xfrm>
          <a:prstGeom prst="rect">
            <a:avLst/>
          </a:prstGeom>
          <a:solidFill>
            <a:srgbClr val="1A3A2A"/>
          </a:solidFill>
          <a:ln w="9525">
            <a:solidFill>
              <a:srgbClr val="2A4A6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9200" y="28346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is to terminal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0" y="46634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Discuss — then we'll reveal the answer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1828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ANSWER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59436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is to GitHub as _____ is to _____.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" y="1874520"/>
            <a:ext cx="3931920" cy="777240"/>
          </a:xfrm>
          <a:prstGeom prst="rect">
            <a:avLst/>
          </a:prstGeom>
          <a:solidFill>
            <a:srgbClr val="2A2A3A"/>
          </a:solidFill>
          <a:ln w="9525">
            <a:solidFill>
              <a:srgbClr val="3A3A5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9202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</a:t>
            </a:r>
            <a:pPr indent="0" marL="0">
              <a:buNone/>
            </a:pPr>
            <a:r>
              <a:rPr lang="en-US" sz="1300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is to folder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92040" y="1874520"/>
            <a:ext cx="3931920" cy="777240"/>
          </a:xfrm>
          <a:prstGeom prst="rect">
            <a:avLst/>
          </a:prstGeom>
          <a:solidFill>
            <a:srgbClr val="2A2A3A"/>
          </a:solidFill>
          <a:ln w="9525">
            <a:solidFill>
              <a:srgbClr val="3A3A5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0" y="19202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</a:t>
            </a:r>
            <a:pPr indent="0" marL="0">
              <a:buNone/>
            </a:pPr>
            <a:r>
              <a:rPr lang="en-US" sz="1300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is to website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0040" y="2788920"/>
            <a:ext cx="3931920" cy="777240"/>
          </a:xfrm>
          <a:prstGeom prst="rect">
            <a:avLst/>
          </a:prstGeom>
          <a:solidFill>
            <a:srgbClr val="22C55E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8346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</a:t>
            </a:r>
            <a:pPr indent="0" marL="0">
              <a:buNone/>
            </a:pPr>
            <a:r>
              <a:rPr lang="en-US" sz="1300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version control tool is to cloud hosting platform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892040" y="2788920"/>
            <a:ext cx="3931920" cy="777240"/>
          </a:xfrm>
          <a:prstGeom prst="rect">
            <a:avLst/>
          </a:prstGeom>
          <a:solidFill>
            <a:srgbClr val="2A2A3A"/>
          </a:solidFill>
          <a:ln w="9525">
            <a:solidFill>
              <a:srgbClr val="3A3A5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9200" y="28346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 </a:t>
            </a:r>
            <a:pPr indent="0" marL="0">
              <a:buNone/>
            </a:pPr>
            <a:r>
              <a:rPr lang="en-US" sz="1300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is to terminal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40740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is the local tool that tracks changes on YOUR machine. GitHub is the cloud platform that hosts repos and enables collaboration.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2026-10-22T07:26:13Z</dcterms:created>
  <dcterms:modified xsi:type="dcterms:W3CDTF">2026-10-22T07:26:13Z</dcterms:modified>
</cp:coreProperties>
</file>