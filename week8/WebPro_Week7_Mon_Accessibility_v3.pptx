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961" autoAdjust="0"/>
  </p:normalViewPr>
  <p:slideViewPr>
    <p:cSldViewPr snapToGrid="0" snapToObjects="1">
      <p:cViewPr varScale="1">
        <p:scale>
          <a:sx n="120" d="100"/>
          <a:sy n="120" d="100"/>
        </p:scale>
        <p:origin x="134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8214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Web Accessibility, also called A11y (because there are 11 letters between the A and the y in "Accessibility").
Today we answer: Why does accessibility matter? Who benefits? What do the standards require? And how do you code it?
Start with a show of hands: "Has anyone used a website that was frustrating to navigate — maybe a government site or a form that wouldn't let you proceed?" That's often an accessibility failure.
Key stat to share: 1 in 6 people worldwide has some kind of disability. That's about 1.3 billion people. Accessible websites reach all of them AND get better SEO rankings.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"A11y" abbreviation: A, 11 letters, y. It's widely used in developer communities and job postings.
For each disability type, ask students if they know someone with that condition. Most will.
VISUAL: Screen readers like NVDA (free) or VoiceOver (built into Mac/iPhone) read every element aloud. If you miss an alt text, the reader announces the filename — "IMG_20240315_143022.jpg". Not helpful.
MOTOR: Many users never touch a mouse. They use Tab, arrow keys, Enter. Some use a single switch they activate with their chin or foot.
COGNITIVE: Clear headings, short sentences, consistent navigation. These help EVERYONE — including people reading in a second language (like many of our students!).
HEARING: Captions are required for all video content under WCAG. YouTube's auto-captions are often wrong — always proofread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WCAG (pronounced "wuh-cag") is published by the W3C and is the international standard for web accessibility. Laws in Korea, the US, EU, and most countries reference WCAG.
POUR is the 4 core principles. A helpful memory trick: "POUR yourself into accessibility."
Level A = the absolute minimum (broken if this fails)
Level AA = required by most laws and most job listings — this is our target
Level AAA = aspirational (some criteria are hard to meet for all content types)
WCAG 2.1 added mobile-specific criteria. WCAG 2.2 was published in 2023 — very similar at AA level.
Ask: "Which principle does alt text on images satisfy?" → Perceivable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45–60 seconds to discuss. Walk the room.
Most students guess 3:1 (it sounds "reasonable"). The correct answer is 4.5:1 — which surprises people.
While they think, you can set up: "Designers often use light gray text on white backgrounds for a 'clean' look. Let's see if that actually passes."
Don't rush to the answer slide — discussion is the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answer is C — 4.5:1.
Why 4.5:1? Research shows this is the threshold where most people with moderate low vision can read text.
Common fail: #767676 (gray) on white gives exactly 4.5:1 — the bare minimum. Light gray (#999) on white fails.
Practical tip: Install the "axe DevTools" Chrome extension. It highlights contrast failures in real time on any website.
Bonus: decorative text (logos, part of an image) is exempt from contrast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left side is called "div soup" — pages that are just nested divs. They LOOK the same in the browser but are meaningless to screen readers.
The right side uses semantic HTML5 elements. Each element has built-in meaning:
- &lt;header&gt; = "banner landmark"
- &lt;nav&gt; = "navigation landmark"
- &lt;main&gt; = "main landmark"
- &lt;article&gt; = self-contained content
- &lt;h1&gt; through &lt;h6&gt; = heading structure
Screen reader users navigate by landmarks! They press "R" in NVDA to jump between landmarks (banner → nav → main → footer) — just like sighted users scan visually.
"Div soup" forces screen reader users to tab through EVERY element one by one. A page with 47 nav links and no landmarks takes 47 Tab presses before they reach the content.
Demonstration: Open NVDA (or VoiceOver) and browse a page built with divs vs one with semantic HTML. The difference is dramatic.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tests whether students absorbed the previous slide.
Common wrong answers:
- &lt;ul&gt; is a good start but isn't a landmark by itself — you still need &lt;nav&gt; wrapping it
- &lt;menu&gt; is for toolbars/context menus, not site navigation
- &lt;div class='nav'&gt; has no meaning whatsoever
Give 30–45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C — &lt;nav&gt;
Point out: you can have MULTIPLE &lt;nav&gt; elements on a page (main nav + breadcrumbs + footer nav). Add aria-label to distinguish them:
  &lt;nav aria-label="Main navigation"&gt;
  &lt;nav aria-label="Breadcrumb"&gt;
This way a screen reader user can quickly see: "There are 3 navigation landmarks on this page."
Best practice: always put your navigation links inside &lt;nav&gt;&lt;ul&gt;&lt;li&gt;&lt;a&gt;. The &lt;ul&gt; structure helps announce count ("list, 5 items").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one of the most common accessibility bugs in real projects.
Why does &lt;button&gt; get all these things for free?
→ HTML spec defines the "button" role, which tells browsers and AT what keyboard and pointer behaviors to apply. Browsers have built this in for 30+ years.
If you MUST use a div (e.g., a framework forces it), you need to add ALL of this manually:
  role="button"
  tabindex="0"
  onkeydown handler for Enter and Space
Demo: Open any popular website. Tab through it. Notice which things get focus (buttons, links, inputs) and which don't (styled divs, span-based clickables).
Cost comparison: Using &lt;button&gt; takes 0 extra lines of code. Fixing a &lt;div onclick&gt; to be accessible takes 4+ extra attributes and a JavaScript handler.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should now know this from the previous slide. Give 30 seconds.
This scenario is extremely common in real codebases — junior devs often use divs with onClick because it "just works" with a mouse.
If students struggle, hint: "Think about what happens when you press Tab on that page."
Expected answer: 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C
Key insight: accessibility is not a CSS problem or a data problem — it's about semantic meaning and keyboard behavior.
The role="button" tells screen readers what this element IS.
tabindex="0" adds it to the natural tab order.
The keydown handler makes Enter and Space activate it.
BUT: the simplest fix is always to just use &lt;button&gt;. It handles all three automatically. Only use the ARIA workaround when you have no choice (e.g., a framework with rigid DOM structure).
Mention: modal accessibility also needs focus trapping (keep Tab inside the modal while it's open) and returning focus to the trigger when the modal closes.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 text is the single most commonly missed accessibility feature. Studies show 60–70% of images online have poor or missing alt text.
RULE OF THUMB: Cover the image with your hand. Read only the alt text. Does it give you the same information? If yes — good alt text. If no — rewrite it.
INFORMATIVE: Include the data, not just "chart here". "Bar chart showing quarterly revenue" is useless. "Bar chart showing Q3 revenue up 23% year-over-year" is excellent.
DECORATIVE: Empty alt="" is correct. The image must STILL have an alt attribute — just empty. Missing alt = bad; alt="" = good (skip).
FUNCTIONAL: The alt describes what clicking does, not what it looks like. "Search" not "magnifying glass".
Common mistakes to show:
- alt="image" (says nothing)
- alt="IMG_2024_photo.jpg" (the filename!)
- No alt attribute at all
Test: View source on any website and search for &lt;img. How many have useful alt text?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30 seconds. This catches a common misconception.
Students often think "no alt attribute = correct for decorative" because they've never heard of alt="".
The difference matters: missing alt makes the screen reader announce the filename. alt="" makes it skip the image entirely.
Some students might also wonder about role="presentation" — that's an alternative approach but alt="" is simpler and more widely supported.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 — alt=""
Two common mistakes on this quiz:
1. C (no alt) — seems logical but causes screen readers to announce the filename
2. A (alt='decorative image') — seems polite but is actually worse, because the screen reader says "decorative image, image" (it already announces it's an image)
Quick memory rule: "Decorative = empty string. Informative = describe it. Functional = describe the action."
Bonus: The attribute is alt="" not just alt. The empty quotes are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ARIA = Accessible Rich Internet Applications. It was created for complex UI widgets (tabs, modals, carousels, autocomplete) that have no native HTML equivalent.
THE FIRST RULE OF ARIA: Don't use ARIA if you can use a native HTML element instead.
Wrong:  &lt;div role="button" tabindex="0"&gt;
Right:  &lt;button&gt;
Why? Native elements come with built-in keyboard behavior and browser support. ARIA only adds labels and roles to the accessibility tree — it doesn't add keyboard behavior automatically.
Key attributes students will use in the form validation project:
- aria-invalid="true/false" — marks form fields as valid or invalid
- aria-describedby — links an input to its error message
- aria-label — names elements without visible text
- aria-live="polite" — announces dynamic content changes
Common mistake: aria-hidden="true" on a focusable element. This hides it from screen readers but Tab still reaches it. The user hears nothing — very confusing. Solution: also add tabindex="-1" or remove it from the DOM.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commonly confuse aria-hidden with CSS display:none or visibility:hidden.
Key distinction to emphasize after:
- display:none hides it visually AND from screen readers
- visibility:hidden hides it visually AND from screen readers
- aria-hidden="true" hides it from screen readers ONLY — still visible on screen
- opacity:0 hides it visually but NOT from screen readers (weird edge case)
Give 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
Practical example: A "close" button with an X icon and a visible label.
&lt;button&gt;
  &lt;span aria-hidden="true"&gt;✕&lt;/span&gt;
  Close dialog
&lt;/button&gt;
The ✕ is decorative — aria-hidden="true" prevents "times, close dialog, button" and gives just "Close dialog, button".
Without aria-hidden, a page full of star ratings (★★★★☆) makes a screen reader say "black star, black star, black star, black star, white star, Rated 4 out of 5 stars". With aria-hidden on the stars and the number as plain text, it just says "Rated 4 out of 5 stars".
Warning: NEVER use aria-hidden on a focusable element (button, link, input). If a keyboard user Tabs to it, they hear nothing — a "focus trap" that breaks navigation.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Motor disabilities include people with tremors, ALS, quadriplegia, or RSI. Many also use switch access (one button), sip-and-puff devices, or eye-tracking. All of these ultimately emulate keyboard input.
In-class exercise: Give students 2 minutes to navigate your course website with only their keyboard. What can they reach? What is inaccessible?
Focus indicators: By default, browsers show a blue outline (:focus). Many designers remove this with outline: none in CSS — never do this without adding a custom :focus-visible style.
The keyboard trap: a modal or dropdown that traps Tab inside forever (no Escape key) is a WCAG failure. Focus must always be escapable.
Practical: Test your homework project with just the keyboard before submitting.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tabindex tells the browser whether an element participates in keyboard Tab navigation.
</a:t>
            </a:r>
            <a:r>
              <a:rPr lang="en-US" dirty="0" err="1"/>
              <a:t>tabindex</a:t>
            </a:r>
            <a:r>
              <a:rPr lang="en-US" dirty="0"/>
              <a:t>="0" = yes, add to Tab order at its position in the DOM
tabindex="-1" = yes, focus is possible with JS only (NOT via Tab)
tabindex="1+" = yes BUT it moves to the FRONT of tab order, before all natural elements
THE GOLDEN RULE: Use tabindex="0" very sparingly. If the element needs focus, it probably needs to be a &lt;button&gt; or &lt;a&gt;.
When TO use tabindex="0": custom cards that open something, carousel items, custom dropdowns, interactive map markers — places where no native element fits.
The handleKey function: e.key === " " for Space (note the space character). Always call e.preventDefault() for Space because it scrolls the page by default.
</a:t>
            </a:r>
            <a:r>
              <a:rPr lang="en-US" dirty="0" err="1"/>
              <a:t>tabindex</a:t>
            </a:r>
            <a:r>
              <a:rPr lang="en-US" dirty="0"/>
              <a:t>="-1" use case:
&lt;div id="modal" tabindex="-1"&gt; — when modal opens, call document.getElementById('modal').focus() to move focus inside without disrupting Tab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ratio is calculated from the relative luminance of two colors. 1:1 = no contrast (same color). 21:1 = maximum (pure black on pure white).
The 4.5:1 threshold for text was determined by research on people with moderate low vision (roughly 20/80 visual acuity, the threshold for legal blindness in Korea and the US is 20/200).
Common fail: designers use gray text for "secondary" information. #999 on white = 2.85:1 — a fail. #767676 on white = exactly 4.5:1 — the absolute minimum. Test every combination.
Exceptions (don't need 4.5:1):
- Text larger than 18pt OR 14pt+ bold → only needs 3:1
- Text in logos → exempt
- Decorative text (part of an image purely for aesthetics) → exempt
- Disabled UI components → exempt
Free tools:
1. WebAIM Contrast Checker (enter hex codes)
2. Chrome DevTools → Accessibility → Color contrast (click any element)
3. Colour Contrast Analyser (desktop app by TPGi — eyedropper on any screen color)
4. axe DevTools browser extension — flags fails automatically
Assign: Check the text/background contrast on your homepage before next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Skip links are required under WCAG 2.4.1 "Bypass Blocks" — Level A, so they are mandatory.
Real example: try Tab on gov.kr or any large government website. If the first Tab press shows "Skip navigation" — they've implemented it. Many sites don't.
The CSS position:absolute + left:-9999px pattern hides it visually until focused. The common mistake is using display:none — this hides it from screen readers too, defeating the purpose.
You can also use multiple skip links:
- "Skip to main content"
- "Skip to search"
- "Skip to navigation"
Large sites like GitHub and Google have these. Try pressing Tab on google.com — a "Skip to main content" link appears immediately.
Task for students: Add a skip link to their course project. It takes about 10 lines of HTML + CSS and satisfies a WCAG Level A requirement.</a:t>
            </a:r>
          </a:p>
          <a:p>
            <a:r>
              <a:rPr lang="en-US" dirty="0"/>
              <a:t>https://sabhyatachhetri45-dev.github.io/web-programming/my%20projects/my%20website.html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Lighthouse is built into Chrome and Edge — no installation needed. It audits accessibility, performance, SEO, and best practices all in one.
IMPORTANT: A 100/100 Lighthouse score does NOT mean your site is fully accessible! Automated tools catch about 30–40% of accessibility issues. The rest require human testing.
What Lighthouse CAN catch automatically:
- Missing or empty alt text
- Low color contrast
- Missing form labels
- Missing document language
- Keyboard focus visibility
- Missing page titles
What Lighthouse CANNOT catch:
- Whether alt text is meaningful (it just checks it exists)
- Whether your keyboard navigation order makes sense
- Whether your error messages are helpful
- Cognitive accessibility issues
Demo: Open Chrome, press F12, go to Lighthouse, run it on your course site right now. Show students the score and the failed audits.
Target: Lighthouse score of 95+ for the homework assignment.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 by asking: "What's the one thing you'll check first in your own project after today?"
Encourage answers: contrast ratio, alt text, semantic HTML structure.
Reminder about the homework: they need BOTH screenshots — before and after. A single after screenshot gets no credit.
Common mistakes on the homework:
- Running Lighthouse on localhost (results may differ from GitHub Pages)
- Not reading what the "Learn more" links say
- Fixing the same issue multiple times (e.g., 3 missing alts = 1 type of fix, not 3)
Preview next class (Friday): JS Form Validation — we'll use aria-invalid and aria-describedby on real form inputs.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sabhyatachhetri45-dev.github.io/web-programming/my%20projects/my%20website.html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sabhyatachhetri45-dev.github.io/web-programming/my%20projects/my%20website.html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muxiddin19.github.io/WebPro/week8/WebPro_Week7_Mon_StudyGuide.html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cs.google.com/forms/d/e/1FAIpQLSdzbQuTLZWlGjL2fmvbJjb3xtrRWNDvDsFmS_rXQZiKzzhtqw/viewform" TargetMode="External"/><Relationship Id="rId5" Type="http://schemas.openxmlformats.org/officeDocument/2006/relationships/hyperlink" Target="https://muxiddin19.github.io/WebPro/week8/Accessibility_v3.pdf" TargetMode="External"/><Relationship Id="rId4" Type="http://schemas.openxmlformats.org/officeDocument/2006/relationships/hyperlink" Target="https://muxiddin19.github.io/WebPro/week8/WebPro_Week7_Mon_VideoLecture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Web Accessibility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74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B4D8"/>
                </a:solidFill>
              </a:rPr>
              <a:t>(A11y)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514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A0AEC0"/>
                </a:solidFill>
              </a:rPr>
              <a:t>Designing for ALL users — visual, motor, cognitive, hearing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28800" y="3017520"/>
            <a:ext cx="548640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2880" y="320040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K0126002  ·  Gachon University  ·  2026 Fall  ·  Dr. Toshpulatov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28600" y="73152"/>
            <a:ext cx="8686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is Accessibility (A11y)?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73152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25400">
            <a:solidFill>
              <a:srgbClr val="4F46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96112"/>
            <a:ext cx="502920" cy="5029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93192" y="896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👁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9144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46E5"/>
                </a:solidFill>
              </a:rPr>
              <a:t>Visual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146304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Blindness · Low vision · Color blindness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182880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~2.2 billion people globally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73152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896112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28032" y="896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✋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394960" y="9144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</a:rPr>
              <a:t>Motor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146304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Tremors · Limited arm mobility · No mouse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182880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Keyboard-only navigation essential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5146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679192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93192" y="2679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🧠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2697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</a:rPr>
              <a:t>Cognitive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65760" y="324612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Dyslexia · ADHD · Memory impairments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65760" y="361188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Clear language, consistent layouts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5146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0600" y="2679192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28032" y="2679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👂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394960" y="2697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</a:rPr>
              <a:t>Hearing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800600" y="324612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Deafness · Hard of hearing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800600" y="361188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Captions, transcripts, visual cues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" y="4315968"/>
            <a:ext cx="8686800" cy="365760"/>
          </a:xfrm>
          <a:prstGeom prst="roundRect">
            <a:avLst>
              <a:gd name="adj" fmla="val 12500"/>
            </a:avLst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65760" y="4334256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744"/>
                </a:solidFill>
              </a:rPr>
              <a:t>1 in 6 people worldwide has a disability. Accessible sites also rank better in SEO, load faster, and convert more users.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82880" y="4892040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K0126002  ·  Gachon University  ·  2026 Fall  ·  Dr. Toshpulatov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28600" y="73152"/>
            <a:ext cx="8686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WCAG — Web Content Accessibility Guidelines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731520"/>
            <a:ext cx="2057400" cy="370332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25400">
            <a:solidFill>
              <a:srgbClr val="4F46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841248"/>
            <a:ext cx="868680" cy="8686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841248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P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274320" y="181051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46E5"/>
                </a:solidFill>
              </a:rPr>
              <a:t>Perceivable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74320" y="2176272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</a:rPr>
              <a:t>Users can see, hear, or feel all content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761488"/>
            <a:ext cx="1600200" cy="0"/>
          </a:xfrm>
          <a:prstGeom prst="line">
            <a:avLst/>
          </a:prstGeom>
          <a:noFill/>
          <a:ln w="9525">
            <a:solidFill>
              <a:srgbClr val="4F46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0040" y="283464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• Alt text on images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320040" y="315468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• Captions on video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20040" y="347472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• Sufficient color contrast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377440" y="731520"/>
            <a:ext cx="2057400" cy="370332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71800" y="841248"/>
            <a:ext cx="868680" cy="8686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71800" y="841248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O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2468880" y="181051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91B2"/>
                </a:solidFill>
              </a:rPr>
              <a:t>Operable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468880" y="2176272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</a:rPr>
              <a:t>Users can navigate without a mouse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606040" y="2761488"/>
            <a:ext cx="1600200" cy="0"/>
          </a:xfrm>
          <a:prstGeom prst="line">
            <a:avLst/>
          </a:prstGeom>
          <a:noFill/>
          <a:ln w="9525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514600" y="283464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• Full keyboard access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2514600" y="315468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• No keyboard traps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2514600" y="347472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• Skip navigation links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0" y="731520"/>
            <a:ext cx="2057400" cy="370332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66360" y="841248"/>
            <a:ext cx="868680" cy="8686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166360" y="841248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U</a:t>
            </a:r>
            <a:endParaRPr lang="en-US" sz="3200" dirty="0"/>
          </a:p>
        </p:txBody>
      </p:sp>
      <p:sp>
        <p:nvSpPr>
          <p:cNvPr id="25" name="Text 23"/>
          <p:cNvSpPr txBox="1"/>
          <p:nvPr/>
        </p:nvSpPr>
        <p:spPr>
          <a:xfrm>
            <a:off x="4663440" y="181051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</a:rPr>
              <a:t>Understandable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663440" y="2176272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</a:rPr>
              <a:t>Content is clear and predictable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00600" y="2761488"/>
            <a:ext cx="1600200" cy="0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09160" y="283464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• Consistent navigation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4709160" y="315468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• Plain language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4709160" y="347472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• Helpful error messages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766560" y="731520"/>
            <a:ext cx="2057400" cy="370332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60920" y="841248"/>
            <a:ext cx="868680" cy="8686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360920" y="841248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R</a:t>
            </a:r>
            <a:endParaRPr lang="en-US" sz="32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0" y="181051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Robust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858000" y="2176272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</a:rPr>
              <a:t>Works with current and future AT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995160" y="2761488"/>
            <a:ext cx="1600200" cy="0"/>
          </a:xfrm>
          <a:prstGeom prst="line">
            <a:avLst/>
          </a:prstGeom>
          <a:noFill/>
          <a:ln w="9525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903720" y="283464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• Valid semantic HTML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6903720" y="315468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• ARIA used correctly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6903720" y="347472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• Future-proof markup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82880" y="4526280"/>
            <a:ext cx="8778240" cy="274320"/>
          </a:xfrm>
          <a:prstGeom prst="roundRect">
            <a:avLst>
              <a:gd name="adj" fmla="val 16667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74320" y="454456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8350F"/>
                </a:solidFill>
              </a:rPr>
              <a:t>Target for this course: WCAG 2.1 Level AA  (Level A = minimum, AA = industry standard, AAA = maximum)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182880" y="4892040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K0126002  ·  Gachon University  ·  2026 Fall  ·  Dr. Toshpulatov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💡 QUICK QUIZ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5836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WCAG 2.1 Level AA requires a minimum contrast ratio of ___ for normal body text.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149047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E6FF"/>
                </a:solidFill>
              </a:rPr>
              <a:t>A   2:1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417320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49047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E6FF"/>
                </a:solidFill>
              </a:rPr>
              <a:t>B   3:1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240280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1480" y="226771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E6FF"/>
                </a:solidFill>
              </a:rPr>
              <a:t>C   4.5:1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2240280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00600" y="231343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E6FF"/>
                </a:solidFill>
              </a:rPr>
              <a:t>D   7:1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" y="30175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🗨️ Discuss with your neighbor — then we'll reveal the answer!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</a:rPr>
              <a:t>✅ ANSWER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583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WCAG 2.1 Level AA requires a minimum contrast ratio of ___ for normal body text.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A   2:1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23444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B   3:1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82880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052E16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1480" y="1874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</a:rPr>
              <a:t>C   4.5:1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82880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00600" y="1874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D   7:1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514600"/>
            <a:ext cx="8595360" cy="1463040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633472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E6FF"/>
                </a:solidFill>
              </a:rPr>
              <a:t>WCAG AA requires 4.5:1 for text under 18pt. Large text (18pt+ or 14pt+ bold) only needs 3:1.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8E6FF"/>
                </a:solidFill>
              </a:rPr>
              <a:t>Level AAA raises it to 7:1 for all text. Tool: WebAIM Contrast Checker or Chrome DevTools.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28600" y="73152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Semantic HTML vs Div Soup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583680" y="137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</a:rPr>
              <a:t>Meaning beats markup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685800"/>
            <a:ext cx="4251960" cy="320040"/>
          </a:xfrm>
          <a:prstGeom prst="roundRect">
            <a:avLst>
              <a:gd name="adj" fmla="val 11429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8600" y="704088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❌  Div Soup — no meaning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1024128"/>
            <a:ext cx="4251960" cy="2286000"/>
          </a:xfrm>
          <a:prstGeom prst="roundRect">
            <a:avLst>
              <a:gd name="adj" fmla="val 3200"/>
            </a:avLst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2608" y="1115568"/>
            <a:ext cx="403250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class="header"&gt;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class="nav"&gt;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&lt;div&gt;Home&lt;/div&gt;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&lt;div&gt;About&lt;/div&gt;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&lt;/div&gt;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class="main"&gt;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class="article"&gt;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 class="h1"&gt;Title&lt;/div&gt;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&lt;div&gt;Content here&lt;/div&gt;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&lt;/div&gt;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class="footer"&gt;© 2026&lt;/div&gt;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2880" y="3364992"/>
            <a:ext cx="4251960" cy="1188720"/>
          </a:xfrm>
          <a:prstGeom prst="roundRect">
            <a:avLst>
              <a:gd name="adj" fmla="val 6154"/>
            </a:avLst>
          </a:prstGeom>
          <a:solidFill>
            <a:srgbClr val="FFF0F0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0040" y="3419856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</a:rPr>
              <a:t>Screen reader announces: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320040" y="3657600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1D1D"/>
                </a:solidFill>
              </a:rPr>
              <a:t>"group"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320040" y="3813048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1D1D"/>
                </a:solidFill>
              </a:rPr>
              <a:t>"group"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" y="3968496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1D1D"/>
                </a:solidFill>
              </a:rPr>
              <a:t>"Home, link"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320040" y="4123944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1D1D"/>
                </a:solidFill>
              </a:rPr>
              <a:t>"group"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320040" y="4279392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1D1D"/>
                </a:solidFill>
              </a:rPr>
              <a:t>"group"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685800"/>
            <a:ext cx="4251960" cy="320040"/>
          </a:xfrm>
          <a:prstGeom prst="roundRect">
            <a:avLst>
              <a:gd name="adj" fmla="val 11429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09160" y="704088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 Semantic HTML — clear meaning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1024128"/>
            <a:ext cx="4251960" cy="2286000"/>
          </a:xfrm>
          <a:prstGeom prst="roundRect">
            <a:avLst>
              <a:gd name="adj" fmla="val 3200"/>
            </a:avLst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73168" y="1115568"/>
            <a:ext cx="403250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&lt;nav&gt;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 href="/"&gt;Home&lt;/a&gt;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 href="/about"&gt;About&lt;/a&gt;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&lt;/nav&gt;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&lt;/header&gt;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&lt;article&gt;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&lt;h1&gt;Article Title&lt;/h1&gt;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&lt;p&gt;Content here&lt;/p&gt;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&lt;/article&gt;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&lt;/main&gt;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&lt;footer&gt;Copyright 2026&lt;/footer&gt;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3364992"/>
            <a:ext cx="4251960" cy="1188720"/>
          </a:xfrm>
          <a:prstGeom prst="roundRect">
            <a:avLst>
              <a:gd name="adj" fmla="val 6154"/>
            </a:avLst>
          </a:prstGeom>
          <a:solidFill>
            <a:srgbClr val="F0FDF4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00600" y="3419856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6534"/>
                </a:solidFill>
              </a:rPr>
              <a:t>Screen reader announces: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800600" y="3657600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532D"/>
                </a:solidFill>
              </a:rPr>
              <a:t>"banner landmark"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800600" y="3813048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532D"/>
                </a:solidFill>
              </a:rPr>
              <a:t>"navigation landmark"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4800600" y="3968496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532D"/>
                </a:solidFill>
              </a:rPr>
              <a:t>"Home, link"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800600" y="4123944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532D"/>
                </a:solidFill>
              </a:rPr>
              <a:t>"main landmark"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4800600" y="4279392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532D"/>
                </a:solidFill>
              </a:rPr>
              <a:t>"Article Title, heading level 1"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82880" y="4892040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K0126002  ·  Gachon University  ·  2026 Fall  ·  Dr. Toshpulatov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💡 QUICK QUIZ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5836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Which element is the most accessible way to mark up a site's navigation links?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149047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E6FF"/>
                </a:solidFill>
              </a:rPr>
              <a:t>A   &lt;div class='nav'&gt;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417320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49047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E6FF"/>
                </a:solidFill>
              </a:rPr>
              <a:t>B   &lt;ul id='navigation'&gt;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240280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1480" y="231343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E6FF"/>
                </a:solidFill>
              </a:rPr>
              <a:t>C   &lt;nav&gt;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2240280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00600" y="231343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E6FF"/>
                </a:solidFill>
              </a:rPr>
              <a:t>D   &lt;menu&gt;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" y="30175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🗨️ Discuss with your neighbor — then we'll reveal the answer!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</a:rPr>
              <a:t>✅ ANSWER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583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Which element is the most accessible way to mark up a site's navigation links?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A   &lt;div class='nav'&gt;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23444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B   &lt;ul id='navigation'&gt;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82880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052E16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1480" y="1874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</a:rPr>
              <a:t>C   &lt;nav&gt;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82880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00600" y="1874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D   &lt;menu&gt;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514600"/>
            <a:ext cx="8595360" cy="1463040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633472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E6FF"/>
                </a:solidFill>
              </a:rPr>
              <a:t>&lt;nav&gt; is a semantic landmark element. Screen readers announce it as "navigation" and let users jump directly to it with a single keypress (N in NVDA). &lt;div class="nav"&gt; carries no semantic meaning whatsoever.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28600" y="91440"/>
            <a:ext cx="8686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&lt;button&gt; vs &lt;div onclick&gt;  —  Why Native Elements Matter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685800"/>
            <a:ext cx="4251960" cy="320040"/>
          </a:xfrm>
          <a:prstGeom prst="roundRect">
            <a:avLst>
              <a:gd name="adj" fmla="val 11429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28600" y="704088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❌  &lt;div onclick&gt;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1024128"/>
            <a:ext cx="4251960" cy="1005840"/>
          </a:xfrm>
          <a:prstGeom prst="roundRect">
            <a:avLst>
              <a:gd name="adj" fmla="val 7273"/>
            </a:avLst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92608" y="1115568"/>
            <a:ext cx="4032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onclick="doSomething()"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style="cursor:pointer"&gt;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Click me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82880" y="2084832"/>
            <a:ext cx="4251960" cy="1737360"/>
          </a:xfrm>
          <a:prstGeom prst="roundRect">
            <a:avLst>
              <a:gd name="adj" fmla="val 4211"/>
            </a:avLst>
          </a:prstGeom>
          <a:solidFill>
            <a:srgbClr val="FFF0F0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4320" y="2157984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❌  Problems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20040" y="2432304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1D1D"/>
                </a:solidFill>
              </a:rPr>
              <a:t>• Cannot be focused with Tab key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20040" y="268833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1D1D"/>
                </a:solidFill>
              </a:rPr>
              <a:t>• Enter / Space keys don't fire click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20040" y="294436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1D1D"/>
                </a:solidFill>
              </a:rPr>
              <a:t>• No accessible role assigned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" y="320040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1D1D"/>
                </a:solidFill>
              </a:rPr>
              <a:t>• Screen reader: "Click me, group"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685800"/>
            <a:ext cx="4251960" cy="320040"/>
          </a:xfrm>
          <a:prstGeom prst="roundRect">
            <a:avLst>
              <a:gd name="adj" fmla="val 11429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09160" y="704088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 &lt;button&gt;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1024128"/>
            <a:ext cx="4251960" cy="1005840"/>
          </a:xfrm>
          <a:prstGeom prst="roundRect">
            <a:avLst>
              <a:gd name="adj" fmla="val 7273"/>
            </a:avLst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73168" y="1115568"/>
            <a:ext cx="4032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type="button"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onclick="doSomething()"&gt;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Click me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084832"/>
            <a:ext cx="4251960" cy="1737360"/>
          </a:xfrm>
          <a:prstGeom prst="roundRect">
            <a:avLst>
              <a:gd name="adj" fmla="val 4211"/>
            </a:avLst>
          </a:prstGeom>
          <a:solidFill>
            <a:srgbClr val="F0FDF4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54880" y="2157984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✅  Benefits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800600" y="2432304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532D"/>
                </a:solidFill>
              </a:rPr>
              <a:t>• Focusable with Tab key (built-in)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800600" y="268833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532D"/>
                </a:solidFill>
              </a:rPr>
              <a:t>• Enter AND Space both fire click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800600" y="294436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532D"/>
                </a:solidFill>
              </a:rPr>
              <a:t>• Role "button" auto-announced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800600" y="320040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532D"/>
                </a:solidFill>
              </a:rPr>
              <a:t>• Screen reader: "Click me, button"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06240" y="1463040"/>
            <a:ext cx="731520" cy="731520"/>
          </a:xfrm>
          <a:prstGeom prst="ellipse">
            <a:avLst/>
          </a:prstGeom>
          <a:solidFill>
            <a:srgbClr val="1A2744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206240" y="1463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VS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2880" y="3913632"/>
            <a:ext cx="8778240" cy="365760"/>
          </a:xfrm>
          <a:prstGeom prst="roundRect">
            <a:avLst>
              <a:gd name="adj" fmla="val 12500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20040" y="393192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8350F"/>
                </a:solidFill>
              </a:rPr>
              <a:t>Rule: Use &lt;button&gt; for actions, &lt;a href&gt; for navigation. Never use a div or span for interactive elements.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82880" y="4892040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K0126002  ·  Gachon University  ·  2026 Fall  ·  Dr. Toshpulatov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💡 QUICK QUIZ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5836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A designer makes a clickable &lt;div&gt; that opens a modal. What is MISSING for accessibility?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149047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E6FF"/>
                </a:solidFill>
              </a:rPr>
              <a:t>A   A CSS class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417320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49047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E6FF"/>
                </a:solidFill>
              </a:rPr>
              <a:t>B   display: flex styling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240280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1480" y="231343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E6FF"/>
                </a:solidFill>
              </a:rPr>
              <a:t>C   Keyboard focus + Enter/Space support + a role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2240280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00600" y="231343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E6FF"/>
                </a:solidFill>
              </a:rPr>
              <a:t>D   A data-attribute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" y="30175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🗨️ Discuss with your neighbor — then we'll reveal the answer!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</a:rPr>
              <a:t>✅ ANSWER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583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A designer makes a clickable &lt;div&gt; that opens a modal. What is MISSING for accessibility?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A   A CSS class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23444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B   display: flex styling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82880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052E16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1480" y="1874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</a:rPr>
              <a:t>C   Keyboard focus + Enter/Space support + a role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82880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00600" y="1874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D   A data-attribute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514600"/>
            <a:ext cx="8595360" cy="1463040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633472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E6FF"/>
                </a:solidFill>
              </a:rPr>
              <a:t>Divs get no keyboard focus or role by default. Use &lt;button&gt; instead, or add role="button" tabindex="0" and a keydown handler for Enter/Space. Without these, keyboard users and screen reader users cannot activate the control at all.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28600" y="91440"/>
            <a:ext cx="8686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Alt Text on Images — When and What to Write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685800"/>
            <a:ext cx="4480560" cy="3383280"/>
          </a:xfrm>
          <a:prstGeom prst="roundRect">
            <a:avLst>
              <a:gd name="adj" fmla="val 2162"/>
            </a:avLst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92608" y="777240"/>
            <a:ext cx="426110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✅ Informative: describe content --&gt;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src="chart.png"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alt="Bar chart: 40% rise 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enrollment 2024–2026"&gt;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✅ Decorative: empty alt --&gt;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src="divider.svg" alt=""&gt;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✅ Functional icon button --&gt;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&lt;img src="search.svg" alt="Search"&gt;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❌ Useless alt text --&gt;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src="logo.png"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alt="image of a logo"&gt;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754880" y="713232"/>
            <a:ext cx="4160520" cy="896112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28032" y="786384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28032" y="786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349240" y="80467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</a:rPr>
              <a:t>Informative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078992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Describe the content AND purpose. What would someone miss if they couldn't see it?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1700784"/>
            <a:ext cx="4160520" cy="896112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28032" y="1773936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28032" y="17739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🎨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349240" y="179222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</a:rPr>
              <a:t>Decorative  →  alt=""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2066544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Empty alt tells screen readers to skip it completely. No alt at all makes them announce the filename.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2688336"/>
            <a:ext cx="4160520" cy="896112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28032" y="2761488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28032" y="2761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🔍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277977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Functional (buttons)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3054096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Describe the action, not the appearance. alt="Search" not alt="magnifying glass icon".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3675888"/>
            <a:ext cx="4160520" cy="896112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28032" y="374904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28032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❌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349240" y="376732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Never write...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846320" y="4041648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"image of..." or "photo of..." — screen readers already announce "image". It's redundant and wastes attention.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182880" y="4892040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K0126002  ·  Gachon University  ·  2026 Fall  ·  Dr. Toshpulatov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💡 QUICK QUIZ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5836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An image is purely decorative (a background swirl). What is the correct alt attribute?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149047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E6FF"/>
                </a:solidFill>
              </a:rPr>
              <a:t>A   alt='decorative image'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417320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49047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E6FF"/>
                </a:solidFill>
              </a:rPr>
              <a:t>B   alt='' (empty string)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240280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1480" y="231343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E6FF"/>
                </a:solidFill>
              </a:rPr>
              <a:t>C   No alt attribute at all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2240280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00600" y="231343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E6FF"/>
                </a:solidFill>
              </a:rPr>
              <a:t>D   alt='background'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" y="30175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🗨️ Discuss with your neighbor — then we'll reveal the answer!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</a:rPr>
              <a:t>✅ ANSWER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583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An image is purely decorative (a background swirl). What is the correct alt attribute?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A   alt='decorative image'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23444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052E16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</a:rPr>
              <a:t>B   alt='' (empty string)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82880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1480" y="1874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C   No alt attribute at all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82880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00600" y="1874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D   alt='background'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514600"/>
            <a:ext cx="8595360" cy="1463040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633472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E6FF"/>
                </a:solidFill>
              </a:rPr>
              <a:t>alt='' (empty string) tells screen readers to skip this image completely. A missing alt attribute causes screen readers to announce the raw filename ("IMG_background_swirl.jpg"). alt='decorative image' is still read aloud — redundant and wrong.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28600" y="91440"/>
            <a:ext cx="8686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ARIA Roles &amp; Attributes  —  When HTML is Not Enough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82880" y="713232"/>
            <a:ext cx="4480560" cy="2926080"/>
          </a:xfrm>
          <a:prstGeom prst="roundRect">
            <a:avLst>
              <a:gd name="adj" fmla="val 2500"/>
            </a:avLst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92608" y="804672"/>
            <a:ext cx="426110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Name a landmark region --&gt;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 aria-label="Main navigation"&gt;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&lt;/nav&gt;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Hide decorative icon --&gt;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&lt;span aria-hidden="true"&gt;★&lt;/span&gt;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&lt;span&gt;Rated 4.8 out of 5&lt;/span&gt;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Show open/closed state --&gt;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aria-expanded="false"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aria-controls="menu"&gt;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Menu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 id="menu" hidden&gt;...&lt;/ul&gt;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709160" y="713232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F59E0B">
              <a:alpha val="20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73152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8350F"/>
                </a:solidFill>
              </a:rPr>
              <a:t>🥇 FIRST RULE: Use semantic HTML before ARIA. ARIA should add, never replace.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09160" y="1298448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131673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aria-label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151790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Gives a visible or hidden name to an element when no text label is present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865376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00600" y="188366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aria-describedby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208483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Links an element to a longer description (e.g., error message, hint text)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9160" y="2432304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0600" y="2450592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aria-hidden="true"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265176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Hides decorative or redundant elements from screen readers only — still visible on screen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2999232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00600" y="301752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aria-expanded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800600" y="321868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Announces whether a collapsible widget (menu, accordion) is open or closed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3566160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00600" y="358444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role="..."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800600" y="378561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Overrides or assigns a semantic role when native elements aren't available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182880" y="4892040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K0126002  ·  Gachon University  ·  2026 Fall  ·  Dr. Toshpulatov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💡 QUICK QUIZ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5836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What does aria-hidden='true' do to an element?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149047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E6FF"/>
                </a:solidFill>
              </a:rPr>
              <a:t>A   Makes it invisible on screen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417320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49047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E6FF"/>
                </a:solidFill>
              </a:rPr>
              <a:t>B   Removes it from screen reader announcements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240280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1480" y="231343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E6FF"/>
                </a:solidFill>
              </a:rPr>
              <a:t>C   Disables all click events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2240280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00600" y="231343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E6FF"/>
                </a:solidFill>
              </a:rPr>
              <a:t>D   Makes it transparent with CSS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" y="30175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🗨️ Discuss with your neighbor — then we'll reveal the answer!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</a:rPr>
              <a:t>✅ ANSWER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583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What does aria-hidden='true' do to an element?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A   Makes it invisible on screen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23444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052E16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</a:rPr>
              <a:t>B   Removes it from screen reader announcements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82880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1480" y="1874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C   Disables all click events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82880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00600" y="1874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D   Makes it transparent with CSS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514600"/>
            <a:ext cx="8595360" cy="1463040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633472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E6FF"/>
                </a:solidFill>
              </a:rPr>
              <a:t>aria-hidden='true' removes the element from the accessibility tree (what screen readers see) WITHOUT affecting its visual display. Perfect for decorative icons (★ ❤ ✨) or repeated UI elements that would add noise for screen reader users.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28600" y="91440"/>
            <a:ext cx="8686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Keyboard Navigation  —  It Must ALL 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749808"/>
            <a:ext cx="4251960" cy="804672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859536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92608" y="859536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Tab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9144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Move to next focusable element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749808"/>
            <a:ext cx="4251960" cy="804672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73168" y="859536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73168" y="859536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Shift + Tab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9144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Move to previous focusable element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82880" y="1709928"/>
            <a:ext cx="4251960" cy="804672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" y="1819656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2608" y="1819656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Enter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874520" y="1874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Activate links and buttons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1709928"/>
            <a:ext cx="4251960" cy="804672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73168" y="1819656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73168" y="1819656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Space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1874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Check/uncheck boxes; activate buttons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82880" y="2670048"/>
            <a:ext cx="4251960" cy="804672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2608" y="2779776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92608" y="2779776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↑ ↓ ← →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1874520" y="2834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Navigate menus, radio groups, sliders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2670048"/>
            <a:ext cx="4251960" cy="804672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73168" y="2779776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73168" y="2779776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Escape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355080" y="2834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Close modals and dropdown menus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82880" y="4526280"/>
            <a:ext cx="8778240" cy="384048"/>
          </a:xfrm>
          <a:prstGeom prst="roundRect">
            <a:avLst>
              <a:gd name="adj" fmla="val 14286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20040" y="454456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8350F"/>
                </a:solidFill>
              </a:rPr>
              <a:t>Quick test: unplug your mouse (or put it away). Open your site and navigate using only the keyboard. Can you reach every link and button?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82880" y="4892040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K0126002  ·  Gachon University  ·  2026 Fall  ·  Dr. Toshpulatov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28600" y="91440"/>
            <a:ext cx="8686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tabindex="0"  —  Making Custom Elements Focusable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713232"/>
            <a:ext cx="4572000" cy="3291840"/>
          </a:xfrm>
          <a:prstGeom prst="roundRect">
            <a:avLst>
              <a:gd name="adj" fmla="val 2222"/>
            </a:avLst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92608" y="804672"/>
            <a:ext cx="43525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role="button"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tabindex="0"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aria-label="View project details"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onclick="openProject()"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onkeydown="handleKey(event)"&gt;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&lt;img src="thumb.jpg" alt=""&gt;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&lt;p&gt;My Final Project&lt;/p&gt;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handleKey(e)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(e.key === "Enter" ||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e.key === " ")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openProject();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e.preventDefault(); // stop page scroll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892040" y="713232"/>
            <a:ext cx="4023360" cy="676656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83480" y="74980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tabindex="0"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983480" y="9601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Adds to tab order at natural DOM position. Use for custom interactive elements (cards, custom buttons).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92040" y="1463040"/>
            <a:ext cx="4023360" cy="676656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83480" y="149961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tabindex="-1"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983480" y="17099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Focusable with JavaScript (element.focus()) but NOT reached by Tab. Use for modal focus management.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92040" y="2212848"/>
            <a:ext cx="4023360" cy="676656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83480" y="2249424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tabindex="1+"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983480" y="245973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Positive values DISRUPT the natural tab order. Avoid! Users Tab in unexpected order.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92040" y="2962656"/>
            <a:ext cx="4023360" cy="676656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83480" y="299923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role=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983480" y="320954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Always pair tabindex="0" with the correct ARIA role. Without role, "0" adds focus but no meaning.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92040" y="3712464"/>
            <a:ext cx="4023360" cy="676656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983480" y="374904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onkeydown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983480" y="39593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Manually handle Enter and Space. Remember e.preventDefault() for Space — it otherwise scrolls the page.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182880" y="4892040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K0126002  ·  Gachon University  ·  2026 Fall  ·  Dr. Toshpulatov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28600" y="91440"/>
            <a:ext cx="8686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Color Contrast  —  WCAG AA Requires 4.5:1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749808"/>
            <a:ext cx="42062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65760" y="85953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BBBBB"/>
                </a:solidFill>
              </a:rPr>
              <a:t>Sample text   Aa 01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3716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BBBBB"/>
                </a:solidFill>
              </a:rPr>
              <a:t>Sample body text at 14pt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17520" y="1005840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17520" y="100584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FAIL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1408176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</a:rPr>
              <a:t>2.0:1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74320" y="1773936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Light gray on white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17720" y="749808"/>
            <a:ext cx="42062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00600" y="85953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67676"/>
                </a:solidFill>
              </a:rPr>
              <a:t>Sample text   Aa 01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13716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67676"/>
                </a:solidFill>
              </a:rPr>
              <a:t>Sample body text at 14pt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52360" y="1005840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52360" y="100584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PASS AA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7452360" y="1408176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</a:rPr>
              <a:t>4.5:1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709160" y="1773936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#767676 on white (bare minimum)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82880" y="2670048"/>
            <a:ext cx="4206240" cy="1280160"/>
          </a:xfrm>
          <a:prstGeom prst="roundRect">
            <a:avLst>
              <a:gd name="adj" fmla="val 5714"/>
            </a:avLst>
          </a:prstGeom>
          <a:solidFill>
            <a:srgbClr val="1A2744"/>
          </a:solidFill>
          <a:ln w="19050">
            <a:solidFill>
              <a:srgbClr val="1A27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5760" y="277977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Sample text   Aa 01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365760" y="32918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Sample body text at 14pt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017520" y="2926080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017520" y="292608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PASS AAA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3017520" y="3328416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15.3:1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274320" y="3694176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White on our slide navy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17720" y="2670048"/>
            <a:ext cx="4206240" cy="1280160"/>
          </a:xfrm>
          <a:prstGeom prst="roundRect">
            <a:avLst>
              <a:gd name="adj" fmla="val 5714"/>
            </a:avLst>
          </a:prstGeom>
          <a:solidFill>
            <a:srgbClr val="1A2744"/>
          </a:solidFill>
          <a:ln w="19050">
            <a:solidFill>
              <a:srgbClr val="1A274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00600" y="277977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</a:rPr>
              <a:t>Sample text   Aa 01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4800600" y="32918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</a:rPr>
              <a:t>Sample body text at 14pt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452360" y="2926080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52360" y="292608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PASS AAA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7452360" y="3328416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9.4:1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709160" y="3694176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Gold on navy (this deck accent)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182880" y="457200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Tool: WebAIM Contrast Checker — webaim.org/resources/contrastchecker/  or  Chrome DevTools → CSS Overview → Colors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182880" y="4892040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K0126002  ·  Gachon University  ·  2026 Fall  ·  Dr. Toshpulatov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28600" y="91440"/>
            <a:ext cx="8686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Skip Navigation Links  —  Jump to Main Content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713232"/>
            <a:ext cx="4572000" cy="3730752"/>
          </a:xfrm>
          <a:prstGeom prst="roundRect">
            <a:avLst>
              <a:gd name="adj" fmla="val 1961"/>
            </a:avLst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92608" y="804672"/>
            <a:ext cx="4352544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First element in &lt;body&gt; --&gt;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href="#main-content"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class="skip-link"&gt;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Skip to main content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&lt;nav&gt;...(many links)...&lt;/nav&gt;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 id="main-content"&gt;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&lt;!-- page content --&gt;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&lt;/main&gt;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Hidden until focused */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.skip-link { position: absolute; left: -9999px;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.skip-link:focus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left: 0.5rem; top: 0.5rem;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z-index: 9999;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#1a2744;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white;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0.5rem 1rem;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892040" y="713232"/>
            <a:ext cx="4023360" cy="804672"/>
          </a:xfrm>
          <a:prstGeom prst="roundRect">
            <a:avLst>
              <a:gd name="adj" fmla="val 6818"/>
            </a:avLst>
          </a:prstGeom>
          <a:solidFill>
            <a:srgbClr val="F8FAFC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65192" y="804672"/>
            <a:ext cx="438912" cy="43891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65192" y="8046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0" y="822960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Why needed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58968" y="104241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Keyboard users must Tab through every nav link before reaching content. A 47-link nav = 47 Tab presses.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92040" y="1627632"/>
            <a:ext cx="4023360" cy="804672"/>
          </a:xfrm>
          <a:prstGeom prst="roundRect">
            <a:avLst>
              <a:gd name="adj" fmla="val 6818"/>
            </a:avLst>
          </a:prstGeom>
          <a:solidFill>
            <a:srgbClr val="F8FAFC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65192" y="1719072"/>
            <a:ext cx="438912" cy="43891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65192" y="17190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0" y="1737360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</a:rPr>
              <a:t>How it works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58968" y="195681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The link is visually hidden (far left: -9999px) until a user presses Tab. Then it appears at top-left.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92040" y="2542032"/>
            <a:ext cx="4023360" cy="804672"/>
          </a:xfrm>
          <a:prstGeom prst="roundRect">
            <a:avLst>
              <a:gd name="adj" fmla="val 6818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65192" y="2633472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965192" y="26334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0" y="2651760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Implementation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458968" y="287121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Place it as the FIRST element in &lt;body&gt;. The href points to id="main-content" on &lt;main&gt;.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92040" y="3456432"/>
            <a:ext cx="4023360" cy="804672"/>
          </a:xfrm>
          <a:prstGeom prst="roundRect">
            <a:avLst>
              <a:gd name="adj" fmla="val 6818"/>
            </a:avLst>
          </a:prstGeom>
          <a:solidFill>
            <a:srgbClr val="F8FAFC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65192" y="3547872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965192" y="35478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0" y="3566160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Test it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458968" y="378561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Press Tab once on any page. If a "Skip to content" link appears — the site has it. If not — it's missing.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182880" y="4892040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K0126002  ·  Gachon University  ·  2026 Fall  ·  Dr. Toshpulatov</a:t>
            </a:r>
            <a:endParaRPr lang="en-US" sz="9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C93585-3ADE-D17E-4C2D-9477ECAC818E}"/>
              </a:ext>
            </a:extLst>
          </p:cNvPr>
          <p:cNvSpPr txBox="1"/>
          <p:nvPr/>
        </p:nvSpPr>
        <p:spPr>
          <a:xfrm>
            <a:off x="6244281" y="4428935"/>
            <a:ext cx="45802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hlinkClick r:id="rId3"/>
              </a:rPr>
              <a:t>demo</a:t>
            </a:r>
            <a:r>
              <a:rPr lang="ko-KR" altLang="en-US" dirty="0"/>
              <a:t>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28600" y="91440"/>
            <a:ext cx="8686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Lighthouse Accessibility Audit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4069080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8328" y="859536"/>
            <a:ext cx="411480" cy="4114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38328" y="85953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90525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Open Chrome DevTools (F12)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1554480"/>
            <a:ext cx="4069080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" y="1664208"/>
            <a:ext cx="411480" cy="4114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" y="16642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170992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Click the "Lighthouse" tab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" y="2359152"/>
            <a:ext cx="4069080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" y="2468880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8328" y="2468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25146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Check "Accessibility" only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8600" y="3163824"/>
            <a:ext cx="4069080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8328" y="3273552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8328" y="32735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331927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Click "Analyze page load"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34840" y="749808"/>
            <a:ext cx="4069080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44568" y="859536"/>
            <a:ext cx="411480" cy="4114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44568" y="85953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0" y="90525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Read the score (0–100)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34840" y="1554480"/>
            <a:ext cx="4069080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44568" y="1664208"/>
            <a:ext cx="411480" cy="4114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44568" y="16642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029200" y="170992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Expand each failed audit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434840" y="2359152"/>
            <a:ext cx="4069080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44568" y="246888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44568" y="2468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0" y="25146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Click "Learn more" links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434840" y="3163824"/>
            <a:ext cx="4069080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44568" y="3273552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44568" y="32735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5029200" y="331927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Fix and re-run to verify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046720" y="3950208"/>
            <a:ext cx="868680" cy="8686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046720" y="3950208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95</a:t>
            </a:r>
            <a:endParaRPr lang="en-US" sz="2600" dirty="0"/>
          </a:p>
        </p:txBody>
      </p:sp>
      <p:sp>
        <p:nvSpPr>
          <p:cNvPr id="38" name="Text 36"/>
          <p:cNvSpPr txBox="1"/>
          <p:nvPr/>
        </p:nvSpPr>
        <p:spPr>
          <a:xfrm>
            <a:off x="7909560" y="482803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target score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82880" y="4526280"/>
            <a:ext cx="8778240" cy="365760"/>
          </a:xfrm>
          <a:prstGeom prst="roundRect">
            <a:avLst>
              <a:gd name="adj" fmla="val 12500"/>
            </a:avLst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20040" y="454456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F1D1D"/>
                </a:solidFill>
              </a:rPr>
              <a:t>Common failures: missing alt text · insufficient contrast · unlabeled form inputs · missing &lt;html lang="en"&gt;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182880" y="4892040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K0126002  ·  Gachon University  ·  2026 Fall  ·  Dr. Toshpulatov</a:t>
            </a:r>
            <a:endParaRPr lang="en-US" sz="9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A18E559-DF39-6EC8-E954-D94FAF41F1A8}"/>
              </a:ext>
            </a:extLst>
          </p:cNvPr>
          <p:cNvSpPr txBox="1"/>
          <p:nvPr/>
        </p:nvSpPr>
        <p:spPr>
          <a:xfrm>
            <a:off x="5756601" y="4015216"/>
            <a:ext cx="45802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hlinkClick r:id="rId3"/>
              </a:rPr>
              <a:t>demo</a:t>
            </a:r>
            <a:r>
              <a:rPr lang="ko-KR" altLang="en-US" dirty="0"/>
              <a:t>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Summary &amp; Homework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4206240" cy="621792"/>
          </a:xfrm>
          <a:prstGeom prst="roundRect">
            <a:avLst>
              <a:gd name="adj" fmla="val 11765"/>
            </a:avLst>
          </a:prstGeom>
          <a:solidFill>
            <a:srgbClr val="0D1B2A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8328" y="896112"/>
            <a:ext cx="420624" cy="42062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38328" y="8961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🏗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50392" y="877824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</a:rPr>
              <a:t>Semantic HTML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50392" y="111556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AEC0"/>
                </a:solidFill>
              </a:rPr>
              <a:t>&lt;header&gt; &lt;nav&gt; &lt;main&gt; &lt;article&gt; — structure with meaning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804672"/>
            <a:ext cx="4206240" cy="621792"/>
          </a:xfrm>
          <a:prstGeom prst="roundRect">
            <a:avLst>
              <a:gd name="adj" fmla="val 11765"/>
            </a:avLst>
          </a:prstGeom>
          <a:solidFill>
            <a:srgbClr val="0D1B2A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73168" y="896112"/>
            <a:ext cx="420624" cy="42062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73168" y="8961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🖱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285232" y="877824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</a:rPr>
              <a:t>Native Elements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285232" y="111556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AEC0"/>
                </a:solidFill>
              </a:rPr>
              <a:t>&lt;button&gt; for actions, &lt;a href&gt; for links — always over div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8600" y="1554480"/>
            <a:ext cx="4206240" cy="621792"/>
          </a:xfrm>
          <a:prstGeom prst="roundRect">
            <a:avLst>
              <a:gd name="adj" fmla="val 11765"/>
            </a:avLst>
          </a:prstGeom>
          <a:solidFill>
            <a:srgbClr val="0D1B2A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" y="1645920"/>
            <a:ext cx="420624" cy="42062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8328" y="16459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🖼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50392" y="162763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Alt Text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" y="186537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AEC0"/>
                </a:solidFill>
              </a:rPr>
              <a:t>Describe purpose; alt="" for decorative; never "image of…"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1554480"/>
            <a:ext cx="4206240" cy="621792"/>
          </a:xfrm>
          <a:prstGeom prst="roundRect">
            <a:avLst>
              <a:gd name="adj" fmla="val 11765"/>
            </a:avLst>
          </a:prstGeom>
          <a:solidFill>
            <a:srgbClr val="0D1B2A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73168" y="1645920"/>
            <a:ext cx="420624" cy="4206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73168" y="16459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🎯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285232" y="162763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ARIA Attributes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285232" y="186537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AEC0"/>
                </a:solidFill>
              </a:rPr>
              <a:t>aria-label, aria-hidden, aria-expanded — use sparingly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28600" y="2304288"/>
            <a:ext cx="4206240" cy="621792"/>
          </a:xfrm>
          <a:prstGeom prst="roundRect">
            <a:avLst>
              <a:gd name="adj" fmla="val 11765"/>
            </a:avLst>
          </a:prstGeom>
          <a:solidFill>
            <a:srgbClr val="0D1B2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328" y="2395728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38328" y="239572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⌨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50392" y="237744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Keyboard Navigation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50392" y="261518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AEC0"/>
                </a:solidFill>
              </a:rPr>
              <a:t>Tab, Enter, Space, Arrows, Escape must ALL work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2304288"/>
            <a:ext cx="4206240" cy="621792"/>
          </a:xfrm>
          <a:prstGeom prst="roundRect">
            <a:avLst>
              <a:gd name="adj" fmla="val 11765"/>
            </a:avLst>
          </a:prstGeom>
          <a:solidFill>
            <a:srgbClr val="0D1B2A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73168" y="2395728"/>
            <a:ext cx="420624" cy="42062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773168" y="239572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🎨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285232" y="237744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Color Contrast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285232" y="261518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AEC0"/>
                </a:solidFill>
              </a:rPr>
              <a:t>WCAG AA: 4.5:1 minimum for body text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28600" y="3154680"/>
            <a:ext cx="8686800" cy="1645920"/>
          </a:xfrm>
          <a:prstGeom prst="roundRect">
            <a:avLst>
              <a:gd name="adj" fmla="val 5556"/>
            </a:avLst>
          </a:prstGeom>
          <a:solidFill>
            <a:srgbClr val="0D1B2A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11480" y="32186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📋 HOMEWORK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0" y="32461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Due: Thursday before class  ·  Post to Discord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3593592"/>
            <a:ext cx="83210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1. Run Lighthouse on your personal, team project  site (Accessibility audit only)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3803904"/>
            <a:ext cx="83210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2. Screenshot the initial Accessibility score(</a:t>
            </a:r>
            <a:r>
              <a:rPr lang="en-US" altLang="ko-KR" sz="1000" dirty="0">
                <a:solidFill>
                  <a:srgbClr val="FFFFFF"/>
                </a:solidFill>
              </a:rPr>
              <a:t>make sure the scores are 100)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4014216"/>
            <a:ext cx="83210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3. Fix at least 3 failing audits from the report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4224528"/>
            <a:ext cx="83210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4. Re-run Lighthouse and screenshot the improved score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4434840"/>
            <a:ext cx="83210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5. Post both screenshots + list of 3 fixes to the weekly task page</a:t>
            </a:r>
            <a:endParaRPr lang="en-US" sz="10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FAA88A6-3933-7EDE-6E98-8D623DBB466E}"/>
              </a:ext>
            </a:extLst>
          </p:cNvPr>
          <p:cNvSpPr txBox="1"/>
          <p:nvPr/>
        </p:nvSpPr>
        <p:spPr>
          <a:xfrm>
            <a:off x="4732020" y="3452229"/>
            <a:ext cx="4251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Add a skip link to their course project. It takes about 10 lines of HTML + CSS and satisfies a WCAG Level A requirement.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BADF618-69AF-4C2C-3ACF-0DDD56F1F349}"/>
              </a:ext>
            </a:extLst>
          </p:cNvPr>
          <p:cNvSpPr txBox="1"/>
          <p:nvPr/>
        </p:nvSpPr>
        <p:spPr>
          <a:xfrm>
            <a:off x="4634642" y="3881628"/>
            <a:ext cx="45779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i="0" u="none" strike="noStrike" dirty="0">
                <a:solidFill>
                  <a:schemeClr val="bg1"/>
                </a:solidFill>
                <a:effectLst/>
                <a:latin typeface="Mona Sans VF"/>
                <a:hlinkClick r:id="rId3"/>
              </a:rPr>
              <a:t> StudyGuide.html</a:t>
            </a:r>
            <a:r>
              <a:rPr lang="en-US" altLang="ko-KR" b="0" i="0" u="none" strike="noStrike" dirty="0">
                <a:solidFill>
                  <a:schemeClr val="bg1"/>
                </a:solidFill>
                <a:effectLst/>
                <a:latin typeface="Mona Sans VF"/>
              </a:rPr>
              <a:t> 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C5087C0-FC68-02AB-EEBF-5550DB008AC6}"/>
              </a:ext>
            </a:extLst>
          </p:cNvPr>
          <p:cNvSpPr txBox="1"/>
          <p:nvPr/>
        </p:nvSpPr>
        <p:spPr>
          <a:xfrm>
            <a:off x="4663440" y="4175498"/>
            <a:ext cx="46105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4"/>
              </a:rPr>
              <a:t> VideoLecture.html</a:t>
            </a:r>
            <a:r>
              <a:rPr lang="ko-KR" altLang="en-US" dirty="0"/>
              <a:t>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F5452D4-3427-762A-86CE-633D01C97180}"/>
              </a:ext>
            </a:extLst>
          </p:cNvPr>
          <p:cNvSpPr txBox="1"/>
          <p:nvPr/>
        </p:nvSpPr>
        <p:spPr>
          <a:xfrm>
            <a:off x="4663440" y="4447537"/>
            <a:ext cx="46402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5"/>
              </a:rPr>
              <a:t>Accessibility_v3.pdf</a:t>
            </a:r>
            <a:r>
              <a:rPr lang="ko-KR" altLang="en-US" dirty="0"/>
              <a:t>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ED7B79E-6065-8EEC-7495-F6A841D3FE60}"/>
              </a:ext>
            </a:extLst>
          </p:cNvPr>
          <p:cNvSpPr txBox="1"/>
          <p:nvPr/>
        </p:nvSpPr>
        <p:spPr>
          <a:xfrm>
            <a:off x="7332124" y="4143232"/>
            <a:ext cx="46551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hlinkClick r:id="rId6"/>
              </a:rPr>
              <a:t>Quiz</a:t>
            </a:r>
            <a:r>
              <a:rPr lang="ko-KR" altLang="en-US" sz="2400" dirty="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ebPro A11y">
  <a:themeElements>
    <a:clrScheme name="WebPro A11y">
      <a:dk1>
        <a:srgbClr val="1A2744"/>
      </a:dk1>
      <a:lt1>
        <a:srgbClr val="FFFFFF"/>
      </a:lt1>
      <a:dk2>
        <a:srgbClr val="0D1B2A"/>
      </a:dk2>
      <a:lt2>
        <a:srgbClr val="F0F4FF"/>
      </a:lt2>
      <a:accent1>
        <a:srgbClr val="00B4D8"/>
      </a:accent1>
      <a:accent2>
        <a:srgbClr val="22C55E"/>
      </a:accent2>
      <a:accent3>
        <a:srgbClr val="EF4444"/>
      </a:accent3>
      <a:accent4>
        <a:srgbClr val="F59E0B"/>
      </a:accent4>
      <a:accent5>
        <a:srgbClr val="8B5CF6"/>
      </a:accent5>
      <a:accent6>
        <a:srgbClr val="64748B"/>
      </a:accent6>
      <a:hlink>
        <a:srgbClr val="00B4D8"/>
      </a:hlink>
      <a:folHlink>
        <a:srgbClr val="0088AA"/>
      </a:folHlink>
    </a:clrScheme>
    <a:fontScheme name="WebPro A11y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6110</Words>
  <Application>Microsoft Office PowerPoint</Application>
  <PresentationFormat>On-screen Show (16:9)</PresentationFormat>
  <Paragraphs>450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Mona Sans VF</vt:lpstr>
      <vt:lpstr>Arial</vt:lpstr>
      <vt:lpstr>Courier New</vt:lpstr>
      <vt:lpstr>WebPro A11y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Mukhiddin Toshpulatov</cp:lastModifiedBy>
  <cp:revision>19</cp:revision>
  <dcterms:created xsi:type="dcterms:W3CDTF">2026-10-27T00:57:29Z</dcterms:created>
  <dcterms:modified xsi:type="dcterms:W3CDTF">2026-10-28T09:32:58Z</dcterms:modified>
</cp:coreProperties>
</file>