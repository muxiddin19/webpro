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7 Friday! Today we cover web performance — the science of making your site load fast. By the end of class students will be able to measure their site's performance with Lighthouse, identify the biggest bottlenecks, and apply at least 5 concrete optimizations. Fast sites rank better on Google, convert more users, and are more accessible (especially on slow mobile connections in rural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is not just a developer concern — it directly affects business metrics. The Google/SOASTA research found that every 100ms of additional load time reduced conversions by 1%. For Gachon students building web applications: your future employers will measure your code's performance. A page that crashes Lighthouse is a red flag in a job interview portfolio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Lighthouse is Chrome DevTools's built-in auditing tool. F12 &gt; Lighthouse tab. Run on a new Incognito window (extensions skew scores). The Performance score is most important today — it is derived from the Core Web Vitals: Largest Contentful Paint (how fast the main content loads), First Input Delay/INP (how fast the page responds to input), and Cumulative Layout Shift (how stable the layout is as it loads). Target: Performance 90+, Accessibility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tab waterfall is the most important debugging tool for performance. Sort by Size to find the biggest assets. Look for files that start late (blocked by earlier requests). The "Time" column shows TTFB (Time to First Byte) and the download time separately. Hover over the waterfall bar to see all timing phases. A common insight: students discover a 5MB hero image or an unminified 300KB jQuery being loaded on every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typically account for 50-80% of a page's total bytes. This is the single biggest performance opportunity for most student projects. Squoosh is a free Google tool that converts and compresses images in the browser with a before/after preview. Common mistake: students embed their phone photos (8MB, 4032×3024) directly in their HTML. Show them: right-click &gt; Inspect &gt; select the image element &gt; in the console, run `$0.naturalWidth` to see the actual image dimensions versus how it is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loading="lazy" is one of the easiest performance wins: add two words to your img tag and the browser automatically defers loading images that are outside the viewport. The browser loads them as the user scrolls down. Supported in all modern browsers since 2020 (90%+ global coverage). Important caveat: NEVER lazy-load the hero image (above the fold) — it will slow down your Largest Contentful Paint score. Also: always set explicit width and height on images to prevent layout shift as they load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Minification removes comments, whitespace, and redundant code without changing functionality. For CSS and JS, use a build tool (Vite, Webpack, esbuild) in production. For a quick demo: open your CSS file properties, check the file size, then run it through cssnano or CSS Minifier online, and compare. Real projects often see 50-85% reduction. Minified files are never edited by humans — always keep the source file and minify as a build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defer, the browser stops parsing HTML when it hits a &lt;script&gt; tag, downloads and executes the JavaScript, then resumes — this is called "render-blocking JavaScript". The old advice was to put scripts at the bottom of &lt;body&gt;. The modern advice is: use defer and put scripts in &lt;head&gt;. This is actually better because the browser can start downloading the script sooner. async is for independent scripts like analytics that don't depend on the 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CDN stores copies of your static files (images, CSS, JS, fonts) at servers around the world called "edge nodes". When a user requests a file, the CDN routes them to the nearest edge node rather than your origin server — a user in Seoul gets the file from a Seoul server, not from a server in the USA. This dramatically reduces latency (the time for the first byte to arrive). For libraries like Bootstrap or React, use a public CDN so users who already visited another site using that CDN version get the file from browser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means the browser stores a copy of your file locally. On the next visit, instead of downloading it again, it reuses the stored copy. The Cache-Control header tells the browser how long to trust its copy. The gotcha: if you cache a CSS file for 1 year and then update it, users get the old version! Solution: cache-busting — change the filename (style.v2.css) or add a query string (?v=2) so the browser treats it as a new file. Modern build tools do this automatically with content hashes in filenames.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Above-the-fold content is everything the user sees without scrolling. This is what determines their first impression and whether they stay. Lighthouse measures "First Contentful Paint" (when the first thing appears) and "Largest Contentful Paint" (when the main content appears). The goal: make both happen as fast as possible. The techniques here are specifically about reducing the time to that first visible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covers the 80/20 wins — the things that give the biggest performance improvement with the least effort. Students should aim to check off all 10 before submitting their final project. The most impactful are images (often 50-80% of page weight) and defer (immediate render unblocking). Print this and use it as a pre-submission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performance is measurable, improvable, and matters for real business outcomes. We covered images, lazy loading, minification, defer, CDN, caching, and above-the-fold prioritization. Next week we start JavaScript frameworks. A well-performing vanilla JS site is a strong foundation — once you add a framework, performance becomes harder to control. The habits from today will serve students throughout their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Shape 2"/>
          <p:cNvSpPr/>
          <p:nvPr/>
        </p:nvSpPr>
        <p:spPr>
          <a:xfrm>
            <a:off x="457200" y="256032"/>
            <a:ext cx="1645920" cy="384048"/>
          </a:xfrm>
          <a:prstGeom prst="rect">
            <a:avLst/>
          </a:prstGeom>
          <a:solidFill>
            <a:srgbClr val="F7DF1E"/>
          </a:solidFill>
          <a:ln w="12700">
            <a:solidFill>
              <a:srgbClr val="F7DF1E"/>
            </a:solidFill>
            <a:prstDash val="solid"/>
          </a:ln>
        </p:spPr>
      </p:sp>
      <p:sp>
        <p:nvSpPr>
          <p:cNvPr id="5" name="Text 3"/>
          <p:cNvSpPr txBox="1"/>
          <p:nvPr/>
        </p:nvSpPr>
        <p:spPr>
          <a:xfrm>
            <a:off x="457200" y="256032"/>
            <a:ext cx="1645920" cy="384048"/>
          </a:xfrm>
          <a:prstGeom prst="rect">
            <a:avLst/>
          </a:prstGeom>
          <a:noFill/>
          <a:ln/>
        </p:spPr>
        <p:txBody>
          <a:bodyPr wrap="square" lIns="0" tIns="0" rIns="0" bIns="0" rtlCol="0" anchor="ctr"/>
          <a:lstStyle/>
          <a:p>
            <a:pPr algn="ctr" indent="0" marL="0">
              <a:buNone/>
            </a:pPr>
            <a:r>
              <a:rPr lang="en-US" sz="900" b="1" dirty="0">
                <a:solidFill>
                  <a:srgbClr val="1A2540"/>
                </a:solidFill>
              </a:rPr>
              <a:t>PERFORMANCE</a:t>
            </a:r>
            <a:endParaRPr lang="en-US" sz="900" dirty="0"/>
          </a:p>
        </p:txBody>
      </p:sp>
      <p:sp>
        <p:nvSpPr>
          <p:cNvPr id="6" name="Text 4"/>
          <p:cNvSpPr txBox="1"/>
          <p:nvPr/>
        </p:nvSpPr>
        <p:spPr>
          <a:xfrm>
            <a:off x="7040880" y="256032"/>
            <a:ext cx="1645920" cy="384048"/>
          </a:xfrm>
          <a:prstGeom prst="rect">
            <a:avLst/>
          </a:prstGeom>
          <a:noFill/>
          <a:ln/>
        </p:spPr>
        <p:txBody>
          <a:bodyPr wrap="square" lIns="0" tIns="0" rIns="0" bIns="0" rtlCol="0" anchor="ctr"/>
          <a:lstStyle/>
          <a:p>
            <a:pPr algn="r" indent="0" marL="0">
              <a:buNone/>
            </a:pPr>
            <a:r>
              <a:rPr lang="en-US" sz="900" dirty="0">
                <a:solidFill>
                  <a:srgbClr val="8892B0"/>
                </a:solidFill>
              </a:rPr>
              <a:t>Week 7  ·  Fri</a:t>
            </a:r>
            <a:endParaRPr lang="en-US" sz="900" dirty="0"/>
          </a:p>
        </p:txBody>
      </p:sp>
      <p:sp>
        <p:nvSpPr>
          <p:cNvPr id="7" name="Text 5"/>
          <p:cNvSpPr txBox="1"/>
          <p:nvPr/>
        </p:nvSpPr>
        <p:spPr>
          <a:xfrm>
            <a:off x="914400" y="1463040"/>
            <a:ext cx="7315200" cy="128016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Web Performance</a:t>
            </a:r>
            <a:endParaRPr lang="en-US" sz="4800" dirty="0"/>
          </a:p>
          <a:p>
            <a:pPr algn="ctr" indent="0" marL="0">
              <a:buNone/>
            </a:pPr>
            <a:r>
              <a:rPr lang="en-US" sz="4800" b="1" dirty="0">
                <a:solidFill>
                  <a:srgbClr val="FFFFFF"/>
                </a:solidFill>
                <a:latin typeface="Calibri" pitchFamily="34" charset="0"/>
                <a:ea typeface="Calibri" pitchFamily="34" charset="-122"/>
                <a:cs typeface="Calibri" pitchFamily="34" charset="-120"/>
              </a:rPr>
              <a:t>Optimization</a:t>
            </a:r>
            <a:endParaRPr lang="en-US" sz="4800" dirty="0"/>
          </a:p>
        </p:txBody>
      </p:sp>
      <p:sp>
        <p:nvSpPr>
          <p:cNvPr id="8" name="Text 6"/>
          <p:cNvSpPr txBox="1"/>
          <p:nvPr/>
        </p:nvSpPr>
        <p:spPr>
          <a:xfrm>
            <a:off x="914400" y="2834640"/>
            <a:ext cx="7315200" cy="457200"/>
          </a:xfrm>
          <a:prstGeom prst="rect">
            <a:avLst/>
          </a:prstGeom>
          <a:noFill/>
          <a:ln/>
        </p:spPr>
        <p:txBody>
          <a:bodyPr wrap="square" lIns="0" tIns="0" rIns="0" bIns="0" rtlCol="0" anchor="ctr"/>
          <a:lstStyle/>
          <a:p>
            <a:pPr algn="ctr" indent="0" marL="0">
              <a:buNone/>
            </a:pPr>
            <a:r>
              <a:rPr lang="en-US" sz="1800" dirty="0">
                <a:solidFill>
                  <a:srgbClr val="CDD6F4"/>
                </a:solidFill>
                <a:latin typeface="Calibri" pitchFamily="34" charset="0"/>
                <a:ea typeface="Calibri" pitchFamily="34" charset="-122"/>
                <a:cs typeface="Calibri" pitchFamily="34" charset="-120"/>
              </a:rPr>
              <a:t>Fast sites win — 53% of users leave after 3 seconds</a:t>
            </a:r>
            <a:endParaRPr lang="en-US" sz="1800" dirty="0"/>
          </a:p>
        </p:txBody>
      </p:sp>
      <p:sp>
        <p:nvSpPr>
          <p:cNvPr id="9" name="Text 7"/>
          <p:cNvSpPr txBox="1"/>
          <p:nvPr/>
        </p:nvSpPr>
        <p:spPr>
          <a:xfrm>
            <a:off x="457200" y="4480560"/>
            <a:ext cx="8229600" cy="457200"/>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Why Performance Matters — The Numbers</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8412480" cy="1371600"/>
          </a:xfrm>
          <a:prstGeom prst="rect">
            <a:avLst/>
          </a:prstGeom>
          <a:solidFill>
            <a:srgbClr val="1A2540"/>
          </a:solidFill>
          <a:ln w="12700">
            <a:solidFill>
              <a:srgbClr val="1A2540"/>
            </a:solidFill>
            <a:prstDash val="solid"/>
          </a:ln>
        </p:spPr>
      </p:sp>
      <p:sp>
        <p:nvSpPr>
          <p:cNvPr id="7" name="Text 5"/>
          <p:cNvSpPr txBox="1"/>
          <p:nvPr/>
        </p:nvSpPr>
        <p:spPr>
          <a:xfrm>
            <a:off x="365760" y="914400"/>
            <a:ext cx="2286000" cy="1371600"/>
          </a:xfrm>
          <a:prstGeom prst="rect">
            <a:avLst/>
          </a:prstGeom>
          <a:noFill/>
          <a:ln/>
        </p:spPr>
        <p:txBody>
          <a:bodyPr wrap="square" lIns="0" tIns="0" rIns="0" bIns="0" rtlCol="0" anchor="ctr"/>
          <a:lstStyle/>
          <a:p>
            <a:pPr algn="ctr" indent="0" marL="0">
              <a:buNone/>
            </a:pPr>
            <a:r>
              <a:rPr lang="en-US" sz="7200" b="1" dirty="0">
                <a:solidFill>
                  <a:srgbClr val="F7DF1E"/>
                </a:solidFill>
                <a:latin typeface="Calibri" pitchFamily="34" charset="0"/>
                <a:ea typeface="Calibri" pitchFamily="34" charset="-122"/>
                <a:cs typeface="Calibri" pitchFamily="34" charset="-120"/>
              </a:rPr>
              <a:t>53%</a:t>
            </a:r>
            <a:endParaRPr lang="en-US" sz="7200" dirty="0"/>
          </a:p>
        </p:txBody>
      </p:sp>
      <p:sp>
        <p:nvSpPr>
          <p:cNvPr id="8" name="Text 6"/>
          <p:cNvSpPr txBox="1"/>
          <p:nvPr/>
        </p:nvSpPr>
        <p:spPr>
          <a:xfrm>
            <a:off x="2743200" y="914400"/>
            <a:ext cx="5943600" cy="1371600"/>
          </a:xfrm>
          <a:prstGeom prst="rect">
            <a:avLst/>
          </a:prstGeom>
          <a:noFill/>
          <a:ln/>
        </p:spPr>
        <p:txBody>
          <a:bodyPr wrap="square" lIns="254000" tIns="254000" rIns="254000" bIns="254000" rtlCol="0" anchor="ctr"/>
          <a:lstStyle/>
          <a:p>
            <a:pPr algn="l" indent="0" marL="0">
              <a:buNone/>
            </a:pPr>
            <a:r>
              <a:rPr lang="en-US" sz="2200" dirty="0">
                <a:solidFill>
                  <a:srgbClr val="FFFFFF"/>
                </a:solidFill>
                <a:latin typeface="Calibri" pitchFamily="34" charset="0"/>
                <a:ea typeface="Calibri" pitchFamily="34" charset="-122"/>
                <a:cs typeface="Calibri" pitchFamily="34" charset="-120"/>
              </a:rPr>
              <a:t>of mobile users abandon a site</a:t>
            </a:r>
            <a:endParaRPr lang="en-US" sz="2200" dirty="0"/>
          </a:p>
          <a:p>
            <a:pPr algn="l" indent="0" marL="0">
              <a:buNone/>
            </a:pPr>
            <a:r>
              <a:rPr lang="en-US" sz="2200" dirty="0">
                <a:solidFill>
                  <a:srgbClr val="FFFFFF"/>
                </a:solidFill>
                <a:latin typeface="Calibri" pitchFamily="34" charset="0"/>
                <a:ea typeface="Calibri" pitchFamily="34" charset="-122"/>
                <a:cs typeface="Calibri" pitchFamily="34" charset="-120"/>
              </a:rPr>
              <a:t>that takes more than 3 seconds to load</a:t>
            </a:r>
            <a:endParaRPr lang="en-US" sz="2200" dirty="0"/>
          </a:p>
        </p:txBody>
      </p:sp>
      <p:sp>
        <p:nvSpPr>
          <p:cNvPr id="9" name="Shape 7"/>
          <p:cNvSpPr/>
          <p:nvPr/>
        </p:nvSpPr>
        <p:spPr>
          <a:xfrm>
            <a:off x="365760" y="2468880"/>
            <a:ext cx="3931920" cy="914400"/>
          </a:xfrm>
          <a:prstGeom prst="rect">
            <a:avLst/>
          </a:prstGeom>
          <a:solidFill>
            <a:srgbClr val="E8EDFF"/>
          </a:solidFill>
          <a:ln w="12700">
            <a:solidFill>
              <a:srgbClr val="CBD5FF"/>
            </a:solidFill>
            <a:prstDash val="solid"/>
          </a:ln>
        </p:spPr>
      </p:sp>
      <p:sp>
        <p:nvSpPr>
          <p:cNvPr id="10" name="Text 8"/>
          <p:cNvSpPr txBox="1"/>
          <p:nvPr/>
        </p:nvSpPr>
        <p:spPr>
          <a:xfrm>
            <a:off x="457200" y="2468880"/>
            <a:ext cx="1188720" cy="914400"/>
          </a:xfrm>
          <a:prstGeom prst="rect">
            <a:avLst/>
          </a:prstGeom>
          <a:noFill/>
          <a:ln/>
        </p:spPr>
        <p:txBody>
          <a:bodyPr wrap="square" lIns="0" tIns="0" rIns="0" bIns="0" rtlCol="0" anchor="ctr"/>
          <a:lstStyle/>
          <a:p>
            <a:pPr algn="ctr" indent="0" marL="0">
              <a:buNone/>
            </a:pPr>
            <a:r>
              <a:rPr lang="en-US" sz="2400" b="1" dirty="0">
                <a:solidFill>
                  <a:srgbClr val="1A2540"/>
                </a:solidFill>
                <a:latin typeface="Calibri" pitchFamily="34" charset="0"/>
                <a:ea typeface="Calibri" pitchFamily="34" charset="-122"/>
                <a:cs typeface="Calibri" pitchFamily="34" charset="-120"/>
              </a:rPr>
              <a:t>1s</a:t>
            </a:r>
            <a:endParaRPr lang="en-US" sz="2400" dirty="0"/>
          </a:p>
        </p:txBody>
      </p:sp>
      <p:sp>
        <p:nvSpPr>
          <p:cNvPr id="11" name="Text 9"/>
          <p:cNvSpPr txBox="1"/>
          <p:nvPr/>
        </p:nvSpPr>
        <p:spPr>
          <a:xfrm>
            <a:off x="1737360" y="2468880"/>
            <a:ext cx="2468880" cy="914400"/>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delay = 7% drop in conversions (Amazon)</a:t>
            </a:r>
            <a:endParaRPr lang="en-US" sz="1200" dirty="0"/>
          </a:p>
        </p:txBody>
      </p:sp>
      <p:sp>
        <p:nvSpPr>
          <p:cNvPr id="12" name="Shape 10"/>
          <p:cNvSpPr/>
          <p:nvPr/>
        </p:nvSpPr>
        <p:spPr>
          <a:xfrm>
            <a:off x="4663440" y="2468880"/>
            <a:ext cx="3931920" cy="914400"/>
          </a:xfrm>
          <a:prstGeom prst="rect">
            <a:avLst/>
          </a:prstGeom>
          <a:solidFill>
            <a:srgbClr val="E8EDFF"/>
          </a:solidFill>
          <a:ln w="12700">
            <a:solidFill>
              <a:srgbClr val="CBD5FF"/>
            </a:solidFill>
            <a:prstDash val="solid"/>
          </a:ln>
        </p:spPr>
      </p:sp>
      <p:sp>
        <p:nvSpPr>
          <p:cNvPr id="13" name="Text 11"/>
          <p:cNvSpPr txBox="1"/>
          <p:nvPr/>
        </p:nvSpPr>
        <p:spPr>
          <a:xfrm>
            <a:off x="4754880" y="2468880"/>
            <a:ext cx="1188720" cy="914400"/>
          </a:xfrm>
          <a:prstGeom prst="rect">
            <a:avLst/>
          </a:prstGeom>
          <a:noFill/>
          <a:ln/>
        </p:spPr>
        <p:txBody>
          <a:bodyPr wrap="square" lIns="0" tIns="0" rIns="0" bIns="0" rtlCol="0" anchor="ctr"/>
          <a:lstStyle/>
          <a:p>
            <a:pPr algn="ctr" indent="0" marL="0">
              <a:buNone/>
            </a:pPr>
            <a:r>
              <a:rPr lang="en-US" sz="2400" b="1" dirty="0">
                <a:solidFill>
                  <a:srgbClr val="1A2540"/>
                </a:solidFill>
                <a:latin typeface="Calibri" pitchFamily="34" charset="0"/>
                <a:ea typeface="Calibri" pitchFamily="34" charset="-122"/>
                <a:cs typeface="Calibri" pitchFamily="34" charset="-120"/>
              </a:rPr>
              <a:t>100ms</a:t>
            </a:r>
            <a:endParaRPr lang="en-US" sz="2400" dirty="0"/>
          </a:p>
        </p:txBody>
      </p:sp>
      <p:sp>
        <p:nvSpPr>
          <p:cNvPr id="14" name="Text 12"/>
          <p:cNvSpPr txBox="1"/>
          <p:nvPr/>
        </p:nvSpPr>
        <p:spPr>
          <a:xfrm>
            <a:off x="6035040" y="2468880"/>
            <a:ext cx="2468880" cy="914400"/>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delay = 1% revenue drop (Google)</a:t>
            </a:r>
            <a:endParaRPr lang="en-US" sz="1200" dirty="0"/>
          </a:p>
        </p:txBody>
      </p:sp>
      <p:sp>
        <p:nvSpPr>
          <p:cNvPr id="15" name="Shape 13"/>
          <p:cNvSpPr/>
          <p:nvPr/>
        </p:nvSpPr>
        <p:spPr>
          <a:xfrm>
            <a:off x="365760" y="3520440"/>
            <a:ext cx="3931920" cy="914400"/>
          </a:xfrm>
          <a:prstGeom prst="rect">
            <a:avLst/>
          </a:prstGeom>
          <a:solidFill>
            <a:srgbClr val="E8EDFF"/>
          </a:solidFill>
          <a:ln w="12700">
            <a:solidFill>
              <a:srgbClr val="CBD5FF"/>
            </a:solidFill>
            <a:prstDash val="solid"/>
          </a:ln>
        </p:spPr>
      </p:sp>
      <p:sp>
        <p:nvSpPr>
          <p:cNvPr id="16" name="Text 14"/>
          <p:cNvSpPr txBox="1"/>
          <p:nvPr/>
        </p:nvSpPr>
        <p:spPr>
          <a:xfrm>
            <a:off x="457200" y="3520440"/>
            <a:ext cx="1188720" cy="914400"/>
          </a:xfrm>
          <a:prstGeom prst="rect">
            <a:avLst/>
          </a:prstGeom>
          <a:noFill/>
          <a:ln/>
        </p:spPr>
        <p:txBody>
          <a:bodyPr wrap="square" lIns="0" tIns="0" rIns="0" bIns="0" rtlCol="0" anchor="ctr"/>
          <a:lstStyle/>
          <a:p>
            <a:pPr algn="ctr" indent="0" marL="0">
              <a:buNone/>
            </a:pPr>
            <a:r>
              <a:rPr lang="en-US" sz="2400" b="1" dirty="0">
                <a:solidFill>
                  <a:srgbClr val="1A2540"/>
                </a:solidFill>
                <a:latin typeface="Calibri" pitchFamily="34" charset="0"/>
                <a:ea typeface="Calibri" pitchFamily="34" charset="-122"/>
                <a:cs typeface="Calibri" pitchFamily="34" charset="-120"/>
              </a:rPr>
              <a:t>3s</a:t>
            </a:r>
            <a:endParaRPr lang="en-US" sz="2400" dirty="0"/>
          </a:p>
        </p:txBody>
      </p:sp>
      <p:sp>
        <p:nvSpPr>
          <p:cNvPr id="17" name="Text 15"/>
          <p:cNvSpPr txBox="1"/>
          <p:nvPr/>
        </p:nvSpPr>
        <p:spPr>
          <a:xfrm>
            <a:off x="1737360" y="3520440"/>
            <a:ext cx="2468880" cy="914400"/>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the threshold where 53% leave (mobile)</a:t>
            </a:r>
            <a:endParaRPr lang="en-US" sz="1200" dirty="0"/>
          </a:p>
        </p:txBody>
      </p:sp>
      <p:sp>
        <p:nvSpPr>
          <p:cNvPr id="18" name="Shape 16"/>
          <p:cNvSpPr/>
          <p:nvPr/>
        </p:nvSpPr>
        <p:spPr>
          <a:xfrm>
            <a:off x="4663440" y="3520440"/>
            <a:ext cx="3931920" cy="914400"/>
          </a:xfrm>
          <a:prstGeom prst="rect">
            <a:avLst/>
          </a:prstGeom>
          <a:solidFill>
            <a:srgbClr val="E8EDFF"/>
          </a:solidFill>
          <a:ln w="12700">
            <a:solidFill>
              <a:srgbClr val="CBD5FF"/>
            </a:solidFill>
            <a:prstDash val="solid"/>
          </a:ln>
        </p:spPr>
      </p:sp>
      <p:sp>
        <p:nvSpPr>
          <p:cNvPr id="19" name="Text 17"/>
          <p:cNvSpPr txBox="1"/>
          <p:nvPr/>
        </p:nvSpPr>
        <p:spPr>
          <a:xfrm>
            <a:off x="4754880" y="3520440"/>
            <a:ext cx="1188720" cy="914400"/>
          </a:xfrm>
          <a:prstGeom prst="rect">
            <a:avLst/>
          </a:prstGeom>
          <a:noFill/>
          <a:ln/>
        </p:spPr>
        <p:txBody>
          <a:bodyPr wrap="square" lIns="0" tIns="0" rIns="0" bIns="0" rtlCol="0" anchor="ctr"/>
          <a:lstStyle/>
          <a:p>
            <a:pPr algn="ctr" indent="0" marL="0">
              <a:buNone/>
            </a:pPr>
            <a:r>
              <a:rPr lang="en-US" sz="2400" b="1" dirty="0">
                <a:solidFill>
                  <a:srgbClr val="1A2540"/>
                </a:solidFill>
                <a:latin typeface="Calibri" pitchFamily="34" charset="0"/>
                <a:ea typeface="Calibri" pitchFamily="34" charset="-122"/>
                <a:cs typeface="Calibri" pitchFamily="34" charset="-120"/>
              </a:rPr>
              <a:t>0.1s</a:t>
            </a:r>
            <a:endParaRPr lang="en-US" sz="2400" dirty="0"/>
          </a:p>
        </p:txBody>
      </p:sp>
      <p:sp>
        <p:nvSpPr>
          <p:cNvPr id="20" name="Text 18"/>
          <p:cNvSpPr txBox="1"/>
          <p:nvPr/>
        </p:nvSpPr>
        <p:spPr>
          <a:xfrm>
            <a:off x="6035040" y="3520440"/>
            <a:ext cx="2468880" cy="914400"/>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feels "instant" to users (the goal)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Google Lighthouse — 5 Audit Categories</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60120"/>
            <a:ext cx="2606040" cy="1737360"/>
          </a:xfrm>
          <a:prstGeom prst="rect">
            <a:avLst/>
          </a:prstGeom>
          <a:solidFill>
            <a:srgbClr val="E8EDFF"/>
          </a:solidFill>
          <a:ln w="12700">
            <a:solidFill>
              <a:srgbClr val="CBD5FF"/>
            </a:solidFill>
            <a:prstDash val="solid"/>
          </a:ln>
        </p:spPr>
      </p:sp>
      <p:sp>
        <p:nvSpPr>
          <p:cNvPr id="7" name="Text 5"/>
          <p:cNvSpPr txBox="1"/>
          <p:nvPr/>
        </p:nvSpPr>
        <p:spPr>
          <a:xfrm>
            <a:off x="365760" y="1005840"/>
            <a:ext cx="26060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8" name="Text 6"/>
          <p:cNvSpPr txBox="1"/>
          <p:nvPr/>
        </p:nvSpPr>
        <p:spPr>
          <a:xfrm>
            <a:off x="411480" y="1554480"/>
            <a:ext cx="2514600" cy="347472"/>
          </a:xfrm>
          <a:prstGeom prst="rect">
            <a:avLst/>
          </a:prstGeom>
          <a:noFill/>
          <a:ln/>
        </p:spPr>
        <p:txBody>
          <a:bodyPr wrap="square" lIns="0" tIns="0" rIns="0" bIns="0" rtlCol="0" anchor="ctr"/>
          <a:lstStyle/>
          <a:p>
            <a:pPr algn="ctr" indent="0" marL="0">
              <a:buNone/>
            </a:pPr>
            <a:r>
              <a:rPr lang="en-US" sz="1300" b="1" dirty="0">
                <a:solidFill>
                  <a:srgbClr val="1A2540"/>
                </a:solidFill>
                <a:latin typeface="Calibri" pitchFamily="34" charset="0"/>
                <a:ea typeface="Calibri" pitchFamily="34" charset="-122"/>
                <a:cs typeface="Calibri" pitchFamily="34" charset="-120"/>
              </a:rPr>
              <a:t>Performance</a:t>
            </a:r>
            <a:endParaRPr lang="en-US" sz="1300" dirty="0"/>
          </a:p>
        </p:txBody>
      </p:sp>
      <p:sp>
        <p:nvSpPr>
          <p:cNvPr id="9" name="Text 7"/>
          <p:cNvSpPr txBox="1"/>
          <p:nvPr/>
        </p:nvSpPr>
        <p:spPr>
          <a:xfrm>
            <a:off x="411480" y="1892808"/>
            <a:ext cx="2514600" cy="256032"/>
          </a:xfrm>
          <a:prstGeom prst="rect">
            <a:avLst/>
          </a:prstGeom>
          <a:noFill/>
          <a:ln/>
        </p:spPr>
        <p:txBody>
          <a:bodyPr wrap="square" lIns="0" tIns="0" rIns="0" bIns="0" rtlCol="0" anchor="ctr"/>
          <a:lstStyle/>
          <a:p>
            <a:pPr algn="ctr" indent="0" marL="0">
              <a:buNone/>
            </a:pPr>
            <a:r>
              <a:rPr lang="en-US" sz="1000" b="1" dirty="0">
                <a:solidFill>
                  <a:srgbClr val="8892B0"/>
                </a:solidFill>
                <a:latin typeface="Calibri" pitchFamily="34" charset="0"/>
                <a:ea typeface="Calibri" pitchFamily="34" charset="-122"/>
                <a:cs typeface="Calibri" pitchFamily="34" charset="-120"/>
              </a:rPr>
              <a:t>0–100</a:t>
            </a:r>
            <a:endParaRPr lang="en-US" sz="1000" dirty="0"/>
          </a:p>
        </p:txBody>
      </p:sp>
      <p:sp>
        <p:nvSpPr>
          <p:cNvPr id="10" name="Text 8"/>
          <p:cNvSpPr txBox="1"/>
          <p:nvPr/>
        </p:nvSpPr>
        <p:spPr>
          <a:xfrm>
            <a:off x="411480" y="2148840"/>
            <a:ext cx="2514600" cy="457200"/>
          </a:xfrm>
          <a:prstGeom prst="rect">
            <a:avLst/>
          </a:prstGeom>
          <a:noFill/>
          <a:ln/>
        </p:spPr>
        <p:txBody>
          <a:bodyPr wrap="square" lIns="0" tIns="0" rIns="0" bIns="0" rtlCol="0" anchor="t"/>
          <a:lstStyle/>
          <a:p>
            <a:pPr algn="ctr" indent="0" marL="0">
              <a:buNone/>
            </a:pPr>
            <a:r>
              <a:rPr lang="en-US" sz="950" dirty="0">
                <a:solidFill>
                  <a:srgbClr val="8892B0"/>
                </a:solidFill>
                <a:latin typeface="Calibri" pitchFamily="34" charset="0"/>
                <a:ea typeface="Calibri" pitchFamily="34" charset="-122"/>
                <a:cs typeface="Calibri" pitchFamily="34" charset="-120"/>
              </a:rPr>
              <a:t>LCP, FID, CLS — the Core Web Vitals and more</a:t>
            </a:r>
            <a:endParaRPr lang="en-US" sz="950" dirty="0"/>
          </a:p>
        </p:txBody>
      </p:sp>
      <p:sp>
        <p:nvSpPr>
          <p:cNvPr id="11" name="Shape 9"/>
          <p:cNvSpPr/>
          <p:nvPr/>
        </p:nvSpPr>
        <p:spPr>
          <a:xfrm>
            <a:off x="3200400" y="960120"/>
            <a:ext cx="2606040" cy="1737360"/>
          </a:xfrm>
          <a:prstGeom prst="rect">
            <a:avLst/>
          </a:prstGeom>
          <a:solidFill>
            <a:srgbClr val="E8EDFF"/>
          </a:solidFill>
          <a:ln w="12700">
            <a:solidFill>
              <a:srgbClr val="CBD5FF"/>
            </a:solidFill>
            <a:prstDash val="solid"/>
          </a:ln>
        </p:spPr>
      </p:sp>
      <p:sp>
        <p:nvSpPr>
          <p:cNvPr id="12" name="Text 10"/>
          <p:cNvSpPr txBox="1"/>
          <p:nvPr/>
        </p:nvSpPr>
        <p:spPr>
          <a:xfrm>
            <a:off x="3200400" y="1005840"/>
            <a:ext cx="26060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txBox="1"/>
          <p:nvPr/>
        </p:nvSpPr>
        <p:spPr>
          <a:xfrm>
            <a:off x="3246120" y="1554480"/>
            <a:ext cx="2514600" cy="347472"/>
          </a:xfrm>
          <a:prstGeom prst="rect">
            <a:avLst/>
          </a:prstGeom>
          <a:noFill/>
          <a:ln/>
        </p:spPr>
        <p:txBody>
          <a:bodyPr wrap="square" lIns="0" tIns="0" rIns="0" bIns="0" rtlCol="0" anchor="ctr"/>
          <a:lstStyle/>
          <a:p>
            <a:pPr algn="ctr" indent="0" marL="0">
              <a:buNone/>
            </a:pPr>
            <a:r>
              <a:rPr lang="en-US" sz="1300" b="1" dirty="0">
                <a:solidFill>
                  <a:srgbClr val="1A2540"/>
                </a:solidFill>
                <a:latin typeface="Calibri" pitchFamily="34" charset="0"/>
                <a:ea typeface="Calibri" pitchFamily="34" charset="-122"/>
                <a:cs typeface="Calibri" pitchFamily="34" charset="-120"/>
              </a:rPr>
              <a:t>Accessibility</a:t>
            </a:r>
            <a:endParaRPr lang="en-US" sz="1300" dirty="0"/>
          </a:p>
        </p:txBody>
      </p:sp>
      <p:sp>
        <p:nvSpPr>
          <p:cNvPr id="14" name="Text 12"/>
          <p:cNvSpPr txBox="1"/>
          <p:nvPr/>
        </p:nvSpPr>
        <p:spPr>
          <a:xfrm>
            <a:off x="3246120" y="1892808"/>
            <a:ext cx="2514600" cy="256032"/>
          </a:xfrm>
          <a:prstGeom prst="rect">
            <a:avLst/>
          </a:prstGeom>
          <a:noFill/>
          <a:ln/>
        </p:spPr>
        <p:txBody>
          <a:bodyPr wrap="square" lIns="0" tIns="0" rIns="0" bIns="0" rtlCol="0" anchor="ctr"/>
          <a:lstStyle/>
          <a:p>
            <a:pPr algn="ctr" indent="0" marL="0">
              <a:buNone/>
            </a:pPr>
            <a:r>
              <a:rPr lang="en-US" sz="1000" b="1" dirty="0">
                <a:solidFill>
                  <a:srgbClr val="8892B0"/>
                </a:solidFill>
                <a:latin typeface="Calibri" pitchFamily="34" charset="0"/>
                <a:ea typeface="Calibri" pitchFamily="34" charset="-122"/>
                <a:cs typeface="Calibri" pitchFamily="34" charset="-120"/>
              </a:rPr>
              <a:t>0–100</a:t>
            </a:r>
            <a:endParaRPr lang="en-US" sz="1000" dirty="0"/>
          </a:p>
        </p:txBody>
      </p:sp>
      <p:sp>
        <p:nvSpPr>
          <p:cNvPr id="15" name="Text 13"/>
          <p:cNvSpPr txBox="1"/>
          <p:nvPr/>
        </p:nvSpPr>
        <p:spPr>
          <a:xfrm>
            <a:off x="3246120" y="2148840"/>
            <a:ext cx="2514600" cy="457200"/>
          </a:xfrm>
          <a:prstGeom prst="rect">
            <a:avLst/>
          </a:prstGeom>
          <a:noFill/>
          <a:ln/>
        </p:spPr>
        <p:txBody>
          <a:bodyPr wrap="square" lIns="0" tIns="0" rIns="0" bIns="0" rtlCol="0" anchor="t"/>
          <a:lstStyle/>
          <a:p>
            <a:pPr algn="ctr" indent="0" marL="0">
              <a:buNone/>
            </a:pPr>
            <a:r>
              <a:rPr lang="en-US" sz="950" dirty="0">
                <a:solidFill>
                  <a:srgbClr val="8892B0"/>
                </a:solidFill>
                <a:latin typeface="Calibri" pitchFamily="34" charset="0"/>
                <a:ea typeface="Calibri" pitchFamily="34" charset="-122"/>
                <a:cs typeface="Calibri" pitchFamily="34" charset="-120"/>
              </a:rPr>
              <a:t>Contrast, labels, ARIA — we covered this Monday</a:t>
            </a:r>
            <a:endParaRPr lang="en-US" sz="950" dirty="0"/>
          </a:p>
        </p:txBody>
      </p:sp>
      <p:sp>
        <p:nvSpPr>
          <p:cNvPr id="16" name="Shape 14"/>
          <p:cNvSpPr/>
          <p:nvPr/>
        </p:nvSpPr>
        <p:spPr>
          <a:xfrm>
            <a:off x="6035040" y="960120"/>
            <a:ext cx="2606040" cy="1737360"/>
          </a:xfrm>
          <a:prstGeom prst="rect">
            <a:avLst/>
          </a:prstGeom>
          <a:solidFill>
            <a:srgbClr val="E8EDFF"/>
          </a:solidFill>
          <a:ln w="12700">
            <a:solidFill>
              <a:srgbClr val="CBD5FF"/>
            </a:solidFill>
            <a:prstDash val="solid"/>
          </a:ln>
        </p:spPr>
      </p:sp>
      <p:sp>
        <p:nvSpPr>
          <p:cNvPr id="17" name="Text 15"/>
          <p:cNvSpPr txBox="1"/>
          <p:nvPr/>
        </p:nvSpPr>
        <p:spPr>
          <a:xfrm>
            <a:off x="6035040" y="1005840"/>
            <a:ext cx="26060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8" name="Text 16"/>
          <p:cNvSpPr txBox="1"/>
          <p:nvPr/>
        </p:nvSpPr>
        <p:spPr>
          <a:xfrm>
            <a:off x="6080760" y="1554480"/>
            <a:ext cx="2514600" cy="347472"/>
          </a:xfrm>
          <a:prstGeom prst="rect">
            <a:avLst/>
          </a:prstGeom>
          <a:noFill/>
          <a:ln/>
        </p:spPr>
        <p:txBody>
          <a:bodyPr wrap="square" lIns="0" tIns="0" rIns="0" bIns="0" rtlCol="0" anchor="ctr"/>
          <a:lstStyle/>
          <a:p>
            <a:pPr algn="ctr" indent="0" marL="0">
              <a:buNone/>
            </a:pPr>
            <a:r>
              <a:rPr lang="en-US" sz="1300" b="1" dirty="0">
                <a:solidFill>
                  <a:srgbClr val="1A2540"/>
                </a:solidFill>
                <a:latin typeface="Calibri" pitchFamily="34" charset="0"/>
                <a:ea typeface="Calibri" pitchFamily="34" charset="-122"/>
                <a:cs typeface="Calibri" pitchFamily="34" charset="-120"/>
              </a:rPr>
              <a:t>Best Practices</a:t>
            </a:r>
            <a:endParaRPr lang="en-US" sz="1300" dirty="0"/>
          </a:p>
        </p:txBody>
      </p:sp>
      <p:sp>
        <p:nvSpPr>
          <p:cNvPr id="19" name="Text 17"/>
          <p:cNvSpPr txBox="1"/>
          <p:nvPr/>
        </p:nvSpPr>
        <p:spPr>
          <a:xfrm>
            <a:off x="6080760" y="1892808"/>
            <a:ext cx="2514600" cy="256032"/>
          </a:xfrm>
          <a:prstGeom prst="rect">
            <a:avLst/>
          </a:prstGeom>
          <a:noFill/>
          <a:ln/>
        </p:spPr>
        <p:txBody>
          <a:bodyPr wrap="square" lIns="0" tIns="0" rIns="0" bIns="0" rtlCol="0" anchor="ctr"/>
          <a:lstStyle/>
          <a:p>
            <a:pPr algn="ctr" indent="0" marL="0">
              <a:buNone/>
            </a:pPr>
            <a:r>
              <a:rPr lang="en-US" sz="1000" b="1" dirty="0">
                <a:solidFill>
                  <a:srgbClr val="8892B0"/>
                </a:solidFill>
                <a:latin typeface="Calibri" pitchFamily="34" charset="0"/>
                <a:ea typeface="Calibri" pitchFamily="34" charset="-122"/>
                <a:cs typeface="Calibri" pitchFamily="34" charset="-120"/>
              </a:rPr>
              <a:t>0–100</a:t>
            </a:r>
            <a:endParaRPr lang="en-US" sz="1000" dirty="0"/>
          </a:p>
        </p:txBody>
      </p:sp>
      <p:sp>
        <p:nvSpPr>
          <p:cNvPr id="20" name="Text 18"/>
          <p:cNvSpPr txBox="1"/>
          <p:nvPr/>
        </p:nvSpPr>
        <p:spPr>
          <a:xfrm>
            <a:off x="6080760" y="2148840"/>
            <a:ext cx="2514600" cy="457200"/>
          </a:xfrm>
          <a:prstGeom prst="rect">
            <a:avLst/>
          </a:prstGeom>
          <a:noFill/>
          <a:ln/>
        </p:spPr>
        <p:txBody>
          <a:bodyPr wrap="square" lIns="0" tIns="0" rIns="0" bIns="0" rtlCol="0" anchor="t"/>
          <a:lstStyle/>
          <a:p>
            <a:pPr algn="ctr" indent="0" marL="0">
              <a:buNone/>
            </a:pPr>
            <a:r>
              <a:rPr lang="en-US" sz="950" dirty="0">
                <a:solidFill>
                  <a:srgbClr val="8892B0"/>
                </a:solidFill>
                <a:latin typeface="Calibri" pitchFamily="34" charset="0"/>
                <a:ea typeface="Calibri" pitchFamily="34" charset="-122"/>
                <a:cs typeface="Calibri" pitchFamily="34" charset="-120"/>
              </a:rPr>
              <a:t>HTTPS, no console errors, image aspect ratios</a:t>
            </a:r>
            <a:endParaRPr lang="en-US" sz="950" dirty="0"/>
          </a:p>
        </p:txBody>
      </p:sp>
      <p:sp>
        <p:nvSpPr>
          <p:cNvPr id="21" name="Shape 19"/>
          <p:cNvSpPr/>
          <p:nvPr/>
        </p:nvSpPr>
        <p:spPr>
          <a:xfrm>
            <a:off x="365760" y="2880360"/>
            <a:ext cx="2606040" cy="1737360"/>
          </a:xfrm>
          <a:prstGeom prst="rect">
            <a:avLst/>
          </a:prstGeom>
          <a:solidFill>
            <a:srgbClr val="E8EDFF"/>
          </a:solidFill>
          <a:ln w="12700">
            <a:solidFill>
              <a:srgbClr val="CBD5FF"/>
            </a:solidFill>
            <a:prstDash val="solid"/>
          </a:ln>
        </p:spPr>
      </p:sp>
      <p:sp>
        <p:nvSpPr>
          <p:cNvPr id="22" name="Text 20"/>
          <p:cNvSpPr txBox="1"/>
          <p:nvPr/>
        </p:nvSpPr>
        <p:spPr>
          <a:xfrm>
            <a:off x="365760" y="2926080"/>
            <a:ext cx="26060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3" name="Text 21"/>
          <p:cNvSpPr txBox="1"/>
          <p:nvPr/>
        </p:nvSpPr>
        <p:spPr>
          <a:xfrm>
            <a:off x="411480" y="3474720"/>
            <a:ext cx="2514600" cy="347472"/>
          </a:xfrm>
          <a:prstGeom prst="rect">
            <a:avLst/>
          </a:prstGeom>
          <a:noFill/>
          <a:ln/>
        </p:spPr>
        <p:txBody>
          <a:bodyPr wrap="square" lIns="0" tIns="0" rIns="0" bIns="0" rtlCol="0" anchor="ctr"/>
          <a:lstStyle/>
          <a:p>
            <a:pPr algn="ctr" indent="0" marL="0">
              <a:buNone/>
            </a:pPr>
            <a:r>
              <a:rPr lang="en-US" sz="1300" b="1" dirty="0">
                <a:solidFill>
                  <a:srgbClr val="1A2540"/>
                </a:solidFill>
                <a:latin typeface="Calibri" pitchFamily="34" charset="0"/>
                <a:ea typeface="Calibri" pitchFamily="34" charset="-122"/>
                <a:cs typeface="Calibri" pitchFamily="34" charset="-120"/>
              </a:rPr>
              <a:t>SEO</a:t>
            </a:r>
            <a:endParaRPr lang="en-US" sz="1300" dirty="0"/>
          </a:p>
        </p:txBody>
      </p:sp>
      <p:sp>
        <p:nvSpPr>
          <p:cNvPr id="24" name="Text 22"/>
          <p:cNvSpPr txBox="1"/>
          <p:nvPr/>
        </p:nvSpPr>
        <p:spPr>
          <a:xfrm>
            <a:off x="411480" y="3813048"/>
            <a:ext cx="2514600" cy="256032"/>
          </a:xfrm>
          <a:prstGeom prst="rect">
            <a:avLst/>
          </a:prstGeom>
          <a:noFill/>
          <a:ln/>
        </p:spPr>
        <p:txBody>
          <a:bodyPr wrap="square" lIns="0" tIns="0" rIns="0" bIns="0" rtlCol="0" anchor="ctr"/>
          <a:lstStyle/>
          <a:p>
            <a:pPr algn="ctr" indent="0" marL="0">
              <a:buNone/>
            </a:pPr>
            <a:r>
              <a:rPr lang="en-US" sz="1000" b="1" dirty="0">
                <a:solidFill>
                  <a:srgbClr val="8892B0"/>
                </a:solidFill>
                <a:latin typeface="Calibri" pitchFamily="34" charset="0"/>
                <a:ea typeface="Calibri" pitchFamily="34" charset="-122"/>
                <a:cs typeface="Calibri" pitchFamily="34" charset="-120"/>
              </a:rPr>
              <a:t>0–100</a:t>
            </a:r>
            <a:endParaRPr lang="en-US" sz="1000" dirty="0"/>
          </a:p>
        </p:txBody>
      </p:sp>
      <p:sp>
        <p:nvSpPr>
          <p:cNvPr id="25" name="Text 23"/>
          <p:cNvSpPr txBox="1"/>
          <p:nvPr/>
        </p:nvSpPr>
        <p:spPr>
          <a:xfrm>
            <a:off x="411480" y="4069080"/>
            <a:ext cx="2514600" cy="457200"/>
          </a:xfrm>
          <a:prstGeom prst="rect">
            <a:avLst/>
          </a:prstGeom>
          <a:noFill/>
          <a:ln/>
        </p:spPr>
        <p:txBody>
          <a:bodyPr wrap="square" lIns="0" tIns="0" rIns="0" bIns="0" rtlCol="0" anchor="t"/>
          <a:lstStyle/>
          <a:p>
            <a:pPr algn="ctr" indent="0" marL="0">
              <a:buNone/>
            </a:pPr>
            <a:r>
              <a:rPr lang="en-US" sz="950" dirty="0">
                <a:solidFill>
                  <a:srgbClr val="8892B0"/>
                </a:solidFill>
                <a:latin typeface="Calibri" pitchFamily="34" charset="0"/>
                <a:ea typeface="Calibri" pitchFamily="34" charset="-122"/>
                <a:cs typeface="Calibri" pitchFamily="34" charset="-120"/>
              </a:rPr>
              <a:t>Meta tags, robots.txt, mobile-friendly</a:t>
            </a:r>
            <a:endParaRPr lang="en-US" sz="950" dirty="0"/>
          </a:p>
        </p:txBody>
      </p:sp>
      <p:sp>
        <p:nvSpPr>
          <p:cNvPr id="26" name="Shape 24"/>
          <p:cNvSpPr/>
          <p:nvPr/>
        </p:nvSpPr>
        <p:spPr>
          <a:xfrm>
            <a:off x="3200400" y="2880360"/>
            <a:ext cx="2606040" cy="1737360"/>
          </a:xfrm>
          <a:prstGeom prst="rect">
            <a:avLst/>
          </a:prstGeom>
          <a:solidFill>
            <a:srgbClr val="E8EDFF"/>
          </a:solidFill>
          <a:ln w="12700">
            <a:solidFill>
              <a:srgbClr val="CBD5FF"/>
            </a:solidFill>
            <a:prstDash val="solid"/>
          </a:ln>
        </p:spPr>
      </p:sp>
      <p:sp>
        <p:nvSpPr>
          <p:cNvPr id="27" name="Text 25"/>
          <p:cNvSpPr txBox="1"/>
          <p:nvPr/>
        </p:nvSpPr>
        <p:spPr>
          <a:xfrm>
            <a:off x="3200400" y="2926080"/>
            <a:ext cx="26060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8" name="Text 26"/>
          <p:cNvSpPr txBox="1"/>
          <p:nvPr/>
        </p:nvSpPr>
        <p:spPr>
          <a:xfrm>
            <a:off x="3246120" y="3474720"/>
            <a:ext cx="2514600" cy="347472"/>
          </a:xfrm>
          <a:prstGeom prst="rect">
            <a:avLst/>
          </a:prstGeom>
          <a:noFill/>
          <a:ln/>
        </p:spPr>
        <p:txBody>
          <a:bodyPr wrap="square" lIns="0" tIns="0" rIns="0" bIns="0" rtlCol="0" anchor="ctr"/>
          <a:lstStyle/>
          <a:p>
            <a:pPr algn="ctr" indent="0" marL="0">
              <a:buNone/>
            </a:pPr>
            <a:r>
              <a:rPr lang="en-US" sz="1300" b="1" dirty="0">
                <a:solidFill>
                  <a:srgbClr val="1A2540"/>
                </a:solidFill>
                <a:latin typeface="Calibri" pitchFamily="34" charset="0"/>
                <a:ea typeface="Calibri" pitchFamily="34" charset="-122"/>
                <a:cs typeface="Calibri" pitchFamily="34" charset="-120"/>
              </a:rPr>
              <a:t>PWA</a:t>
            </a:r>
            <a:endParaRPr lang="en-US" sz="1300" dirty="0"/>
          </a:p>
        </p:txBody>
      </p:sp>
      <p:sp>
        <p:nvSpPr>
          <p:cNvPr id="29" name="Text 27"/>
          <p:cNvSpPr txBox="1"/>
          <p:nvPr/>
        </p:nvSpPr>
        <p:spPr>
          <a:xfrm>
            <a:off x="3246120" y="3813048"/>
            <a:ext cx="2514600" cy="256032"/>
          </a:xfrm>
          <a:prstGeom prst="rect">
            <a:avLst/>
          </a:prstGeom>
          <a:noFill/>
          <a:ln/>
        </p:spPr>
        <p:txBody>
          <a:bodyPr wrap="square" lIns="0" tIns="0" rIns="0" bIns="0" rtlCol="0" anchor="ctr"/>
          <a:lstStyle/>
          <a:p>
            <a:pPr algn="ctr" indent="0" marL="0">
              <a:buNone/>
            </a:pPr>
            <a:r>
              <a:rPr lang="en-US" sz="1000" b="1" dirty="0">
                <a:solidFill>
                  <a:srgbClr val="8892B0"/>
                </a:solidFill>
                <a:latin typeface="Calibri" pitchFamily="34" charset="0"/>
                <a:ea typeface="Calibri" pitchFamily="34" charset="-122"/>
                <a:cs typeface="Calibri" pitchFamily="34" charset="-120"/>
              </a:rPr>
              <a:t>Pass/Fail</a:t>
            </a:r>
            <a:endParaRPr lang="en-US" sz="1000" dirty="0"/>
          </a:p>
        </p:txBody>
      </p:sp>
      <p:sp>
        <p:nvSpPr>
          <p:cNvPr id="30" name="Text 28"/>
          <p:cNvSpPr txBox="1"/>
          <p:nvPr/>
        </p:nvSpPr>
        <p:spPr>
          <a:xfrm>
            <a:off x="3246120" y="4069080"/>
            <a:ext cx="2514600" cy="457200"/>
          </a:xfrm>
          <a:prstGeom prst="rect">
            <a:avLst/>
          </a:prstGeom>
          <a:noFill/>
          <a:ln/>
        </p:spPr>
        <p:txBody>
          <a:bodyPr wrap="square" lIns="0" tIns="0" rIns="0" bIns="0" rtlCol="0" anchor="t"/>
          <a:lstStyle/>
          <a:p>
            <a:pPr algn="ctr" indent="0" marL="0">
              <a:buNone/>
            </a:pPr>
            <a:r>
              <a:rPr lang="en-US" sz="950" dirty="0">
                <a:solidFill>
                  <a:srgbClr val="8892B0"/>
                </a:solidFill>
                <a:latin typeface="Calibri" pitchFamily="34" charset="0"/>
                <a:ea typeface="Calibri" pitchFamily="34" charset="-122"/>
                <a:cs typeface="Calibri" pitchFamily="34" charset="-120"/>
              </a:rPr>
              <a:t>Service worker, manifest — optional for now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Network Tab</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in DevTools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Reading the waterfall</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Waterfall</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Timeline of every request</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Size</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Compressed vs original bytes</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Time</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How long each request took</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Initiator</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What triggered the request</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Status</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200, 304, 404, 500...</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 Open the Network tab:</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F12 &gt; Network &gt; reload the page</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Key things to look for:</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1. Large files (images &gt; 200KB)</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Sort by Size column</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2. Blocking requests at the top</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CSS/JS blocking the render</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3. Long chain of serial requests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Each waits for the previous</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4. 304 Not Modified = cached</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(good! browser reused it)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5. Duplicate requests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Same file loaded twice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Image Optimization — The Biggest Win</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8412480" cy="411480"/>
          </a:xfrm>
          <a:prstGeom prst="rect">
            <a:avLst/>
          </a:prstGeom>
          <a:solidFill>
            <a:srgbClr val="1A2540"/>
          </a:solidFill>
          <a:ln w="12700">
            <a:solidFill>
              <a:srgbClr val="1A2540"/>
            </a:solidFill>
            <a:prstDash val="solid"/>
          </a:ln>
        </p:spPr>
      </p:sp>
      <p:sp>
        <p:nvSpPr>
          <p:cNvPr id="7" name="Text 5"/>
          <p:cNvSpPr txBox="1"/>
          <p:nvPr/>
        </p:nvSpPr>
        <p:spPr>
          <a:xfrm>
            <a:off x="365760" y="914400"/>
            <a:ext cx="2103120" cy="411480"/>
          </a:xfrm>
          <a:prstGeom prst="rect">
            <a:avLst/>
          </a:prstGeom>
          <a:noFill/>
          <a:ln/>
        </p:spPr>
        <p:txBody>
          <a:bodyPr wrap="square" lIns="50800" tIns="50800" rIns="50800" bIns="50800" rtlCol="0" anchor="ctr"/>
          <a:lstStyle/>
          <a:p>
            <a:pPr algn="ctr" indent="0" marL="0">
              <a:buNone/>
            </a:pPr>
            <a:r>
              <a:rPr lang="en-US" sz="1200" b="1" dirty="0">
                <a:solidFill>
                  <a:srgbClr val="F7DF1E"/>
                </a:solidFill>
                <a:latin typeface="Calibri" pitchFamily="34" charset="0"/>
                <a:ea typeface="Calibri" pitchFamily="34" charset="-122"/>
                <a:cs typeface="Calibri" pitchFamily="34" charset="-120"/>
              </a:rPr>
              <a:t>Format</a:t>
            </a:r>
            <a:endParaRPr lang="en-US" sz="1200" dirty="0"/>
          </a:p>
        </p:txBody>
      </p:sp>
      <p:sp>
        <p:nvSpPr>
          <p:cNvPr id="8" name="Text 6"/>
          <p:cNvSpPr txBox="1"/>
          <p:nvPr/>
        </p:nvSpPr>
        <p:spPr>
          <a:xfrm>
            <a:off x="2468880" y="914400"/>
            <a:ext cx="2103120" cy="411480"/>
          </a:xfrm>
          <a:prstGeom prst="rect">
            <a:avLst/>
          </a:prstGeom>
          <a:noFill/>
          <a:ln/>
        </p:spPr>
        <p:txBody>
          <a:bodyPr wrap="square" lIns="50800" tIns="50800" rIns="50800" bIns="50800" rtlCol="0" anchor="ctr"/>
          <a:lstStyle/>
          <a:p>
            <a:pPr algn="ctr" indent="0" marL="0">
              <a:buNone/>
            </a:pPr>
            <a:r>
              <a:rPr lang="en-US" sz="1200" b="1" dirty="0">
                <a:solidFill>
                  <a:srgbClr val="F7DF1E"/>
                </a:solidFill>
                <a:latin typeface="Calibri" pitchFamily="34" charset="0"/>
                <a:ea typeface="Calibri" pitchFamily="34" charset="-122"/>
                <a:cs typeface="Calibri" pitchFamily="34" charset="-120"/>
              </a:rPr>
              <a:t>Best Use</a:t>
            </a:r>
            <a:endParaRPr lang="en-US" sz="1200" dirty="0"/>
          </a:p>
        </p:txBody>
      </p:sp>
      <p:sp>
        <p:nvSpPr>
          <p:cNvPr id="9" name="Text 7"/>
          <p:cNvSpPr txBox="1"/>
          <p:nvPr/>
        </p:nvSpPr>
        <p:spPr>
          <a:xfrm>
            <a:off x="4572000" y="914400"/>
            <a:ext cx="2103120" cy="411480"/>
          </a:xfrm>
          <a:prstGeom prst="rect">
            <a:avLst/>
          </a:prstGeom>
          <a:noFill/>
          <a:ln/>
        </p:spPr>
        <p:txBody>
          <a:bodyPr wrap="square" lIns="50800" tIns="50800" rIns="50800" bIns="50800" rtlCol="0" anchor="ctr"/>
          <a:lstStyle/>
          <a:p>
            <a:pPr algn="ctr" indent="0" marL="0">
              <a:buNone/>
            </a:pPr>
            <a:r>
              <a:rPr lang="en-US" sz="1200" b="1" dirty="0">
                <a:solidFill>
                  <a:srgbClr val="F7DF1E"/>
                </a:solidFill>
                <a:latin typeface="Calibri" pitchFamily="34" charset="0"/>
                <a:ea typeface="Calibri" pitchFamily="34" charset="-122"/>
                <a:cs typeface="Calibri" pitchFamily="34" charset="-120"/>
              </a:rPr>
              <a:t>Savings</a:t>
            </a:r>
            <a:endParaRPr lang="en-US" sz="1200" dirty="0"/>
          </a:p>
        </p:txBody>
      </p:sp>
      <p:sp>
        <p:nvSpPr>
          <p:cNvPr id="10" name="Text 8"/>
          <p:cNvSpPr txBox="1"/>
          <p:nvPr/>
        </p:nvSpPr>
        <p:spPr>
          <a:xfrm>
            <a:off x="6675120" y="914400"/>
            <a:ext cx="2103120" cy="411480"/>
          </a:xfrm>
          <a:prstGeom prst="rect">
            <a:avLst/>
          </a:prstGeom>
          <a:noFill/>
          <a:ln/>
        </p:spPr>
        <p:txBody>
          <a:bodyPr wrap="square" lIns="50800" tIns="50800" rIns="50800" bIns="50800" rtlCol="0" anchor="ctr"/>
          <a:lstStyle/>
          <a:p>
            <a:pPr algn="ctr" indent="0" marL="0">
              <a:buNone/>
            </a:pPr>
            <a:r>
              <a:rPr lang="en-US" sz="1200" b="1" dirty="0">
                <a:solidFill>
                  <a:srgbClr val="F7DF1E"/>
                </a:solidFill>
                <a:latin typeface="Calibri" pitchFamily="34" charset="0"/>
                <a:ea typeface="Calibri" pitchFamily="34" charset="-122"/>
                <a:cs typeface="Calibri" pitchFamily="34" charset="-120"/>
              </a:rPr>
              <a:t>When to Use</a:t>
            </a:r>
            <a:endParaRPr lang="en-US" sz="1200" dirty="0"/>
          </a:p>
        </p:txBody>
      </p:sp>
      <p:sp>
        <p:nvSpPr>
          <p:cNvPr id="11" name="Shape 9"/>
          <p:cNvSpPr/>
          <p:nvPr/>
        </p:nvSpPr>
        <p:spPr>
          <a:xfrm>
            <a:off x="365760" y="1371600"/>
            <a:ext cx="2103120" cy="594360"/>
          </a:xfrm>
          <a:prstGeom prst="rect">
            <a:avLst/>
          </a:prstGeom>
          <a:solidFill>
            <a:srgbClr val="E8EDFF"/>
          </a:solidFill>
          <a:ln w="12700">
            <a:solidFill>
              <a:srgbClr val="CBD5FF"/>
            </a:solidFill>
            <a:prstDash val="solid"/>
          </a:ln>
        </p:spPr>
      </p:sp>
      <p:sp>
        <p:nvSpPr>
          <p:cNvPr id="12" name="Text 10"/>
          <p:cNvSpPr txBox="1"/>
          <p:nvPr/>
        </p:nvSpPr>
        <p:spPr>
          <a:xfrm>
            <a:off x="411480" y="1389888"/>
            <a:ext cx="2011680" cy="557784"/>
          </a:xfrm>
          <a:prstGeom prst="rect">
            <a:avLst/>
          </a:prstGeom>
          <a:noFill/>
          <a:ln/>
        </p:spPr>
        <p:txBody>
          <a:bodyPr wrap="square" lIns="50800" tIns="50800" rIns="50800" bIns="5080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JPEG</a:t>
            </a:r>
            <a:endParaRPr lang="en-US" sz="1100" dirty="0"/>
          </a:p>
        </p:txBody>
      </p:sp>
      <p:sp>
        <p:nvSpPr>
          <p:cNvPr id="13" name="Shape 11"/>
          <p:cNvSpPr/>
          <p:nvPr/>
        </p:nvSpPr>
        <p:spPr>
          <a:xfrm>
            <a:off x="2468880" y="1371600"/>
            <a:ext cx="2103120" cy="594360"/>
          </a:xfrm>
          <a:prstGeom prst="rect">
            <a:avLst/>
          </a:prstGeom>
          <a:solidFill>
            <a:srgbClr val="E8EDFF"/>
          </a:solidFill>
          <a:ln w="12700">
            <a:solidFill>
              <a:srgbClr val="CBD5FF"/>
            </a:solidFill>
            <a:prstDash val="solid"/>
          </a:ln>
        </p:spPr>
      </p:sp>
      <p:sp>
        <p:nvSpPr>
          <p:cNvPr id="14" name="Text 12"/>
          <p:cNvSpPr txBox="1"/>
          <p:nvPr/>
        </p:nvSpPr>
        <p:spPr>
          <a:xfrm>
            <a:off x="2514600" y="1389888"/>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Photos, complex images</a:t>
            </a:r>
            <a:endParaRPr lang="en-US" sz="1100" dirty="0"/>
          </a:p>
        </p:txBody>
      </p:sp>
      <p:sp>
        <p:nvSpPr>
          <p:cNvPr id="15" name="Shape 13"/>
          <p:cNvSpPr/>
          <p:nvPr/>
        </p:nvSpPr>
        <p:spPr>
          <a:xfrm>
            <a:off x="4572000" y="1371600"/>
            <a:ext cx="2103120" cy="594360"/>
          </a:xfrm>
          <a:prstGeom prst="rect">
            <a:avLst/>
          </a:prstGeom>
          <a:solidFill>
            <a:srgbClr val="E8EDFF"/>
          </a:solidFill>
          <a:ln w="12700">
            <a:solidFill>
              <a:srgbClr val="CBD5FF"/>
            </a:solidFill>
            <a:prstDash val="solid"/>
          </a:ln>
        </p:spPr>
      </p:sp>
      <p:sp>
        <p:nvSpPr>
          <p:cNvPr id="16" name="Text 14"/>
          <p:cNvSpPr txBox="1"/>
          <p:nvPr/>
        </p:nvSpPr>
        <p:spPr>
          <a:xfrm>
            <a:off x="4617720" y="1389888"/>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Smallest for photos</a:t>
            </a:r>
            <a:endParaRPr lang="en-US" sz="1100" dirty="0"/>
          </a:p>
        </p:txBody>
      </p:sp>
      <p:sp>
        <p:nvSpPr>
          <p:cNvPr id="17" name="Shape 15"/>
          <p:cNvSpPr/>
          <p:nvPr/>
        </p:nvSpPr>
        <p:spPr>
          <a:xfrm>
            <a:off x="6675120" y="1371600"/>
            <a:ext cx="2103120" cy="594360"/>
          </a:xfrm>
          <a:prstGeom prst="rect">
            <a:avLst/>
          </a:prstGeom>
          <a:solidFill>
            <a:srgbClr val="E8EDFF"/>
          </a:solidFill>
          <a:ln w="12700">
            <a:solidFill>
              <a:srgbClr val="CBD5FF"/>
            </a:solidFill>
            <a:prstDash val="solid"/>
          </a:ln>
        </p:spPr>
      </p:sp>
      <p:sp>
        <p:nvSpPr>
          <p:cNvPr id="18" name="Text 16"/>
          <p:cNvSpPr txBox="1"/>
          <p:nvPr/>
        </p:nvSpPr>
        <p:spPr>
          <a:xfrm>
            <a:off x="6720840" y="1389888"/>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Always for photographs</a:t>
            </a:r>
            <a:endParaRPr lang="en-US" sz="1100" dirty="0"/>
          </a:p>
        </p:txBody>
      </p:sp>
      <p:sp>
        <p:nvSpPr>
          <p:cNvPr id="19" name="Shape 17"/>
          <p:cNvSpPr/>
          <p:nvPr/>
        </p:nvSpPr>
        <p:spPr>
          <a:xfrm>
            <a:off x="365760" y="1993392"/>
            <a:ext cx="2103120" cy="594360"/>
          </a:xfrm>
          <a:prstGeom prst="rect">
            <a:avLst/>
          </a:prstGeom>
          <a:solidFill>
            <a:srgbClr val="F0F4FF"/>
          </a:solidFill>
          <a:ln w="12700">
            <a:solidFill>
              <a:srgbClr val="CBD5FF"/>
            </a:solidFill>
            <a:prstDash val="solid"/>
          </a:ln>
        </p:spPr>
      </p:sp>
      <p:sp>
        <p:nvSpPr>
          <p:cNvPr id="20" name="Text 18"/>
          <p:cNvSpPr txBox="1"/>
          <p:nvPr/>
        </p:nvSpPr>
        <p:spPr>
          <a:xfrm>
            <a:off x="411480" y="2011680"/>
            <a:ext cx="2011680" cy="557784"/>
          </a:xfrm>
          <a:prstGeom prst="rect">
            <a:avLst/>
          </a:prstGeom>
          <a:noFill/>
          <a:ln/>
        </p:spPr>
        <p:txBody>
          <a:bodyPr wrap="square" lIns="50800" tIns="50800" rIns="50800" bIns="5080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PNG</a:t>
            </a:r>
            <a:endParaRPr lang="en-US" sz="1100" dirty="0"/>
          </a:p>
        </p:txBody>
      </p:sp>
      <p:sp>
        <p:nvSpPr>
          <p:cNvPr id="21" name="Shape 19"/>
          <p:cNvSpPr/>
          <p:nvPr/>
        </p:nvSpPr>
        <p:spPr>
          <a:xfrm>
            <a:off x="2468880" y="1993392"/>
            <a:ext cx="2103120" cy="594360"/>
          </a:xfrm>
          <a:prstGeom prst="rect">
            <a:avLst/>
          </a:prstGeom>
          <a:solidFill>
            <a:srgbClr val="F0F4FF"/>
          </a:solidFill>
          <a:ln w="12700">
            <a:solidFill>
              <a:srgbClr val="CBD5FF"/>
            </a:solidFill>
            <a:prstDash val="solid"/>
          </a:ln>
        </p:spPr>
      </p:sp>
      <p:sp>
        <p:nvSpPr>
          <p:cNvPr id="22" name="Text 20"/>
          <p:cNvSpPr txBox="1"/>
          <p:nvPr/>
        </p:nvSpPr>
        <p:spPr>
          <a:xfrm>
            <a:off x="2514600" y="2011680"/>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Transparency, logos</a:t>
            </a:r>
            <a:endParaRPr lang="en-US" sz="1100" dirty="0"/>
          </a:p>
        </p:txBody>
      </p:sp>
      <p:sp>
        <p:nvSpPr>
          <p:cNvPr id="23" name="Shape 21"/>
          <p:cNvSpPr/>
          <p:nvPr/>
        </p:nvSpPr>
        <p:spPr>
          <a:xfrm>
            <a:off x="4572000" y="1993392"/>
            <a:ext cx="2103120" cy="594360"/>
          </a:xfrm>
          <a:prstGeom prst="rect">
            <a:avLst/>
          </a:prstGeom>
          <a:solidFill>
            <a:srgbClr val="F0F4FF"/>
          </a:solidFill>
          <a:ln w="12700">
            <a:solidFill>
              <a:srgbClr val="CBD5FF"/>
            </a:solidFill>
            <a:prstDash val="solid"/>
          </a:ln>
        </p:spPr>
      </p:sp>
      <p:sp>
        <p:nvSpPr>
          <p:cNvPr id="24" name="Text 22"/>
          <p:cNvSpPr txBox="1"/>
          <p:nvPr/>
        </p:nvSpPr>
        <p:spPr>
          <a:xfrm>
            <a:off x="4617720" y="2011680"/>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Lossless but larger</a:t>
            </a:r>
            <a:endParaRPr lang="en-US" sz="1100" dirty="0"/>
          </a:p>
        </p:txBody>
      </p:sp>
      <p:sp>
        <p:nvSpPr>
          <p:cNvPr id="25" name="Shape 23"/>
          <p:cNvSpPr/>
          <p:nvPr/>
        </p:nvSpPr>
        <p:spPr>
          <a:xfrm>
            <a:off x="6675120" y="1993392"/>
            <a:ext cx="2103120" cy="594360"/>
          </a:xfrm>
          <a:prstGeom prst="rect">
            <a:avLst/>
          </a:prstGeom>
          <a:solidFill>
            <a:srgbClr val="F0F4FF"/>
          </a:solidFill>
          <a:ln w="12700">
            <a:solidFill>
              <a:srgbClr val="CBD5FF"/>
            </a:solidFill>
            <a:prstDash val="solid"/>
          </a:ln>
        </p:spPr>
      </p:sp>
      <p:sp>
        <p:nvSpPr>
          <p:cNvPr id="26" name="Text 24"/>
          <p:cNvSpPr txBox="1"/>
          <p:nvPr/>
        </p:nvSpPr>
        <p:spPr>
          <a:xfrm>
            <a:off x="6720840" y="2011680"/>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When transparency needed</a:t>
            </a:r>
            <a:endParaRPr lang="en-US" sz="1100" dirty="0"/>
          </a:p>
        </p:txBody>
      </p:sp>
      <p:sp>
        <p:nvSpPr>
          <p:cNvPr id="27" name="Shape 25"/>
          <p:cNvSpPr/>
          <p:nvPr/>
        </p:nvSpPr>
        <p:spPr>
          <a:xfrm>
            <a:off x="365760" y="2615184"/>
            <a:ext cx="2103120" cy="594360"/>
          </a:xfrm>
          <a:prstGeom prst="rect">
            <a:avLst/>
          </a:prstGeom>
          <a:solidFill>
            <a:srgbClr val="E8EDFF"/>
          </a:solidFill>
          <a:ln w="12700">
            <a:solidFill>
              <a:srgbClr val="CBD5FF"/>
            </a:solidFill>
            <a:prstDash val="solid"/>
          </a:ln>
        </p:spPr>
      </p:sp>
      <p:sp>
        <p:nvSpPr>
          <p:cNvPr id="28" name="Text 26"/>
          <p:cNvSpPr txBox="1"/>
          <p:nvPr/>
        </p:nvSpPr>
        <p:spPr>
          <a:xfrm>
            <a:off x="411480" y="2633472"/>
            <a:ext cx="2011680" cy="557784"/>
          </a:xfrm>
          <a:prstGeom prst="rect">
            <a:avLst/>
          </a:prstGeom>
          <a:noFill/>
          <a:ln/>
        </p:spPr>
        <p:txBody>
          <a:bodyPr wrap="square" lIns="50800" tIns="50800" rIns="50800" bIns="5080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WebP</a:t>
            </a:r>
            <a:endParaRPr lang="en-US" sz="1100" dirty="0"/>
          </a:p>
        </p:txBody>
      </p:sp>
      <p:sp>
        <p:nvSpPr>
          <p:cNvPr id="29" name="Shape 27"/>
          <p:cNvSpPr/>
          <p:nvPr/>
        </p:nvSpPr>
        <p:spPr>
          <a:xfrm>
            <a:off x="2468880" y="2615184"/>
            <a:ext cx="2103120" cy="594360"/>
          </a:xfrm>
          <a:prstGeom prst="rect">
            <a:avLst/>
          </a:prstGeom>
          <a:solidFill>
            <a:srgbClr val="E8EDFF"/>
          </a:solidFill>
          <a:ln w="12700">
            <a:solidFill>
              <a:srgbClr val="CBD5FF"/>
            </a:solidFill>
            <a:prstDash val="solid"/>
          </a:ln>
        </p:spPr>
      </p:sp>
      <p:sp>
        <p:nvSpPr>
          <p:cNvPr id="30" name="Text 28"/>
          <p:cNvSpPr txBox="1"/>
          <p:nvPr/>
        </p:nvSpPr>
        <p:spPr>
          <a:xfrm>
            <a:off x="2514600" y="2633472"/>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Photos + transparency</a:t>
            </a:r>
            <a:endParaRPr lang="en-US" sz="1100" dirty="0"/>
          </a:p>
        </p:txBody>
      </p:sp>
      <p:sp>
        <p:nvSpPr>
          <p:cNvPr id="31" name="Shape 29"/>
          <p:cNvSpPr/>
          <p:nvPr/>
        </p:nvSpPr>
        <p:spPr>
          <a:xfrm>
            <a:off x="4572000" y="2615184"/>
            <a:ext cx="2103120" cy="594360"/>
          </a:xfrm>
          <a:prstGeom prst="rect">
            <a:avLst/>
          </a:prstGeom>
          <a:solidFill>
            <a:srgbClr val="E8EDFF"/>
          </a:solidFill>
          <a:ln w="12700">
            <a:solidFill>
              <a:srgbClr val="CBD5FF"/>
            </a:solidFill>
            <a:prstDash val="solid"/>
          </a:ln>
        </p:spPr>
      </p:sp>
      <p:sp>
        <p:nvSpPr>
          <p:cNvPr id="32" name="Text 30"/>
          <p:cNvSpPr txBox="1"/>
          <p:nvPr/>
        </p:nvSpPr>
        <p:spPr>
          <a:xfrm>
            <a:off x="4617720" y="2633472"/>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25-35% vs JPEG/PNG</a:t>
            </a:r>
            <a:endParaRPr lang="en-US" sz="1100" dirty="0"/>
          </a:p>
        </p:txBody>
      </p:sp>
      <p:sp>
        <p:nvSpPr>
          <p:cNvPr id="33" name="Shape 31"/>
          <p:cNvSpPr/>
          <p:nvPr/>
        </p:nvSpPr>
        <p:spPr>
          <a:xfrm>
            <a:off x="6675120" y="2615184"/>
            <a:ext cx="2103120" cy="594360"/>
          </a:xfrm>
          <a:prstGeom prst="rect">
            <a:avLst/>
          </a:prstGeom>
          <a:solidFill>
            <a:srgbClr val="E8EDFF"/>
          </a:solidFill>
          <a:ln w="12700">
            <a:solidFill>
              <a:srgbClr val="CBD5FF"/>
            </a:solidFill>
            <a:prstDash val="solid"/>
          </a:ln>
        </p:spPr>
      </p:sp>
      <p:sp>
        <p:nvSpPr>
          <p:cNvPr id="34" name="Text 32"/>
          <p:cNvSpPr txBox="1"/>
          <p:nvPr/>
        </p:nvSpPr>
        <p:spPr>
          <a:xfrm>
            <a:off x="6720840" y="2633472"/>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Modern browsers (2020+)</a:t>
            </a:r>
            <a:endParaRPr lang="en-US" sz="1100" dirty="0"/>
          </a:p>
        </p:txBody>
      </p:sp>
      <p:sp>
        <p:nvSpPr>
          <p:cNvPr id="35" name="Shape 33"/>
          <p:cNvSpPr/>
          <p:nvPr/>
        </p:nvSpPr>
        <p:spPr>
          <a:xfrm>
            <a:off x="365760" y="3236976"/>
            <a:ext cx="2103120" cy="594360"/>
          </a:xfrm>
          <a:prstGeom prst="rect">
            <a:avLst/>
          </a:prstGeom>
          <a:solidFill>
            <a:srgbClr val="F0F4FF"/>
          </a:solidFill>
          <a:ln w="12700">
            <a:solidFill>
              <a:srgbClr val="CBD5FF"/>
            </a:solidFill>
            <a:prstDash val="solid"/>
          </a:ln>
        </p:spPr>
      </p:sp>
      <p:sp>
        <p:nvSpPr>
          <p:cNvPr id="36" name="Text 34"/>
          <p:cNvSpPr txBox="1"/>
          <p:nvPr/>
        </p:nvSpPr>
        <p:spPr>
          <a:xfrm>
            <a:off x="411480" y="3255264"/>
            <a:ext cx="2011680" cy="557784"/>
          </a:xfrm>
          <a:prstGeom prst="rect">
            <a:avLst/>
          </a:prstGeom>
          <a:noFill/>
          <a:ln/>
        </p:spPr>
        <p:txBody>
          <a:bodyPr wrap="square" lIns="50800" tIns="50800" rIns="50800" bIns="50800" rtlCol="0" anchor="ctr"/>
          <a:lstStyle/>
          <a:p>
            <a:pPr algn="l" indent="0" marL="0">
              <a:buNone/>
            </a:pPr>
            <a:r>
              <a:rPr lang="en-US" sz="1100" b="1" dirty="0">
                <a:solidFill>
                  <a:srgbClr val="1A2540"/>
                </a:solidFill>
                <a:latin typeface="Calibri" pitchFamily="34" charset="0"/>
                <a:ea typeface="Calibri" pitchFamily="34" charset="-122"/>
                <a:cs typeface="Calibri" pitchFamily="34" charset="-120"/>
              </a:rPr>
              <a:t>SVG</a:t>
            </a:r>
            <a:endParaRPr lang="en-US" sz="1100" dirty="0"/>
          </a:p>
        </p:txBody>
      </p:sp>
      <p:sp>
        <p:nvSpPr>
          <p:cNvPr id="37" name="Shape 35"/>
          <p:cNvSpPr/>
          <p:nvPr/>
        </p:nvSpPr>
        <p:spPr>
          <a:xfrm>
            <a:off x="2468880" y="3236976"/>
            <a:ext cx="2103120" cy="594360"/>
          </a:xfrm>
          <a:prstGeom prst="rect">
            <a:avLst/>
          </a:prstGeom>
          <a:solidFill>
            <a:srgbClr val="F0F4FF"/>
          </a:solidFill>
          <a:ln w="12700">
            <a:solidFill>
              <a:srgbClr val="CBD5FF"/>
            </a:solidFill>
            <a:prstDash val="solid"/>
          </a:ln>
        </p:spPr>
      </p:sp>
      <p:sp>
        <p:nvSpPr>
          <p:cNvPr id="38" name="Text 36"/>
          <p:cNvSpPr txBox="1"/>
          <p:nvPr/>
        </p:nvSpPr>
        <p:spPr>
          <a:xfrm>
            <a:off x="2514600" y="3255264"/>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Icons, logos, charts</a:t>
            </a:r>
            <a:endParaRPr lang="en-US" sz="1100" dirty="0"/>
          </a:p>
        </p:txBody>
      </p:sp>
      <p:sp>
        <p:nvSpPr>
          <p:cNvPr id="39" name="Shape 37"/>
          <p:cNvSpPr/>
          <p:nvPr/>
        </p:nvSpPr>
        <p:spPr>
          <a:xfrm>
            <a:off x="4572000" y="3236976"/>
            <a:ext cx="2103120" cy="594360"/>
          </a:xfrm>
          <a:prstGeom prst="rect">
            <a:avLst/>
          </a:prstGeom>
          <a:solidFill>
            <a:srgbClr val="F0F4FF"/>
          </a:solidFill>
          <a:ln w="12700">
            <a:solidFill>
              <a:srgbClr val="CBD5FF"/>
            </a:solidFill>
            <a:prstDash val="solid"/>
          </a:ln>
        </p:spPr>
      </p:sp>
      <p:sp>
        <p:nvSpPr>
          <p:cNvPr id="40" name="Text 38"/>
          <p:cNvSpPr txBox="1"/>
          <p:nvPr/>
        </p:nvSpPr>
        <p:spPr>
          <a:xfrm>
            <a:off x="4617720" y="3255264"/>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Infinitely scalable</a:t>
            </a:r>
            <a:endParaRPr lang="en-US" sz="1100" dirty="0"/>
          </a:p>
        </p:txBody>
      </p:sp>
      <p:sp>
        <p:nvSpPr>
          <p:cNvPr id="41" name="Shape 39"/>
          <p:cNvSpPr/>
          <p:nvPr/>
        </p:nvSpPr>
        <p:spPr>
          <a:xfrm>
            <a:off x="6675120" y="3236976"/>
            <a:ext cx="2103120" cy="594360"/>
          </a:xfrm>
          <a:prstGeom prst="rect">
            <a:avLst/>
          </a:prstGeom>
          <a:solidFill>
            <a:srgbClr val="F0F4FF"/>
          </a:solidFill>
          <a:ln w="12700">
            <a:solidFill>
              <a:srgbClr val="CBD5FF"/>
            </a:solidFill>
            <a:prstDash val="solid"/>
          </a:ln>
        </p:spPr>
      </p:sp>
      <p:sp>
        <p:nvSpPr>
          <p:cNvPr id="42" name="Text 40"/>
          <p:cNvSpPr txBox="1"/>
          <p:nvPr/>
        </p:nvSpPr>
        <p:spPr>
          <a:xfrm>
            <a:off x="6720840" y="3255264"/>
            <a:ext cx="2011680" cy="557784"/>
          </a:xfrm>
          <a:prstGeom prst="rect">
            <a:avLst/>
          </a:prstGeom>
          <a:noFill/>
          <a:ln/>
        </p:spPr>
        <p:txBody>
          <a:bodyPr wrap="square" lIns="50800" tIns="50800" rIns="50800" bIns="50800" rtlCol="0" anchor="ctr"/>
          <a:lstStyle/>
          <a:p>
            <a:pPr algn="l" indent="0" marL="0">
              <a:buNone/>
            </a:pPr>
            <a:r>
              <a:rPr lang="en-US" sz="1100" dirty="0">
                <a:solidFill>
                  <a:srgbClr val="1A2540"/>
                </a:solidFill>
                <a:latin typeface="Calibri" pitchFamily="34" charset="0"/>
                <a:ea typeface="Calibri" pitchFamily="34" charset="-122"/>
                <a:cs typeface="Calibri" pitchFamily="34" charset="-120"/>
              </a:rPr>
              <a:t>Vector art, always crisp</a:t>
            </a:r>
            <a:endParaRPr lang="en-US" sz="1100" dirty="0"/>
          </a:p>
        </p:txBody>
      </p:sp>
      <p:sp>
        <p:nvSpPr>
          <p:cNvPr id="43" name="Text 41"/>
          <p:cNvSpPr txBox="1"/>
          <p:nvPr/>
        </p:nvSpPr>
        <p:spPr>
          <a:xfrm>
            <a:off x="365760" y="3913632"/>
            <a:ext cx="8412480" cy="292608"/>
          </a:xfrm>
          <a:prstGeom prst="rect">
            <a:avLst/>
          </a:prstGeom>
          <a:noFill/>
          <a:ln/>
        </p:spPr>
        <p:txBody>
          <a:bodyPr wrap="square" lIns="0" tIns="0" rIns="0" bIns="0" rtlCol="0" anchor="ctr"/>
          <a:lstStyle/>
          <a:p>
            <a:pPr algn="ctr" indent="0" marL="0">
              <a:buNone/>
            </a:pPr>
            <a:r>
              <a:rPr lang="en-US" sz="1150" dirty="0">
                <a:solidFill>
                  <a:srgbClr val="8892B0"/>
                </a:solidFill>
                <a:latin typeface="Calibri" pitchFamily="34" charset="0"/>
                <a:ea typeface="Calibri" pitchFamily="34" charset="-122"/>
                <a:cs typeface="Calibri" pitchFamily="34" charset="-120"/>
              </a:rPr>
              <a:t>Tools: Squoosh (squoosh.app), TinyPNG — compress before you ship</a:t>
            </a:r>
            <a:endParaRPr lang="en-US" sz="1150" dirty="0"/>
          </a:p>
        </p:txBody>
      </p:sp>
      <p:sp>
        <p:nvSpPr>
          <p:cNvPr id="44" name="Shape 42"/>
          <p:cNvSpPr/>
          <p:nvPr/>
        </p:nvSpPr>
        <p:spPr>
          <a:xfrm>
            <a:off x="365760" y="4251960"/>
            <a:ext cx="8412480" cy="594360"/>
          </a:xfrm>
          <a:prstGeom prst="rect">
            <a:avLst/>
          </a:prstGeom>
          <a:solidFill>
            <a:srgbClr val="162030"/>
          </a:solidFill>
          <a:ln w="12700">
            <a:solidFill>
              <a:srgbClr val="F7DF1E"/>
            </a:solidFill>
            <a:prstDash val="solid"/>
          </a:ln>
        </p:spPr>
      </p:sp>
      <p:sp>
        <p:nvSpPr>
          <p:cNvPr id="45" name="Text 43"/>
          <p:cNvSpPr txBox="1"/>
          <p:nvPr/>
        </p:nvSpPr>
        <p:spPr>
          <a:xfrm>
            <a:off x="457200" y="4297680"/>
            <a:ext cx="82296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Key rule: serve images at the size they are DISPLAYED, not the original camera size. A 400px wide card does not need a 4000px image.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loading="lazy"</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on Images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Defer off-screen images</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loading="lazy"</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Load when near viewport</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loading="eager"</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Load immediately (default)</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Threshold</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Browser decides ~500-1000px</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Above-fold</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Never lazy-load hero images</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width + height</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Set both to prevent CLS</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 All images load on page load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src="photo1.jpg" alt="Team photo"&gt;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src="photo2.jpg" alt="Campus"&gt;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src="photo3.jpg" alt="Library"&gt;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 Only visible images load first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Hero: always eager (above fold)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src="hero.jpg" alt="Welcome"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loading="eager"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width="1200" height="600"&gt;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Card images: lazy (below fold)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src="photo1.jpg" alt="Team"</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loading="lazy"</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width="400" height="300"&gt;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width/height prevent layout shift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CLS = Cumulative Layout Shift     --&gt;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Minification — Remove the Whitespace</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4023360" cy="3931920"/>
          </a:xfrm>
          <a:prstGeom prst="rect">
            <a:avLst/>
          </a:prstGeom>
          <a:solidFill>
            <a:srgbClr val="1E2336"/>
          </a:solidFill>
          <a:ln w="12700">
            <a:solidFill>
              <a:srgbClr val="2D3250"/>
            </a:solidFill>
            <a:prstDash val="solid"/>
          </a:ln>
        </p:spPr>
      </p:sp>
      <p:sp>
        <p:nvSpPr>
          <p:cNvPr id="7" name="Shape 5"/>
          <p:cNvSpPr/>
          <p:nvPr/>
        </p:nvSpPr>
        <p:spPr>
          <a:xfrm>
            <a:off x="484632" y="1014984"/>
            <a:ext cx="118872" cy="118872"/>
          </a:xfrm>
          <a:prstGeom prst="ellipse">
            <a:avLst/>
          </a:prstGeom>
          <a:solidFill>
            <a:srgbClr val="FF5F56"/>
          </a:solidFill>
          <a:ln w="12700">
            <a:solidFill>
              <a:srgbClr val="FF5F56"/>
            </a:solidFill>
            <a:prstDash val="solid"/>
          </a:ln>
        </p:spPr>
      </p:sp>
      <p:sp>
        <p:nvSpPr>
          <p:cNvPr id="8" name="Shape 6"/>
          <p:cNvSpPr/>
          <p:nvPr/>
        </p:nvSpPr>
        <p:spPr>
          <a:xfrm>
            <a:off x="685800" y="1014984"/>
            <a:ext cx="118872" cy="118872"/>
          </a:xfrm>
          <a:prstGeom prst="ellipse">
            <a:avLst/>
          </a:prstGeom>
          <a:solidFill>
            <a:srgbClr val="FFBD2E"/>
          </a:solidFill>
          <a:ln w="12700">
            <a:solidFill>
              <a:srgbClr val="FFBD2E"/>
            </a:solidFill>
            <a:prstDash val="solid"/>
          </a:ln>
        </p:spPr>
      </p:sp>
      <p:sp>
        <p:nvSpPr>
          <p:cNvPr id="9" name="Shape 7"/>
          <p:cNvSpPr/>
          <p:nvPr/>
        </p:nvSpPr>
        <p:spPr>
          <a:xfrm>
            <a:off x="886968" y="1014984"/>
            <a:ext cx="118872" cy="118872"/>
          </a:xfrm>
          <a:prstGeom prst="ellipse">
            <a:avLst/>
          </a:prstGeom>
          <a:solidFill>
            <a:srgbClr val="27C93F"/>
          </a:solidFill>
          <a:ln w="12700">
            <a:solidFill>
              <a:srgbClr val="27C93F"/>
            </a:solidFill>
            <a:prstDash val="solid"/>
          </a:ln>
        </p:spPr>
      </p:sp>
      <p:sp>
        <p:nvSpPr>
          <p:cNvPr id="10" name="Text 8"/>
          <p:cNvSpPr txBox="1"/>
          <p:nvPr/>
        </p:nvSpPr>
        <p:spPr>
          <a:xfrm>
            <a:off x="457200" y="1170432"/>
            <a:ext cx="3840480" cy="256032"/>
          </a:xfrm>
          <a:prstGeom prst="rect">
            <a:avLst/>
          </a:prstGeom>
          <a:noFill/>
          <a:ln/>
        </p:spPr>
        <p:txBody>
          <a:bodyPr wrap="square" lIns="0" tIns="0" rIns="0" bIns="0" rtlCol="0" anchor="ctr"/>
          <a:lstStyle/>
          <a:p>
            <a:pPr algn="l" indent="0" marL="0">
              <a:buNone/>
            </a:pPr>
            <a:r>
              <a:rPr lang="en-US" sz="1000" b="1" dirty="0">
                <a:solidFill>
                  <a:srgbClr val="FFBD2E"/>
                </a:solidFill>
                <a:latin typeface="Courier New" pitchFamily="34" charset="0"/>
                <a:ea typeface="Courier New" pitchFamily="34" charset="-122"/>
                <a:cs typeface="Courier New" pitchFamily="34" charset="-120"/>
              </a:rPr>
              <a:t>BEFORE  (3.2 KB)</a:t>
            </a:r>
            <a:endParaRPr lang="en-US" sz="1000" dirty="0"/>
          </a:p>
        </p:txBody>
      </p:sp>
      <p:sp>
        <p:nvSpPr>
          <p:cNvPr id="11" name="Text 9"/>
          <p:cNvSpPr txBox="1"/>
          <p:nvPr/>
        </p:nvSpPr>
        <p:spPr>
          <a:xfrm>
            <a:off x="457200" y="1463040"/>
            <a:ext cx="3840480" cy="3200400"/>
          </a:xfrm>
          <a:prstGeom prst="rect">
            <a:avLst/>
          </a:prstGeom>
          <a:noFill/>
          <a:ln/>
        </p:spPr>
        <p:txBody>
          <a:bodyPr wrap="square" lIns="0" tIns="0" rIns="0" bIns="0" rtlCol="0" anchor="t"/>
          <a:lstStyle/>
          <a:p>
            <a:pPr algn="l" indent="0" marL="0">
              <a:buNone/>
            </a:pPr>
            <a:r>
              <a:rPr lang="en-US" sz="950" dirty="0">
                <a:solidFill>
                  <a:srgbClr val="64FFDA"/>
                </a:solidFill>
                <a:latin typeface="Courier New" pitchFamily="34" charset="0"/>
                <a:ea typeface="Courier New" pitchFamily="34" charset="-122"/>
                <a:cs typeface="Courier New" pitchFamily="34" charset="-120"/>
              </a:rPr>
              <a:t>/* Button styles */</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button {</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background-color: #1A2540;</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color: #FFFFFF;</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padding: 12px 24px;</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border: none;</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border-radius: 4px;</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font-size: 16px;</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cursor: pointer;</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a:t>
            </a:r>
            <a:endParaRPr lang="en-US" sz="950" dirty="0"/>
          </a:p>
          <a:p>
            <a:pPr algn="l" indent="0" marL="0">
              <a:buNone/>
            </a:pP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Hover effect */</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button:hover {</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background-color: #F7DF1E;</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  color: #1A2540;</a:t>
            </a:r>
            <a:endParaRPr lang="en-US" sz="950" dirty="0"/>
          </a:p>
          <a:p>
            <a:pPr algn="l" indent="0" marL="0">
              <a:buNone/>
            </a:pPr>
            <a:r>
              <a:rPr lang="en-US" sz="950" dirty="0">
                <a:solidFill>
                  <a:srgbClr val="64FFDA"/>
                </a:solidFill>
                <a:latin typeface="Courier New" pitchFamily="34" charset="0"/>
                <a:ea typeface="Courier New" pitchFamily="34" charset="-122"/>
                <a:cs typeface="Courier New" pitchFamily="34" charset="-120"/>
              </a:rPr>
              <a:t>}</a:t>
            </a:r>
            <a:endParaRPr lang="en-US" sz="950" dirty="0"/>
          </a:p>
        </p:txBody>
      </p:sp>
      <p:sp>
        <p:nvSpPr>
          <p:cNvPr id="12" name="Shape 10"/>
          <p:cNvSpPr/>
          <p:nvPr/>
        </p:nvSpPr>
        <p:spPr>
          <a:xfrm>
            <a:off x="4754880" y="914400"/>
            <a:ext cx="4023360" cy="3931920"/>
          </a:xfrm>
          <a:prstGeom prst="rect">
            <a:avLst/>
          </a:prstGeom>
          <a:solidFill>
            <a:srgbClr val="1E2336"/>
          </a:solidFill>
          <a:ln w="12700">
            <a:solidFill>
              <a:srgbClr val="2D3250"/>
            </a:solidFill>
            <a:prstDash val="solid"/>
          </a:ln>
        </p:spPr>
      </p:sp>
      <p:sp>
        <p:nvSpPr>
          <p:cNvPr id="13" name="Shape 11"/>
          <p:cNvSpPr/>
          <p:nvPr/>
        </p:nvSpPr>
        <p:spPr>
          <a:xfrm>
            <a:off x="4873752" y="1014984"/>
            <a:ext cx="118872" cy="118872"/>
          </a:xfrm>
          <a:prstGeom prst="ellipse">
            <a:avLst/>
          </a:prstGeom>
          <a:solidFill>
            <a:srgbClr val="FF5F56"/>
          </a:solidFill>
          <a:ln w="12700">
            <a:solidFill>
              <a:srgbClr val="FF5F56"/>
            </a:solidFill>
            <a:prstDash val="solid"/>
          </a:ln>
        </p:spPr>
      </p:sp>
      <p:sp>
        <p:nvSpPr>
          <p:cNvPr id="14" name="Shape 12"/>
          <p:cNvSpPr/>
          <p:nvPr/>
        </p:nvSpPr>
        <p:spPr>
          <a:xfrm>
            <a:off x="5074920" y="1014984"/>
            <a:ext cx="118872" cy="118872"/>
          </a:xfrm>
          <a:prstGeom prst="ellipse">
            <a:avLst/>
          </a:prstGeom>
          <a:solidFill>
            <a:srgbClr val="FFBD2E"/>
          </a:solidFill>
          <a:ln w="12700">
            <a:solidFill>
              <a:srgbClr val="FFBD2E"/>
            </a:solidFill>
            <a:prstDash val="solid"/>
          </a:ln>
        </p:spPr>
      </p:sp>
      <p:sp>
        <p:nvSpPr>
          <p:cNvPr id="15" name="Shape 13"/>
          <p:cNvSpPr/>
          <p:nvPr/>
        </p:nvSpPr>
        <p:spPr>
          <a:xfrm>
            <a:off x="5276088" y="1014984"/>
            <a:ext cx="118872" cy="118872"/>
          </a:xfrm>
          <a:prstGeom prst="ellipse">
            <a:avLst/>
          </a:prstGeom>
          <a:solidFill>
            <a:srgbClr val="27C93F"/>
          </a:solidFill>
          <a:ln w="12700">
            <a:solidFill>
              <a:srgbClr val="27C93F"/>
            </a:solidFill>
            <a:prstDash val="solid"/>
          </a:ln>
        </p:spPr>
      </p:sp>
      <p:sp>
        <p:nvSpPr>
          <p:cNvPr id="16" name="Text 14"/>
          <p:cNvSpPr txBox="1"/>
          <p:nvPr/>
        </p:nvSpPr>
        <p:spPr>
          <a:xfrm>
            <a:off x="4846320" y="1170432"/>
            <a:ext cx="3840480" cy="256032"/>
          </a:xfrm>
          <a:prstGeom prst="rect">
            <a:avLst/>
          </a:prstGeom>
          <a:noFill/>
          <a:ln/>
        </p:spPr>
        <p:txBody>
          <a:bodyPr wrap="square" lIns="0" tIns="0" rIns="0" bIns="0" rtlCol="0" anchor="ctr"/>
          <a:lstStyle/>
          <a:p>
            <a:pPr algn="l" indent="0" marL="0">
              <a:buNone/>
            </a:pPr>
            <a:r>
              <a:rPr lang="en-US" sz="1000" b="1" dirty="0">
                <a:solidFill>
                  <a:srgbClr val="27C93F"/>
                </a:solidFill>
                <a:latin typeface="Courier New" pitchFamily="34" charset="0"/>
                <a:ea typeface="Courier New" pitchFamily="34" charset="-122"/>
                <a:cs typeface="Courier New" pitchFamily="34" charset="-120"/>
              </a:rPr>
              <a:t>AFTER  (0.6 KB)  81% smaller</a:t>
            </a:r>
            <a:endParaRPr lang="en-US" sz="1000" dirty="0"/>
          </a:p>
        </p:txBody>
      </p:sp>
      <p:sp>
        <p:nvSpPr>
          <p:cNvPr id="17" name="Text 15"/>
          <p:cNvSpPr txBox="1"/>
          <p:nvPr/>
        </p:nvSpPr>
        <p:spPr>
          <a:xfrm>
            <a:off x="4846320" y="1463040"/>
            <a:ext cx="3840480" cy="3200400"/>
          </a:xfrm>
          <a:prstGeom prst="rect">
            <a:avLst/>
          </a:prstGeom>
          <a:noFill/>
          <a:ln/>
        </p:spPr>
        <p:txBody>
          <a:bodyPr wrap="square" lIns="0" tIns="0" rIns="0" bIns="0" rtlCol="0" anchor="t"/>
          <a:lstStyle/>
          <a:p>
            <a:pPr algn="l" indent="0" marL="0">
              <a:buNone/>
            </a:pPr>
            <a:r>
              <a:rPr lang="en-US" sz="950" dirty="0">
                <a:solidFill>
                  <a:srgbClr val="64FFDA"/>
                </a:solidFill>
                <a:latin typeface="Courier New" pitchFamily="34" charset="0"/>
                <a:ea typeface="Courier New" pitchFamily="34" charset="-122"/>
                <a:cs typeface="Courier New" pitchFamily="34" charset="-120"/>
              </a:rPr>
              <a:t>button{background-color:#1A2540;color:#fff;padding:12px 24px;border:none;border-radius:4px;font-size:16px;cursor:pointer}button:hover{background-color:#F7DF1E;color:#1A2540}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The defer</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Attribute</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Load JS without blocking render</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Normal &lt;script&gt;</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Blocks HTML parsing</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defer</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Download in parallel, run after HTML</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async</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Download parallel, run ASAP</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type="module"</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Deferred automatically</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Rule of thumb</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Use defer for most scripts</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 Blocks parsing — browser stops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reading HTML until script runs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&lt;script src="app.js"&gt;&lt;/script&gt;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 defer: parse HTML + download JS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simultaneously. JS runs after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HTML is fully parsed.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&lt;script src="app.js" defer&gt;&lt;/script&gt;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async: runs as soon as downloaded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(order not guaranteed)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&lt;script src="analytics.js" async&gt;&lt;/script&gt;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Best practice: put ALL scripts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in &lt;head&gt; with defer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Not at the bottom of &lt;body&gt;       --&gt;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CDN — Content Delivery Network</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1645920" cy="1097280"/>
          </a:xfrm>
          <a:prstGeom prst="rect">
            <a:avLst/>
          </a:prstGeom>
          <a:solidFill>
            <a:srgbClr val="1A2540"/>
          </a:solidFill>
          <a:ln w="12700">
            <a:solidFill>
              <a:srgbClr val="3A4F7A"/>
            </a:solidFill>
            <a:prstDash val="solid"/>
          </a:ln>
        </p:spPr>
      </p:sp>
      <p:sp>
        <p:nvSpPr>
          <p:cNvPr id="7" name="Text 5"/>
          <p:cNvSpPr txBox="1"/>
          <p:nvPr/>
        </p:nvSpPr>
        <p:spPr>
          <a:xfrm>
            <a:off x="365760" y="914400"/>
            <a:ext cx="1645920" cy="10972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Your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Origin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Server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(Seoul)</a:t>
            </a:r>
            <a:endParaRPr lang="en-US" sz="1000" dirty="0"/>
          </a:p>
        </p:txBody>
      </p:sp>
      <p:sp>
        <p:nvSpPr>
          <p:cNvPr id="8" name="Shape 6"/>
          <p:cNvSpPr/>
          <p:nvPr/>
        </p:nvSpPr>
        <p:spPr>
          <a:xfrm>
            <a:off x="2651760" y="868680"/>
            <a:ext cx="1463040" cy="914400"/>
          </a:xfrm>
          <a:prstGeom prst="rect">
            <a:avLst/>
          </a:prstGeom>
          <a:solidFill>
            <a:srgbClr val="3A4F7A"/>
          </a:solidFill>
          <a:ln w="12700">
            <a:solidFill>
              <a:srgbClr val="F7DF1E"/>
            </a:solidFill>
            <a:prstDash val="solid"/>
          </a:ln>
        </p:spPr>
      </p:sp>
      <p:sp>
        <p:nvSpPr>
          <p:cNvPr id="9" name="Text 7"/>
          <p:cNvSpPr txBox="1"/>
          <p:nvPr/>
        </p:nvSpPr>
        <p:spPr>
          <a:xfrm>
            <a:off x="2651760" y="868680"/>
            <a:ext cx="1463040" cy="9144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Seoul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Edge</a:t>
            </a:r>
            <a:endParaRPr lang="en-US" sz="1000" dirty="0"/>
          </a:p>
        </p:txBody>
      </p:sp>
      <p:sp>
        <p:nvSpPr>
          <p:cNvPr id="10" name="Shape 8"/>
          <p:cNvSpPr/>
          <p:nvPr/>
        </p:nvSpPr>
        <p:spPr>
          <a:xfrm>
            <a:off x="2651760" y="2057400"/>
            <a:ext cx="1463040" cy="914400"/>
          </a:xfrm>
          <a:prstGeom prst="rect">
            <a:avLst/>
          </a:prstGeom>
          <a:solidFill>
            <a:srgbClr val="3A4F7A"/>
          </a:solidFill>
          <a:ln w="12700">
            <a:solidFill>
              <a:srgbClr val="F7DF1E"/>
            </a:solidFill>
            <a:prstDash val="solid"/>
          </a:ln>
        </p:spPr>
      </p:sp>
      <p:sp>
        <p:nvSpPr>
          <p:cNvPr id="11" name="Text 9"/>
          <p:cNvSpPr txBox="1"/>
          <p:nvPr/>
        </p:nvSpPr>
        <p:spPr>
          <a:xfrm>
            <a:off x="2651760" y="2057400"/>
            <a:ext cx="1463040" cy="9144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Tokyo</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Edge</a:t>
            </a:r>
            <a:endParaRPr lang="en-US" sz="1000" dirty="0"/>
          </a:p>
        </p:txBody>
      </p:sp>
      <p:sp>
        <p:nvSpPr>
          <p:cNvPr id="12" name="Shape 10"/>
          <p:cNvSpPr/>
          <p:nvPr/>
        </p:nvSpPr>
        <p:spPr>
          <a:xfrm>
            <a:off x="4389120" y="868680"/>
            <a:ext cx="1463040" cy="914400"/>
          </a:xfrm>
          <a:prstGeom prst="rect">
            <a:avLst/>
          </a:prstGeom>
          <a:solidFill>
            <a:srgbClr val="3A4F7A"/>
          </a:solidFill>
          <a:ln w="12700">
            <a:solidFill>
              <a:srgbClr val="F7DF1E"/>
            </a:solidFill>
            <a:prstDash val="solid"/>
          </a:ln>
        </p:spPr>
      </p:sp>
      <p:sp>
        <p:nvSpPr>
          <p:cNvPr id="13" name="Text 11"/>
          <p:cNvSpPr txBox="1"/>
          <p:nvPr/>
        </p:nvSpPr>
        <p:spPr>
          <a:xfrm>
            <a:off x="4389120" y="868680"/>
            <a:ext cx="1463040" cy="9144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London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Edge</a:t>
            </a:r>
            <a:endParaRPr lang="en-US" sz="1000" dirty="0"/>
          </a:p>
        </p:txBody>
      </p:sp>
      <p:sp>
        <p:nvSpPr>
          <p:cNvPr id="14" name="Shape 12"/>
          <p:cNvSpPr/>
          <p:nvPr/>
        </p:nvSpPr>
        <p:spPr>
          <a:xfrm>
            <a:off x="4389120" y="2057400"/>
            <a:ext cx="1463040" cy="914400"/>
          </a:xfrm>
          <a:prstGeom prst="rect">
            <a:avLst/>
          </a:prstGeom>
          <a:solidFill>
            <a:srgbClr val="3A4F7A"/>
          </a:solidFill>
          <a:ln w="12700">
            <a:solidFill>
              <a:srgbClr val="F7DF1E"/>
            </a:solidFill>
            <a:prstDash val="solid"/>
          </a:ln>
        </p:spPr>
      </p:sp>
      <p:sp>
        <p:nvSpPr>
          <p:cNvPr id="15" name="Text 13"/>
          <p:cNvSpPr txBox="1"/>
          <p:nvPr/>
        </p:nvSpPr>
        <p:spPr>
          <a:xfrm>
            <a:off x="4389120" y="2057400"/>
            <a:ext cx="1463040" cy="9144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NYC</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Edge</a:t>
            </a:r>
            <a:endParaRPr lang="en-US" sz="1000" dirty="0"/>
          </a:p>
        </p:txBody>
      </p:sp>
      <p:sp>
        <p:nvSpPr>
          <p:cNvPr id="16" name="Shape 14"/>
          <p:cNvSpPr/>
          <p:nvPr/>
        </p:nvSpPr>
        <p:spPr>
          <a:xfrm>
            <a:off x="6217920" y="868680"/>
            <a:ext cx="2468880" cy="822960"/>
          </a:xfrm>
          <a:prstGeom prst="rect">
            <a:avLst/>
          </a:prstGeom>
          <a:solidFill>
            <a:srgbClr val="E8EDFF"/>
          </a:solidFill>
          <a:ln w="12700">
            <a:solidFill>
              <a:srgbClr val="CBD5FF"/>
            </a:solidFill>
            <a:prstDash val="solid"/>
          </a:ln>
        </p:spPr>
      </p:sp>
      <p:sp>
        <p:nvSpPr>
          <p:cNvPr id="17" name="Text 15"/>
          <p:cNvSpPr txBox="1"/>
          <p:nvPr/>
        </p:nvSpPr>
        <p:spPr>
          <a:xfrm>
            <a:off x="6217920" y="868680"/>
            <a:ext cx="2468880" cy="822960"/>
          </a:xfrm>
          <a:prstGeom prst="rect">
            <a:avLst/>
          </a:prstGeom>
          <a:noFill/>
          <a:ln/>
        </p:spPr>
        <p:txBody>
          <a:bodyPr wrap="square" lIns="0" tIns="0" rIns="0" bIns="0" rtlCol="0" anchor="ctr"/>
          <a:lstStyle/>
          <a:p>
            <a:pPr algn="ctr" indent="0" marL="0">
              <a:buNone/>
            </a:pPr>
            <a:r>
              <a:rPr lang="en-US" sz="1100" dirty="0">
                <a:solidFill>
                  <a:srgbClr val="1A2540"/>
                </a:solidFill>
                <a:latin typeface="Calibri" pitchFamily="34" charset="0"/>
                <a:ea typeface="Calibri" pitchFamily="34" charset="-122"/>
                <a:cs typeface="Calibri" pitchFamily="34" charset="-120"/>
              </a:rPr>
              <a:t>Korean user</a:t>
            </a:r>
            <a:endParaRPr lang="en-US" sz="1100" dirty="0"/>
          </a:p>
          <a:p>
            <a:pPr algn="ctr" indent="0" marL="0">
              <a:buNone/>
            </a:pPr>
            <a:r>
              <a:rPr lang="en-US" sz="1100" dirty="0">
                <a:solidFill>
                  <a:srgbClr val="1A2540"/>
                </a:solidFill>
                <a:latin typeface="Calibri" pitchFamily="34" charset="0"/>
                <a:ea typeface="Calibri" pitchFamily="34" charset="-122"/>
                <a:cs typeface="Calibri" pitchFamily="34" charset="-120"/>
              </a:rPr>
              <a:t>gets Seoul copy</a:t>
            </a:r>
            <a:endParaRPr lang="en-US" sz="1100" dirty="0"/>
          </a:p>
        </p:txBody>
      </p:sp>
      <p:sp>
        <p:nvSpPr>
          <p:cNvPr id="18" name="Shape 16"/>
          <p:cNvSpPr/>
          <p:nvPr/>
        </p:nvSpPr>
        <p:spPr>
          <a:xfrm>
            <a:off x="6217920" y="2057400"/>
            <a:ext cx="2468880" cy="822960"/>
          </a:xfrm>
          <a:prstGeom prst="rect">
            <a:avLst/>
          </a:prstGeom>
          <a:solidFill>
            <a:srgbClr val="E8EDFF"/>
          </a:solidFill>
          <a:ln w="12700">
            <a:solidFill>
              <a:srgbClr val="CBD5FF"/>
            </a:solidFill>
            <a:prstDash val="solid"/>
          </a:ln>
        </p:spPr>
      </p:sp>
      <p:sp>
        <p:nvSpPr>
          <p:cNvPr id="19" name="Text 17"/>
          <p:cNvSpPr txBox="1"/>
          <p:nvPr/>
        </p:nvSpPr>
        <p:spPr>
          <a:xfrm>
            <a:off x="6217920" y="2057400"/>
            <a:ext cx="2468880" cy="822960"/>
          </a:xfrm>
          <a:prstGeom prst="rect">
            <a:avLst/>
          </a:prstGeom>
          <a:noFill/>
          <a:ln/>
        </p:spPr>
        <p:txBody>
          <a:bodyPr wrap="square" lIns="0" tIns="0" rIns="0" bIns="0" rtlCol="0" anchor="ctr"/>
          <a:lstStyle/>
          <a:p>
            <a:pPr algn="ctr" indent="0" marL="0">
              <a:buNone/>
            </a:pPr>
            <a:r>
              <a:rPr lang="en-US" sz="1100" dirty="0">
                <a:solidFill>
                  <a:srgbClr val="1A2540"/>
                </a:solidFill>
                <a:latin typeface="Calibri" pitchFamily="34" charset="0"/>
                <a:ea typeface="Calibri" pitchFamily="34" charset="-122"/>
                <a:cs typeface="Calibri" pitchFamily="34" charset="-120"/>
              </a:rPr>
              <a:t>Japanese user</a:t>
            </a:r>
            <a:endParaRPr lang="en-US" sz="1100" dirty="0"/>
          </a:p>
          <a:p>
            <a:pPr algn="ctr" indent="0" marL="0">
              <a:buNone/>
            </a:pPr>
            <a:r>
              <a:rPr lang="en-US" sz="1100" dirty="0">
                <a:solidFill>
                  <a:srgbClr val="1A2540"/>
                </a:solidFill>
                <a:latin typeface="Calibri" pitchFamily="34" charset="0"/>
                <a:ea typeface="Calibri" pitchFamily="34" charset="-122"/>
                <a:cs typeface="Calibri" pitchFamily="34" charset="-120"/>
              </a:rPr>
              <a:t>gets Tokyo copy</a:t>
            </a:r>
            <a:endParaRPr lang="en-US" sz="1100" dirty="0"/>
          </a:p>
        </p:txBody>
      </p:sp>
      <p:sp>
        <p:nvSpPr>
          <p:cNvPr id="20" name="Text 18"/>
          <p:cNvSpPr txBox="1"/>
          <p:nvPr/>
        </p:nvSpPr>
        <p:spPr>
          <a:xfrm>
            <a:off x="365760" y="3200400"/>
            <a:ext cx="8412480" cy="39319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Files served from a nearby server — lower latency</a:t>
            </a:r>
            <a:endParaRPr lang="en-US" sz="1200" dirty="0"/>
          </a:p>
        </p:txBody>
      </p:sp>
      <p:sp>
        <p:nvSpPr>
          <p:cNvPr id="21" name="Text 19"/>
          <p:cNvSpPr txBox="1"/>
          <p:nvPr/>
        </p:nvSpPr>
        <p:spPr>
          <a:xfrm>
            <a:off x="365760" y="3639312"/>
            <a:ext cx="8412480" cy="39319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Static assets (images, CSS, JS) cached at the edge</a:t>
            </a:r>
            <a:endParaRPr lang="en-US" sz="1200" dirty="0"/>
          </a:p>
        </p:txBody>
      </p:sp>
      <p:sp>
        <p:nvSpPr>
          <p:cNvPr id="22" name="Text 20"/>
          <p:cNvSpPr txBox="1"/>
          <p:nvPr/>
        </p:nvSpPr>
        <p:spPr>
          <a:xfrm>
            <a:off x="365760" y="4078224"/>
            <a:ext cx="8412480" cy="39319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Free CDNs for libraries: cdnjs.com, jsDelivr.com</a:t>
            </a:r>
            <a:endParaRPr lang="en-US" sz="1200" dirty="0"/>
          </a:p>
        </p:txBody>
      </p:sp>
      <p:sp>
        <p:nvSpPr>
          <p:cNvPr id="23" name="Text 21"/>
          <p:cNvSpPr txBox="1"/>
          <p:nvPr/>
        </p:nvSpPr>
        <p:spPr>
          <a:xfrm>
            <a:off x="365760" y="4517136"/>
            <a:ext cx="8412480" cy="39319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Same URL works worldwide — CDN routes the request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Browser</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Caching</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Cache-Control &amp; 304</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Cache-Control</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How long to keep the file</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max-age=31536000</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Cache 1 year (immutable)</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304 Not Modified</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Server says: use your cache!</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ETag</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File fingerprint for comparison</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Cache busting</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filename.v2.js on change</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 HTTP response headers (server sets these)</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Cache JS/CSS for 1 year</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(add version to filename on change)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Cache-Control: public, max-age=31536000</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Cache HTML for 5 minutes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Cache-Control: public, max-age=300</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Never cache (live data)</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Cache-Control: no-store</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When browser asks "is this stale?"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and server says NO — browser uses cache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HTTP/1.1 304 Not Modified</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See in Network tab: Status=304</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Size shows "(disk cache)" or "(memory cache)"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Above-the-Fold — Prioritize Visible Content</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3749040" cy="3931920"/>
          </a:xfrm>
          <a:prstGeom prst="rect">
            <a:avLst/>
          </a:prstGeom>
          <a:solidFill>
            <a:srgbClr val="E8EDFF"/>
          </a:solidFill>
          <a:ln w="12700">
            <a:solidFill>
              <a:srgbClr val="CBD5FF"/>
            </a:solidFill>
            <a:prstDash val="solid"/>
          </a:ln>
        </p:spPr>
      </p:sp>
      <p:sp>
        <p:nvSpPr>
          <p:cNvPr id="7" name="Text 5"/>
          <p:cNvSpPr txBox="1"/>
          <p:nvPr/>
        </p:nvSpPr>
        <p:spPr>
          <a:xfrm>
            <a:off x="365760" y="914400"/>
            <a:ext cx="3749040" cy="347472"/>
          </a:xfrm>
          <a:prstGeom prst="rect">
            <a:avLst/>
          </a:prstGeom>
          <a:noFill/>
          <a:ln/>
        </p:spPr>
        <p:txBody>
          <a:bodyPr wrap="square" lIns="0" tIns="0" rIns="0" bIns="0" rtlCol="0" anchor="ctr"/>
          <a:lstStyle/>
          <a:p>
            <a:pPr algn="ctr" indent="0" marL="0">
              <a:buNone/>
            </a:pPr>
            <a:r>
              <a:rPr lang="en-US" sz="1100" b="1" dirty="0">
                <a:solidFill>
                  <a:srgbClr val="1A2540"/>
                </a:solidFill>
                <a:latin typeface="Calibri" pitchFamily="34" charset="0"/>
                <a:ea typeface="Calibri" pitchFamily="34" charset="-122"/>
                <a:cs typeface="Calibri" pitchFamily="34" charset="-120"/>
              </a:rPr>
              <a:t>VIEWPORT (above fold)</a:t>
            </a:r>
            <a:endParaRPr lang="en-US" sz="1100" dirty="0"/>
          </a:p>
        </p:txBody>
      </p:sp>
      <p:sp>
        <p:nvSpPr>
          <p:cNvPr id="8" name="Shape 6"/>
          <p:cNvSpPr/>
          <p:nvPr/>
        </p:nvSpPr>
        <p:spPr>
          <a:xfrm>
            <a:off x="457200" y="1325880"/>
            <a:ext cx="3566160" cy="640080"/>
          </a:xfrm>
          <a:prstGeom prst="rect">
            <a:avLst/>
          </a:prstGeom>
          <a:solidFill>
            <a:srgbClr val="1A2540"/>
          </a:solidFill>
          <a:ln w="12700">
            <a:solidFill>
              <a:srgbClr val="1A2540"/>
            </a:solidFill>
            <a:prstDash val="solid"/>
          </a:ln>
        </p:spPr>
      </p:sp>
      <p:sp>
        <p:nvSpPr>
          <p:cNvPr id="9" name="Text 7"/>
          <p:cNvSpPr txBox="1"/>
          <p:nvPr/>
        </p:nvSpPr>
        <p:spPr>
          <a:xfrm>
            <a:off x="457200" y="1325880"/>
            <a:ext cx="3566160" cy="6400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Nav bar</a:t>
            </a:r>
            <a:endParaRPr lang="en-US" sz="1200" dirty="0"/>
          </a:p>
        </p:txBody>
      </p:sp>
      <p:sp>
        <p:nvSpPr>
          <p:cNvPr id="10" name="Shape 8"/>
          <p:cNvSpPr/>
          <p:nvPr/>
        </p:nvSpPr>
        <p:spPr>
          <a:xfrm>
            <a:off x="457200" y="2029968"/>
            <a:ext cx="3566160" cy="1280160"/>
          </a:xfrm>
          <a:prstGeom prst="rect">
            <a:avLst/>
          </a:prstGeom>
          <a:solidFill>
            <a:srgbClr val="F7DF1E"/>
          </a:solidFill>
          <a:ln w="12700">
            <a:solidFill>
              <a:srgbClr val="DAC500"/>
            </a:solidFill>
            <a:prstDash val="solid"/>
          </a:ln>
        </p:spPr>
      </p:sp>
      <p:sp>
        <p:nvSpPr>
          <p:cNvPr id="11" name="Text 9"/>
          <p:cNvSpPr txBox="1"/>
          <p:nvPr/>
        </p:nvSpPr>
        <p:spPr>
          <a:xfrm>
            <a:off x="457200" y="2029968"/>
            <a:ext cx="3566160" cy="1280160"/>
          </a:xfrm>
          <a:prstGeom prst="rect">
            <a:avLst/>
          </a:prstGeom>
          <a:noFill/>
          <a:ln/>
        </p:spPr>
        <p:txBody>
          <a:bodyPr wrap="square" lIns="0" tIns="0" rIns="0" bIns="0" rtlCol="0" anchor="ctr"/>
          <a:lstStyle/>
          <a:p>
            <a:pPr algn="ctr" indent="0" marL="0">
              <a:buNone/>
            </a:pPr>
            <a:r>
              <a:rPr lang="en-US" sz="1200" dirty="0">
                <a:solidFill>
                  <a:srgbClr val="1A2540"/>
                </a:solidFill>
                <a:latin typeface="Calibri" pitchFamily="34" charset="0"/>
                <a:ea typeface="Calibri" pitchFamily="34" charset="-122"/>
                <a:cs typeface="Calibri" pitchFamily="34" charset="-120"/>
              </a:rPr>
              <a:t>Hero image (load eagerly!</a:t>
            </a:r>
            <a:endParaRPr lang="en-US" sz="1200" dirty="0"/>
          </a:p>
          <a:p>
            <a:pPr algn="ctr" indent="0" marL="0">
              <a:buNone/>
            </a:pPr>
            <a:r>
              <a:rPr lang="en-US" sz="1200" dirty="0">
                <a:solidFill>
                  <a:srgbClr val="1A2540"/>
                </a:solidFill>
                <a:latin typeface="Calibri" pitchFamily="34" charset="0"/>
                <a:ea typeface="Calibri" pitchFamily="34" charset="-122"/>
                <a:cs typeface="Calibri" pitchFamily="34" charset="-120"/>
              </a:rPr>
              <a:t>use loading="eager")</a:t>
            </a:r>
            <a:endParaRPr lang="en-US" sz="1200" dirty="0"/>
          </a:p>
        </p:txBody>
      </p:sp>
      <p:sp>
        <p:nvSpPr>
          <p:cNvPr id="12" name="Shape 10"/>
          <p:cNvSpPr/>
          <p:nvPr/>
        </p:nvSpPr>
        <p:spPr>
          <a:xfrm>
            <a:off x="457200" y="3374136"/>
            <a:ext cx="3566160" cy="548640"/>
          </a:xfrm>
          <a:prstGeom prst="rect">
            <a:avLst/>
          </a:prstGeom>
          <a:solidFill>
            <a:srgbClr val="D0D8FF"/>
          </a:solidFill>
          <a:ln w="12700">
            <a:solidFill>
              <a:srgbClr val="A0AACC"/>
            </a:solidFill>
            <a:prstDash val="solid"/>
          </a:ln>
        </p:spPr>
      </p:sp>
      <p:sp>
        <p:nvSpPr>
          <p:cNvPr id="13" name="Text 11"/>
          <p:cNvSpPr txBox="1"/>
          <p:nvPr/>
        </p:nvSpPr>
        <p:spPr>
          <a:xfrm>
            <a:off x="457200" y="3374136"/>
            <a:ext cx="3566160" cy="548640"/>
          </a:xfrm>
          <a:prstGeom prst="rect">
            <a:avLst/>
          </a:prstGeom>
          <a:noFill/>
          <a:ln/>
        </p:spPr>
        <p:txBody>
          <a:bodyPr wrap="square" lIns="0" tIns="0" rIns="0" bIns="0" rtlCol="0" anchor="ctr"/>
          <a:lstStyle/>
          <a:p>
            <a:pPr algn="ctr" indent="0" marL="0">
              <a:buNone/>
            </a:pPr>
            <a:r>
              <a:rPr lang="en-US" sz="1100" dirty="0">
                <a:solidFill>
                  <a:srgbClr val="1A2540"/>
                </a:solidFill>
                <a:latin typeface="Calibri" pitchFamily="34" charset="0"/>
                <a:ea typeface="Calibri" pitchFamily="34" charset="-122"/>
                <a:cs typeface="Calibri" pitchFamily="34" charset="-120"/>
              </a:rPr>
              <a:t>First cards (visible)</a:t>
            </a:r>
            <a:endParaRPr lang="en-US" sz="1100" dirty="0"/>
          </a:p>
        </p:txBody>
      </p:sp>
      <p:sp>
        <p:nvSpPr>
          <p:cNvPr id="14" name="Shape 12"/>
          <p:cNvSpPr/>
          <p:nvPr/>
        </p:nvSpPr>
        <p:spPr>
          <a:xfrm>
            <a:off x="4754880" y="914400"/>
            <a:ext cx="3931920" cy="932688"/>
          </a:xfrm>
          <a:prstGeom prst="rect">
            <a:avLst/>
          </a:prstGeom>
          <a:solidFill>
            <a:srgbClr val="E8EDFF"/>
          </a:solidFill>
          <a:ln w="12700">
            <a:solidFill>
              <a:srgbClr val="CBD5FF"/>
            </a:solidFill>
            <a:prstDash val="solid"/>
          </a:ln>
        </p:spPr>
      </p:sp>
      <p:sp>
        <p:nvSpPr>
          <p:cNvPr id="15" name="Shape 13"/>
          <p:cNvSpPr/>
          <p:nvPr/>
        </p:nvSpPr>
        <p:spPr>
          <a:xfrm>
            <a:off x="4754880" y="914400"/>
            <a:ext cx="475488" cy="932688"/>
          </a:xfrm>
          <a:prstGeom prst="rect">
            <a:avLst/>
          </a:prstGeom>
          <a:solidFill>
            <a:srgbClr val="1A2540"/>
          </a:solidFill>
          <a:ln w="12700">
            <a:solidFill>
              <a:srgbClr val="1A2540"/>
            </a:solidFill>
            <a:prstDash val="solid"/>
          </a:ln>
        </p:spPr>
      </p:sp>
      <p:sp>
        <p:nvSpPr>
          <p:cNvPr id="16" name="Text 14"/>
          <p:cNvSpPr txBox="1"/>
          <p:nvPr/>
        </p:nvSpPr>
        <p:spPr>
          <a:xfrm>
            <a:off x="4754880" y="914400"/>
            <a:ext cx="475488" cy="932688"/>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1</a:t>
            </a:r>
            <a:endParaRPr lang="en-US" sz="1600" dirty="0"/>
          </a:p>
        </p:txBody>
      </p:sp>
      <p:sp>
        <p:nvSpPr>
          <p:cNvPr id="17" name="Text 15"/>
          <p:cNvSpPr txBox="1"/>
          <p:nvPr/>
        </p:nvSpPr>
        <p:spPr>
          <a:xfrm>
            <a:off x="5285232" y="950976"/>
            <a:ext cx="3310128" cy="292608"/>
          </a:xfrm>
          <a:prstGeom prst="rect">
            <a:avLst/>
          </a:prstGeom>
          <a:noFill/>
          <a:ln/>
        </p:spPr>
        <p:txBody>
          <a:bodyPr wrap="square" lIns="0" tIns="0" rIns="0" bIns="0" rtlCol="0" anchor="ctr"/>
          <a:lstStyle/>
          <a:p>
            <a:pPr algn="l" indent="0" marL="0">
              <a:buNone/>
            </a:pPr>
            <a:r>
              <a:rPr lang="en-US" sz="1200" b="1" dirty="0">
                <a:solidFill>
                  <a:srgbClr val="1A2540"/>
                </a:solidFill>
                <a:latin typeface="Calibri" pitchFamily="34" charset="0"/>
                <a:ea typeface="Calibri" pitchFamily="34" charset="-122"/>
                <a:cs typeface="Calibri" pitchFamily="34" charset="-120"/>
              </a:rPr>
              <a:t>Critical CSS inline</a:t>
            </a:r>
            <a:endParaRPr lang="en-US" sz="1200" dirty="0"/>
          </a:p>
        </p:txBody>
      </p:sp>
      <p:sp>
        <p:nvSpPr>
          <p:cNvPr id="18" name="Text 16"/>
          <p:cNvSpPr txBox="1"/>
          <p:nvPr/>
        </p:nvSpPr>
        <p:spPr>
          <a:xfrm>
            <a:off x="5285232" y="1243584"/>
            <a:ext cx="3310128" cy="53035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Put essential styles in &lt;style&gt; in &lt;head&gt; so the first render has no extra HTTP round trip.</a:t>
            </a:r>
            <a:endParaRPr lang="en-US" sz="1000" dirty="0"/>
          </a:p>
        </p:txBody>
      </p:sp>
      <p:sp>
        <p:nvSpPr>
          <p:cNvPr id="19" name="Shape 17"/>
          <p:cNvSpPr/>
          <p:nvPr/>
        </p:nvSpPr>
        <p:spPr>
          <a:xfrm>
            <a:off x="4754880" y="1938528"/>
            <a:ext cx="3931920" cy="932688"/>
          </a:xfrm>
          <a:prstGeom prst="rect">
            <a:avLst/>
          </a:prstGeom>
          <a:solidFill>
            <a:srgbClr val="E8EDFF"/>
          </a:solidFill>
          <a:ln w="12700">
            <a:solidFill>
              <a:srgbClr val="CBD5FF"/>
            </a:solidFill>
            <a:prstDash val="solid"/>
          </a:ln>
        </p:spPr>
      </p:sp>
      <p:sp>
        <p:nvSpPr>
          <p:cNvPr id="20" name="Shape 18"/>
          <p:cNvSpPr/>
          <p:nvPr/>
        </p:nvSpPr>
        <p:spPr>
          <a:xfrm>
            <a:off x="4754880" y="1938528"/>
            <a:ext cx="475488" cy="932688"/>
          </a:xfrm>
          <a:prstGeom prst="rect">
            <a:avLst/>
          </a:prstGeom>
          <a:solidFill>
            <a:srgbClr val="1A2540"/>
          </a:solidFill>
          <a:ln w="12700">
            <a:solidFill>
              <a:srgbClr val="1A2540"/>
            </a:solidFill>
            <a:prstDash val="solid"/>
          </a:ln>
        </p:spPr>
      </p:sp>
      <p:sp>
        <p:nvSpPr>
          <p:cNvPr id="21" name="Text 19"/>
          <p:cNvSpPr txBox="1"/>
          <p:nvPr/>
        </p:nvSpPr>
        <p:spPr>
          <a:xfrm>
            <a:off x="4754880" y="1938528"/>
            <a:ext cx="475488" cy="932688"/>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2</a:t>
            </a:r>
            <a:endParaRPr lang="en-US" sz="1600" dirty="0"/>
          </a:p>
        </p:txBody>
      </p:sp>
      <p:sp>
        <p:nvSpPr>
          <p:cNvPr id="22" name="Text 20"/>
          <p:cNvSpPr txBox="1"/>
          <p:nvPr/>
        </p:nvSpPr>
        <p:spPr>
          <a:xfrm>
            <a:off x="5285232" y="1975104"/>
            <a:ext cx="3310128" cy="292608"/>
          </a:xfrm>
          <a:prstGeom prst="rect">
            <a:avLst/>
          </a:prstGeom>
          <a:noFill/>
          <a:ln/>
        </p:spPr>
        <p:txBody>
          <a:bodyPr wrap="square" lIns="0" tIns="0" rIns="0" bIns="0" rtlCol="0" anchor="ctr"/>
          <a:lstStyle/>
          <a:p>
            <a:pPr algn="l" indent="0" marL="0">
              <a:buNone/>
            </a:pPr>
            <a:r>
              <a:rPr lang="en-US" sz="1200" b="1" dirty="0">
                <a:solidFill>
                  <a:srgbClr val="1A2540"/>
                </a:solidFill>
                <a:latin typeface="Calibri" pitchFamily="34" charset="0"/>
                <a:ea typeface="Calibri" pitchFamily="34" charset="-122"/>
                <a:cs typeface="Calibri" pitchFamily="34" charset="-120"/>
              </a:rPr>
              <a:t>No render-blocking JS</a:t>
            </a:r>
            <a:endParaRPr lang="en-US" sz="1200" dirty="0"/>
          </a:p>
        </p:txBody>
      </p:sp>
      <p:sp>
        <p:nvSpPr>
          <p:cNvPr id="23" name="Text 21"/>
          <p:cNvSpPr txBox="1"/>
          <p:nvPr/>
        </p:nvSpPr>
        <p:spPr>
          <a:xfrm>
            <a:off x="5285232" y="2267712"/>
            <a:ext cx="3310128" cy="53035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Use defer on scripts. Even tiny blocking JS delays the first paint.</a:t>
            </a:r>
            <a:endParaRPr lang="en-US" sz="1000" dirty="0"/>
          </a:p>
        </p:txBody>
      </p:sp>
      <p:sp>
        <p:nvSpPr>
          <p:cNvPr id="24" name="Shape 22"/>
          <p:cNvSpPr/>
          <p:nvPr/>
        </p:nvSpPr>
        <p:spPr>
          <a:xfrm>
            <a:off x="4754880" y="2962656"/>
            <a:ext cx="3931920" cy="932688"/>
          </a:xfrm>
          <a:prstGeom prst="rect">
            <a:avLst/>
          </a:prstGeom>
          <a:solidFill>
            <a:srgbClr val="E8EDFF"/>
          </a:solidFill>
          <a:ln w="12700">
            <a:solidFill>
              <a:srgbClr val="CBD5FF"/>
            </a:solidFill>
            <a:prstDash val="solid"/>
          </a:ln>
        </p:spPr>
      </p:sp>
      <p:sp>
        <p:nvSpPr>
          <p:cNvPr id="25" name="Shape 23"/>
          <p:cNvSpPr/>
          <p:nvPr/>
        </p:nvSpPr>
        <p:spPr>
          <a:xfrm>
            <a:off x="4754880" y="2962656"/>
            <a:ext cx="475488" cy="932688"/>
          </a:xfrm>
          <a:prstGeom prst="rect">
            <a:avLst/>
          </a:prstGeom>
          <a:solidFill>
            <a:srgbClr val="1A2540"/>
          </a:solidFill>
          <a:ln w="12700">
            <a:solidFill>
              <a:srgbClr val="1A2540"/>
            </a:solidFill>
            <a:prstDash val="solid"/>
          </a:ln>
        </p:spPr>
      </p:sp>
      <p:sp>
        <p:nvSpPr>
          <p:cNvPr id="26" name="Text 24"/>
          <p:cNvSpPr txBox="1"/>
          <p:nvPr/>
        </p:nvSpPr>
        <p:spPr>
          <a:xfrm>
            <a:off x="4754880" y="2962656"/>
            <a:ext cx="475488" cy="932688"/>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3</a:t>
            </a:r>
            <a:endParaRPr lang="en-US" sz="1600" dirty="0"/>
          </a:p>
        </p:txBody>
      </p:sp>
      <p:sp>
        <p:nvSpPr>
          <p:cNvPr id="27" name="Text 25"/>
          <p:cNvSpPr txBox="1"/>
          <p:nvPr/>
        </p:nvSpPr>
        <p:spPr>
          <a:xfrm>
            <a:off x="5285232" y="2999232"/>
            <a:ext cx="3310128" cy="292608"/>
          </a:xfrm>
          <a:prstGeom prst="rect">
            <a:avLst/>
          </a:prstGeom>
          <a:noFill/>
          <a:ln/>
        </p:spPr>
        <p:txBody>
          <a:bodyPr wrap="square" lIns="0" tIns="0" rIns="0" bIns="0" rtlCol="0" anchor="ctr"/>
          <a:lstStyle/>
          <a:p>
            <a:pPr algn="l" indent="0" marL="0">
              <a:buNone/>
            </a:pPr>
            <a:r>
              <a:rPr lang="en-US" sz="1200" b="1" dirty="0">
                <a:solidFill>
                  <a:srgbClr val="1A2540"/>
                </a:solidFill>
                <a:latin typeface="Calibri" pitchFamily="34" charset="0"/>
                <a:ea typeface="Calibri" pitchFamily="34" charset="-122"/>
                <a:cs typeface="Calibri" pitchFamily="34" charset="-120"/>
              </a:rPr>
              <a:t>Preload key assets</a:t>
            </a:r>
            <a:endParaRPr lang="en-US" sz="1200" dirty="0"/>
          </a:p>
        </p:txBody>
      </p:sp>
      <p:sp>
        <p:nvSpPr>
          <p:cNvPr id="28" name="Text 26"/>
          <p:cNvSpPr txBox="1"/>
          <p:nvPr/>
        </p:nvSpPr>
        <p:spPr>
          <a:xfrm>
            <a:off x="5285232" y="3291840"/>
            <a:ext cx="3310128" cy="53035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&lt;link rel="preload" href="hero.jpg"&gt; tells the browser to fetch it early.</a:t>
            </a:r>
            <a:endParaRPr lang="en-US" sz="1000" dirty="0"/>
          </a:p>
        </p:txBody>
      </p:sp>
      <p:sp>
        <p:nvSpPr>
          <p:cNvPr id="29" name="Shape 27"/>
          <p:cNvSpPr/>
          <p:nvPr/>
        </p:nvSpPr>
        <p:spPr>
          <a:xfrm>
            <a:off x="4754880" y="3986784"/>
            <a:ext cx="3931920" cy="932688"/>
          </a:xfrm>
          <a:prstGeom prst="rect">
            <a:avLst/>
          </a:prstGeom>
          <a:solidFill>
            <a:srgbClr val="E8EDFF"/>
          </a:solidFill>
          <a:ln w="12700">
            <a:solidFill>
              <a:srgbClr val="CBD5FF"/>
            </a:solidFill>
            <a:prstDash val="solid"/>
          </a:ln>
        </p:spPr>
      </p:sp>
      <p:sp>
        <p:nvSpPr>
          <p:cNvPr id="30" name="Shape 28"/>
          <p:cNvSpPr/>
          <p:nvPr/>
        </p:nvSpPr>
        <p:spPr>
          <a:xfrm>
            <a:off x="4754880" y="3986784"/>
            <a:ext cx="475488" cy="932688"/>
          </a:xfrm>
          <a:prstGeom prst="rect">
            <a:avLst/>
          </a:prstGeom>
          <a:solidFill>
            <a:srgbClr val="1A2540"/>
          </a:solidFill>
          <a:ln w="12700">
            <a:solidFill>
              <a:srgbClr val="1A2540"/>
            </a:solidFill>
            <a:prstDash val="solid"/>
          </a:ln>
        </p:spPr>
      </p:sp>
      <p:sp>
        <p:nvSpPr>
          <p:cNvPr id="31" name="Text 29"/>
          <p:cNvSpPr txBox="1"/>
          <p:nvPr/>
        </p:nvSpPr>
        <p:spPr>
          <a:xfrm>
            <a:off x="4754880" y="3986784"/>
            <a:ext cx="475488" cy="932688"/>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4</a:t>
            </a:r>
            <a:endParaRPr lang="en-US" sz="1600" dirty="0"/>
          </a:p>
        </p:txBody>
      </p:sp>
      <p:sp>
        <p:nvSpPr>
          <p:cNvPr id="32" name="Text 30"/>
          <p:cNvSpPr txBox="1"/>
          <p:nvPr/>
        </p:nvSpPr>
        <p:spPr>
          <a:xfrm>
            <a:off x="5285232" y="4023360"/>
            <a:ext cx="3310128" cy="292608"/>
          </a:xfrm>
          <a:prstGeom prst="rect">
            <a:avLst/>
          </a:prstGeom>
          <a:noFill/>
          <a:ln/>
        </p:spPr>
        <p:txBody>
          <a:bodyPr wrap="square" lIns="0" tIns="0" rIns="0" bIns="0" rtlCol="0" anchor="ctr"/>
          <a:lstStyle/>
          <a:p>
            <a:pPr algn="l" indent="0" marL="0">
              <a:buNone/>
            </a:pPr>
            <a:r>
              <a:rPr lang="en-US" sz="1200" b="1" dirty="0">
                <a:solidFill>
                  <a:srgbClr val="1A2540"/>
                </a:solidFill>
                <a:latin typeface="Calibri" pitchFamily="34" charset="0"/>
                <a:ea typeface="Calibri" pitchFamily="34" charset="-122"/>
                <a:cs typeface="Calibri" pitchFamily="34" charset="-120"/>
              </a:rPr>
              <a:t>Font display: swap</a:t>
            </a:r>
            <a:endParaRPr lang="en-US" sz="1200" dirty="0"/>
          </a:p>
        </p:txBody>
      </p:sp>
      <p:sp>
        <p:nvSpPr>
          <p:cNvPr id="33" name="Text 31"/>
          <p:cNvSpPr txBox="1"/>
          <p:nvPr/>
        </p:nvSpPr>
        <p:spPr>
          <a:xfrm>
            <a:off x="5285232" y="4315968"/>
            <a:ext cx="3310128" cy="53035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CSS: font-display: swap; shows text immediately, swaps font when loaded.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Performance Checklist — 10 Quick Wins</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60120"/>
            <a:ext cx="4023360" cy="713232"/>
          </a:xfrm>
          <a:prstGeom prst="rect">
            <a:avLst/>
          </a:prstGeom>
          <a:solidFill>
            <a:srgbClr val="E8EDFF"/>
          </a:solidFill>
          <a:ln w="12700">
            <a:solidFill>
              <a:srgbClr val="CBD5FF"/>
            </a:solidFill>
            <a:prstDash val="solid"/>
          </a:ln>
        </p:spPr>
      </p:sp>
      <p:sp>
        <p:nvSpPr>
          <p:cNvPr id="7" name="Text 5"/>
          <p:cNvSpPr txBox="1"/>
          <p:nvPr/>
        </p:nvSpPr>
        <p:spPr>
          <a:xfrm>
            <a:off x="475488" y="960120"/>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Compress all images — use WebP where possible</a:t>
            </a:r>
            <a:endParaRPr lang="en-US" sz="1200" dirty="0"/>
          </a:p>
        </p:txBody>
      </p:sp>
      <p:sp>
        <p:nvSpPr>
          <p:cNvPr id="8" name="Shape 6"/>
          <p:cNvSpPr/>
          <p:nvPr/>
        </p:nvSpPr>
        <p:spPr>
          <a:xfrm>
            <a:off x="4663440" y="960120"/>
            <a:ext cx="4023360" cy="713232"/>
          </a:xfrm>
          <a:prstGeom prst="rect">
            <a:avLst/>
          </a:prstGeom>
          <a:solidFill>
            <a:srgbClr val="E8EDFF"/>
          </a:solidFill>
          <a:ln w="12700">
            <a:solidFill>
              <a:srgbClr val="CBD5FF"/>
            </a:solidFill>
            <a:prstDash val="solid"/>
          </a:ln>
        </p:spPr>
      </p:sp>
      <p:sp>
        <p:nvSpPr>
          <p:cNvPr id="9" name="Text 7"/>
          <p:cNvSpPr txBox="1"/>
          <p:nvPr/>
        </p:nvSpPr>
        <p:spPr>
          <a:xfrm>
            <a:off x="4773168" y="960120"/>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Set width and height on all &lt;img&gt; tags</a:t>
            </a:r>
            <a:endParaRPr lang="en-US" sz="1200" dirty="0"/>
          </a:p>
        </p:txBody>
      </p:sp>
      <p:sp>
        <p:nvSpPr>
          <p:cNvPr id="10" name="Shape 8"/>
          <p:cNvSpPr/>
          <p:nvPr/>
        </p:nvSpPr>
        <p:spPr>
          <a:xfrm>
            <a:off x="365760" y="1755648"/>
            <a:ext cx="4023360" cy="713232"/>
          </a:xfrm>
          <a:prstGeom prst="rect">
            <a:avLst/>
          </a:prstGeom>
          <a:solidFill>
            <a:srgbClr val="E8EDFF"/>
          </a:solidFill>
          <a:ln w="12700">
            <a:solidFill>
              <a:srgbClr val="CBD5FF"/>
            </a:solidFill>
            <a:prstDash val="solid"/>
          </a:ln>
        </p:spPr>
      </p:sp>
      <p:sp>
        <p:nvSpPr>
          <p:cNvPr id="11" name="Text 9"/>
          <p:cNvSpPr txBox="1"/>
          <p:nvPr/>
        </p:nvSpPr>
        <p:spPr>
          <a:xfrm>
            <a:off x="475488" y="1755648"/>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Add loading="lazy" on all below-fold images</a:t>
            </a:r>
            <a:endParaRPr lang="en-US" sz="1200" dirty="0"/>
          </a:p>
        </p:txBody>
      </p:sp>
      <p:sp>
        <p:nvSpPr>
          <p:cNvPr id="12" name="Shape 10"/>
          <p:cNvSpPr/>
          <p:nvPr/>
        </p:nvSpPr>
        <p:spPr>
          <a:xfrm>
            <a:off x="4663440" y="1755648"/>
            <a:ext cx="4023360" cy="713232"/>
          </a:xfrm>
          <a:prstGeom prst="rect">
            <a:avLst/>
          </a:prstGeom>
          <a:solidFill>
            <a:srgbClr val="E8EDFF"/>
          </a:solidFill>
          <a:ln w="12700">
            <a:solidFill>
              <a:srgbClr val="CBD5FF"/>
            </a:solidFill>
            <a:prstDash val="solid"/>
          </a:ln>
        </p:spPr>
      </p:sp>
      <p:sp>
        <p:nvSpPr>
          <p:cNvPr id="13" name="Text 11"/>
          <p:cNvSpPr txBox="1"/>
          <p:nvPr/>
        </p:nvSpPr>
        <p:spPr>
          <a:xfrm>
            <a:off x="4773168" y="1755648"/>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Add defer to all &lt;script&gt; tags</a:t>
            </a:r>
            <a:endParaRPr lang="en-US" sz="1200" dirty="0"/>
          </a:p>
        </p:txBody>
      </p:sp>
      <p:sp>
        <p:nvSpPr>
          <p:cNvPr id="14" name="Shape 12"/>
          <p:cNvSpPr/>
          <p:nvPr/>
        </p:nvSpPr>
        <p:spPr>
          <a:xfrm>
            <a:off x="365760" y="2551176"/>
            <a:ext cx="4023360" cy="713232"/>
          </a:xfrm>
          <a:prstGeom prst="rect">
            <a:avLst/>
          </a:prstGeom>
          <a:solidFill>
            <a:srgbClr val="E8EDFF"/>
          </a:solidFill>
          <a:ln w="12700">
            <a:solidFill>
              <a:srgbClr val="CBD5FF"/>
            </a:solidFill>
            <a:prstDash val="solid"/>
          </a:ln>
        </p:spPr>
      </p:sp>
      <p:sp>
        <p:nvSpPr>
          <p:cNvPr id="15" name="Text 13"/>
          <p:cNvSpPr txBox="1"/>
          <p:nvPr/>
        </p:nvSpPr>
        <p:spPr>
          <a:xfrm>
            <a:off x="475488" y="2551176"/>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Minify your CSS and JS files</a:t>
            </a:r>
            <a:endParaRPr lang="en-US" sz="1200" dirty="0"/>
          </a:p>
        </p:txBody>
      </p:sp>
      <p:sp>
        <p:nvSpPr>
          <p:cNvPr id="16" name="Shape 14"/>
          <p:cNvSpPr/>
          <p:nvPr/>
        </p:nvSpPr>
        <p:spPr>
          <a:xfrm>
            <a:off x="4663440" y="2551176"/>
            <a:ext cx="4023360" cy="713232"/>
          </a:xfrm>
          <a:prstGeom prst="rect">
            <a:avLst/>
          </a:prstGeom>
          <a:solidFill>
            <a:srgbClr val="E8EDFF"/>
          </a:solidFill>
          <a:ln w="12700">
            <a:solidFill>
              <a:srgbClr val="CBD5FF"/>
            </a:solidFill>
            <a:prstDash val="solid"/>
          </a:ln>
        </p:spPr>
      </p:sp>
      <p:sp>
        <p:nvSpPr>
          <p:cNvPr id="17" name="Text 15"/>
          <p:cNvSpPr txBox="1"/>
          <p:nvPr/>
        </p:nvSpPr>
        <p:spPr>
          <a:xfrm>
            <a:off x="4773168" y="2551176"/>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Use a CDN for third-party libraries</a:t>
            </a:r>
            <a:endParaRPr lang="en-US" sz="1200" dirty="0"/>
          </a:p>
        </p:txBody>
      </p:sp>
      <p:sp>
        <p:nvSpPr>
          <p:cNvPr id="18" name="Shape 16"/>
          <p:cNvSpPr/>
          <p:nvPr/>
        </p:nvSpPr>
        <p:spPr>
          <a:xfrm>
            <a:off x="365760" y="3346704"/>
            <a:ext cx="4023360" cy="713232"/>
          </a:xfrm>
          <a:prstGeom prst="rect">
            <a:avLst/>
          </a:prstGeom>
          <a:solidFill>
            <a:srgbClr val="E8EDFF"/>
          </a:solidFill>
          <a:ln w="12700">
            <a:solidFill>
              <a:srgbClr val="CBD5FF"/>
            </a:solidFill>
            <a:prstDash val="solid"/>
          </a:ln>
        </p:spPr>
      </p:sp>
      <p:sp>
        <p:nvSpPr>
          <p:cNvPr id="19" name="Text 17"/>
          <p:cNvSpPr txBox="1"/>
          <p:nvPr/>
        </p:nvSpPr>
        <p:spPr>
          <a:xfrm>
            <a:off x="475488" y="3346704"/>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Enable GZIP/Brotli on your server</a:t>
            </a:r>
            <a:endParaRPr lang="en-US" sz="1200" dirty="0"/>
          </a:p>
        </p:txBody>
      </p:sp>
      <p:sp>
        <p:nvSpPr>
          <p:cNvPr id="20" name="Shape 18"/>
          <p:cNvSpPr/>
          <p:nvPr/>
        </p:nvSpPr>
        <p:spPr>
          <a:xfrm>
            <a:off x="4663440" y="3346704"/>
            <a:ext cx="4023360" cy="713232"/>
          </a:xfrm>
          <a:prstGeom prst="rect">
            <a:avLst/>
          </a:prstGeom>
          <a:solidFill>
            <a:srgbClr val="E8EDFF"/>
          </a:solidFill>
          <a:ln w="12700">
            <a:solidFill>
              <a:srgbClr val="CBD5FF"/>
            </a:solidFill>
            <a:prstDash val="solid"/>
          </a:ln>
        </p:spPr>
      </p:sp>
      <p:sp>
        <p:nvSpPr>
          <p:cNvPr id="21" name="Text 19"/>
          <p:cNvSpPr txBox="1"/>
          <p:nvPr/>
        </p:nvSpPr>
        <p:spPr>
          <a:xfrm>
            <a:off x="4773168" y="3346704"/>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Set Cache-Control headers for static assets</a:t>
            </a:r>
            <a:endParaRPr lang="en-US" sz="1200" dirty="0"/>
          </a:p>
        </p:txBody>
      </p:sp>
      <p:sp>
        <p:nvSpPr>
          <p:cNvPr id="22" name="Shape 20"/>
          <p:cNvSpPr/>
          <p:nvPr/>
        </p:nvSpPr>
        <p:spPr>
          <a:xfrm>
            <a:off x="365760" y="4142232"/>
            <a:ext cx="4023360" cy="713232"/>
          </a:xfrm>
          <a:prstGeom prst="rect">
            <a:avLst/>
          </a:prstGeom>
          <a:solidFill>
            <a:srgbClr val="E8EDFF"/>
          </a:solidFill>
          <a:ln w="12700">
            <a:solidFill>
              <a:srgbClr val="CBD5FF"/>
            </a:solidFill>
            <a:prstDash val="solid"/>
          </a:ln>
        </p:spPr>
      </p:sp>
      <p:sp>
        <p:nvSpPr>
          <p:cNvPr id="23" name="Text 21"/>
          <p:cNvSpPr txBox="1"/>
          <p:nvPr/>
        </p:nvSpPr>
        <p:spPr>
          <a:xfrm>
            <a:off x="475488" y="4142232"/>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Preload your hero image and key fonts</a:t>
            </a:r>
            <a:endParaRPr lang="en-US" sz="1200" dirty="0"/>
          </a:p>
        </p:txBody>
      </p:sp>
      <p:sp>
        <p:nvSpPr>
          <p:cNvPr id="24" name="Shape 22"/>
          <p:cNvSpPr/>
          <p:nvPr/>
        </p:nvSpPr>
        <p:spPr>
          <a:xfrm>
            <a:off x="4663440" y="4142232"/>
            <a:ext cx="4023360" cy="713232"/>
          </a:xfrm>
          <a:prstGeom prst="rect">
            <a:avLst/>
          </a:prstGeom>
          <a:solidFill>
            <a:srgbClr val="E8EDFF"/>
          </a:solidFill>
          <a:ln w="12700">
            <a:solidFill>
              <a:srgbClr val="CBD5FF"/>
            </a:solidFill>
            <a:prstDash val="solid"/>
          </a:ln>
        </p:spPr>
      </p:sp>
      <p:sp>
        <p:nvSpPr>
          <p:cNvPr id="25" name="Text 23"/>
          <p:cNvSpPr txBox="1"/>
          <p:nvPr/>
        </p:nvSpPr>
        <p:spPr>
          <a:xfrm>
            <a:off x="4773168" y="4142232"/>
            <a:ext cx="3840480" cy="713232"/>
          </a:xfrm>
          <a:prstGeom prst="rect">
            <a:avLst/>
          </a:prstGeom>
          <a:noFill/>
          <a:ln/>
        </p:spPr>
        <p:txBody>
          <a:bodyPr wrap="square" lIns="0" tIns="0" rIns="0" bIns="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  Run Lighthouse — target Performance 90+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Text 2"/>
          <p:cNvSpPr txBox="1"/>
          <p:nvPr/>
        </p:nvSpPr>
        <p:spPr>
          <a:xfrm>
            <a:off x="457200" y="228600"/>
            <a:ext cx="82296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Summary &amp; Homework</a:t>
            </a:r>
            <a:endParaRPr lang="en-US" sz="2600" dirty="0"/>
          </a:p>
        </p:txBody>
      </p:sp>
      <p:sp>
        <p:nvSpPr>
          <p:cNvPr id="5" name="Shape 3"/>
          <p:cNvSpPr/>
          <p:nvPr/>
        </p:nvSpPr>
        <p:spPr>
          <a:xfrm>
            <a:off x="457200" y="1005840"/>
            <a:ext cx="3931920" cy="777240"/>
          </a:xfrm>
          <a:prstGeom prst="rect">
            <a:avLst/>
          </a:prstGeom>
          <a:solidFill>
            <a:srgbClr val="243055"/>
          </a:solidFill>
          <a:ln w="12700">
            <a:solidFill>
              <a:srgbClr val="3A4F7A"/>
            </a:solidFill>
            <a:prstDash val="solid"/>
          </a:ln>
        </p:spPr>
      </p:sp>
      <p:sp>
        <p:nvSpPr>
          <p:cNvPr id="6" name="Text 4"/>
          <p:cNvSpPr txBox="1"/>
          <p:nvPr/>
        </p:nvSpPr>
        <p:spPr>
          <a:xfrm>
            <a:off x="594360" y="10515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Images</a:t>
            </a:r>
            <a:endParaRPr lang="en-US" sz="1300" dirty="0"/>
          </a:p>
        </p:txBody>
      </p:sp>
      <p:sp>
        <p:nvSpPr>
          <p:cNvPr id="7" name="Text 5"/>
          <p:cNvSpPr txBox="1"/>
          <p:nvPr/>
        </p:nvSpPr>
        <p:spPr>
          <a:xfrm>
            <a:off x="594360" y="13898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WebP, correct size, loading="lazy"</a:t>
            </a:r>
            <a:endParaRPr lang="en-US" sz="1100" dirty="0"/>
          </a:p>
        </p:txBody>
      </p:sp>
      <p:sp>
        <p:nvSpPr>
          <p:cNvPr id="8" name="Shape 6"/>
          <p:cNvSpPr/>
          <p:nvPr/>
        </p:nvSpPr>
        <p:spPr>
          <a:xfrm>
            <a:off x="4663440" y="1005840"/>
            <a:ext cx="3931920" cy="777240"/>
          </a:xfrm>
          <a:prstGeom prst="rect">
            <a:avLst/>
          </a:prstGeom>
          <a:solidFill>
            <a:srgbClr val="243055"/>
          </a:solidFill>
          <a:ln w="12700">
            <a:solidFill>
              <a:srgbClr val="3A4F7A"/>
            </a:solidFill>
            <a:prstDash val="solid"/>
          </a:ln>
        </p:spPr>
      </p:sp>
      <p:sp>
        <p:nvSpPr>
          <p:cNvPr id="9" name="Text 7"/>
          <p:cNvSpPr txBox="1"/>
          <p:nvPr/>
        </p:nvSpPr>
        <p:spPr>
          <a:xfrm>
            <a:off x="4800600" y="10515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Minification</a:t>
            </a:r>
            <a:endParaRPr lang="en-US" sz="1300" dirty="0"/>
          </a:p>
        </p:txBody>
      </p:sp>
      <p:sp>
        <p:nvSpPr>
          <p:cNvPr id="10" name="Text 8"/>
          <p:cNvSpPr txBox="1"/>
          <p:nvPr/>
        </p:nvSpPr>
        <p:spPr>
          <a:xfrm>
            <a:off x="4800600" y="13898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Smaller CSS/JS files = faster load</a:t>
            </a:r>
            <a:endParaRPr lang="en-US" sz="1100" dirty="0"/>
          </a:p>
        </p:txBody>
      </p:sp>
      <p:sp>
        <p:nvSpPr>
          <p:cNvPr id="11" name="Shape 9"/>
          <p:cNvSpPr/>
          <p:nvPr/>
        </p:nvSpPr>
        <p:spPr>
          <a:xfrm>
            <a:off x="457200" y="1920240"/>
            <a:ext cx="3931920" cy="777240"/>
          </a:xfrm>
          <a:prstGeom prst="rect">
            <a:avLst/>
          </a:prstGeom>
          <a:solidFill>
            <a:srgbClr val="243055"/>
          </a:solidFill>
          <a:ln w="12700">
            <a:solidFill>
              <a:srgbClr val="3A4F7A"/>
            </a:solidFill>
            <a:prstDash val="solid"/>
          </a:ln>
        </p:spPr>
      </p:sp>
      <p:sp>
        <p:nvSpPr>
          <p:cNvPr id="12" name="Text 10"/>
          <p:cNvSpPr txBox="1"/>
          <p:nvPr/>
        </p:nvSpPr>
        <p:spPr>
          <a:xfrm>
            <a:off x="594360" y="19659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defer</a:t>
            </a:r>
            <a:endParaRPr lang="en-US" sz="1300" dirty="0"/>
          </a:p>
        </p:txBody>
      </p:sp>
      <p:sp>
        <p:nvSpPr>
          <p:cNvPr id="13" name="Text 11"/>
          <p:cNvSpPr txBox="1"/>
          <p:nvPr/>
        </p:nvSpPr>
        <p:spPr>
          <a:xfrm>
            <a:off x="594360" y="23042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Non-blocking script loading</a:t>
            </a:r>
            <a:endParaRPr lang="en-US" sz="1100" dirty="0"/>
          </a:p>
        </p:txBody>
      </p:sp>
      <p:sp>
        <p:nvSpPr>
          <p:cNvPr id="14" name="Shape 12"/>
          <p:cNvSpPr/>
          <p:nvPr/>
        </p:nvSpPr>
        <p:spPr>
          <a:xfrm>
            <a:off x="4663440" y="1920240"/>
            <a:ext cx="3931920" cy="777240"/>
          </a:xfrm>
          <a:prstGeom prst="rect">
            <a:avLst/>
          </a:prstGeom>
          <a:solidFill>
            <a:srgbClr val="243055"/>
          </a:solidFill>
          <a:ln w="12700">
            <a:solidFill>
              <a:srgbClr val="3A4F7A"/>
            </a:solidFill>
            <a:prstDash val="solid"/>
          </a:ln>
        </p:spPr>
      </p:sp>
      <p:sp>
        <p:nvSpPr>
          <p:cNvPr id="15" name="Text 13"/>
          <p:cNvSpPr txBox="1"/>
          <p:nvPr/>
        </p:nvSpPr>
        <p:spPr>
          <a:xfrm>
            <a:off x="4800600" y="19659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CDN</a:t>
            </a:r>
            <a:endParaRPr lang="en-US" sz="1300" dirty="0"/>
          </a:p>
        </p:txBody>
      </p:sp>
      <p:sp>
        <p:nvSpPr>
          <p:cNvPr id="16" name="Text 14"/>
          <p:cNvSpPr txBox="1"/>
          <p:nvPr/>
        </p:nvSpPr>
        <p:spPr>
          <a:xfrm>
            <a:off x="4800600" y="23042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Serve from edge nodes worldwide</a:t>
            </a:r>
            <a:endParaRPr lang="en-US" sz="1100" dirty="0"/>
          </a:p>
        </p:txBody>
      </p:sp>
      <p:sp>
        <p:nvSpPr>
          <p:cNvPr id="17" name="Shape 15"/>
          <p:cNvSpPr/>
          <p:nvPr/>
        </p:nvSpPr>
        <p:spPr>
          <a:xfrm>
            <a:off x="457200" y="2834640"/>
            <a:ext cx="3931920" cy="777240"/>
          </a:xfrm>
          <a:prstGeom prst="rect">
            <a:avLst/>
          </a:prstGeom>
          <a:solidFill>
            <a:srgbClr val="243055"/>
          </a:solidFill>
          <a:ln w="12700">
            <a:solidFill>
              <a:srgbClr val="3A4F7A"/>
            </a:solidFill>
            <a:prstDash val="solid"/>
          </a:ln>
        </p:spPr>
      </p:sp>
      <p:sp>
        <p:nvSpPr>
          <p:cNvPr id="18" name="Text 16"/>
          <p:cNvSpPr txBox="1"/>
          <p:nvPr/>
        </p:nvSpPr>
        <p:spPr>
          <a:xfrm>
            <a:off x="594360" y="28803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Caching</a:t>
            </a:r>
            <a:endParaRPr lang="en-US" sz="1300" dirty="0"/>
          </a:p>
        </p:txBody>
      </p:sp>
      <p:sp>
        <p:nvSpPr>
          <p:cNvPr id="19" name="Text 17"/>
          <p:cNvSpPr txBox="1"/>
          <p:nvPr/>
        </p:nvSpPr>
        <p:spPr>
          <a:xfrm>
            <a:off x="594360" y="32186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Cache-Control, 304 Not Modified</a:t>
            </a:r>
            <a:endParaRPr lang="en-US" sz="1100" dirty="0"/>
          </a:p>
        </p:txBody>
      </p:sp>
      <p:sp>
        <p:nvSpPr>
          <p:cNvPr id="20" name="Shape 18"/>
          <p:cNvSpPr/>
          <p:nvPr/>
        </p:nvSpPr>
        <p:spPr>
          <a:xfrm>
            <a:off x="4663440" y="2834640"/>
            <a:ext cx="3931920" cy="777240"/>
          </a:xfrm>
          <a:prstGeom prst="rect">
            <a:avLst/>
          </a:prstGeom>
          <a:solidFill>
            <a:srgbClr val="243055"/>
          </a:solidFill>
          <a:ln w="12700">
            <a:solidFill>
              <a:srgbClr val="3A4F7A"/>
            </a:solidFill>
            <a:prstDash val="solid"/>
          </a:ln>
        </p:spPr>
      </p:sp>
      <p:sp>
        <p:nvSpPr>
          <p:cNvPr id="21" name="Text 19"/>
          <p:cNvSpPr txBox="1"/>
          <p:nvPr/>
        </p:nvSpPr>
        <p:spPr>
          <a:xfrm>
            <a:off x="4800600" y="28803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Lighthouse</a:t>
            </a:r>
            <a:endParaRPr lang="en-US" sz="1300" dirty="0"/>
          </a:p>
        </p:txBody>
      </p:sp>
      <p:sp>
        <p:nvSpPr>
          <p:cNvPr id="22" name="Text 20"/>
          <p:cNvSpPr txBox="1"/>
          <p:nvPr/>
        </p:nvSpPr>
        <p:spPr>
          <a:xfrm>
            <a:off x="4800600" y="32186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Measure, fix, measure again</a:t>
            </a:r>
            <a:endParaRPr lang="en-US" sz="1100" dirty="0"/>
          </a:p>
        </p:txBody>
      </p:sp>
      <p:sp>
        <p:nvSpPr>
          <p:cNvPr id="23" name="Shape 21"/>
          <p:cNvSpPr/>
          <p:nvPr/>
        </p:nvSpPr>
        <p:spPr>
          <a:xfrm>
            <a:off x="457200" y="3886200"/>
            <a:ext cx="8229600" cy="960120"/>
          </a:xfrm>
          <a:prstGeom prst="rect">
            <a:avLst/>
          </a:prstGeom>
          <a:solidFill>
            <a:srgbClr val="162030"/>
          </a:solidFill>
          <a:ln w="12700">
            <a:solidFill>
              <a:srgbClr val="F7DF1E"/>
            </a:solidFill>
            <a:prstDash val="solid"/>
          </a:ln>
        </p:spPr>
      </p:sp>
      <p:sp>
        <p:nvSpPr>
          <p:cNvPr id="24" name="Text 22"/>
          <p:cNvSpPr txBox="1"/>
          <p:nvPr/>
        </p:nvSpPr>
        <p:spPr>
          <a:xfrm>
            <a:off x="548640" y="3931920"/>
            <a:ext cx="1280160" cy="320040"/>
          </a:xfrm>
          <a:prstGeom prst="rect">
            <a:avLst/>
          </a:prstGeom>
          <a:noFill/>
          <a:ln/>
        </p:spPr>
        <p:txBody>
          <a:bodyPr wrap="square" lIns="0" tIns="0" rIns="0" bIns="0" rtlCol="0" anchor="ctr"/>
          <a:lstStyle/>
          <a:p>
            <a:pPr algn="l" indent="0" marL="0">
              <a:buNone/>
            </a:pPr>
            <a:r>
              <a:rPr lang="en-US" sz="900" b="1" dirty="0">
                <a:solidFill>
                  <a:srgbClr val="F7DF1E"/>
                </a:solidFill>
                <a:latin typeface="Calibri" pitchFamily="34" charset="0"/>
                <a:ea typeface="Calibri" pitchFamily="34" charset="-122"/>
                <a:cs typeface="Calibri" pitchFamily="34" charset="-120"/>
              </a:rPr>
              <a:t>HOMEWORK</a:t>
            </a:r>
            <a:endParaRPr lang="en-US" sz="900" dirty="0"/>
          </a:p>
        </p:txBody>
      </p:sp>
      <p:sp>
        <p:nvSpPr>
          <p:cNvPr id="25" name="Text 23"/>
          <p:cNvSpPr txBox="1"/>
          <p:nvPr/>
        </p:nvSpPr>
        <p:spPr>
          <a:xfrm>
            <a:off x="548640" y="4251960"/>
            <a:ext cx="7955280" cy="5029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Optimize your personal site: (1) Run Lighthouse, screenshot your Performance score. (2) Apply at least 3 optimizations from today. (3) Re-run Lighthouse, screenshot the new score. Post both screenshots to Discord with a 2-sentence description of what you changed.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Performance Optimization</dc:title>
  <dc:subject>Web Programming K0126002</dc:subject>
  <dc:creator>Dr. Toshpulatov</dc:creator>
  <cp:lastModifiedBy>Dr. Toshpulatov</cp:lastModifiedBy>
  <cp:revision>1</cp:revision>
  <dcterms:created xsi:type="dcterms:W3CDTF">2026-10-21T09:46:58Z</dcterms:created>
  <dcterms:modified xsi:type="dcterms:W3CDTF">2026-10-21T09:46:58Z</dcterms:modified>
</cp:coreProperties>
</file>