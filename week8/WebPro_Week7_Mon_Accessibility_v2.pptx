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Week 7  ·  Mon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Accessibility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(A11y)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</a:rPr>
              <a:t>Designing for ALL users — visual, motor, cognitive, hearing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Accessibility (A11y)?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14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25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Blindness, low vision, color blindness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82296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🖐️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9144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325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Tremors, limited arm mobility, no mouse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13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3317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Dyslexia, ADHD, memory impairments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24028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313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🔊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3317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2743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Deafness, hard of hearing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388620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1 in 6 people worldwide has a disability. Accessible sites also rank better in SEO, load faster, and convert more users.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WCAG — Web Content Accessibility Guidelines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594360" cy="1234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8328" y="120700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2984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Users can see, hear, or feel all information (alt text, captions, sufficient contrast).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822960"/>
            <a:ext cx="594360" cy="1234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120700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330952" y="91440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30952" y="129844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Users can navigate and interact using keyboard, switch, or voice (no mouse required).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240280"/>
            <a:ext cx="594360" cy="1234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" y="262432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033272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33272" y="27157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Content and UI are clear — consistent navigation, plain language, error identification.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240280"/>
            <a:ext cx="4069080" cy="1234440"/>
          </a:xfrm>
          <a:prstGeom prst="roundRect">
            <a:avLst>
              <a:gd name="adj" fmla="val 740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240280"/>
            <a:ext cx="594360" cy="12344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6008" y="2624328"/>
            <a:ext cx="557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2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30952" y="271576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 with current and future assistive technologies (valid HTML, ARIA).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38862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DF1E"/>
                </a:solidFill>
              </a:rPr>
              <a:t>Target level for this course: WCAG 2.1 AA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WCAG 2.1 Level AA requires a minimum contrast ratio of ___ for normal body text.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2:1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3:1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4.5:1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7:1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WCAG 2.1 Level AA requires a minimum contrast ratio of ___ for normal body text.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2:1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B   3:1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C   4.5:1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7:1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WCAG AA requires 4.5:1 for text under 18pt. Large text (18pt+ or 14pt+ bold) needs only 3:1. Level AAA requires 7:1 for all text.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 vs Div Soup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Div soup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18288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128016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❌ Div soup — no meaning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class="header"&gt;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class="nav"&gt;...&lt;/div&gt;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class="main"&gt;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class="article"&gt;...&lt;/div&gt;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Semantic 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60520" cy="237744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73168" y="1280160"/>
            <a:ext cx="3941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Semantic HTML — clear meaning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href="/"&gt;Home&lt;/a&gt;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 href="/about"&gt;About&lt;/a&gt;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&lt;article&gt;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&lt;h1&gt;Article Title&lt;/h1&gt;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&lt;p&gt;Content here...&lt;/p&gt;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&lt;/article&gt;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&lt;footer&gt;Copyright 2026&lt;/footer&gt;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31546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 beats markup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35478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380390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Site or section header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415137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44074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Navigation links block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548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501091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Primary page content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535838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" y="561441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Self-contained content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596188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6217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Closing info / links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Which element is the most accessible way to mark up a site's navigation links?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&lt;div class='nav'&gt;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&lt;ul id='navigation'&gt;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&lt;nav&gt;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&lt;menu&gt;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Which element is the most accessible way to mark up a site's navigation links?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&lt;div class='nav'&gt;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B   &lt;ul id='navigation'&gt;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C   &lt;nav&gt;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&lt;menu&gt;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&lt;nav&gt; is a semantic landmark element. Screen readers announce it as navigation, letting users jump directly to it with a single keypress. Divs carry no semantic meaning.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&lt;button&gt; vs &lt;div onclick&gt; — Why Native Elements Matter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&lt;div onclick&gt;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60520" cy="146304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9768" y="1280160"/>
            <a:ext cx="3941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onclick="doSomething()"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style="cursor:pointer"&gt;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74320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Cannot be focused with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Enter/Space do not fire click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No accessible role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 Screen reader: "Click me, group"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80467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✅ &lt;button&gt;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60520" cy="146304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73168" y="1280160"/>
            <a:ext cx="39410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onclick="doSomething()"&gt;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43200"/>
            <a:ext cx="4160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Focusable with Tab key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Enter and Space fire click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Role: "button" announced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Keyboard/AT: fully accessible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designer makes a clickable &lt;div&gt; that opens a modal. What is missing for accessibility?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A CSS class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display: flex styling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Keyboard focus + Enter/Space support and a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A data-attribute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 designer makes a clickable &lt;div&gt; that opens a modal. What is missing for accessibility?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A CSS class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B   display: flex styling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C   Keyboard focus + Enter/Space support and a role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A data-attribute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Divs get no keyboard focus or role by default. Use &lt;button&gt; instead, or add role="button" tabindex="0" and key event handlers. Missing these breaks keyboard and screen reader access.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 Text on Images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Informative image: describe content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src="chart.png"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alt="Bar chart showing 40% rise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 enrollment from 2024 to 2026"&gt;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Decorative: empty alt (skip)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src="divider-wave.svg" alt=""&gt;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✅ Functional icon button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src="search.svg"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alt="Search"&gt;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❌ Useless alt text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src="logo.png"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alt="image of a logo"&gt;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and what to write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alt="text"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Describe the image purpose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alt=""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Decorative — skip it (empty)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Avoid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"image of..." / "photo of..."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Icon buttons: describe action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Describe what matters HERE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 image is purely decorative (a background swirl). What is the correct alt attribute?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alt='decorative image'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alt='' (empty string)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No alt attribute at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alt='background'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An image is purely decorative (a background swirl). What is the correct alt attribute?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alt='decorative image'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alt='' (empty string)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No alt attribute at 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alt='background'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An empty alt='' tells screen readers to skip the image entirely. Missing alt causes readers to announce the filename instead. Never use 'decorative image' — that's redundant and still read aloud.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 Roles &amp; Attributes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aria-label: name a region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aria-label="Main navigation"&gt;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aria-hidden: hide decorative icon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aria-hidden="true"&gt;⭐&lt;/span&gt;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&lt;span&gt;Rated 4.8 out of 5&lt;/span&gt;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aria-expanded: toggle state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aria-expanded="false"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aria-controls="menu"&gt;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id="menu" hidden&gt;...&lt;/ul&gt;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FIRST RULE: use semantic HTML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Add ARIA only when native   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elements are not possible    --&gt;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HTML is not enough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Name element for screen readers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aria-describedby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Link to descriptive text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Hide from screen readers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aria-expanded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State of open/close widgets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role="main"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Semantic role override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0" y="182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DF1E"/>
                </a:solidFill>
              </a:rPr>
              <a:t>⚡ QUICK QUIZ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58368"/>
            <a:ext cx="8412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does aria-hidden='true' do to an element?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  Makes it invisible on screen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4040"/>
          </a:solidFill>
          <a:ln w="12700">
            <a:solidFill>
              <a:srgbClr val="1A40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   Removes it from screen reader announcements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D1B4E"/>
          </a:solidFill>
          <a:ln w="12700">
            <a:solidFill>
              <a:srgbClr val="2D1B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   Disables all 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   Makes it transparent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41879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💬 Discuss with your neighbor — then we'll reveal the answer!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0" y="164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✅ ANSWER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2179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What does aria-hidden='true' do to an element?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A   Makes it invisible on screen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92024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99339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321"/>
                </a:solidFill>
              </a:rPr>
              <a:t>B   Removes it from screen reader announcements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C   Disables all 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2A2A3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953512"/>
            <a:ext cx="3840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8"/>
                </a:solidFill>
              </a:rPr>
              <a:t>D   Makes it transparent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aria-hidden hides the element from the accessibility tree (screen readers), without affecting its visual display. It's ideal for decorative icons and repeated elements that add visual noise.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Navigation — It Must All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144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Tab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91440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Move to next focusable element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80467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91440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91440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Shift+Tab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91440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Move to previous focusable element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67335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78308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78308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Enter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17830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Activate links and buttons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67335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78308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178308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Space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17830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Check/uncheck, activate buttons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65176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265176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Arrow keys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265176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Move within menus, radio groups, sliders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542032"/>
            <a:ext cx="4069080" cy="731520"/>
          </a:xfrm>
          <a:prstGeom prst="roundRect">
            <a:avLst>
              <a:gd name="adj" fmla="val 10000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651760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265176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321"/>
                </a:solidFill>
              </a:rPr>
              <a:t>Esc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265176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Close modals and dropdown menus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3657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DF1E"/>
                </a:solidFill>
              </a:rPr>
              <a:t>Quick test: close your mouse, open your site, navigate using only the keyboard. Can you reach every link and button?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tabindex="0"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Custom card that needs focus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role="button"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tabindex="0"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aria-label="View project details"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onclick="openProject()"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onkeydown="handleKey(event)"&gt;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&lt;img src="thumb.jpg" alt=""&gt;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&lt;p&gt;My Final Project&lt;/p&gt;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keyboard activation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handleKey(e)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(e.key === "Enter" ||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e.key === " ")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openProject();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e.preventDefault(); // stop scroll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custom elements focusable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tabindex="0"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Add to tab order (natural)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tabindex="-1"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Focusable in JS only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tabindex="1+"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Avoid! Disrupts natural order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Pair with correct role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67588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keydown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9319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Handle Enter/Space manually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Contrast — WCAG AA Requires 4.5:1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778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</a:rPr>
              <a:t>1.6:1 ❌ FAIL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52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AAAA"/>
                </a:solidFill>
              </a:rPr>
              <a:t>Sample text Aa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8105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Light gray on white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82296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8778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</a:rPr>
              <a:t>4.5:1 ✅ PASS AA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2560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52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67676"/>
                </a:solidFill>
              </a:rPr>
              <a:t>Sample text Aa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8105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#767676 on white (min)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7744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24323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</a:rPr>
              <a:t>15.3:1 ✅ PASS AAA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2560320" cy="502920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07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Sample text Aa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3649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White on navy (our slides)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377440"/>
            <a:ext cx="4069080" cy="1371600"/>
          </a:xfrm>
          <a:prstGeom prst="roundRect">
            <a:avLst>
              <a:gd name="adj" fmla="val 6667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4323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DF1E"/>
                </a:solidFill>
              </a:rPr>
              <a:t>13.2:1 ✅ PASS AAA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2560320" cy="50292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8072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Sample text Aa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3649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Navy on yellow (accent)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39502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Tool: WebAIM Contrast Checker — webaim.org/resources/contrastchecker/ — or Chrome DevTools &gt; CSS Overview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Navigation Links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297680" cy="3657600"/>
          </a:xfrm>
          <a:prstGeom prst="rect">
            <a:avLst/>
          </a:prstGeom>
          <a:solidFill>
            <a:srgbClr val="0D132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9768" y="896112"/>
            <a:ext cx="407822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HTML: first element in &lt;body&gt;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href="#main-content"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class="skip-link"&gt;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Skip to main content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&lt;nav&gt;...(many links)...&lt;/nav&gt;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id="main-content"&gt;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CSS: hidden until focused */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position: absolute;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left: -9999px;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.skip-link:focus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left: 0.5rem;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top: 0.5rem;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z-index: 9999;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8686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 to main content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517904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Bypass repeated nav links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 = 1st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121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First focusable element on page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 visible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249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Show only when focused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#main-content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3284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Target: the &lt;main&gt; element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Lighthouse Accessibility Audit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162035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0040" y="11430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286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A11y Score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82296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1. Open Chrome DevTools (F12)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2. Click the "Lighthouse"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3. Check "Accessibility"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4. Click "Analyze page load"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5. Read the score (0–100)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6. Expand each failed audit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7. Click "Learn more" links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8. Fix and re-run to verify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2918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Common failures: missing alt text, insufficient contrast, unlabeled form inputs, missing document language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K0126002  ·  Gachon University  ·  2026 Fall  ·  Dr. Toshpulatov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Homework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&lt;header&gt;, &lt;nav&gt;, &lt;main&gt;, &lt;article&gt;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36392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27832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elements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27832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&lt;button&gt; not &lt;div onclick&gt;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52744" y="82296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44184" y="87782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 text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44184" y="124358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Describe purpose; "" for decorative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ARIA attributes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aria-label, aria-hidden, aria-expanded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27832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Keyboard nav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227832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Tab, Enter, Space, Arrows must 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52744" y="18288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62035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44184" y="1883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D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contrast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44184" y="224942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WCAG AA: 4.5:1 minimum ratio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8503920" cy="1645920"/>
          </a:xfrm>
          <a:prstGeom prst="roundRect">
            <a:avLst>
              <a:gd name="adj" fmla="val 5556"/>
            </a:avLst>
          </a:prstGeom>
          <a:solidFill>
            <a:srgbClr val="1A3A2A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29260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31012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Run Lighthouse on your personal site and screenshot the Accessibility score. Fix at least 3 failing audits. Re-run and screenshot the improved score. Post both screenshots to the course Discord by Thursday.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2026-10-22T07:11:04Z</dcterms:created>
  <dcterms:modified xsi:type="dcterms:W3CDTF">2026-10-22T07:11:04Z</dcterms:modified>
</cp:coreProperties>
</file>