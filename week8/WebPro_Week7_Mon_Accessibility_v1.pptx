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7 Monday! A11y is a common abbreviation: 11 letters between A and Y in "Accessibility". Today we learn why accessibility is not optional, how WCAG guidelines work, and the practical techniques that make websites usable for everyone. Fun fact: Korea passed the Act on the Promotion of the Provision and Use of Internet Information for Persons with Disabilities in 2008 — accessible sites are legally required in Korea.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in 6 people worldwide live with a significant disability (WHO). In Korea, around 2.6 million people (5% of population) are registered as persons with disabilities. Accessibility also benefits everyone: captions help people in noisy cafes; keyboard navigation helps power users; high contrast helps people reading in sunlight. This "curb-cut effect" is why accessibility improves UX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WCAG has three compliance levels: A (minimum), AA (standard — required by most laws), AAA (enhanced — often impractical for all content). We target AA. The four POUR principles are the conceptual foundation — every WCAG success criterion maps to one of them. WCAG 2.1 is the current standard; WCAG 2.2 adds a few more criteria for cognitive accessibility.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HTML gives your page structure that browsers, search engines, and assistive technologies can understand. A screen reader user can press the keyboard shortcut for "jump to main content" — but only if you used &lt;main&gt;, not &lt;div id="main"&gt;. Search engines also use semantic structure to understand your page hierarchy. The rule: use the most specific element that fits the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common accessibility mistakes in student code. The &lt;button&gt; element comes with keyboard focus, Enter and Space key handling, and an implicit ARIA role of "button" — for free. A &lt;div&gt; with onclick needs manual tabindex="0", keyboard event listeners for Enter and Space, and role="button" — 3 extra steps to replicate what the browser gives you for free with &lt;button&gt;. Use the right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Alt text is one of the oldest accessibility requirements and still one of the most commonly missed. The rule: ask "what would I say if I were describing this image to someone over the phone?" For decorative images (background patterns, dividers, illustrations that add no information), use alt="" — this tells the screen reader to skip the image entirely rather than announcing the filename. Never use "image of" or "photo of" — the screen reader already announces "image" before reading the alt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Rule of ARIA: "If you can use a native HTML element or attribute with the semantics and behaviour you require already built in, instead of re-purposing an element and adding an ARIA role, state or property to make it accessible, then do so." ARIA is a patch, not a shortcut. Use it for custom widgets (modals, accordions, date pickers) where no native HTML element exists. aria-hidden is useful for decorative icons that add visual noise when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Keyboard-only navigation matters for people with motor disabilities who cannot use a mouse, power users who prefer keyboard shortcuts, and anyone using a screen reader (screen readers navigate via keyboard). Test rule: put the mouse away and navigate your site using only Tab, Shift+Tab, Enter, Space, and Arrow keys. Every interactive element must be reachable. A common failure: custom dropdown menus only work on hover, which requires a mouse.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tabindex="0" ONLY when you cannot use a native interactive element like &lt;button&gt; or &lt;a&gt;. The example here (a card with an image + text that acts as a button) is a real case where you might need it. But note: you still need role="button", a keyboard event handler, and aria-label. That is three extra things. Ask yourself: could this just be a &lt;button&gt; wrapping the card content? Usually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WCAG AA requires 4.5:1 for normal text, 3:1 for large text (18pt+ or 14pt+ bold). AAA requires 7:1. Color contrast affects everyone in poor lighting, on cheap screens, or when viewing outdoors. Our course design (white on navy, navy on yellow) already exceeds AAA — this is why we chose those colors. Use the Chrome DevTools CSS Overview to audit your whole page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being a keyboard user and having to Tab through 30 navigation links on every single page before reaching the main content. Skip links solve this. They are invisible until focused (so sighted users never see them), but a screen reader or keyboard user can press Tab once to see and activate the "Skip to main content" link, jumping directly past the navigation. This is a WCAG 2.4.1 Level A requirement — the lowest level, meaning it must be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Lighthouse is built into Chrome — no installation needed. The accessibility score is based on axe-core, the industry-standard accessibility testing engine. A score of 100 does not mean fully accessible — it means all automated checks pass. About 30-40% of accessibility issues require manual testing (keyboard navigation, screen reader testing). But automated testing is the floor: always start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accessibility is a legal requirement in Korea and many other countries, affects 1 in 6 people, and also improves SEO and overall UX. We covered the four POUR principles, semantic HTML, alt text, ARIA basics, keyboard navigation, color contrast, skip links, and Lighthouse auditing. Friday we cover Web Performance — many accessibility and performance best practices overlap (semantic HTML, proper image attributes).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9144000" cy="109728"/>
          </a:xfrm>
          <a:prstGeom prst="rect">
            <a:avLst/>
          </a:prstGeom>
          <a:solidFill>
            <a:srgbClr val="F7DF1E"/>
          </a:solidFill>
          <a:ln w="12700">
            <a:solidFill>
              <a:srgbClr val="F7DF1E"/>
            </a:solidFill>
            <a:prstDash val="solid"/>
          </a:ln>
        </p:spPr>
      </p:sp>
      <p:sp>
        <p:nvSpPr>
          <p:cNvPr id="4" name="Shape 2"/>
          <p:cNvSpPr/>
          <p:nvPr/>
        </p:nvSpPr>
        <p:spPr>
          <a:xfrm>
            <a:off x="457200" y="256032"/>
            <a:ext cx="1645920" cy="384048"/>
          </a:xfrm>
          <a:prstGeom prst="rect">
            <a:avLst/>
          </a:prstGeom>
          <a:solidFill>
            <a:srgbClr val="F7DF1E"/>
          </a:solidFill>
          <a:ln w="12700">
            <a:solidFill>
              <a:srgbClr val="F7DF1E"/>
            </a:solidFill>
            <a:prstDash val="solid"/>
          </a:ln>
        </p:spPr>
      </p:sp>
      <p:sp>
        <p:nvSpPr>
          <p:cNvPr id="5" name="Text 3"/>
          <p:cNvSpPr txBox="1"/>
          <p:nvPr/>
        </p:nvSpPr>
        <p:spPr>
          <a:xfrm>
            <a:off x="457200" y="256032"/>
            <a:ext cx="1645920" cy="384048"/>
          </a:xfrm>
          <a:prstGeom prst="rect">
            <a:avLst/>
          </a:prstGeom>
          <a:noFill/>
          <a:ln/>
        </p:spPr>
        <p:txBody>
          <a:bodyPr wrap="square" lIns="0" tIns="0" rIns="0" bIns="0" rtlCol="0" anchor="ctr"/>
          <a:lstStyle/>
          <a:p>
            <a:pPr algn="ctr" indent="0" marL="0">
              <a:buNone/>
            </a:pPr>
            <a:r>
              <a:rPr lang="en-US" sz="900" b="1" dirty="0">
                <a:solidFill>
                  <a:srgbClr val="1A2540"/>
                </a:solidFill>
              </a:rPr>
              <a:t>ACCESSIBILITY</a:t>
            </a:r>
            <a:endParaRPr lang="en-US" sz="900" dirty="0"/>
          </a:p>
        </p:txBody>
      </p:sp>
      <p:sp>
        <p:nvSpPr>
          <p:cNvPr id="6" name="Text 4"/>
          <p:cNvSpPr txBox="1"/>
          <p:nvPr/>
        </p:nvSpPr>
        <p:spPr>
          <a:xfrm>
            <a:off x="7040880" y="256032"/>
            <a:ext cx="1645920" cy="384048"/>
          </a:xfrm>
          <a:prstGeom prst="rect">
            <a:avLst/>
          </a:prstGeom>
          <a:noFill/>
          <a:ln/>
        </p:spPr>
        <p:txBody>
          <a:bodyPr wrap="square" lIns="0" tIns="0" rIns="0" bIns="0" rtlCol="0" anchor="ctr"/>
          <a:lstStyle/>
          <a:p>
            <a:pPr algn="r" indent="0" marL="0">
              <a:buNone/>
            </a:pPr>
            <a:r>
              <a:rPr lang="en-US" sz="900" dirty="0">
                <a:solidFill>
                  <a:srgbClr val="8892B0"/>
                </a:solidFill>
              </a:rPr>
              <a:t>Week 7  ·  Mon</a:t>
            </a:r>
            <a:endParaRPr lang="en-US" sz="900" dirty="0"/>
          </a:p>
        </p:txBody>
      </p:sp>
      <p:sp>
        <p:nvSpPr>
          <p:cNvPr id="7" name="Text 5"/>
          <p:cNvSpPr txBox="1"/>
          <p:nvPr/>
        </p:nvSpPr>
        <p:spPr>
          <a:xfrm>
            <a:off x="914400" y="1463040"/>
            <a:ext cx="7315200" cy="1280160"/>
          </a:xfrm>
          <a:prstGeom prst="rect">
            <a:avLst/>
          </a:prstGeom>
          <a:noFill/>
          <a:ln/>
        </p:spPr>
        <p:txBody>
          <a:bodyPr wrap="square" lIns="0" tIns="0" rIns="0" bIns="0"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Web Accessibility</a:t>
            </a:r>
            <a:endParaRPr lang="en-US" sz="4800" dirty="0"/>
          </a:p>
          <a:p>
            <a:pPr algn="ctr" indent="0" marL="0">
              <a:buNone/>
            </a:pPr>
            <a:r>
              <a:rPr lang="en-US" sz="4800" b="1" dirty="0">
                <a:solidFill>
                  <a:srgbClr val="FFFFFF"/>
                </a:solidFill>
                <a:latin typeface="Calibri" pitchFamily="34" charset="0"/>
                <a:ea typeface="Calibri" pitchFamily="34" charset="-122"/>
                <a:cs typeface="Calibri" pitchFamily="34" charset="-120"/>
              </a:rPr>
              <a:t>(A11y)</a:t>
            </a:r>
            <a:endParaRPr lang="en-US" sz="4800" dirty="0"/>
          </a:p>
        </p:txBody>
      </p:sp>
      <p:sp>
        <p:nvSpPr>
          <p:cNvPr id="8" name="Text 6"/>
          <p:cNvSpPr txBox="1"/>
          <p:nvPr/>
        </p:nvSpPr>
        <p:spPr>
          <a:xfrm>
            <a:off x="914400" y="2834640"/>
            <a:ext cx="7315200" cy="457200"/>
          </a:xfrm>
          <a:prstGeom prst="rect">
            <a:avLst/>
          </a:prstGeom>
          <a:noFill/>
          <a:ln/>
        </p:spPr>
        <p:txBody>
          <a:bodyPr wrap="square" lIns="0" tIns="0" rIns="0" bIns="0" rtlCol="0" anchor="ctr"/>
          <a:lstStyle/>
          <a:p>
            <a:pPr algn="ctr" indent="0" marL="0">
              <a:buNone/>
            </a:pPr>
            <a:r>
              <a:rPr lang="en-US" sz="1800" dirty="0">
                <a:solidFill>
                  <a:srgbClr val="CDD6F4"/>
                </a:solidFill>
                <a:latin typeface="Calibri" pitchFamily="34" charset="0"/>
                <a:ea typeface="Calibri" pitchFamily="34" charset="-122"/>
                <a:cs typeface="Calibri" pitchFamily="34" charset="-120"/>
              </a:rPr>
              <a:t>Designing for ALL users — visual, motor, cognitive, hearing</a:t>
            </a:r>
            <a:endParaRPr lang="en-US" sz="1800" dirty="0"/>
          </a:p>
        </p:txBody>
      </p:sp>
      <p:sp>
        <p:nvSpPr>
          <p:cNvPr id="9" name="Text 7"/>
          <p:cNvSpPr txBox="1"/>
          <p:nvPr/>
        </p:nvSpPr>
        <p:spPr>
          <a:xfrm>
            <a:off x="457200" y="4480560"/>
            <a:ext cx="8229600" cy="457200"/>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K0126002  ·  Gachon University  ·  2026 Fall  ·  Dr. Toshpulatov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What is Accessibility (A11y)?</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1920240" cy="3566160"/>
          </a:xfrm>
          <a:prstGeom prst="rect">
            <a:avLst/>
          </a:prstGeom>
          <a:solidFill>
            <a:srgbClr val="E3F0FB"/>
          </a:solidFill>
          <a:ln w="12700">
            <a:solidFill>
              <a:srgbClr val="4A90D9"/>
            </a:solidFill>
            <a:prstDash val="solid"/>
          </a:ln>
        </p:spPr>
      </p:sp>
      <p:sp>
        <p:nvSpPr>
          <p:cNvPr id="7" name="Text 5"/>
          <p:cNvSpPr txBox="1"/>
          <p:nvPr/>
        </p:nvSpPr>
        <p:spPr>
          <a:xfrm>
            <a:off x="365760" y="960120"/>
            <a:ext cx="1920240" cy="68580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8" name="Shape 6"/>
          <p:cNvSpPr/>
          <p:nvPr/>
        </p:nvSpPr>
        <p:spPr>
          <a:xfrm>
            <a:off x="365760" y="1664208"/>
            <a:ext cx="1920240" cy="365760"/>
          </a:xfrm>
          <a:prstGeom prst="rect">
            <a:avLst/>
          </a:prstGeom>
          <a:solidFill>
            <a:srgbClr val="4A90D9"/>
          </a:solidFill>
          <a:ln w="12700">
            <a:solidFill>
              <a:srgbClr val="4A90D9"/>
            </a:solidFill>
            <a:prstDash val="solid"/>
          </a:ln>
        </p:spPr>
      </p:sp>
      <p:sp>
        <p:nvSpPr>
          <p:cNvPr id="9" name="Text 7"/>
          <p:cNvSpPr txBox="1"/>
          <p:nvPr/>
        </p:nvSpPr>
        <p:spPr>
          <a:xfrm>
            <a:off x="365760" y="1664208"/>
            <a:ext cx="19202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Visual</a:t>
            </a:r>
            <a:endParaRPr lang="en-US" sz="1400" dirty="0"/>
          </a:p>
        </p:txBody>
      </p:sp>
      <p:sp>
        <p:nvSpPr>
          <p:cNvPr id="10" name="Text 8"/>
          <p:cNvSpPr txBox="1"/>
          <p:nvPr/>
        </p:nvSpPr>
        <p:spPr>
          <a:xfrm>
            <a:off x="457200" y="2103120"/>
            <a:ext cx="1737360" cy="2148840"/>
          </a:xfrm>
          <a:prstGeom prst="rect">
            <a:avLst/>
          </a:prstGeom>
          <a:noFill/>
          <a:ln/>
        </p:spPr>
        <p:txBody>
          <a:bodyPr wrap="square" lIns="0" tIns="0" rIns="0" bIns="0" rtlCol="0" anchor="t"/>
          <a:lstStyle/>
          <a:p>
            <a:pPr algn="l" indent="0" marL="0">
              <a:buNone/>
            </a:pPr>
            <a:r>
              <a:rPr lang="en-US" sz="1100" dirty="0">
                <a:solidFill>
                  <a:srgbClr val="1A2540"/>
                </a:solidFill>
                <a:latin typeface="Calibri" pitchFamily="34" charset="0"/>
                <a:ea typeface="Calibri" pitchFamily="34" charset="-122"/>
                <a:cs typeface="Calibri" pitchFamily="34" charset="-120"/>
              </a:rPr>
              <a:t>Blindness, low vision, color blindness</a:t>
            </a:r>
            <a:endParaRPr lang="en-US" sz="1100" dirty="0"/>
          </a:p>
        </p:txBody>
      </p:sp>
      <p:sp>
        <p:nvSpPr>
          <p:cNvPr id="11" name="Shape 9"/>
          <p:cNvSpPr/>
          <p:nvPr/>
        </p:nvSpPr>
        <p:spPr>
          <a:xfrm>
            <a:off x="2468880" y="914400"/>
            <a:ext cx="1920240" cy="3566160"/>
          </a:xfrm>
          <a:prstGeom prst="rect">
            <a:avLst/>
          </a:prstGeom>
          <a:solidFill>
            <a:srgbClr val="EEE8FF"/>
          </a:solidFill>
          <a:ln w="12700">
            <a:solidFill>
              <a:srgbClr val="7B68EE"/>
            </a:solidFill>
            <a:prstDash val="solid"/>
          </a:ln>
        </p:spPr>
      </p:sp>
      <p:sp>
        <p:nvSpPr>
          <p:cNvPr id="12" name="Text 10"/>
          <p:cNvSpPr txBox="1"/>
          <p:nvPr/>
        </p:nvSpPr>
        <p:spPr>
          <a:xfrm>
            <a:off x="2468880" y="960120"/>
            <a:ext cx="1920240" cy="68580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3" name="Shape 11"/>
          <p:cNvSpPr/>
          <p:nvPr/>
        </p:nvSpPr>
        <p:spPr>
          <a:xfrm>
            <a:off x="2468880" y="1664208"/>
            <a:ext cx="1920240" cy="365760"/>
          </a:xfrm>
          <a:prstGeom prst="rect">
            <a:avLst/>
          </a:prstGeom>
          <a:solidFill>
            <a:srgbClr val="7B68EE"/>
          </a:solidFill>
          <a:ln w="12700">
            <a:solidFill>
              <a:srgbClr val="7B68EE"/>
            </a:solidFill>
            <a:prstDash val="solid"/>
          </a:ln>
        </p:spPr>
      </p:sp>
      <p:sp>
        <p:nvSpPr>
          <p:cNvPr id="14" name="Text 12"/>
          <p:cNvSpPr txBox="1"/>
          <p:nvPr/>
        </p:nvSpPr>
        <p:spPr>
          <a:xfrm>
            <a:off x="2468880" y="1664208"/>
            <a:ext cx="19202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Motor</a:t>
            </a:r>
            <a:endParaRPr lang="en-US" sz="1400" dirty="0"/>
          </a:p>
        </p:txBody>
      </p:sp>
      <p:sp>
        <p:nvSpPr>
          <p:cNvPr id="15" name="Text 13"/>
          <p:cNvSpPr txBox="1"/>
          <p:nvPr/>
        </p:nvSpPr>
        <p:spPr>
          <a:xfrm>
            <a:off x="2560320" y="2103120"/>
            <a:ext cx="1737360" cy="2148840"/>
          </a:xfrm>
          <a:prstGeom prst="rect">
            <a:avLst/>
          </a:prstGeom>
          <a:noFill/>
          <a:ln/>
        </p:spPr>
        <p:txBody>
          <a:bodyPr wrap="square" lIns="0" tIns="0" rIns="0" bIns="0" rtlCol="0" anchor="t"/>
          <a:lstStyle/>
          <a:p>
            <a:pPr algn="l" indent="0" marL="0">
              <a:buNone/>
            </a:pPr>
            <a:r>
              <a:rPr lang="en-US" sz="1100" dirty="0">
                <a:solidFill>
                  <a:srgbClr val="1A2540"/>
                </a:solidFill>
                <a:latin typeface="Calibri" pitchFamily="34" charset="0"/>
                <a:ea typeface="Calibri" pitchFamily="34" charset="-122"/>
                <a:cs typeface="Calibri" pitchFamily="34" charset="-120"/>
              </a:rPr>
              <a:t>Tremors, limited arm mobility, no mouse</a:t>
            </a:r>
            <a:endParaRPr lang="en-US" sz="1100" dirty="0"/>
          </a:p>
        </p:txBody>
      </p:sp>
      <p:sp>
        <p:nvSpPr>
          <p:cNvPr id="16" name="Shape 14"/>
          <p:cNvSpPr/>
          <p:nvPr/>
        </p:nvSpPr>
        <p:spPr>
          <a:xfrm>
            <a:off x="4572000" y="914400"/>
            <a:ext cx="1920240" cy="3566160"/>
          </a:xfrm>
          <a:prstGeom prst="rect">
            <a:avLst/>
          </a:prstGeom>
          <a:solidFill>
            <a:srgbClr val="E6F4E6"/>
          </a:solidFill>
          <a:ln w="12700">
            <a:solidFill>
              <a:srgbClr val="5C9E5C"/>
            </a:solidFill>
            <a:prstDash val="solid"/>
          </a:ln>
        </p:spPr>
      </p:sp>
      <p:sp>
        <p:nvSpPr>
          <p:cNvPr id="17" name="Text 15"/>
          <p:cNvSpPr txBox="1"/>
          <p:nvPr/>
        </p:nvSpPr>
        <p:spPr>
          <a:xfrm>
            <a:off x="4572000" y="960120"/>
            <a:ext cx="1920240" cy="68580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18" name="Shape 16"/>
          <p:cNvSpPr/>
          <p:nvPr/>
        </p:nvSpPr>
        <p:spPr>
          <a:xfrm>
            <a:off x="4572000" y="1664208"/>
            <a:ext cx="1920240" cy="365760"/>
          </a:xfrm>
          <a:prstGeom prst="rect">
            <a:avLst/>
          </a:prstGeom>
          <a:solidFill>
            <a:srgbClr val="5C9E5C"/>
          </a:solidFill>
          <a:ln w="12700">
            <a:solidFill>
              <a:srgbClr val="5C9E5C"/>
            </a:solidFill>
            <a:prstDash val="solid"/>
          </a:ln>
        </p:spPr>
      </p:sp>
      <p:sp>
        <p:nvSpPr>
          <p:cNvPr id="19" name="Text 17"/>
          <p:cNvSpPr txBox="1"/>
          <p:nvPr/>
        </p:nvSpPr>
        <p:spPr>
          <a:xfrm>
            <a:off x="4572000" y="1664208"/>
            <a:ext cx="19202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Cognitive</a:t>
            </a:r>
            <a:endParaRPr lang="en-US" sz="1400" dirty="0"/>
          </a:p>
        </p:txBody>
      </p:sp>
      <p:sp>
        <p:nvSpPr>
          <p:cNvPr id="20" name="Text 18"/>
          <p:cNvSpPr txBox="1"/>
          <p:nvPr/>
        </p:nvSpPr>
        <p:spPr>
          <a:xfrm>
            <a:off x="4663440" y="2103120"/>
            <a:ext cx="1737360" cy="2148840"/>
          </a:xfrm>
          <a:prstGeom prst="rect">
            <a:avLst/>
          </a:prstGeom>
          <a:noFill/>
          <a:ln/>
        </p:spPr>
        <p:txBody>
          <a:bodyPr wrap="square" lIns="0" tIns="0" rIns="0" bIns="0" rtlCol="0" anchor="t"/>
          <a:lstStyle/>
          <a:p>
            <a:pPr algn="l" indent="0" marL="0">
              <a:buNone/>
            </a:pPr>
            <a:r>
              <a:rPr lang="en-US" sz="1100" dirty="0">
                <a:solidFill>
                  <a:srgbClr val="1A2540"/>
                </a:solidFill>
                <a:latin typeface="Calibri" pitchFamily="34" charset="0"/>
                <a:ea typeface="Calibri" pitchFamily="34" charset="-122"/>
                <a:cs typeface="Calibri" pitchFamily="34" charset="-120"/>
              </a:rPr>
              <a:t>Dyslexia, ADHD, memory impairments</a:t>
            </a:r>
            <a:endParaRPr lang="en-US" sz="1100" dirty="0"/>
          </a:p>
        </p:txBody>
      </p:sp>
      <p:sp>
        <p:nvSpPr>
          <p:cNvPr id="21" name="Shape 19"/>
          <p:cNvSpPr/>
          <p:nvPr/>
        </p:nvSpPr>
        <p:spPr>
          <a:xfrm>
            <a:off x="6675120" y="914400"/>
            <a:ext cx="1920240" cy="3566160"/>
          </a:xfrm>
          <a:prstGeom prst="rect">
            <a:avLst/>
          </a:prstGeom>
          <a:solidFill>
            <a:srgbClr val="FFF3E0"/>
          </a:solidFill>
          <a:ln w="12700">
            <a:solidFill>
              <a:srgbClr val="E88B2D"/>
            </a:solidFill>
            <a:prstDash val="solid"/>
          </a:ln>
        </p:spPr>
      </p:sp>
      <p:sp>
        <p:nvSpPr>
          <p:cNvPr id="22" name="Text 20"/>
          <p:cNvSpPr txBox="1"/>
          <p:nvPr/>
        </p:nvSpPr>
        <p:spPr>
          <a:xfrm>
            <a:off x="6675120" y="960120"/>
            <a:ext cx="1920240" cy="68580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23" name="Shape 21"/>
          <p:cNvSpPr/>
          <p:nvPr/>
        </p:nvSpPr>
        <p:spPr>
          <a:xfrm>
            <a:off x="6675120" y="1664208"/>
            <a:ext cx="1920240" cy="365760"/>
          </a:xfrm>
          <a:prstGeom prst="rect">
            <a:avLst/>
          </a:prstGeom>
          <a:solidFill>
            <a:srgbClr val="E88B2D"/>
          </a:solidFill>
          <a:ln w="12700">
            <a:solidFill>
              <a:srgbClr val="E88B2D"/>
            </a:solidFill>
            <a:prstDash val="solid"/>
          </a:ln>
        </p:spPr>
      </p:sp>
      <p:sp>
        <p:nvSpPr>
          <p:cNvPr id="24" name="Text 22"/>
          <p:cNvSpPr txBox="1"/>
          <p:nvPr/>
        </p:nvSpPr>
        <p:spPr>
          <a:xfrm>
            <a:off x="6675120" y="1664208"/>
            <a:ext cx="192024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Hearing</a:t>
            </a:r>
            <a:endParaRPr lang="en-US" sz="1400" dirty="0"/>
          </a:p>
        </p:txBody>
      </p:sp>
      <p:sp>
        <p:nvSpPr>
          <p:cNvPr id="25" name="Text 23"/>
          <p:cNvSpPr txBox="1"/>
          <p:nvPr/>
        </p:nvSpPr>
        <p:spPr>
          <a:xfrm>
            <a:off x="6766560" y="2103120"/>
            <a:ext cx="1737360" cy="2148840"/>
          </a:xfrm>
          <a:prstGeom prst="rect">
            <a:avLst/>
          </a:prstGeom>
          <a:noFill/>
          <a:ln/>
        </p:spPr>
        <p:txBody>
          <a:bodyPr wrap="square" lIns="0" tIns="0" rIns="0" bIns="0" rtlCol="0" anchor="t"/>
          <a:lstStyle/>
          <a:p>
            <a:pPr algn="l" indent="0" marL="0">
              <a:buNone/>
            </a:pPr>
            <a:r>
              <a:rPr lang="en-US" sz="1100" dirty="0">
                <a:solidFill>
                  <a:srgbClr val="1A2540"/>
                </a:solidFill>
                <a:latin typeface="Calibri" pitchFamily="34" charset="0"/>
                <a:ea typeface="Calibri" pitchFamily="34" charset="-122"/>
                <a:cs typeface="Calibri" pitchFamily="34" charset="-120"/>
              </a:rPr>
              <a:t>Deafness, hard of hearing</a:t>
            </a:r>
            <a:endParaRPr lang="en-US" sz="1100" dirty="0"/>
          </a:p>
        </p:txBody>
      </p:sp>
      <p:sp>
        <p:nvSpPr>
          <p:cNvPr id="26" name="Text 24"/>
          <p:cNvSpPr txBox="1"/>
          <p:nvPr/>
        </p:nvSpPr>
        <p:spPr>
          <a:xfrm>
            <a:off x="365760" y="4617720"/>
            <a:ext cx="8412480" cy="32004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1 in 6 people worldwide has a disability. Accessible sites also rank better in SEO, load faster, and convert more users.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WCAG — Web Content Accessibility Guidelines</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60120"/>
            <a:ext cx="3977640" cy="1572768"/>
          </a:xfrm>
          <a:prstGeom prst="rect">
            <a:avLst/>
          </a:prstGeom>
          <a:solidFill>
            <a:srgbClr val="E8EDFF"/>
          </a:solidFill>
          <a:ln w="12700">
            <a:solidFill>
              <a:srgbClr val="CBD5FF"/>
            </a:solidFill>
            <a:prstDash val="solid"/>
          </a:ln>
        </p:spPr>
      </p:sp>
      <p:sp>
        <p:nvSpPr>
          <p:cNvPr id="7" name="Shape 5"/>
          <p:cNvSpPr/>
          <p:nvPr/>
        </p:nvSpPr>
        <p:spPr>
          <a:xfrm>
            <a:off x="365760" y="960120"/>
            <a:ext cx="640080" cy="1572768"/>
          </a:xfrm>
          <a:prstGeom prst="rect">
            <a:avLst/>
          </a:prstGeom>
          <a:solidFill>
            <a:srgbClr val="1A2540"/>
          </a:solidFill>
          <a:ln w="12700">
            <a:solidFill>
              <a:srgbClr val="1A2540"/>
            </a:solidFill>
            <a:prstDash val="solid"/>
          </a:ln>
        </p:spPr>
      </p:sp>
      <p:sp>
        <p:nvSpPr>
          <p:cNvPr id="8" name="Text 6"/>
          <p:cNvSpPr txBox="1"/>
          <p:nvPr/>
        </p:nvSpPr>
        <p:spPr>
          <a:xfrm>
            <a:off x="365760" y="960120"/>
            <a:ext cx="640080" cy="1572768"/>
          </a:xfrm>
          <a:prstGeom prst="rect">
            <a:avLst/>
          </a:prstGeom>
          <a:noFill/>
          <a:ln/>
        </p:spPr>
        <p:txBody>
          <a:bodyPr wrap="square" lIns="0" tIns="0" rIns="0" bIns="0" rtlCol="0" anchor="ctr"/>
          <a:lstStyle/>
          <a:p>
            <a:pPr algn="ctr" indent="0" marL="0">
              <a:buNone/>
            </a:pPr>
            <a:r>
              <a:rPr lang="en-US" sz="2800" b="1" dirty="0">
                <a:solidFill>
                  <a:srgbClr val="F7DF1E"/>
                </a:solidFill>
                <a:latin typeface="Calibri" pitchFamily="34" charset="0"/>
                <a:ea typeface="Calibri" pitchFamily="34" charset="-122"/>
                <a:cs typeface="Calibri" pitchFamily="34" charset="-120"/>
              </a:rPr>
              <a:t>P</a:t>
            </a:r>
            <a:endParaRPr lang="en-US" sz="2800" dirty="0"/>
          </a:p>
        </p:txBody>
      </p:sp>
      <p:sp>
        <p:nvSpPr>
          <p:cNvPr id="9" name="Text 7"/>
          <p:cNvSpPr txBox="1"/>
          <p:nvPr/>
        </p:nvSpPr>
        <p:spPr>
          <a:xfrm>
            <a:off x="1097280" y="1033272"/>
            <a:ext cx="3154680" cy="365760"/>
          </a:xfrm>
          <a:prstGeom prst="rect">
            <a:avLst/>
          </a:prstGeom>
          <a:noFill/>
          <a:ln/>
        </p:spPr>
        <p:txBody>
          <a:bodyPr wrap="square" lIns="0" tIns="0" rIns="0" bIns="0" rtlCol="0" anchor="ctr"/>
          <a:lstStyle/>
          <a:p>
            <a:pPr algn="l" indent="0" marL="0">
              <a:buNone/>
            </a:pPr>
            <a:r>
              <a:rPr lang="en-US" sz="1500" b="1" dirty="0">
                <a:solidFill>
                  <a:srgbClr val="1A2540"/>
                </a:solidFill>
                <a:latin typeface="Calibri" pitchFamily="34" charset="0"/>
                <a:ea typeface="Calibri" pitchFamily="34" charset="-122"/>
                <a:cs typeface="Calibri" pitchFamily="34" charset="-120"/>
              </a:rPr>
              <a:t>Perceivable</a:t>
            </a:r>
            <a:endParaRPr lang="en-US" sz="1500" dirty="0"/>
          </a:p>
        </p:txBody>
      </p:sp>
      <p:sp>
        <p:nvSpPr>
          <p:cNvPr id="10" name="Text 8"/>
          <p:cNvSpPr txBox="1"/>
          <p:nvPr/>
        </p:nvSpPr>
        <p:spPr>
          <a:xfrm>
            <a:off x="1097280" y="1435608"/>
            <a:ext cx="3154680" cy="1005840"/>
          </a:xfrm>
          <a:prstGeom prst="rect">
            <a:avLst/>
          </a:prstGeom>
          <a:noFill/>
          <a:ln/>
        </p:spPr>
        <p:txBody>
          <a:bodyPr wrap="square" lIns="0" tIns="0" rIns="0" bIns="0" rtlCol="0" anchor="t"/>
          <a:lstStyle/>
          <a:p>
            <a:pPr algn="l" indent="0" marL="0">
              <a:buNone/>
            </a:pPr>
            <a:r>
              <a:rPr lang="en-US" sz="1100" dirty="0">
                <a:solidFill>
                  <a:srgbClr val="8892B0"/>
                </a:solidFill>
                <a:latin typeface="Calibri" pitchFamily="34" charset="0"/>
                <a:ea typeface="Calibri" pitchFamily="34" charset="-122"/>
                <a:cs typeface="Calibri" pitchFamily="34" charset="-120"/>
              </a:rPr>
              <a:t>Users can see, hear, or feel all information (alt text, captions, sufficient contrast).</a:t>
            </a:r>
            <a:endParaRPr lang="en-US" sz="1100" dirty="0"/>
          </a:p>
        </p:txBody>
      </p:sp>
      <p:sp>
        <p:nvSpPr>
          <p:cNvPr id="11" name="Shape 9"/>
          <p:cNvSpPr/>
          <p:nvPr/>
        </p:nvSpPr>
        <p:spPr>
          <a:xfrm>
            <a:off x="4663440" y="960120"/>
            <a:ext cx="3977640" cy="1572768"/>
          </a:xfrm>
          <a:prstGeom prst="rect">
            <a:avLst/>
          </a:prstGeom>
          <a:solidFill>
            <a:srgbClr val="E8EDFF"/>
          </a:solidFill>
          <a:ln w="12700">
            <a:solidFill>
              <a:srgbClr val="CBD5FF"/>
            </a:solidFill>
            <a:prstDash val="solid"/>
          </a:ln>
        </p:spPr>
      </p:sp>
      <p:sp>
        <p:nvSpPr>
          <p:cNvPr id="12" name="Shape 10"/>
          <p:cNvSpPr/>
          <p:nvPr/>
        </p:nvSpPr>
        <p:spPr>
          <a:xfrm>
            <a:off x="4663440" y="960120"/>
            <a:ext cx="640080" cy="1572768"/>
          </a:xfrm>
          <a:prstGeom prst="rect">
            <a:avLst/>
          </a:prstGeom>
          <a:solidFill>
            <a:srgbClr val="1A2540"/>
          </a:solidFill>
          <a:ln w="12700">
            <a:solidFill>
              <a:srgbClr val="1A2540"/>
            </a:solidFill>
            <a:prstDash val="solid"/>
          </a:ln>
        </p:spPr>
      </p:sp>
      <p:sp>
        <p:nvSpPr>
          <p:cNvPr id="13" name="Text 11"/>
          <p:cNvSpPr txBox="1"/>
          <p:nvPr/>
        </p:nvSpPr>
        <p:spPr>
          <a:xfrm>
            <a:off x="4663440" y="960120"/>
            <a:ext cx="640080" cy="1572768"/>
          </a:xfrm>
          <a:prstGeom prst="rect">
            <a:avLst/>
          </a:prstGeom>
          <a:noFill/>
          <a:ln/>
        </p:spPr>
        <p:txBody>
          <a:bodyPr wrap="square" lIns="0" tIns="0" rIns="0" bIns="0" rtlCol="0" anchor="ctr"/>
          <a:lstStyle/>
          <a:p>
            <a:pPr algn="ctr" indent="0" marL="0">
              <a:buNone/>
            </a:pPr>
            <a:r>
              <a:rPr lang="en-US" sz="2800" b="1" dirty="0">
                <a:solidFill>
                  <a:srgbClr val="F7DF1E"/>
                </a:solidFill>
                <a:latin typeface="Calibri" pitchFamily="34" charset="0"/>
                <a:ea typeface="Calibri" pitchFamily="34" charset="-122"/>
                <a:cs typeface="Calibri" pitchFamily="34" charset="-120"/>
              </a:rPr>
              <a:t>O</a:t>
            </a:r>
            <a:endParaRPr lang="en-US" sz="2800" dirty="0"/>
          </a:p>
        </p:txBody>
      </p:sp>
      <p:sp>
        <p:nvSpPr>
          <p:cNvPr id="14" name="Text 12"/>
          <p:cNvSpPr txBox="1"/>
          <p:nvPr/>
        </p:nvSpPr>
        <p:spPr>
          <a:xfrm>
            <a:off x="5394960" y="1033272"/>
            <a:ext cx="3154680" cy="365760"/>
          </a:xfrm>
          <a:prstGeom prst="rect">
            <a:avLst/>
          </a:prstGeom>
          <a:noFill/>
          <a:ln/>
        </p:spPr>
        <p:txBody>
          <a:bodyPr wrap="square" lIns="0" tIns="0" rIns="0" bIns="0" rtlCol="0" anchor="ctr"/>
          <a:lstStyle/>
          <a:p>
            <a:pPr algn="l" indent="0" marL="0">
              <a:buNone/>
            </a:pPr>
            <a:r>
              <a:rPr lang="en-US" sz="1500" b="1" dirty="0">
                <a:solidFill>
                  <a:srgbClr val="1A2540"/>
                </a:solidFill>
                <a:latin typeface="Calibri" pitchFamily="34" charset="0"/>
                <a:ea typeface="Calibri" pitchFamily="34" charset="-122"/>
                <a:cs typeface="Calibri" pitchFamily="34" charset="-120"/>
              </a:rPr>
              <a:t>Operable</a:t>
            </a:r>
            <a:endParaRPr lang="en-US" sz="1500" dirty="0"/>
          </a:p>
        </p:txBody>
      </p:sp>
      <p:sp>
        <p:nvSpPr>
          <p:cNvPr id="15" name="Text 13"/>
          <p:cNvSpPr txBox="1"/>
          <p:nvPr/>
        </p:nvSpPr>
        <p:spPr>
          <a:xfrm>
            <a:off x="5394960" y="1435608"/>
            <a:ext cx="3154680" cy="1005840"/>
          </a:xfrm>
          <a:prstGeom prst="rect">
            <a:avLst/>
          </a:prstGeom>
          <a:noFill/>
          <a:ln/>
        </p:spPr>
        <p:txBody>
          <a:bodyPr wrap="square" lIns="0" tIns="0" rIns="0" bIns="0" rtlCol="0" anchor="t"/>
          <a:lstStyle/>
          <a:p>
            <a:pPr algn="l" indent="0" marL="0">
              <a:buNone/>
            </a:pPr>
            <a:r>
              <a:rPr lang="en-US" sz="1100" dirty="0">
                <a:solidFill>
                  <a:srgbClr val="8892B0"/>
                </a:solidFill>
                <a:latin typeface="Calibri" pitchFamily="34" charset="0"/>
                <a:ea typeface="Calibri" pitchFamily="34" charset="-122"/>
                <a:cs typeface="Calibri" pitchFamily="34" charset="-120"/>
              </a:rPr>
              <a:t>Users can navigate and interact using keyboard, switch, or voice (no mouse required).</a:t>
            </a:r>
            <a:endParaRPr lang="en-US" sz="1100" dirty="0"/>
          </a:p>
        </p:txBody>
      </p:sp>
      <p:sp>
        <p:nvSpPr>
          <p:cNvPr id="16" name="Shape 14"/>
          <p:cNvSpPr/>
          <p:nvPr/>
        </p:nvSpPr>
        <p:spPr>
          <a:xfrm>
            <a:off x="365760" y="2697480"/>
            <a:ext cx="3977640" cy="1572768"/>
          </a:xfrm>
          <a:prstGeom prst="rect">
            <a:avLst/>
          </a:prstGeom>
          <a:solidFill>
            <a:srgbClr val="E8EDFF"/>
          </a:solidFill>
          <a:ln w="12700">
            <a:solidFill>
              <a:srgbClr val="CBD5FF"/>
            </a:solidFill>
            <a:prstDash val="solid"/>
          </a:ln>
        </p:spPr>
      </p:sp>
      <p:sp>
        <p:nvSpPr>
          <p:cNvPr id="17" name="Shape 15"/>
          <p:cNvSpPr/>
          <p:nvPr/>
        </p:nvSpPr>
        <p:spPr>
          <a:xfrm>
            <a:off x="365760" y="2697480"/>
            <a:ext cx="640080" cy="1572768"/>
          </a:xfrm>
          <a:prstGeom prst="rect">
            <a:avLst/>
          </a:prstGeom>
          <a:solidFill>
            <a:srgbClr val="1A2540"/>
          </a:solidFill>
          <a:ln w="12700">
            <a:solidFill>
              <a:srgbClr val="1A2540"/>
            </a:solidFill>
            <a:prstDash val="solid"/>
          </a:ln>
        </p:spPr>
      </p:sp>
      <p:sp>
        <p:nvSpPr>
          <p:cNvPr id="18" name="Text 16"/>
          <p:cNvSpPr txBox="1"/>
          <p:nvPr/>
        </p:nvSpPr>
        <p:spPr>
          <a:xfrm>
            <a:off x="365760" y="2697480"/>
            <a:ext cx="640080" cy="1572768"/>
          </a:xfrm>
          <a:prstGeom prst="rect">
            <a:avLst/>
          </a:prstGeom>
          <a:noFill/>
          <a:ln/>
        </p:spPr>
        <p:txBody>
          <a:bodyPr wrap="square" lIns="0" tIns="0" rIns="0" bIns="0" rtlCol="0" anchor="ctr"/>
          <a:lstStyle/>
          <a:p>
            <a:pPr algn="ctr" indent="0" marL="0">
              <a:buNone/>
            </a:pPr>
            <a:r>
              <a:rPr lang="en-US" sz="2800" b="1" dirty="0">
                <a:solidFill>
                  <a:srgbClr val="F7DF1E"/>
                </a:solidFill>
                <a:latin typeface="Calibri" pitchFamily="34" charset="0"/>
                <a:ea typeface="Calibri" pitchFamily="34" charset="-122"/>
                <a:cs typeface="Calibri" pitchFamily="34" charset="-120"/>
              </a:rPr>
              <a:t>U</a:t>
            </a:r>
            <a:endParaRPr lang="en-US" sz="2800" dirty="0"/>
          </a:p>
        </p:txBody>
      </p:sp>
      <p:sp>
        <p:nvSpPr>
          <p:cNvPr id="19" name="Text 17"/>
          <p:cNvSpPr txBox="1"/>
          <p:nvPr/>
        </p:nvSpPr>
        <p:spPr>
          <a:xfrm>
            <a:off x="1097280" y="2770632"/>
            <a:ext cx="3154680" cy="365760"/>
          </a:xfrm>
          <a:prstGeom prst="rect">
            <a:avLst/>
          </a:prstGeom>
          <a:noFill/>
          <a:ln/>
        </p:spPr>
        <p:txBody>
          <a:bodyPr wrap="square" lIns="0" tIns="0" rIns="0" bIns="0" rtlCol="0" anchor="ctr"/>
          <a:lstStyle/>
          <a:p>
            <a:pPr algn="l" indent="0" marL="0">
              <a:buNone/>
            </a:pPr>
            <a:r>
              <a:rPr lang="en-US" sz="1500" b="1" dirty="0">
                <a:solidFill>
                  <a:srgbClr val="1A2540"/>
                </a:solidFill>
                <a:latin typeface="Calibri" pitchFamily="34" charset="0"/>
                <a:ea typeface="Calibri" pitchFamily="34" charset="-122"/>
                <a:cs typeface="Calibri" pitchFamily="34" charset="-120"/>
              </a:rPr>
              <a:t>Understandable</a:t>
            </a:r>
            <a:endParaRPr lang="en-US" sz="1500" dirty="0"/>
          </a:p>
        </p:txBody>
      </p:sp>
      <p:sp>
        <p:nvSpPr>
          <p:cNvPr id="20" name="Text 18"/>
          <p:cNvSpPr txBox="1"/>
          <p:nvPr/>
        </p:nvSpPr>
        <p:spPr>
          <a:xfrm>
            <a:off x="1097280" y="3172968"/>
            <a:ext cx="3154680" cy="1005840"/>
          </a:xfrm>
          <a:prstGeom prst="rect">
            <a:avLst/>
          </a:prstGeom>
          <a:noFill/>
          <a:ln/>
        </p:spPr>
        <p:txBody>
          <a:bodyPr wrap="square" lIns="0" tIns="0" rIns="0" bIns="0" rtlCol="0" anchor="t"/>
          <a:lstStyle/>
          <a:p>
            <a:pPr algn="l" indent="0" marL="0">
              <a:buNone/>
            </a:pPr>
            <a:r>
              <a:rPr lang="en-US" sz="1100" dirty="0">
                <a:solidFill>
                  <a:srgbClr val="8892B0"/>
                </a:solidFill>
                <a:latin typeface="Calibri" pitchFamily="34" charset="0"/>
                <a:ea typeface="Calibri" pitchFamily="34" charset="-122"/>
                <a:cs typeface="Calibri" pitchFamily="34" charset="-120"/>
              </a:rPr>
              <a:t>Content and UI are clear — consistent navigation, plain language, error identification.</a:t>
            </a:r>
            <a:endParaRPr lang="en-US" sz="1100" dirty="0"/>
          </a:p>
        </p:txBody>
      </p:sp>
      <p:sp>
        <p:nvSpPr>
          <p:cNvPr id="21" name="Shape 19"/>
          <p:cNvSpPr/>
          <p:nvPr/>
        </p:nvSpPr>
        <p:spPr>
          <a:xfrm>
            <a:off x="4663440" y="2697480"/>
            <a:ext cx="3977640" cy="1572768"/>
          </a:xfrm>
          <a:prstGeom prst="rect">
            <a:avLst/>
          </a:prstGeom>
          <a:solidFill>
            <a:srgbClr val="E8EDFF"/>
          </a:solidFill>
          <a:ln w="12700">
            <a:solidFill>
              <a:srgbClr val="CBD5FF"/>
            </a:solidFill>
            <a:prstDash val="solid"/>
          </a:ln>
        </p:spPr>
      </p:sp>
      <p:sp>
        <p:nvSpPr>
          <p:cNvPr id="22" name="Shape 20"/>
          <p:cNvSpPr/>
          <p:nvPr/>
        </p:nvSpPr>
        <p:spPr>
          <a:xfrm>
            <a:off x="4663440" y="2697480"/>
            <a:ext cx="640080" cy="1572768"/>
          </a:xfrm>
          <a:prstGeom prst="rect">
            <a:avLst/>
          </a:prstGeom>
          <a:solidFill>
            <a:srgbClr val="1A2540"/>
          </a:solidFill>
          <a:ln w="12700">
            <a:solidFill>
              <a:srgbClr val="1A2540"/>
            </a:solidFill>
            <a:prstDash val="solid"/>
          </a:ln>
        </p:spPr>
      </p:sp>
      <p:sp>
        <p:nvSpPr>
          <p:cNvPr id="23" name="Text 21"/>
          <p:cNvSpPr txBox="1"/>
          <p:nvPr/>
        </p:nvSpPr>
        <p:spPr>
          <a:xfrm>
            <a:off x="4663440" y="2697480"/>
            <a:ext cx="640080" cy="1572768"/>
          </a:xfrm>
          <a:prstGeom prst="rect">
            <a:avLst/>
          </a:prstGeom>
          <a:noFill/>
          <a:ln/>
        </p:spPr>
        <p:txBody>
          <a:bodyPr wrap="square" lIns="0" tIns="0" rIns="0" bIns="0" rtlCol="0" anchor="ctr"/>
          <a:lstStyle/>
          <a:p>
            <a:pPr algn="ctr" indent="0" marL="0">
              <a:buNone/>
            </a:pPr>
            <a:r>
              <a:rPr lang="en-US" sz="2800" b="1" dirty="0">
                <a:solidFill>
                  <a:srgbClr val="F7DF1E"/>
                </a:solidFill>
                <a:latin typeface="Calibri" pitchFamily="34" charset="0"/>
                <a:ea typeface="Calibri" pitchFamily="34" charset="-122"/>
                <a:cs typeface="Calibri" pitchFamily="34" charset="-120"/>
              </a:rPr>
              <a:t>R</a:t>
            </a:r>
            <a:endParaRPr lang="en-US" sz="2800" dirty="0"/>
          </a:p>
        </p:txBody>
      </p:sp>
      <p:sp>
        <p:nvSpPr>
          <p:cNvPr id="24" name="Text 22"/>
          <p:cNvSpPr txBox="1"/>
          <p:nvPr/>
        </p:nvSpPr>
        <p:spPr>
          <a:xfrm>
            <a:off x="5394960" y="2770632"/>
            <a:ext cx="3154680" cy="365760"/>
          </a:xfrm>
          <a:prstGeom prst="rect">
            <a:avLst/>
          </a:prstGeom>
          <a:noFill/>
          <a:ln/>
        </p:spPr>
        <p:txBody>
          <a:bodyPr wrap="square" lIns="0" tIns="0" rIns="0" bIns="0" rtlCol="0" anchor="ctr"/>
          <a:lstStyle/>
          <a:p>
            <a:pPr algn="l" indent="0" marL="0">
              <a:buNone/>
            </a:pPr>
            <a:r>
              <a:rPr lang="en-US" sz="1500" b="1" dirty="0">
                <a:solidFill>
                  <a:srgbClr val="1A2540"/>
                </a:solidFill>
                <a:latin typeface="Calibri" pitchFamily="34" charset="0"/>
                <a:ea typeface="Calibri" pitchFamily="34" charset="-122"/>
                <a:cs typeface="Calibri" pitchFamily="34" charset="-120"/>
              </a:rPr>
              <a:t>Robust</a:t>
            </a:r>
            <a:endParaRPr lang="en-US" sz="1500" dirty="0"/>
          </a:p>
        </p:txBody>
      </p:sp>
      <p:sp>
        <p:nvSpPr>
          <p:cNvPr id="25" name="Text 23"/>
          <p:cNvSpPr txBox="1"/>
          <p:nvPr/>
        </p:nvSpPr>
        <p:spPr>
          <a:xfrm>
            <a:off x="5394960" y="3172968"/>
            <a:ext cx="3154680" cy="1005840"/>
          </a:xfrm>
          <a:prstGeom prst="rect">
            <a:avLst/>
          </a:prstGeom>
          <a:noFill/>
          <a:ln/>
        </p:spPr>
        <p:txBody>
          <a:bodyPr wrap="square" lIns="0" tIns="0" rIns="0" bIns="0" rtlCol="0" anchor="t"/>
          <a:lstStyle/>
          <a:p>
            <a:pPr algn="l" indent="0" marL="0">
              <a:buNone/>
            </a:pPr>
            <a:r>
              <a:rPr lang="en-US" sz="1100" dirty="0">
                <a:solidFill>
                  <a:srgbClr val="8892B0"/>
                </a:solidFill>
                <a:latin typeface="Calibri" pitchFamily="34" charset="0"/>
                <a:ea typeface="Calibri" pitchFamily="34" charset="-122"/>
                <a:cs typeface="Calibri" pitchFamily="34" charset="-120"/>
              </a:rPr>
              <a:t>Works with current and future assistive technologies (valid HTML, ARIA).</a:t>
            </a:r>
            <a:endParaRPr lang="en-US" sz="1100" dirty="0"/>
          </a:p>
        </p:txBody>
      </p:sp>
      <p:sp>
        <p:nvSpPr>
          <p:cNvPr id="26" name="Text 24"/>
          <p:cNvSpPr txBox="1"/>
          <p:nvPr/>
        </p:nvSpPr>
        <p:spPr>
          <a:xfrm>
            <a:off x="365760" y="4553712"/>
            <a:ext cx="8412480" cy="347472"/>
          </a:xfrm>
          <a:prstGeom prst="rect">
            <a:avLst/>
          </a:prstGeom>
          <a:noFill/>
          <a:ln/>
        </p:spPr>
        <p:txBody>
          <a:bodyPr wrap="square" lIns="0" tIns="0" rIns="0" bIns="0" rtlCol="0" anchor="ctr"/>
          <a:lstStyle/>
          <a:p>
            <a:pPr algn="ctr" indent="0" marL="0">
              <a:buNone/>
            </a:pPr>
            <a:r>
              <a:rPr lang="en-US" sz="1200" b="1" dirty="0">
                <a:solidFill>
                  <a:srgbClr val="1A2540"/>
                </a:solidFill>
                <a:latin typeface="Calibri" pitchFamily="34" charset="0"/>
                <a:ea typeface="Calibri" pitchFamily="34" charset="-122"/>
                <a:cs typeface="Calibri" pitchFamily="34" charset="-120"/>
              </a:rPr>
              <a:t>Target level for this course: WCAG 2.1 AA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Semantic HTML</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vs Div Soup</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Meaning beats markup</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&lt;header&gt;</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Site or section header</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&lt;nav&gt;</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Navigation links block</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&lt;main&gt;</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Primary page content</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&lt;article&gt;</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Self-contained content</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&lt;footer&gt;</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Closing info / links</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 Div soup — no meaning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&lt;div class="header"&gt;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&lt;div class="nav"&gt;...&lt;/div&gt;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&lt;/div&gt;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&lt;div class="main"&gt;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&lt;div class="article"&gt;...&lt;/div&gt;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&lt;/div&gt;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 Semantic HTML — clear meaning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&lt;header&gt;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&lt;nav&gt;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&lt;a href="/"&gt;Home&lt;/a&gt;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&lt;a href="/about"&gt;About&lt;/a&gt;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&lt;/nav&gt;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&lt;/header&gt;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&lt;main&gt;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&lt;article&gt;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&lt;h1&gt;Article Title&lt;/h1&gt;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&lt;p&gt;Content here...&lt;/p&gt;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&lt;/article&gt;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&lt;/main&gt;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&lt;footer&gt;Copyright 2026&lt;/footer&gt;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&lt;button&gt; vs &lt;div onclick&gt; — Why Native Elements Matter</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3931920" cy="3886200"/>
          </a:xfrm>
          <a:prstGeom prst="rect">
            <a:avLst/>
          </a:prstGeom>
          <a:solidFill>
            <a:srgbClr val="FFF3F3"/>
          </a:solidFill>
          <a:ln w="12700">
            <a:solidFill>
              <a:srgbClr val="E57373"/>
            </a:solidFill>
            <a:prstDash val="solid"/>
          </a:ln>
        </p:spPr>
      </p:sp>
      <p:sp>
        <p:nvSpPr>
          <p:cNvPr id="7" name="Shape 5"/>
          <p:cNvSpPr/>
          <p:nvPr/>
        </p:nvSpPr>
        <p:spPr>
          <a:xfrm>
            <a:off x="365760" y="914400"/>
            <a:ext cx="3931920" cy="384048"/>
          </a:xfrm>
          <a:prstGeom prst="rect">
            <a:avLst/>
          </a:prstGeom>
          <a:solidFill>
            <a:srgbClr val="E57373"/>
          </a:solidFill>
          <a:ln w="12700">
            <a:solidFill>
              <a:srgbClr val="E57373"/>
            </a:solidFill>
            <a:prstDash val="solid"/>
          </a:ln>
        </p:spPr>
      </p:sp>
      <p:sp>
        <p:nvSpPr>
          <p:cNvPr id="8" name="Text 6"/>
          <p:cNvSpPr txBox="1"/>
          <p:nvPr/>
        </p:nvSpPr>
        <p:spPr>
          <a:xfrm>
            <a:off x="365760" y="914400"/>
            <a:ext cx="39319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&lt;div onclick&gt;</a:t>
            </a:r>
            <a:endParaRPr lang="en-US" sz="1400" dirty="0"/>
          </a:p>
        </p:txBody>
      </p:sp>
      <p:sp>
        <p:nvSpPr>
          <p:cNvPr id="9" name="Shape 7"/>
          <p:cNvSpPr/>
          <p:nvPr/>
        </p:nvSpPr>
        <p:spPr>
          <a:xfrm>
            <a:off x="411480" y="1344168"/>
            <a:ext cx="3840480" cy="1371600"/>
          </a:xfrm>
          <a:prstGeom prst="rect">
            <a:avLst/>
          </a:prstGeom>
          <a:solidFill>
            <a:srgbClr val="1E2336"/>
          </a:solidFill>
          <a:ln w="12700">
            <a:solidFill>
              <a:srgbClr val="2D3250"/>
            </a:solidFill>
            <a:prstDash val="solid"/>
          </a:ln>
        </p:spPr>
      </p:sp>
      <p:sp>
        <p:nvSpPr>
          <p:cNvPr id="10" name="Shape 8"/>
          <p:cNvSpPr/>
          <p:nvPr/>
        </p:nvSpPr>
        <p:spPr>
          <a:xfrm>
            <a:off x="530352" y="1444752"/>
            <a:ext cx="118872" cy="118872"/>
          </a:xfrm>
          <a:prstGeom prst="ellipse">
            <a:avLst/>
          </a:prstGeom>
          <a:solidFill>
            <a:srgbClr val="FF5F56"/>
          </a:solidFill>
          <a:ln w="12700">
            <a:solidFill>
              <a:srgbClr val="FF5F56"/>
            </a:solidFill>
            <a:prstDash val="solid"/>
          </a:ln>
        </p:spPr>
      </p:sp>
      <p:sp>
        <p:nvSpPr>
          <p:cNvPr id="11" name="Shape 9"/>
          <p:cNvSpPr/>
          <p:nvPr/>
        </p:nvSpPr>
        <p:spPr>
          <a:xfrm>
            <a:off x="731520" y="1444752"/>
            <a:ext cx="118872" cy="118872"/>
          </a:xfrm>
          <a:prstGeom prst="ellipse">
            <a:avLst/>
          </a:prstGeom>
          <a:solidFill>
            <a:srgbClr val="FFBD2E"/>
          </a:solidFill>
          <a:ln w="12700">
            <a:solidFill>
              <a:srgbClr val="FFBD2E"/>
            </a:solidFill>
            <a:prstDash val="solid"/>
          </a:ln>
        </p:spPr>
      </p:sp>
      <p:sp>
        <p:nvSpPr>
          <p:cNvPr id="12" name="Shape 10"/>
          <p:cNvSpPr/>
          <p:nvPr/>
        </p:nvSpPr>
        <p:spPr>
          <a:xfrm>
            <a:off x="932688" y="1444752"/>
            <a:ext cx="118872" cy="118872"/>
          </a:xfrm>
          <a:prstGeom prst="ellipse">
            <a:avLst/>
          </a:prstGeom>
          <a:solidFill>
            <a:srgbClr val="27C93F"/>
          </a:solidFill>
          <a:ln w="12700">
            <a:solidFill>
              <a:srgbClr val="27C93F"/>
            </a:solidFill>
            <a:prstDash val="solid"/>
          </a:ln>
        </p:spPr>
      </p:sp>
      <p:sp>
        <p:nvSpPr>
          <p:cNvPr id="13" name="Text 11"/>
          <p:cNvSpPr txBox="1"/>
          <p:nvPr/>
        </p:nvSpPr>
        <p:spPr>
          <a:xfrm>
            <a:off x="548640" y="1636776"/>
            <a:ext cx="3566160" cy="96012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&lt;div onclick="doSomething()"</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style="cursor:pointer"&gt;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Click me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&lt;/div&gt;</a:t>
            </a:r>
            <a:endParaRPr lang="en-US" sz="1000" dirty="0"/>
          </a:p>
        </p:txBody>
      </p:sp>
      <p:sp>
        <p:nvSpPr>
          <p:cNvPr id="14" name="Text 12"/>
          <p:cNvSpPr txBox="1"/>
          <p:nvPr/>
        </p:nvSpPr>
        <p:spPr>
          <a:xfrm>
            <a:off x="502920" y="2816352"/>
            <a:ext cx="3703320" cy="384048"/>
          </a:xfrm>
          <a:prstGeom prst="rect">
            <a:avLst/>
          </a:prstGeom>
          <a:noFill/>
          <a:ln/>
        </p:spPr>
        <p:txBody>
          <a:bodyPr wrap="square" lIns="0" tIns="0" rIns="0" bIns="0" rtlCol="0" anchor="ctr"/>
          <a:lstStyle/>
          <a:p>
            <a:pPr algn="l" indent="0" marL="0">
              <a:buNone/>
            </a:pPr>
            <a:r>
              <a:rPr lang="en-US" sz="1200" dirty="0">
                <a:solidFill>
                  <a:srgbClr val="C62828"/>
                </a:solidFill>
                <a:latin typeface="Calibri" pitchFamily="34" charset="0"/>
                <a:ea typeface="Calibri" pitchFamily="34" charset="-122"/>
                <a:cs typeface="Calibri" pitchFamily="34" charset="-120"/>
              </a:rPr>
              <a:t>✘ Cannot be focused with Tab</a:t>
            </a:r>
            <a:endParaRPr lang="en-US" sz="1200" dirty="0"/>
          </a:p>
        </p:txBody>
      </p:sp>
      <p:sp>
        <p:nvSpPr>
          <p:cNvPr id="15" name="Text 13"/>
          <p:cNvSpPr txBox="1"/>
          <p:nvPr/>
        </p:nvSpPr>
        <p:spPr>
          <a:xfrm>
            <a:off x="502920" y="3255264"/>
            <a:ext cx="3703320" cy="384048"/>
          </a:xfrm>
          <a:prstGeom prst="rect">
            <a:avLst/>
          </a:prstGeom>
          <a:noFill/>
          <a:ln/>
        </p:spPr>
        <p:txBody>
          <a:bodyPr wrap="square" lIns="0" tIns="0" rIns="0" bIns="0" rtlCol="0" anchor="ctr"/>
          <a:lstStyle/>
          <a:p>
            <a:pPr algn="l" indent="0" marL="0">
              <a:buNone/>
            </a:pPr>
            <a:r>
              <a:rPr lang="en-US" sz="1200" dirty="0">
                <a:solidFill>
                  <a:srgbClr val="C62828"/>
                </a:solidFill>
                <a:latin typeface="Calibri" pitchFamily="34" charset="0"/>
                <a:ea typeface="Calibri" pitchFamily="34" charset="-122"/>
                <a:cs typeface="Calibri" pitchFamily="34" charset="-120"/>
              </a:rPr>
              <a:t>✘ Enter/Space do not fire click</a:t>
            </a:r>
            <a:endParaRPr lang="en-US" sz="1200" dirty="0"/>
          </a:p>
        </p:txBody>
      </p:sp>
      <p:sp>
        <p:nvSpPr>
          <p:cNvPr id="16" name="Text 14"/>
          <p:cNvSpPr txBox="1"/>
          <p:nvPr/>
        </p:nvSpPr>
        <p:spPr>
          <a:xfrm>
            <a:off x="502920" y="3694176"/>
            <a:ext cx="3703320" cy="384048"/>
          </a:xfrm>
          <a:prstGeom prst="rect">
            <a:avLst/>
          </a:prstGeom>
          <a:noFill/>
          <a:ln/>
        </p:spPr>
        <p:txBody>
          <a:bodyPr wrap="square" lIns="0" tIns="0" rIns="0" bIns="0" rtlCol="0" anchor="ctr"/>
          <a:lstStyle/>
          <a:p>
            <a:pPr algn="l" indent="0" marL="0">
              <a:buNone/>
            </a:pPr>
            <a:r>
              <a:rPr lang="en-US" sz="1200" dirty="0">
                <a:solidFill>
                  <a:srgbClr val="C62828"/>
                </a:solidFill>
                <a:latin typeface="Calibri" pitchFamily="34" charset="0"/>
                <a:ea typeface="Calibri" pitchFamily="34" charset="-122"/>
                <a:cs typeface="Calibri" pitchFamily="34" charset="-120"/>
              </a:rPr>
              <a:t>✘ No accessible role</a:t>
            </a:r>
            <a:endParaRPr lang="en-US" sz="1200" dirty="0"/>
          </a:p>
        </p:txBody>
      </p:sp>
      <p:sp>
        <p:nvSpPr>
          <p:cNvPr id="17" name="Text 15"/>
          <p:cNvSpPr txBox="1"/>
          <p:nvPr/>
        </p:nvSpPr>
        <p:spPr>
          <a:xfrm>
            <a:off x="502920" y="4133088"/>
            <a:ext cx="3703320" cy="384048"/>
          </a:xfrm>
          <a:prstGeom prst="rect">
            <a:avLst/>
          </a:prstGeom>
          <a:noFill/>
          <a:ln/>
        </p:spPr>
        <p:txBody>
          <a:bodyPr wrap="square" lIns="0" tIns="0" rIns="0" bIns="0" rtlCol="0" anchor="ctr"/>
          <a:lstStyle/>
          <a:p>
            <a:pPr algn="l" indent="0" marL="0">
              <a:buNone/>
            </a:pPr>
            <a:r>
              <a:rPr lang="en-US" sz="1200" dirty="0">
                <a:solidFill>
                  <a:srgbClr val="C62828"/>
                </a:solidFill>
                <a:latin typeface="Calibri" pitchFamily="34" charset="0"/>
                <a:ea typeface="Calibri" pitchFamily="34" charset="-122"/>
                <a:cs typeface="Calibri" pitchFamily="34" charset="-120"/>
              </a:rPr>
              <a:t>✘ Screen reader: "Click me, group"</a:t>
            </a:r>
            <a:endParaRPr lang="en-US" sz="1200" dirty="0"/>
          </a:p>
        </p:txBody>
      </p:sp>
      <p:sp>
        <p:nvSpPr>
          <p:cNvPr id="18" name="Shape 16"/>
          <p:cNvSpPr/>
          <p:nvPr/>
        </p:nvSpPr>
        <p:spPr>
          <a:xfrm>
            <a:off x="4846320" y="914400"/>
            <a:ext cx="3931920" cy="3886200"/>
          </a:xfrm>
          <a:prstGeom prst="rect">
            <a:avLst/>
          </a:prstGeom>
          <a:solidFill>
            <a:srgbClr val="F1FDF1"/>
          </a:solidFill>
          <a:ln w="12700">
            <a:solidFill>
              <a:srgbClr val="66BB6A"/>
            </a:solidFill>
            <a:prstDash val="solid"/>
          </a:ln>
        </p:spPr>
      </p:sp>
      <p:sp>
        <p:nvSpPr>
          <p:cNvPr id="19" name="Shape 17"/>
          <p:cNvSpPr/>
          <p:nvPr/>
        </p:nvSpPr>
        <p:spPr>
          <a:xfrm>
            <a:off x="4846320" y="914400"/>
            <a:ext cx="3931920" cy="384048"/>
          </a:xfrm>
          <a:prstGeom prst="rect">
            <a:avLst/>
          </a:prstGeom>
          <a:solidFill>
            <a:srgbClr val="43A047"/>
          </a:solidFill>
          <a:ln w="12700">
            <a:solidFill>
              <a:srgbClr val="43A047"/>
            </a:solidFill>
            <a:prstDash val="solid"/>
          </a:ln>
        </p:spPr>
      </p:sp>
      <p:sp>
        <p:nvSpPr>
          <p:cNvPr id="20" name="Text 18"/>
          <p:cNvSpPr txBox="1"/>
          <p:nvPr/>
        </p:nvSpPr>
        <p:spPr>
          <a:xfrm>
            <a:off x="4846320" y="914400"/>
            <a:ext cx="393192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&lt;button&gt;</a:t>
            </a:r>
            <a:endParaRPr lang="en-US" sz="1400" dirty="0"/>
          </a:p>
        </p:txBody>
      </p:sp>
      <p:sp>
        <p:nvSpPr>
          <p:cNvPr id="21" name="Shape 19"/>
          <p:cNvSpPr/>
          <p:nvPr/>
        </p:nvSpPr>
        <p:spPr>
          <a:xfrm>
            <a:off x="4892040" y="1344168"/>
            <a:ext cx="3840480" cy="1371600"/>
          </a:xfrm>
          <a:prstGeom prst="rect">
            <a:avLst/>
          </a:prstGeom>
          <a:solidFill>
            <a:srgbClr val="1E2336"/>
          </a:solidFill>
          <a:ln w="12700">
            <a:solidFill>
              <a:srgbClr val="2D3250"/>
            </a:solidFill>
            <a:prstDash val="solid"/>
          </a:ln>
        </p:spPr>
      </p:sp>
      <p:sp>
        <p:nvSpPr>
          <p:cNvPr id="22" name="Shape 20"/>
          <p:cNvSpPr/>
          <p:nvPr/>
        </p:nvSpPr>
        <p:spPr>
          <a:xfrm>
            <a:off x="5010912" y="1444752"/>
            <a:ext cx="118872" cy="118872"/>
          </a:xfrm>
          <a:prstGeom prst="ellipse">
            <a:avLst/>
          </a:prstGeom>
          <a:solidFill>
            <a:srgbClr val="FF5F56"/>
          </a:solidFill>
          <a:ln w="12700">
            <a:solidFill>
              <a:srgbClr val="FF5F56"/>
            </a:solidFill>
            <a:prstDash val="solid"/>
          </a:ln>
        </p:spPr>
      </p:sp>
      <p:sp>
        <p:nvSpPr>
          <p:cNvPr id="23" name="Shape 21"/>
          <p:cNvSpPr/>
          <p:nvPr/>
        </p:nvSpPr>
        <p:spPr>
          <a:xfrm>
            <a:off x="5212080" y="1444752"/>
            <a:ext cx="118872" cy="118872"/>
          </a:xfrm>
          <a:prstGeom prst="ellipse">
            <a:avLst/>
          </a:prstGeom>
          <a:solidFill>
            <a:srgbClr val="FFBD2E"/>
          </a:solidFill>
          <a:ln w="12700">
            <a:solidFill>
              <a:srgbClr val="FFBD2E"/>
            </a:solidFill>
            <a:prstDash val="solid"/>
          </a:ln>
        </p:spPr>
      </p:sp>
      <p:sp>
        <p:nvSpPr>
          <p:cNvPr id="24" name="Shape 22"/>
          <p:cNvSpPr/>
          <p:nvPr/>
        </p:nvSpPr>
        <p:spPr>
          <a:xfrm>
            <a:off x="5413248" y="1444752"/>
            <a:ext cx="118872" cy="118872"/>
          </a:xfrm>
          <a:prstGeom prst="ellipse">
            <a:avLst/>
          </a:prstGeom>
          <a:solidFill>
            <a:srgbClr val="27C93F"/>
          </a:solidFill>
          <a:ln w="12700">
            <a:solidFill>
              <a:srgbClr val="27C93F"/>
            </a:solidFill>
            <a:prstDash val="solid"/>
          </a:ln>
        </p:spPr>
      </p:sp>
      <p:sp>
        <p:nvSpPr>
          <p:cNvPr id="25" name="Text 23"/>
          <p:cNvSpPr txBox="1"/>
          <p:nvPr/>
        </p:nvSpPr>
        <p:spPr>
          <a:xfrm>
            <a:off x="5029200" y="1636776"/>
            <a:ext cx="3566160" cy="96012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&lt;button</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type="button"</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onclick="doSomething()"&gt;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Click me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&lt;/button&gt;</a:t>
            </a:r>
            <a:endParaRPr lang="en-US" sz="1000" dirty="0"/>
          </a:p>
        </p:txBody>
      </p:sp>
      <p:sp>
        <p:nvSpPr>
          <p:cNvPr id="26" name="Text 24"/>
          <p:cNvSpPr txBox="1"/>
          <p:nvPr/>
        </p:nvSpPr>
        <p:spPr>
          <a:xfrm>
            <a:off x="4983480" y="2816352"/>
            <a:ext cx="3703320" cy="384048"/>
          </a:xfrm>
          <a:prstGeom prst="rect">
            <a:avLst/>
          </a:prstGeom>
          <a:noFill/>
          <a:ln/>
        </p:spPr>
        <p:txBody>
          <a:bodyPr wrap="square" lIns="0" tIns="0" rIns="0" bIns="0" rtlCol="0" anchor="ctr"/>
          <a:lstStyle/>
          <a:p>
            <a:pPr algn="l" indent="0" marL="0">
              <a:buNone/>
            </a:pPr>
            <a:r>
              <a:rPr lang="en-US" sz="1200" dirty="0">
                <a:solidFill>
                  <a:srgbClr val="1B5E20"/>
                </a:solidFill>
                <a:latin typeface="Calibri" pitchFamily="34" charset="0"/>
                <a:ea typeface="Calibri" pitchFamily="34" charset="-122"/>
                <a:cs typeface="Calibri" pitchFamily="34" charset="-120"/>
              </a:rPr>
              <a:t>✔ Focusable with Tab key</a:t>
            </a:r>
            <a:endParaRPr lang="en-US" sz="1200" dirty="0"/>
          </a:p>
        </p:txBody>
      </p:sp>
      <p:sp>
        <p:nvSpPr>
          <p:cNvPr id="27" name="Text 25"/>
          <p:cNvSpPr txBox="1"/>
          <p:nvPr/>
        </p:nvSpPr>
        <p:spPr>
          <a:xfrm>
            <a:off x="4983480" y="3255264"/>
            <a:ext cx="3703320" cy="384048"/>
          </a:xfrm>
          <a:prstGeom prst="rect">
            <a:avLst/>
          </a:prstGeom>
          <a:noFill/>
          <a:ln/>
        </p:spPr>
        <p:txBody>
          <a:bodyPr wrap="square" lIns="0" tIns="0" rIns="0" bIns="0" rtlCol="0" anchor="ctr"/>
          <a:lstStyle/>
          <a:p>
            <a:pPr algn="l" indent="0" marL="0">
              <a:buNone/>
            </a:pPr>
            <a:r>
              <a:rPr lang="en-US" sz="1200" dirty="0">
                <a:solidFill>
                  <a:srgbClr val="1B5E20"/>
                </a:solidFill>
                <a:latin typeface="Calibri" pitchFamily="34" charset="0"/>
                <a:ea typeface="Calibri" pitchFamily="34" charset="-122"/>
                <a:cs typeface="Calibri" pitchFamily="34" charset="-120"/>
              </a:rPr>
              <a:t>✔ Enter and Space fire click</a:t>
            </a:r>
            <a:endParaRPr lang="en-US" sz="1200" dirty="0"/>
          </a:p>
        </p:txBody>
      </p:sp>
      <p:sp>
        <p:nvSpPr>
          <p:cNvPr id="28" name="Text 26"/>
          <p:cNvSpPr txBox="1"/>
          <p:nvPr/>
        </p:nvSpPr>
        <p:spPr>
          <a:xfrm>
            <a:off x="4983480" y="3694176"/>
            <a:ext cx="3703320" cy="384048"/>
          </a:xfrm>
          <a:prstGeom prst="rect">
            <a:avLst/>
          </a:prstGeom>
          <a:noFill/>
          <a:ln/>
        </p:spPr>
        <p:txBody>
          <a:bodyPr wrap="square" lIns="0" tIns="0" rIns="0" bIns="0" rtlCol="0" anchor="ctr"/>
          <a:lstStyle/>
          <a:p>
            <a:pPr algn="l" indent="0" marL="0">
              <a:buNone/>
            </a:pPr>
            <a:r>
              <a:rPr lang="en-US" sz="1200" dirty="0">
                <a:solidFill>
                  <a:srgbClr val="1B5E20"/>
                </a:solidFill>
                <a:latin typeface="Calibri" pitchFamily="34" charset="0"/>
                <a:ea typeface="Calibri" pitchFamily="34" charset="-122"/>
                <a:cs typeface="Calibri" pitchFamily="34" charset="-120"/>
              </a:rPr>
              <a:t>✔ Role: "button" announced</a:t>
            </a:r>
            <a:endParaRPr lang="en-US" sz="1200" dirty="0"/>
          </a:p>
        </p:txBody>
      </p:sp>
      <p:sp>
        <p:nvSpPr>
          <p:cNvPr id="29" name="Text 27"/>
          <p:cNvSpPr txBox="1"/>
          <p:nvPr/>
        </p:nvSpPr>
        <p:spPr>
          <a:xfrm>
            <a:off x="4983480" y="4133088"/>
            <a:ext cx="3703320" cy="384048"/>
          </a:xfrm>
          <a:prstGeom prst="rect">
            <a:avLst/>
          </a:prstGeom>
          <a:noFill/>
          <a:ln/>
        </p:spPr>
        <p:txBody>
          <a:bodyPr wrap="square" lIns="0" tIns="0" rIns="0" bIns="0" rtlCol="0" anchor="ctr"/>
          <a:lstStyle/>
          <a:p>
            <a:pPr algn="l" indent="0" marL="0">
              <a:buNone/>
            </a:pPr>
            <a:r>
              <a:rPr lang="en-US" sz="1200" dirty="0">
                <a:solidFill>
                  <a:srgbClr val="1B5E20"/>
                </a:solidFill>
                <a:latin typeface="Calibri" pitchFamily="34" charset="0"/>
                <a:ea typeface="Calibri" pitchFamily="34" charset="-122"/>
                <a:cs typeface="Calibri" pitchFamily="34" charset="-120"/>
              </a:rPr>
              <a:t>✔ Keyboard/AT: fully accessible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alt Text</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on Images</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When and what to write</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alt="text"</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Describe the image purpose</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alt=""</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Decorative — skip it (empty)</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Avoid</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"image of..." / "photo of..."</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Functional</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Icon buttons: describe action</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Context</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Describe what matters HERE</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 Informative image: describe content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&lt;img src="chart.png"</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alt="Bar chart showing 40% rise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in enrollment from 2024 to 2026"&gt;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 Decorative: empty alt (skip)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&lt;img src="divider-wave.svg" alt=""&gt;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 Functional icon button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&lt;button&gt;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&lt;img src="search.svg"</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alt="Search"&gt;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&lt;/button&gt;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 Useless alt text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&lt;img src="logo.png"</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alt="image of a logo"&gt;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ARIA Roles</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&amp; Attributes</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When HTML is not enough</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aria-label</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Name element for screen readers</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aria-describedby</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Link to descriptive text</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aria-hidden</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Hide from screen readers</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aria-expanded</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State of open/close widgets</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role="main"</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Semantic role override</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aria-label: name a region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&lt;nav aria-label="Main navigation"&gt;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&lt;/nav&gt;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aria-hidden: hide decorative icon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&lt;span aria-hidden="true"&gt;★&lt;/span&gt;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&lt;span&gt;Rated 4.8 out of 5&lt;/span&gt;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aria-expanded: toggle state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&lt;button aria-expanded="false"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aria-controls="menu"&gt;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Menu</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&lt;/button&gt;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&lt;ul id="menu" hidden&gt;...&lt;/ul&gt;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FIRST RULE: use semantic HTML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Add ARIA only when native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 elements are not possible    --&gt;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Keyboard Navigation — It Must All Work</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60120"/>
            <a:ext cx="3931920" cy="1115568"/>
          </a:xfrm>
          <a:prstGeom prst="rect">
            <a:avLst/>
          </a:prstGeom>
          <a:solidFill>
            <a:srgbClr val="E8EDFF"/>
          </a:solidFill>
          <a:ln w="12700">
            <a:solidFill>
              <a:srgbClr val="CBD5FF"/>
            </a:solidFill>
            <a:prstDash val="solid"/>
          </a:ln>
        </p:spPr>
      </p:sp>
      <p:sp>
        <p:nvSpPr>
          <p:cNvPr id="7" name="Shape 5"/>
          <p:cNvSpPr/>
          <p:nvPr/>
        </p:nvSpPr>
        <p:spPr>
          <a:xfrm>
            <a:off x="365760" y="960120"/>
            <a:ext cx="1371600" cy="1115568"/>
          </a:xfrm>
          <a:prstGeom prst="rect">
            <a:avLst/>
          </a:prstGeom>
          <a:solidFill>
            <a:srgbClr val="1A2540"/>
          </a:solidFill>
          <a:ln w="12700">
            <a:solidFill>
              <a:srgbClr val="1A2540"/>
            </a:solidFill>
            <a:prstDash val="solid"/>
          </a:ln>
        </p:spPr>
      </p:sp>
      <p:sp>
        <p:nvSpPr>
          <p:cNvPr id="8" name="Text 6"/>
          <p:cNvSpPr txBox="1"/>
          <p:nvPr/>
        </p:nvSpPr>
        <p:spPr>
          <a:xfrm>
            <a:off x="411480" y="960120"/>
            <a:ext cx="1280160" cy="1115568"/>
          </a:xfrm>
          <a:prstGeom prst="rect">
            <a:avLst/>
          </a:prstGeom>
          <a:noFill/>
          <a:ln/>
        </p:spPr>
        <p:txBody>
          <a:bodyPr wrap="square" lIns="0" tIns="0" rIns="0" bIns="0" rtlCol="0" anchor="ctr"/>
          <a:lstStyle/>
          <a:p>
            <a:pPr algn="ctr" indent="0" marL="0">
              <a:buNone/>
            </a:pPr>
            <a:r>
              <a:rPr lang="en-US" sz="1300" b="1" dirty="0">
                <a:solidFill>
                  <a:srgbClr val="F7DF1E"/>
                </a:solidFill>
                <a:latin typeface="Courier New" pitchFamily="34" charset="0"/>
                <a:ea typeface="Courier New" pitchFamily="34" charset="-122"/>
                <a:cs typeface="Courier New" pitchFamily="34" charset="-120"/>
              </a:rPr>
              <a:t>Tab</a:t>
            </a:r>
            <a:endParaRPr lang="en-US" sz="1300" dirty="0"/>
          </a:p>
        </p:txBody>
      </p:sp>
      <p:sp>
        <p:nvSpPr>
          <p:cNvPr id="9" name="Text 7"/>
          <p:cNvSpPr txBox="1"/>
          <p:nvPr/>
        </p:nvSpPr>
        <p:spPr>
          <a:xfrm>
            <a:off x="1828800" y="960120"/>
            <a:ext cx="2377440" cy="1115568"/>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Move to next focusable element</a:t>
            </a:r>
            <a:endParaRPr lang="en-US" sz="1200" dirty="0"/>
          </a:p>
        </p:txBody>
      </p:sp>
      <p:sp>
        <p:nvSpPr>
          <p:cNvPr id="10" name="Shape 8"/>
          <p:cNvSpPr/>
          <p:nvPr/>
        </p:nvSpPr>
        <p:spPr>
          <a:xfrm>
            <a:off x="4663440" y="960120"/>
            <a:ext cx="3931920" cy="1115568"/>
          </a:xfrm>
          <a:prstGeom prst="rect">
            <a:avLst/>
          </a:prstGeom>
          <a:solidFill>
            <a:srgbClr val="E8EDFF"/>
          </a:solidFill>
          <a:ln w="12700">
            <a:solidFill>
              <a:srgbClr val="CBD5FF"/>
            </a:solidFill>
            <a:prstDash val="solid"/>
          </a:ln>
        </p:spPr>
      </p:sp>
      <p:sp>
        <p:nvSpPr>
          <p:cNvPr id="11" name="Shape 9"/>
          <p:cNvSpPr/>
          <p:nvPr/>
        </p:nvSpPr>
        <p:spPr>
          <a:xfrm>
            <a:off x="4663440" y="960120"/>
            <a:ext cx="1371600" cy="1115568"/>
          </a:xfrm>
          <a:prstGeom prst="rect">
            <a:avLst/>
          </a:prstGeom>
          <a:solidFill>
            <a:srgbClr val="1A2540"/>
          </a:solidFill>
          <a:ln w="12700">
            <a:solidFill>
              <a:srgbClr val="1A2540"/>
            </a:solidFill>
            <a:prstDash val="solid"/>
          </a:ln>
        </p:spPr>
      </p:sp>
      <p:sp>
        <p:nvSpPr>
          <p:cNvPr id="12" name="Text 10"/>
          <p:cNvSpPr txBox="1"/>
          <p:nvPr/>
        </p:nvSpPr>
        <p:spPr>
          <a:xfrm>
            <a:off x="4709160" y="960120"/>
            <a:ext cx="1280160" cy="1115568"/>
          </a:xfrm>
          <a:prstGeom prst="rect">
            <a:avLst/>
          </a:prstGeom>
          <a:noFill/>
          <a:ln/>
        </p:spPr>
        <p:txBody>
          <a:bodyPr wrap="square" lIns="0" tIns="0" rIns="0" bIns="0" rtlCol="0" anchor="ctr"/>
          <a:lstStyle/>
          <a:p>
            <a:pPr algn="ctr" indent="0" marL="0">
              <a:buNone/>
            </a:pPr>
            <a:r>
              <a:rPr lang="en-US" sz="1300" b="1" dirty="0">
                <a:solidFill>
                  <a:srgbClr val="F7DF1E"/>
                </a:solidFill>
                <a:latin typeface="Courier New" pitchFamily="34" charset="0"/>
                <a:ea typeface="Courier New" pitchFamily="34" charset="-122"/>
                <a:cs typeface="Courier New" pitchFamily="34" charset="-120"/>
              </a:rPr>
              <a:t>Shift+Tab</a:t>
            </a:r>
            <a:endParaRPr lang="en-US" sz="1300" dirty="0"/>
          </a:p>
        </p:txBody>
      </p:sp>
      <p:sp>
        <p:nvSpPr>
          <p:cNvPr id="13" name="Text 11"/>
          <p:cNvSpPr txBox="1"/>
          <p:nvPr/>
        </p:nvSpPr>
        <p:spPr>
          <a:xfrm>
            <a:off x="6126480" y="960120"/>
            <a:ext cx="2377440" cy="1115568"/>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Move to previous focusable element</a:t>
            </a:r>
            <a:endParaRPr lang="en-US" sz="1200" dirty="0"/>
          </a:p>
        </p:txBody>
      </p:sp>
      <p:sp>
        <p:nvSpPr>
          <p:cNvPr id="14" name="Shape 12"/>
          <p:cNvSpPr/>
          <p:nvPr/>
        </p:nvSpPr>
        <p:spPr>
          <a:xfrm>
            <a:off x="365760" y="2221992"/>
            <a:ext cx="3931920" cy="1115568"/>
          </a:xfrm>
          <a:prstGeom prst="rect">
            <a:avLst/>
          </a:prstGeom>
          <a:solidFill>
            <a:srgbClr val="E8EDFF"/>
          </a:solidFill>
          <a:ln w="12700">
            <a:solidFill>
              <a:srgbClr val="CBD5FF"/>
            </a:solidFill>
            <a:prstDash val="solid"/>
          </a:ln>
        </p:spPr>
      </p:sp>
      <p:sp>
        <p:nvSpPr>
          <p:cNvPr id="15" name="Shape 13"/>
          <p:cNvSpPr/>
          <p:nvPr/>
        </p:nvSpPr>
        <p:spPr>
          <a:xfrm>
            <a:off x="365760" y="2221992"/>
            <a:ext cx="1371600" cy="1115568"/>
          </a:xfrm>
          <a:prstGeom prst="rect">
            <a:avLst/>
          </a:prstGeom>
          <a:solidFill>
            <a:srgbClr val="1A2540"/>
          </a:solidFill>
          <a:ln w="12700">
            <a:solidFill>
              <a:srgbClr val="1A2540"/>
            </a:solidFill>
            <a:prstDash val="solid"/>
          </a:ln>
        </p:spPr>
      </p:sp>
      <p:sp>
        <p:nvSpPr>
          <p:cNvPr id="16" name="Text 14"/>
          <p:cNvSpPr txBox="1"/>
          <p:nvPr/>
        </p:nvSpPr>
        <p:spPr>
          <a:xfrm>
            <a:off x="411480" y="2221992"/>
            <a:ext cx="1280160" cy="1115568"/>
          </a:xfrm>
          <a:prstGeom prst="rect">
            <a:avLst/>
          </a:prstGeom>
          <a:noFill/>
          <a:ln/>
        </p:spPr>
        <p:txBody>
          <a:bodyPr wrap="square" lIns="0" tIns="0" rIns="0" bIns="0" rtlCol="0" anchor="ctr"/>
          <a:lstStyle/>
          <a:p>
            <a:pPr algn="ctr" indent="0" marL="0">
              <a:buNone/>
            </a:pPr>
            <a:r>
              <a:rPr lang="en-US" sz="1300" b="1" dirty="0">
                <a:solidFill>
                  <a:srgbClr val="F7DF1E"/>
                </a:solidFill>
                <a:latin typeface="Courier New" pitchFamily="34" charset="0"/>
                <a:ea typeface="Courier New" pitchFamily="34" charset="-122"/>
                <a:cs typeface="Courier New" pitchFamily="34" charset="-120"/>
              </a:rPr>
              <a:t>Enter</a:t>
            </a:r>
            <a:endParaRPr lang="en-US" sz="1300" dirty="0"/>
          </a:p>
        </p:txBody>
      </p:sp>
      <p:sp>
        <p:nvSpPr>
          <p:cNvPr id="17" name="Text 15"/>
          <p:cNvSpPr txBox="1"/>
          <p:nvPr/>
        </p:nvSpPr>
        <p:spPr>
          <a:xfrm>
            <a:off x="1828800" y="2221992"/>
            <a:ext cx="2377440" cy="1115568"/>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Activate links and buttons</a:t>
            </a:r>
            <a:endParaRPr lang="en-US" sz="1200" dirty="0"/>
          </a:p>
        </p:txBody>
      </p:sp>
      <p:sp>
        <p:nvSpPr>
          <p:cNvPr id="18" name="Shape 16"/>
          <p:cNvSpPr/>
          <p:nvPr/>
        </p:nvSpPr>
        <p:spPr>
          <a:xfrm>
            <a:off x="4663440" y="2221992"/>
            <a:ext cx="3931920" cy="1115568"/>
          </a:xfrm>
          <a:prstGeom prst="rect">
            <a:avLst/>
          </a:prstGeom>
          <a:solidFill>
            <a:srgbClr val="E8EDFF"/>
          </a:solidFill>
          <a:ln w="12700">
            <a:solidFill>
              <a:srgbClr val="CBD5FF"/>
            </a:solidFill>
            <a:prstDash val="solid"/>
          </a:ln>
        </p:spPr>
      </p:sp>
      <p:sp>
        <p:nvSpPr>
          <p:cNvPr id="19" name="Shape 17"/>
          <p:cNvSpPr/>
          <p:nvPr/>
        </p:nvSpPr>
        <p:spPr>
          <a:xfrm>
            <a:off x="4663440" y="2221992"/>
            <a:ext cx="1371600" cy="1115568"/>
          </a:xfrm>
          <a:prstGeom prst="rect">
            <a:avLst/>
          </a:prstGeom>
          <a:solidFill>
            <a:srgbClr val="1A2540"/>
          </a:solidFill>
          <a:ln w="12700">
            <a:solidFill>
              <a:srgbClr val="1A2540"/>
            </a:solidFill>
            <a:prstDash val="solid"/>
          </a:ln>
        </p:spPr>
      </p:sp>
      <p:sp>
        <p:nvSpPr>
          <p:cNvPr id="20" name="Text 18"/>
          <p:cNvSpPr txBox="1"/>
          <p:nvPr/>
        </p:nvSpPr>
        <p:spPr>
          <a:xfrm>
            <a:off x="4709160" y="2221992"/>
            <a:ext cx="1280160" cy="1115568"/>
          </a:xfrm>
          <a:prstGeom prst="rect">
            <a:avLst/>
          </a:prstGeom>
          <a:noFill/>
          <a:ln/>
        </p:spPr>
        <p:txBody>
          <a:bodyPr wrap="square" lIns="0" tIns="0" rIns="0" bIns="0" rtlCol="0" anchor="ctr"/>
          <a:lstStyle/>
          <a:p>
            <a:pPr algn="ctr" indent="0" marL="0">
              <a:buNone/>
            </a:pPr>
            <a:r>
              <a:rPr lang="en-US" sz="1300" b="1" dirty="0">
                <a:solidFill>
                  <a:srgbClr val="F7DF1E"/>
                </a:solidFill>
                <a:latin typeface="Courier New" pitchFamily="34" charset="0"/>
                <a:ea typeface="Courier New" pitchFamily="34" charset="-122"/>
                <a:cs typeface="Courier New" pitchFamily="34" charset="-120"/>
              </a:rPr>
              <a:t>Space</a:t>
            </a:r>
            <a:endParaRPr lang="en-US" sz="1300" dirty="0"/>
          </a:p>
        </p:txBody>
      </p:sp>
      <p:sp>
        <p:nvSpPr>
          <p:cNvPr id="21" name="Text 19"/>
          <p:cNvSpPr txBox="1"/>
          <p:nvPr/>
        </p:nvSpPr>
        <p:spPr>
          <a:xfrm>
            <a:off x="6126480" y="2221992"/>
            <a:ext cx="2377440" cy="1115568"/>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Check/uncheck, activate buttons</a:t>
            </a:r>
            <a:endParaRPr lang="en-US" sz="1200" dirty="0"/>
          </a:p>
        </p:txBody>
      </p:sp>
      <p:sp>
        <p:nvSpPr>
          <p:cNvPr id="22" name="Shape 20"/>
          <p:cNvSpPr/>
          <p:nvPr/>
        </p:nvSpPr>
        <p:spPr>
          <a:xfrm>
            <a:off x="365760" y="3483864"/>
            <a:ext cx="3931920" cy="1115568"/>
          </a:xfrm>
          <a:prstGeom prst="rect">
            <a:avLst/>
          </a:prstGeom>
          <a:solidFill>
            <a:srgbClr val="E8EDFF"/>
          </a:solidFill>
          <a:ln w="12700">
            <a:solidFill>
              <a:srgbClr val="CBD5FF"/>
            </a:solidFill>
            <a:prstDash val="solid"/>
          </a:ln>
        </p:spPr>
      </p:sp>
      <p:sp>
        <p:nvSpPr>
          <p:cNvPr id="23" name="Shape 21"/>
          <p:cNvSpPr/>
          <p:nvPr/>
        </p:nvSpPr>
        <p:spPr>
          <a:xfrm>
            <a:off x="365760" y="3483864"/>
            <a:ext cx="1371600" cy="1115568"/>
          </a:xfrm>
          <a:prstGeom prst="rect">
            <a:avLst/>
          </a:prstGeom>
          <a:solidFill>
            <a:srgbClr val="1A2540"/>
          </a:solidFill>
          <a:ln w="12700">
            <a:solidFill>
              <a:srgbClr val="1A2540"/>
            </a:solidFill>
            <a:prstDash val="solid"/>
          </a:ln>
        </p:spPr>
      </p:sp>
      <p:sp>
        <p:nvSpPr>
          <p:cNvPr id="24" name="Text 22"/>
          <p:cNvSpPr txBox="1"/>
          <p:nvPr/>
        </p:nvSpPr>
        <p:spPr>
          <a:xfrm>
            <a:off x="411480" y="3483864"/>
            <a:ext cx="1280160" cy="1115568"/>
          </a:xfrm>
          <a:prstGeom prst="rect">
            <a:avLst/>
          </a:prstGeom>
          <a:noFill/>
          <a:ln/>
        </p:spPr>
        <p:txBody>
          <a:bodyPr wrap="square" lIns="0" tIns="0" rIns="0" bIns="0" rtlCol="0" anchor="ctr"/>
          <a:lstStyle/>
          <a:p>
            <a:pPr algn="ctr" indent="0" marL="0">
              <a:buNone/>
            </a:pPr>
            <a:r>
              <a:rPr lang="en-US" sz="1300" b="1" dirty="0">
                <a:solidFill>
                  <a:srgbClr val="F7DF1E"/>
                </a:solidFill>
                <a:latin typeface="Courier New" pitchFamily="34" charset="0"/>
                <a:ea typeface="Courier New" pitchFamily="34" charset="-122"/>
                <a:cs typeface="Courier New" pitchFamily="34" charset="-120"/>
              </a:rPr>
              <a:t>Arrow keys</a:t>
            </a:r>
            <a:endParaRPr lang="en-US" sz="1300" dirty="0"/>
          </a:p>
        </p:txBody>
      </p:sp>
      <p:sp>
        <p:nvSpPr>
          <p:cNvPr id="25" name="Text 23"/>
          <p:cNvSpPr txBox="1"/>
          <p:nvPr/>
        </p:nvSpPr>
        <p:spPr>
          <a:xfrm>
            <a:off x="1828800" y="3483864"/>
            <a:ext cx="2377440" cy="1115568"/>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Move within menus, radio groups, sliders</a:t>
            </a:r>
            <a:endParaRPr lang="en-US" sz="1200" dirty="0"/>
          </a:p>
        </p:txBody>
      </p:sp>
      <p:sp>
        <p:nvSpPr>
          <p:cNvPr id="26" name="Shape 24"/>
          <p:cNvSpPr/>
          <p:nvPr/>
        </p:nvSpPr>
        <p:spPr>
          <a:xfrm>
            <a:off x="4663440" y="3483864"/>
            <a:ext cx="3931920" cy="1115568"/>
          </a:xfrm>
          <a:prstGeom prst="rect">
            <a:avLst/>
          </a:prstGeom>
          <a:solidFill>
            <a:srgbClr val="E8EDFF"/>
          </a:solidFill>
          <a:ln w="12700">
            <a:solidFill>
              <a:srgbClr val="CBD5FF"/>
            </a:solidFill>
            <a:prstDash val="solid"/>
          </a:ln>
        </p:spPr>
      </p:sp>
      <p:sp>
        <p:nvSpPr>
          <p:cNvPr id="27" name="Shape 25"/>
          <p:cNvSpPr/>
          <p:nvPr/>
        </p:nvSpPr>
        <p:spPr>
          <a:xfrm>
            <a:off x="4663440" y="3483864"/>
            <a:ext cx="1371600" cy="1115568"/>
          </a:xfrm>
          <a:prstGeom prst="rect">
            <a:avLst/>
          </a:prstGeom>
          <a:solidFill>
            <a:srgbClr val="1A2540"/>
          </a:solidFill>
          <a:ln w="12700">
            <a:solidFill>
              <a:srgbClr val="1A2540"/>
            </a:solidFill>
            <a:prstDash val="solid"/>
          </a:ln>
        </p:spPr>
      </p:sp>
      <p:sp>
        <p:nvSpPr>
          <p:cNvPr id="28" name="Text 26"/>
          <p:cNvSpPr txBox="1"/>
          <p:nvPr/>
        </p:nvSpPr>
        <p:spPr>
          <a:xfrm>
            <a:off x="4709160" y="3483864"/>
            <a:ext cx="1280160" cy="1115568"/>
          </a:xfrm>
          <a:prstGeom prst="rect">
            <a:avLst/>
          </a:prstGeom>
          <a:noFill/>
          <a:ln/>
        </p:spPr>
        <p:txBody>
          <a:bodyPr wrap="square" lIns="0" tIns="0" rIns="0" bIns="0" rtlCol="0" anchor="ctr"/>
          <a:lstStyle/>
          <a:p>
            <a:pPr algn="ctr" indent="0" marL="0">
              <a:buNone/>
            </a:pPr>
            <a:r>
              <a:rPr lang="en-US" sz="1300" b="1" dirty="0">
                <a:solidFill>
                  <a:srgbClr val="F7DF1E"/>
                </a:solidFill>
                <a:latin typeface="Courier New" pitchFamily="34" charset="0"/>
                <a:ea typeface="Courier New" pitchFamily="34" charset="-122"/>
                <a:cs typeface="Courier New" pitchFamily="34" charset="-120"/>
              </a:rPr>
              <a:t>Esc</a:t>
            </a:r>
            <a:endParaRPr lang="en-US" sz="1300" dirty="0"/>
          </a:p>
        </p:txBody>
      </p:sp>
      <p:sp>
        <p:nvSpPr>
          <p:cNvPr id="29" name="Text 27"/>
          <p:cNvSpPr txBox="1"/>
          <p:nvPr/>
        </p:nvSpPr>
        <p:spPr>
          <a:xfrm>
            <a:off x="6126480" y="3483864"/>
            <a:ext cx="2377440" cy="1115568"/>
          </a:xfrm>
          <a:prstGeom prst="rect">
            <a:avLst/>
          </a:prstGeom>
          <a:noFill/>
          <a:ln/>
        </p:spPr>
        <p:txBody>
          <a:bodyPr wrap="square" lIns="101600" tIns="101600" rIns="101600" bIns="101600" rtlCol="0" anchor="ctr"/>
          <a:lstStyle/>
          <a:p>
            <a:pPr algn="l" indent="0" marL="0">
              <a:buNone/>
            </a:pPr>
            <a:r>
              <a:rPr lang="en-US" sz="1200" dirty="0">
                <a:solidFill>
                  <a:srgbClr val="1A2540"/>
                </a:solidFill>
                <a:latin typeface="Calibri" pitchFamily="34" charset="0"/>
                <a:ea typeface="Calibri" pitchFamily="34" charset="-122"/>
                <a:cs typeface="Calibri" pitchFamily="34" charset="-120"/>
              </a:rPr>
              <a:t>Close modals and dropdown menus</a:t>
            </a:r>
            <a:endParaRPr lang="en-US" sz="1200" dirty="0"/>
          </a:p>
        </p:txBody>
      </p:sp>
      <p:sp>
        <p:nvSpPr>
          <p:cNvPr id="30" name="Text 28"/>
          <p:cNvSpPr txBox="1"/>
          <p:nvPr/>
        </p:nvSpPr>
        <p:spPr>
          <a:xfrm>
            <a:off x="365760" y="4645152"/>
            <a:ext cx="8412480" cy="274320"/>
          </a:xfrm>
          <a:prstGeom prst="rect">
            <a:avLst/>
          </a:prstGeom>
          <a:noFill/>
          <a:ln/>
        </p:spPr>
        <p:txBody>
          <a:bodyPr wrap="square" lIns="0" tIns="0" rIns="0" bIns="0" rtlCol="0" anchor="ctr"/>
          <a:lstStyle/>
          <a:p>
            <a:pPr algn="ctr" indent="0" marL="0">
              <a:buNone/>
            </a:pPr>
            <a:r>
              <a:rPr lang="en-US" sz="1100" dirty="0">
                <a:solidFill>
                  <a:srgbClr val="8892B0"/>
                </a:solidFill>
                <a:latin typeface="Calibri" pitchFamily="34" charset="0"/>
                <a:ea typeface="Calibri" pitchFamily="34" charset="-122"/>
                <a:cs typeface="Calibri" pitchFamily="34" charset="-120"/>
              </a:rPr>
              <a:t>Quick test: close your mouse, open your site, navigate using only the keyboard. Can you reach every link and button?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tabindex=</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"0"</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Making custom elements focusable</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tabindex="0"</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Add to tab order (natural)</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tabindex="-1"</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Focusable in JS only</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tabindex="1+"</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Avoid! Disrupts natural order</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role=</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Pair with correct role</a:t>
            </a:r>
            <a:endParaRPr lang="en-US" sz="1000" dirty="0"/>
          </a:p>
        </p:txBody>
      </p:sp>
      <p:sp>
        <p:nvSpPr>
          <p:cNvPr id="15" name="Text 13"/>
          <p:cNvSpPr txBox="1"/>
          <p:nvPr/>
        </p:nvSpPr>
        <p:spPr>
          <a:xfrm>
            <a:off x="182880" y="388620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keydown</a:t>
            </a:r>
            <a:endParaRPr lang="en-US" sz="1200" dirty="0"/>
          </a:p>
        </p:txBody>
      </p:sp>
      <p:sp>
        <p:nvSpPr>
          <p:cNvPr id="16" name="Text 14"/>
          <p:cNvSpPr txBox="1"/>
          <p:nvPr/>
        </p:nvSpPr>
        <p:spPr>
          <a:xfrm>
            <a:off x="182880" y="418795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Handle Enter/Space manually</a:t>
            </a:r>
            <a:endParaRPr lang="en-US" sz="1000" dirty="0"/>
          </a:p>
        </p:txBody>
      </p:sp>
      <p:sp>
        <p:nvSpPr>
          <p:cNvPr id="17" name="Shape 15"/>
          <p:cNvSpPr/>
          <p:nvPr/>
        </p:nvSpPr>
        <p:spPr>
          <a:xfrm>
            <a:off x="3337560" y="182880"/>
            <a:ext cx="5577840" cy="4754880"/>
          </a:xfrm>
          <a:prstGeom prst="rect">
            <a:avLst/>
          </a:prstGeom>
          <a:solidFill>
            <a:srgbClr val="1E2336"/>
          </a:solidFill>
          <a:ln w="12700">
            <a:solidFill>
              <a:srgbClr val="2D3250"/>
            </a:solidFill>
            <a:prstDash val="solid"/>
          </a:ln>
        </p:spPr>
      </p:sp>
      <p:sp>
        <p:nvSpPr>
          <p:cNvPr id="18" name="Shape 16"/>
          <p:cNvSpPr/>
          <p:nvPr/>
        </p:nvSpPr>
        <p:spPr>
          <a:xfrm>
            <a:off x="3456432" y="283464"/>
            <a:ext cx="118872" cy="118872"/>
          </a:xfrm>
          <a:prstGeom prst="ellipse">
            <a:avLst/>
          </a:prstGeom>
          <a:solidFill>
            <a:srgbClr val="FF5F56"/>
          </a:solidFill>
          <a:ln w="12700">
            <a:solidFill>
              <a:srgbClr val="FF5F56"/>
            </a:solidFill>
            <a:prstDash val="solid"/>
          </a:ln>
        </p:spPr>
      </p:sp>
      <p:sp>
        <p:nvSpPr>
          <p:cNvPr id="19" name="Shape 17"/>
          <p:cNvSpPr/>
          <p:nvPr/>
        </p:nvSpPr>
        <p:spPr>
          <a:xfrm>
            <a:off x="3657600" y="283464"/>
            <a:ext cx="118872" cy="118872"/>
          </a:xfrm>
          <a:prstGeom prst="ellipse">
            <a:avLst/>
          </a:prstGeom>
          <a:solidFill>
            <a:srgbClr val="FFBD2E"/>
          </a:solidFill>
          <a:ln w="12700">
            <a:solidFill>
              <a:srgbClr val="FFBD2E"/>
            </a:solidFill>
            <a:prstDash val="solid"/>
          </a:ln>
        </p:spPr>
      </p:sp>
      <p:sp>
        <p:nvSpPr>
          <p:cNvPr id="20" name="Shape 18"/>
          <p:cNvSpPr/>
          <p:nvPr/>
        </p:nvSpPr>
        <p:spPr>
          <a:xfrm>
            <a:off x="3858768" y="283464"/>
            <a:ext cx="118872" cy="118872"/>
          </a:xfrm>
          <a:prstGeom prst="ellipse">
            <a:avLst/>
          </a:prstGeom>
          <a:solidFill>
            <a:srgbClr val="27C93F"/>
          </a:solidFill>
          <a:ln w="12700">
            <a:solidFill>
              <a:srgbClr val="27C93F"/>
            </a:solidFill>
            <a:prstDash val="solid"/>
          </a:ln>
        </p:spPr>
      </p:sp>
      <p:sp>
        <p:nvSpPr>
          <p:cNvPr id="21" name="Text 19"/>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Custom card that needs focus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&lt;div</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role="button"</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tabindex="0"</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aria-label="View project details"</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onclick="openProject()"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onkeydown="handleKey(event)"&gt;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&lt;img src="thumb.jpg" alt=""&gt;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&lt;p&gt;My Final Project&lt;/p&gt;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&lt;/div&gt;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Handle keyboard activation</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function handleKey(e)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if (e.key === "Enter"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e.key === " ")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openProject();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e.preventDefault(); // stop scroll</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Color Contrast — WCAG AA Requires 4.5:1</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1005840"/>
            <a:ext cx="3931920" cy="1627632"/>
          </a:xfrm>
          <a:prstGeom prst="rect">
            <a:avLst/>
          </a:prstGeom>
          <a:solidFill>
            <a:srgbClr val="FFFFFF"/>
          </a:solidFill>
          <a:ln w="12700">
            <a:solidFill>
              <a:srgbClr val="CBD5FF"/>
            </a:solidFill>
            <a:prstDash val="solid"/>
          </a:ln>
        </p:spPr>
      </p:sp>
      <p:sp>
        <p:nvSpPr>
          <p:cNvPr id="7" name="Text 5"/>
          <p:cNvSpPr txBox="1"/>
          <p:nvPr/>
        </p:nvSpPr>
        <p:spPr>
          <a:xfrm>
            <a:off x="457200" y="1097280"/>
            <a:ext cx="3749040" cy="548640"/>
          </a:xfrm>
          <a:prstGeom prst="rect">
            <a:avLst/>
          </a:prstGeom>
          <a:noFill/>
          <a:ln/>
        </p:spPr>
        <p:txBody>
          <a:bodyPr wrap="square" lIns="0" tIns="0" rIns="0" bIns="0" rtlCol="0" anchor="ctr"/>
          <a:lstStyle/>
          <a:p>
            <a:pPr algn="l" indent="0" marL="0">
              <a:buNone/>
            </a:pPr>
            <a:r>
              <a:rPr lang="en-US" sz="1800" b="1" dirty="0">
                <a:solidFill>
                  <a:srgbClr val="CCCCCC"/>
                </a:solidFill>
                <a:latin typeface="Calibri" pitchFamily="34" charset="0"/>
                <a:ea typeface="Calibri" pitchFamily="34" charset="-122"/>
                <a:cs typeface="Calibri" pitchFamily="34" charset="-120"/>
              </a:rPr>
              <a:t>Sample text Aa</a:t>
            </a:r>
            <a:endParaRPr lang="en-US" sz="1800" dirty="0"/>
          </a:p>
        </p:txBody>
      </p:sp>
      <p:sp>
        <p:nvSpPr>
          <p:cNvPr id="8" name="Text 6"/>
          <p:cNvSpPr txBox="1"/>
          <p:nvPr/>
        </p:nvSpPr>
        <p:spPr>
          <a:xfrm>
            <a:off x="457200" y="1691640"/>
            <a:ext cx="2468880" cy="292608"/>
          </a:xfrm>
          <a:prstGeom prst="rect">
            <a:avLst/>
          </a:prstGeom>
          <a:noFill/>
          <a:ln/>
        </p:spPr>
        <p:txBody>
          <a:bodyPr wrap="square" lIns="0" tIns="0" rIns="0" bIns="0" rtlCol="0" anchor="ctr"/>
          <a:lstStyle/>
          <a:p>
            <a:pPr algn="l" indent="0" marL="0">
              <a:buNone/>
            </a:pPr>
            <a:r>
              <a:rPr lang="en-US" sz="1100" dirty="0">
                <a:solidFill>
                  <a:srgbClr val="8892B0"/>
                </a:solidFill>
                <a:latin typeface="Calibri" pitchFamily="34" charset="0"/>
                <a:ea typeface="Calibri" pitchFamily="34" charset="-122"/>
                <a:cs typeface="Calibri" pitchFamily="34" charset="-120"/>
              </a:rPr>
              <a:t>Light gray on white</a:t>
            </a:r>
            <a:endParaRPr lang="en-US" sz="1100" dirty="0"/>
          </a:p>
        </p:txBody>
      </p:sp>
      <p:sp>
        <p:nvSpPr>
          <p:cNvPr id="9" name="Shape 7"/>
          <p:cNvSpPr/>
          <p:nvPr/>
        </p:nvSpPr>
        <p:spPr>
          <a:xfrm>
            <a:off x="3017520" y="1572768"/>
            <a:ext cx="1188720" cy="457200"/>
          </a:xfrm>
          <a:prstGeom prst="rect">
            <a:avLst/>
          </a:prstGeom>
          <a:solidFill>
            <a:srgbClr val="E57373"/>
          </a:solidFill>
          <a:ln w="12700">
            <a:solidFill>
              <a:srgbClr val="E57373"/>
            </a:solidFill>
            <a:prstDash val="solid"/>
          </a:ln>
        </p:spPr>
      </p:sp>
      <p:sp>
        <p:nvSpPr>
          <p:cNvPr id="10" name="Text 8"/>
          <p:cNvSpPr txBox="1"/>
          <p:nvPr/>
        </p:nvSpPr>
        <p:spPr>
          <a:xfrm>
            <a:off x="3017520" y="1572768"/>
            <a:ext cx="11887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1.6:1 — FAIL</a:t>
            </a:r>
            <a:endParaRPr lang="en-US" sz="900" dirty="0"/>
          </a:p>
        </p:txBody>
      </p:sp>
      <p:sp>
        <p:nvSpPr>
          <p:cNvPr id="11" name="Shape 9"/>
          <p:cNvSpPr/>
          <p:nvPr/>
        </p:nvSpPr>
        <p:spPr>
          <a:xfrm>
            <a:off x="4663440" y="1005840"/>
            <a:ext cx="3931920" cy="1627632"/>
          </a:xfrm>
          <a:prstGeom prst="rect">
            <a:avLst/>
          </a:prstGeom>
          <a:solidFill>
            <a:srgbClr val="FFFFFF"/>
          </a:solidFill>
          <a:ln w="12700">
            <a:solidFill>
              <a:srgbClr val="CBD5FF"/>
            </a:solidFill>
            <a:prstDash val="solid"/>
          </a:ln>
        </p:spPr>
      </p:sp>
      <p:sp>
        <p:nvSpPr>
          <p:cNvPr id="12" name="Text 10"/>
          <p:cNvSpPr txBox="1"/>
          <p:nvPr/>
        </p:nvSpPr>
        <p:spPr>
          <a:xfrm>
            <a:off x="4754880" y="1097280"/>
            <a:ext cx="3749040" cy="548640"/>
          </a:xfrm>
          <a:prstGeom prst="rect">
            <a:avLst/>
          </a:prstGeom>
          <a:noFill/>
          <a:ln/>
        </p:spPr>
        <p:txBody>
          <a:bodyPr wrap="square" lIns="0" tIns="0" rIns="0" bIns="0" rtlCol="0" anchor="ctr"/>
          <a:lstStyle/>
          <a:p>
            <a:pPr algn="l" indent="0" marL="0">
              <a:buNone/>
            </a:pPr>
            <a:r>
              <a:rPr lang="en-US" sz="1800" b="1" dirty="0">
                <a:solidFill>
                  <a:srgbClr val="767676"/>
                </a:solidFill>
                <a:latin typeface="Calibri" pitchFamily="34" charset="0"/>
                <a:ea typeface="Calibri" pitchFamily="34" charset="-122"/>
                <a:cs typeface="Calibri" pitchFamily="34" charset="-120"/>
              </a:rPr>
              <a:t>Sample text Aa</a:t>
            </a:r>
            <a:endParaRPr lang="en-US" sz="1800" dirty="0"/>
          </a:p>
        </p:txBody>
      </p:sp>
      <p:sp>
        <p:nvSpPr>
          <p:cNvPr id="13" name="Text 11"/>
          <p:cNvSpPr txBox="1"/>
          <p:nvPr/>
        </p:nvSpPr>
        <p:spPr>
          <a:xfrm>
            <a:off x="4754880" y="1691640"/>
            <a:ext cx="2468880" cy="292608"/>
          </a:xfrm>
          <a:prstGeom prst="rect">
            <a:avLst/>
          </a:prstGeom>
          <a:noFill/>
          <a:ln/>
        </p:spPr>
        <p:txBody>
          <a:bodyPr wrap="square" lIns="0" tIns="0" rIns="0" bIns="0" rtlCol="0" anchor="ctr"/>
          <a:lstStyle/>
          <a:p>
            <a:pPr algn="l" indent="0" marL="0">
              <a:buNone/>
            </a:pPr>
            <a:r>
              <a:rPr lang="en-US" sz="1100" dirty="0">
                <a:solidFill>
                  <a:srgbClr val="8892B0"/>
                </a:solidFill>
                <a:latin typeface="Calibri" pitchFamily="34" charset="0"/>
                <a:ea typeface="Calibri" pitchFamily="34" charset="-122"/>
                <a:cs typeface="Calibri" pitchFamily="34" charset="-120"/>
              </a:rPr>
              <a:t>#767676 on white (min)</a:t>
            </a:r>
            <a:endParaRPr lang="en-US" sz="1100" dirty="0"/>
          </a:p>
        </p:txBody>
      </p:sp>
      <p:sp>
        <p:nvSpPr>
          <p:cNvPr id="14" name="Shape 12"/>
          <p:cNvSpPr/>
          <p:nvPr/>
        </p:nvSpPr>
        <p:spPr>
          <a:xfrm>
            <a:off x="7315200" y="1572768"/>
            <a:ext cx="1188720" cy="457200"/>
          </a:xfrm>
          <a:prstGeom prst="rect">
            <a:avLst/>
          </a:prstGeom>
          <a:solidFill>
            <a:srgbClr val="43A047"/>
          </a:solidFill>
          <a:ln w="12700">
            <a:solidFill>
              <a:srgbClr val="43A047"/>
            </a:solidFill>
            <a:prstDash val="solid"/>
          </a:ln>
        </p:spPr>
      </p:sp>
      <p:sp>
        <p:nvSpPr>
          <p:cNvPr id="15" name="Text 13"/>
          <p:cNvSpPr txBox="1"/>
          <p:nvPr/>
        </p:nvSpPr>
        <p:spPr>
          <a:xfrm>
            <a:off x="7315200" y="1572768"/>
            <a:ext cx="11887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4.5:1 — PASS AA</a:t>
            </a:r>
            <a:endParaRPr lang="en-US" sz="900" dirty="0"/>
          </a:p>
        </p:txBody>
      </p:sp>
      <p:sp>
        <p:nvSpPr>
          <p:cNvPr id="16" name="Shape 14"/>
          <p:cNvSpPr/>
          <p:nvPr/>
        </p:nvSpPr>
        <p:spPr>
          <a:xfrm>
            <a:off x="365760" y="2788920"/>
            <a:ext cx="3931920" cy="1627632"/>
          </a:xfrm>
          <a:prstGeom prst="rect">
            <a:avLst/>
          </a:prstGeom>
          <a:solidFill>
            <a:srgbClr val="1A2540"/>
          </a:solidFill>
          <a:ln w="12700">
            <a:solidFill>
              <a:srgbClr val="CBD5FF"/>
            </a:solidFill>
            <a:prstDash val="solid"/>
          </a:ln>
        </p:spPr>
      </p:sp>
      <p:sp>
        <p:nvSpPr>
          <p:cNvPr id="17" name="Text 15"/>
          <p:cNvSpPr txBox="1"/>
          <p:nvPr/>
        </p:nvSpPr>
        <p:spPr>
          <a:xfrm>
            <a:off x="457200" y="2880360"/>
            <a:ext cx="374904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Sample text Aa</a:t>
            </a:r>
            <a:endParaRPr lang="en-US" sz="1800" dirty="0"/>
          </a:p>
        </p:txBody>
      </p:sp>
      <p:sp>
        <p:nvSpPr>
          <p:cNvPr id="18" name="Text 16"/>
          <p:cNvSpPr txBox="1"/>
          <p:nvPr/>
        </p:nvSpPr>
        <p:spPr>
          <a:xfrm>
            <a:off x="457200" y="3474720"/>
            <a:ext cx="2468880" cy="292608"/>
          </a:xfrm>
          <a:prstGeom prst="rect">
            <a:avLst/>
          </a:prstGeom>
          <a:noFill/>
          <a:ln/>
        </p:spPr>
        <p:txBody>
          <a:bodyPr wrap="square" lIns="0" tIns="0" rIns="0" bIns="0" rtlCol="0" anchor="ctr"/>
          <a:lstStyle/>
          <a:p>
            <a:pPr algn="l" indent="0" marL="0">
              <a:buNone/>
            </a:pPr>
            <a:r>
              <a:rPr lang="en-US" sz="1100" dirty="0">
                <a:solidFill>
                  <a:srgbClr val="AAAAAA"/>
                </a:solidFill>
                <a:latin typeface="Calibri" pitchFamily="34" charset="0"/>
                <a:ea typeface="Calibri" pitchFamily="34" charset="-122"/>
                <a:cs typeface="Calibri" pitchFamily="34" charset="-120"/>
              </a:rPr>
              <a:t>White on navy (our slides)</a:t>
            </a:r>
            <a:endParaRPr lang="en-US" sz="1100" dirty="0"/>
          </a:p>
        </p:txBody>
      </p:sp>
      <p:sp>
        <p:nvSpPr>
          <p:cNvPr id="19" name="Shape 17"/>
          <p:cNvSpPr/>
          <p:nvPr/>
        </p:nvSpPr>
        <p:spPr>
          <a:xfrm>
            <a:off x="3017520" y="3355848"/>
            <a:ext cx="1188720" cy="457200"/>
          </a:xfrm>
          <a:prstGeom prst="rect">
            <a:avLst/>
          </a:prstGeom>
          <a:solidFill>
            <a:srgbClr val="43A047"/>
          </a:solidFill>
          <a:ln w="12700">
            <a:solidFill>
              <a:srgbClr val="43A047"/>
            </a:solidFill>
            <a:prstDash val="solid"/>
          </a:ln>
        </p:spPr>
      </p:sp>
      <p:sp>
        <p:nvSpPr>
          <p:cNvPr id="20" name="Text 18"/>
          <p:cNvSpPr txBox="1"/>
          <p:nvPr/>
        </p:nvSpPr>
        <p:spPr>
          <a:xfrm>
            <a:off x="3017520" y="3355848"/>
            <a:ext cx="11887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15.3:1 — PASS AAA</a:t>
            </a:r>
            <a:endParaRPr lang="en-US" sz="900" dirty="0"/>
          </a:p>
        </p:txBody>
      </p:sp>
      <p:sp>
        <p:nvSpPr>
          <p:cNvPr id="21" name="Shape 19"/>
          <p:cNvSpPr/>
          <p:nvPr/>
        </p:nvSpPr>
        <p:spPr>
          <a:xfrm>
            <a:off x="4663440" y="2788920"/>
            <a:ext cx="3931920" cy="1627632"/>
          </a:xfrm>
          <a:prstGeom prst="rect">
            <a:avLst/>
          </a:prstGeom>
          <a:solidFill>
            <a:srgbClr val="F7DF1E"/>
          </a:solidFill>
          <a:ln w="12700">
            <a:solidFill>
              <a:srgbClr val="CBD5FF"/>
            </a:solidFill>
            <a:prstDash val="solid"/>
          </a:ln>
        </p:spPr>
      </p:sp>
      <p:sp>
        <p:nvSpPr>
          <p:cNvPr id="22" name="Text 20"/>
          <p:cNvSpPr txBox="1"/>
          <p:nvPr/>
        </p:nvSpPr>
        <p:spPr>
          <a:xfrm>
            <a:off x="4754880" y="2880360"/>
            <a:ext cx="3749040" cy="548640"/>
          </a:xfrm>
          <a:prstGeom prst="rect">
            <a:avLst/>
          </a:prstGeom>
          <a:noFill/>
          <a:ln/>
        </p:spPr>
        <p:txBody>
          <a:bodyPr wrap="square" lIns="0" tIns="0" rIns="0" bIns="0" rtlCol="0" anchor="ctr"/>
          <a:lstStyle/>
          <a:p>
            <a:pPr algn="l" indent="0" marL="0">
              <a:buNone/>
            </a:pPr>
            <a:r>
              <a:rPr lang="en-US" sz="1800" b="1" dirty="0">
                <a:solidFill>
                  <a:srgbClr val="1A2540"/>
                </a:solidFill>
                <a:latin typeface="Calibri" pitchFamily="34" charset="0"/>
                <a:ea typeface="Calibri" pitchFamily="34" charset="-122"/>
                <a:cs typeface="Calibri" pitchFamily="34" charset="-120"/>
              </a:rPr>
              <a:t>Sample text Aa</a:t>
            </a:r>
            <a:endParaRPr lang="en-US" sz="1800" dirty="0"/>
          </a:p>
        </p:txBody>
      </p:sp>
      <p:sp>
        <p:nvSpPr>
          <p:cNvPr id="23" name="Text 21"/>
          <p:cNvSpPr txBox="1"/>
          <p:nvPr/>
        </p:nvSpPr>
        <p:spPr>
          <a:xfrm>
            <a:off x="4754880" y="3474720"/>
            <a:ext cx="2468880" cy="292608"/>
          </a:xfrm>
          <a:prstGeom prst="rect">
            <a:avLst/>
          </a:prstGeom>
          <a:noFill/>
          <a:ln/>
        </p:spPr>
        <p:txBody>
          <a:bodyPr wrap="square" lIns="0" tIns="0" rIns="0" bIns="0" rtlCol="0" anchor="ctr"/>
          <a:lstStyle/>
          <a:p>
            <a:pPr algn="l" indent="0" marL="0">
              <a:buNone/>
            </a:pPr>
            <a:r>
              <a:rPr lang="en-US" sz="1100" dirty="0">
                <a:solidFill>
                  <a:srgbClr val="8892B0"/>
                </a:solidFill>
                <a:latin typeface="Calibri" pitchFamily="34" charset="0"/>
                <a:ea typeface="Calibri" pitchFamily="34" charset="-122"/>
                <a:cs typeface="Calibri" pitchFamily="34" charset="-120"/>
              </a:rPr>
              <a:t>Navy on yellow (accent)</a:t>
            </a:r>
            <a:endParaRPr lang="en-US" sz="1100" dirty="0"/>
          </a:p>
        </p:txBody>
      </p:sp>
      <p:sp>
        <p:nvSpPr>
          <p:cNvPr id="24" name="Shape 22"/>
          <p:cNvSpPr/>
          <p:nvPr/>
        </p:nvSpPr>
        <p:spPr>
          <a:xfrm>
            <a:off x="7315200" y="3355848"/>
            <a:ext cx="1188720" cy="457200"/>
          </a:xfrm>
          <a:prstGeom prst="rect">
            <a:avLst/>
          </a:prstGeom>
          <a:solidFill>
            <a:srgbClr val="43A047"/>
          </a:solidFill>
          <a:ln w="12700">
            <a:solidFill>
              <a:srgbClr val="43A047"/>
            </a:solidFill>
            <a:prstDash val="solid"/>
          </a:ln>
        </p:spPr>
      </p:sp>
      <p:sp>
        <p:nvSpPr>
          <p:cNvPr id="25" name="Text 23"/>
          <p:cNvSpPr txBox="1"/>
          <p:nvPr/>
        </p:nvSpPr>
        <p:spPr>
          <a:xfrm>
            <a:off x="7315200" y="3355848"/>
            <a:ext cx="118872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13.2:1 — PASS AAA</a:t>
            </a:r>
            <a:endParaRPr lang="en-US" sz="900" dirty="0"/>
          </a:p>
        </p:txBody>
      </p:sp>
      <p:sp>
        <p:nvSpPr>
          <p:cNvPr id="26" name="Text 24"/>
          <p:cNvSpPr txBox="1"/>
          <p:nvPr/>
        </p:nvSpPr>
        <p:spPr>
          <a:xfrm>
            <a:off x="365760" y="4681728"/>
            <a:ext cx="8412480" cy="256032"/>
          </a:xfrm>
          <a:prstGeom prst="rect">
            <a:avLst/>
          </a:prstGeom>
          <a:noFill/>
          <a:ln/>
        </p:spPr>
        <p:txBody>
          <a:bodyPr wrap="square" lIns="0" tIns="0" rIns="0" bIns="0" rtlCol="0" anchor="ctr"/>
          <a:lstStyle/>
          <a:p>
            <a:pPr algn="ctr" indent="0" marL="0">
              <a:buNone/>
            </a:pPr>
            <a:r>
              <a:rPr lang="en-US" sz="1000" dirty="0">
                <a:solidFill>
                  <a:srgbClr val="8892B0"/>
                </a:solidFill>
                <a:latin typeface="Calibri" pitchFamily="34" charset="0"/>
                <a:ea typeface="Calibri" pitchFamily="34" charset="-122"/>
                <a:cs typeface="Calibri" pitchFamily="34" charset="-120"/>
              </a:rPr>
              <a:t>Tool: WebAIM Contrast Checker (webaim.org/resources/contrastchecker/) or Chrome DevTools &gt; CSS Overview</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3200400" cy="5143500"/>
          </a:xfrm>
          <a:prstGeom prst="rect">
            <a:avLst/>
          </a:prstGeom>
          <a:solidFill>
            <a:srgbClr val="1A2540"/>
          </a:solidFill>
          <a:ln w="12700">
            <a:solidFill>
              <a:srgbClr val="1A2540"/>
            </a:solidFill>
            <a:prstDash val="solid"/>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algn="l" indent="0" marL="0">
              <a:buNone/>
            </a:pPr>
            <a:r>
              <a:rPr lang="en-US" sz="2000" b="1" dirty="0">
                <a:solidFill>
                  <a:srgbClr val="FFFFFF"/>
                </a:solidFill>
                <a:latin typeface="Calibri" pitchFamily="34" charset="0"/>
                <a:ea typeface="Calibri" pitchFamily="34" charset="-122"/>
                <a:cs typeface="Calibri" pitchFamily="34" charset="-120"/>
              </a:rPr>
              <a:t>Skip Navigation</a:t>
            </a:r>
            <a:endParaRPr lang="en-US" sz="2000" dirty="0"/>
          </a:p>
          <a:p>
            <a:pPr algn="l" indent="0" marL="0">
              <a:buNone/>
            </a:pPr>
            <a:r>
              <a:rPr lang="en-US" sz="2000" b="1" dirty="0">
                <a:solidFill>
                  <a:srgbClr val="FFFFFF"/>
                </a:solidFill>
                <a:latin typeface="Calibri" pitchFamily="34" charset="0"/>
                <a:ea typeface="Calibri" pitchFamily="34" charset="-122"/>
                <a:cs typeface="Calibri" pitchFamily="34" charset="-120"/>
              </a:rPr>
              <a:t>Links</a:t>
            </a:r>
            <a:endParaRPr lang="en-US" sz="2000" dirty="0"/>
          </a:p>
        </p:txBody>
      </p:sp>
      <p:sp>
        <p:nvSpPr>
          <p:cNvPr id="5" name="Shape 3"/>
          <p:cNvSpPr/>
          <p:nvPr/>
        </p:nvSpPr>
        <p:spPr>
          <a:xfrm>
            <a:off x="182880" y="1188720"/>
            <a:ext cx="2560320" cy="45720"/>
          </a:xfrm>
          <a:prstGeom prst="rect">
            <a:avLst/>
          </a:prstGeom>
          <a:solidFill>
            <a:srgbClr val="F7DF1E"/>
          </a:solidFill>
          <a:ln w="12700">
            <a:solidFill>
              <a:srgbClr val="F7DF1E"/>
            </a:solidFill>
            <a:prstDash val="solid"/>
          </a:ln>
        </p:spPr>
      </p:sp>
      <p:sp>
        <p:nvSpPr>
          <p:cNvPr id="6" name="Text 4"/>
          <p:cNvSpPr txBox="1"/>
          <p:nvPr/>
        </p:nvSpPr>
        <p:spPr>
          <a:xfrm>
            <a:off x="182880" y="1261872"/>
            <a:ext cx="2834640" cy="365760"/>
          </a:xfrm>
          <a:prstGeom prst="rect">
            <a:avLst/>
          </a:prstGeom>
          <a:noFill/>
          <a:ln/>
        </p:spPr>
        <p:txBody>
          <a:bodyPr wrap="square" lIns="0" tIns="0" rIns="0" bIns="0" rtlCol="0" anchor="t"/>
          <a:lstStyle/>
          <a:p>
            <a:pPr algn="l" indent="0" marL="0">
              <a:buNone/>
            </a:pPr>
            <a:r>
              <a:rPr lang="en-US" sz="1100" dirty="0">
                <a:solidFill>
                  <a:srgbClr val="CDD6F4"/>
                </a:solidFill>
                <a:latin typeface="Calibri" pitchFamily="34" charset="0"/>
                <a:ea typeface="Calibri" pitchFamily="34" charset="-122"/>
                <a:cs typeface="Calibri" pitchFamily="34" charset="-120"/>
              </a:rPr>
              <a:t>Jump to main content</a:t>
            </a:r>
            <a:endParaRPr lang="en-US" sz="1100" dirty="0"/>
          </a:p>
        </p:txBody>
      </p:sp>
      <p:sp>
        <p:nvSpPr>
          <p:cNvPr id="7" name="Text 5"/>
          <p:cNvSpPr txBox="1"/>
          <p:nvPr/>
        </p:nvSpPr>
        <p:spPr>
          <a:xfrm>
            <a:off x="182880" y="132588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Purpose</a:t>
            </a:r>
            <a:endParaRPr lang="en-US" sz="1200" dirty="0"/>
          </a:p>
        </p:txBody>
      </p:sp>
      <p:sp>
        <p:nvSpPr>
          <p:cNvPr id="8" name="Text 6"/>
          <p:cNvSpPr txBox="1"/>
          <p:nvPr/>
        </p:nvSpPr>
        <p:spPr>
          <a:xfrm>
            <a:off x="182880" y="162763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Bypass repeated nav links</a:t>
            </a:r>
            <a:endParaRPr lang="en-US" sz="1000" dirty="0"/>
          </a:p>
        </p:txBody>
      </p:sp>
      <p:sp>
        <p:nvSpPr>
          <p:cNvPr id="9" name="Text 7"/>
          <p:cNvSpPr txBox="1"/>
          <p:nvPr/>
        </p:nvSpPr>
        <p:spPr>
          <a:xfrm>
            <a:off x="182880" y="196596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Tab = 1st</a:t>
            </a:r>
            <a:endParaRPr lang="en-US" sz="1200" dirty="0"/>
          </a:p>
        </p:txBody>
      </p:sp>
      <p:sp>
        <p:nvSpPr>
          <p:cNvPr id="10" name="Text 8"/>
          <p:cNvSpPr txBox="1"/>
          <p:nvPr/>
        </p:nvSpPr>
        <p:spPr>
          <a:xfrm>
            <a:off x="182880" y="226771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First focusable element on page</a:t>
            </a:r>
            <a:endParaRPr lang="en-US" sz="1000" dirty="0"/>
          </a:p>
        </p:txBody>
      </p:sp>
      <p:sp>
        <p:nvSpPr>
          <p:cNvPr id="11" name="Text 9"/>
          <p:cNvSpPr txBox="1"/>
          <p:nvPr/>
        </p:nvSpPr>
        <p:spPr>
          <a:xfrm>
            <a:off x="182880" y="260604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:focus visible</a:t>
            </a:r>
            <a:endParaRPr lang="en-US" sz="1200" dirty="0"/>
          </a:p>
        </p:txBody>
      </p:sp>
      <p:sp>
        <p:nvSpPr>
          <p:cNvPr id="12" name="Text 10"/>
          <p:cNvSpPr txBox="1"/>
          <p:nvPr/>
        </p:nvSpPr>
        <p:spPr>
          <a:xfrm>
            <a:off x="182880" y="290779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Show only when focused</a:t>
            </a:r>
            <a:endParaRPr lang="en-US" sz="1000" dirty="0"/>
          </a:p>
        </p:txBody>
      </p:sp>
      <p:sp>
        <p:nvSpPr>
          <p:cNvPr id="13" name="Text 11"/>
          <p:cNvSpPr txBox="1"/>
          <p:nvPr/>
        </p:nvSpPr>
        <p:spPr>
          <a:xfrm>
            <a:off x="182880" y="3246120"/>
            <a:ext cx="2834640" cy="274320"/>
          </a:xfrm>
          <a:prstGeom prst="rect">
            <a:avLst/>
          </a:prstGeom>
          <a:noFill/>
          <a:ln/>
        </p:spPr>
        <p:txBody>
          <a:bodyPr wrap="square" lIns="0" tIns="0" rIns="0" bIns="0" rtlCol="0" anchor="t"/>
          <a:lstStyle/>
          <a:p>
            <a:pPr algn="l" indent="0" marL="0">
              <a:buNone/>
            </a:pPr>
            <a:r>
              <a:rPr lang="en-US" sz="1200" b="1" dirty="0">
                <a:solidFill>
                  <a:srgbClr val="F7DF1E"/>
                </a:solidFill>
                <a:latin typeface="Courier New" pitchFamily="34" charset="0"/>
                <a:ea typeface="Courier New" pitchFamily="34" charset="-122"/>
                <a:cs typeface="Courier New" pitchFamily="34" charset="-120"/>
              </a:rPr>
              <a:t>#main-content</a:t>
            </a:r>
            <a:endParaRPr lang="en-US" sz="1200" dirty="0"/>
          </a:p>
        </p:txBody>
      </p:sp>
      <p:sp>
        <p:nvSpPr>
          <p:cNvPr id="14" name="Text 12"/>
          <p:cNvSpPr txBox="1"/>
          <p:nvPr/>
        </p:nvSpPr>
        <p:spPr>
          <a:xfrm>
            <a:off x="182880" y="3547872"/>
            <a:ext cx="2834640" cy="256032"/>
          </a:xfrm>
          <a:prstGeom prst="rect">
            <a:avLst/>
          </a:prstGeom>
          <a:noFill/>
          <a:ln/>
        </p:spPr>
        <p:txBody>
          <a:bodyPr wrap="square" lIns="0" tIns="0" rIns="0" bIns="0" rtlCol="0" anchor="t"/>
          <a:lstStyle/>
          <a:p>
            <a:pPr algn="l" indent="0" marL="0">
              <a:buNone/>
            </a:pPr>
            <a:r>
              <a:rPr lang="en-US" sz="1000" dirty="0">
                <a:solidFill>
                  <a:srgbClr val="8892B0"/>
                </a:solidFill>
                <a:latin typeface="Calibri" pitchFamily="34" charset="0"/>
                <a:ea typeface="Calibri" pitchFamily="34" charset="-122"/>
                <a:cs typeface="Calibri" pitchFamily="34" charset="-120"/>
              </a:rPr>
              <a:t>Target: the &lt;main&gt; element</a:t>
            </a:r>
            <a:endParaRPr lang="en-US" sz="1000" dirty="0"/>
          </a:p>
        </p:txBody>
      </p:sp>
      <p:sp>
        <p:nvSpPr>
          <p:cNvPr id="15" name="Shape 13"/>
          <p:cNvSpPr/>
          <p:nvPr/>
        </p:nvSpPr>
        <p:spPr>
          <a:xfrm>
            <a:off x="3337560" y="182880"/>
            <a:ext cx="5577840" cy="4754880"/>
          </a:xfrm>
          <a:prstGeom prst="rect">
            <a:avLst/>
          </a:prstGeom>
          <a:solidFill>
            <a:srgbClr val="1E2336"/>
          </a:solidFill>
          <a:ln w="12700">
            <a:solidFill>
              <a:srgbClr val="2D3250"/>
            </a:solidFill>
            <a:prstDash val="solid"/>
          </a:ln>
        </p:spPr>
      </p:sp>
      <p:sp>
        <p:nvSpPr>
          <p:cNvPr id="16" name="Shape 14"/>
          <p:cNvSpPr/>
          <p:nvPr/>
        </p:nvSpPr>
        <p:spPr>
          <a:xfrm>
            <a:off x="3456432" y="283464"/>
            <a:ext cx="118872" cy="118872"/>
          </a:xfrm>
          <a:prstGeom prst="ellipse">
            <a:avLst/>
          </a:prstGeom>
          <a:solidFill>
            <a:srgbClr val="FF5F56"/>
          </a:solidFill>
          <a:ln w="12700">
            <a:solidFill>
              <a:srgbClr val="FF5F56"/>
            </a:solidFill>
            <a:prstDash val="solid"/>
          </a:ln>
        </p:spPr>
      </p:sp>
      <p:sp>
        <p:nvSpPr>
          <p:cNvPr id="17" name="Shape 15"/>
          <p:cNvSpPr/>
          <p:nvPr/>
        </p:nvSpPr>
        <p:spPr>
          <a:xfrm>
            <a:off x="3657600" y="283464"/>
            <a:ext cx="118872" cy="118872"/>
          </a:xfrm>
          <a:prstGeom prst="ellipse">
            <a:avLst/>
          </a:prstGeom>
          <a:solidFill>
            <a:srgbClr val="FFBD2E"/>
          </a:solidFill>
          <a:ln w="12700">
            <a:solidFill>
              <a:srgbClr val="FFBD2E"/>
            </a:solidFill>
            <a:prstDash val="solid"/>
          </a:ln>
        </p:spPr>
      </p:sp>
      <p:sp>
        <p:nvSpPr>
          <p:cNvPr id="18" name="Shape 16"/>
          <p:cNvSpPr/>
          <p:nvPr/>
        </p:nvSpPr>
        <p:spPr>
          <a:xfrm>
            <a:off x="3858768" y="283464"/>
            <a:ext cx="118872" cy="118872"/>
          </a:xfrm>
          <a:prstGeom prst="ellipse">
            <a:avLst/>
          </a:prstGeom>
          <a:solidFill>
            <a:srgbClr val="27C93F"/>
          </a:solidFill>
          <a:ln w="12700">
            <a:solidFill>
              <a:srgbClr val="27C93F"/>
            </a:solidFill>
            <a:prstDash val="solid"/>
          </a:ln>
        </p:spPr>
      </p:sp>
      <p:sp>
        <p:nvSpPr>
          <p:cNvPr id="19" name="Text 17"/>
          <p:cNvSpPr txBox="1"/>
          <p:nvPr/>
        </p:nvSpPr>
        <p:spPr>
          <a:xfrm>
            <a:off x="3474720" y="475488"/>
            <a:ext cx="5303520" cy="4343400"/>
          </a:xfrm>
          <a:prstGeom prst="rect">
            <a:avLst/>
          </a:prstGeom>
          <a:noFill/>
          <a:ln/>
        </p:spPr>
        <p:txBody>
          <a:bodyPr wrap="square" lIns="0" tIns="0" rIns="0" bIns="0" rtlCol="0" anchor="t"/>
          <a:lstStyle/>
          <a:p>
            <a:pPr algn="l" indent="0" marL="0">
              <a:buNone/>
            </a:pPr>
            <a:r>
              <a:rPr lang="en-US" sz="1000" dirty="0">
                <a:solidFill>
                  <a:srgbClr val="64FFDA"/>
                </a:solidFill>
                <a:latin typeface="Courier New" pitchFamily="34" charset="0"/>
                <a:ea typeface="Courier New" pitchFamily="34" charset="-122"/>
                <a:cs typeface="Courier New" pitchFamily="34" charset="-120"/>
              </a:rPr>
              <a:t>&lt;!-- HTML: first element in &lt;body&gt; --&gt;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&lt;a href="#main-content"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class="skip-link"&gt;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Skip to main content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&lt;/a&gt;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&lt;nav&gt;...(many links)...&lt;/nav&gt;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&lt;main id="main-content"&gt;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&lt;/main&gt;</a:t>
            </a:r>
            <a:endParaRPr lang="en-US" sz="1000" dirty="0"/>
          </a:p>
          <a:p>
            <a:pPr algn="l" indent="0" marL="0">
              <a:buNone/>
            </a:pP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CSS: hidden until focused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.skip-link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position: absolute;</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left: -9999px;</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.skip-link:focus {</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left: 0.5rem;</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top: 0.5rem;</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  z-index: 9999;</a:t>
            </a:r>
            <a:endParaRPr lang="en-US" sz="1000" dirty="0"/>
          </a:p>
          <a:p>
            <a:pPr algn="l" indent="0" marL="0">
              <a:buNone/>
            </a:pPr>
            <a:r>
              <a:rPr lang="en-US" sz="1000" dirty="0">
                <a:solidFill>
                  <a:srgbClr val="64FFDA"/>
                </a:solidFill>
                <a:latin typeface="Courier New" pitchFamily="34" charset="0"/>
                <a:ea typeface="Courier New" pitchFamily="34" charset="-122"/>
                <a:cs typeface="Courier New" pitchFamily="34" charset="-120"/>
              </a:rPr>
              <a: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w="12700">
            <a:solidFill>
              <a:srgbClr val="F0F4FF"/>
            </a:solidFill>
            <a:prstDash val="solid"/>
          </a:ln>
        </p:spPr>
      </p:sp>
      <p:sp>
        <p:nvSpPr>
          <p:cNvPr id="3" name="Shape 1"/>
          <p:cNvSpPr/>
          <p:nvPr/>
        </p:nvSpPr>
        <p:spPr>
          <a:xfrm>
            <a:off x="0" y="0"/>
            <a:ext cx="9144000" cy="64008"/>
          </a:xfrm>
          <a:prstGeom prst="rect">
            <a:avLst/>
          </a:prstGeom>
          <a:solidFill>
            <a:srgbClr val="F7DF1E"/>
          </a:solidFill>
          <a:ln w="12700">
            <a:solidFill>
              <a:srgbClr val="F7DF1E"/>
            </a:solidFill>
            <a:prstDash val="solid"/>
          </a:ln>
        </p:spPr>
      </p:sp>
      <p:sp>
        <p:nvSpPr>
          <p:cNvPr id="4" name="Text 2"/>
          <p:cNvSpPr txBox="1"/>
          <p:nvPr/>
        </p:nvSpPr>
        <p:spPr>
          <a:xfrm>
            <a:off x="457200" y="182880"/>
            <a:ext cx="8229600" cy="548640"/>
          </a:xfrm>
          <a:prstGeom prst="rect">
            <a:avLst/>
          </a:prstGeom>
          <a:noFill/>
          <a:ln/>
        </p:spPr>
        <p:txBody>
          <a:bodyPr wrap="square" lIns="0" tIns="0" rIns="0" bIns="0" rtlCol="0" anchor="ctr"/>
          <a:lstStyle/>
          <a:p>
            <a:pPr algn="l" indent="0" marL="0">
              <a:buNone/>
            </a:pPr>
            <a:r>
              <a:rPr lang="en-US" sz="2800" b="1" dirty="0">
                <a:solidFill>
                  <a:srgbClr val="1A2540"/>
                </a:solidFill>
                <a:latin typeface="Calibri" pitchFamily="34" charset="0"/>
                <a:ea typeface="Calibri" pitchFamily="34" charset="-122"/>
                <a:cs typeface="Calibri" pitchFamily="34" charset="-120"/>
              </a:rPr>
              <a:t>Lighthouse Accessibility Audit</a:t>
            </a:r>
            <a:endParaRPr lang="en-US" sz="2800" dirty="0"/>
          </a:p>
        </p:txBody>
      </p:sp>
      <p:sp>
        <p:nvSpPr>
          <p:cNvPr id="5" name="Shape 3"/>
          <p:cNvSpPr/>
          <p:nvPr/>
        </p:nvSpPr>
        <p:spPr>
          <a:xfrm>
            <a:off x="457200" y="758952"/>
            <a:ext cx="8229600" cy="36576"/>
          </a:xfrm>
          <a:prstGeom prst="rect">
            <a:avLst/>
          </a:prstGeom>
          <a:solidFill>
            <a:srgbClr val="F7DF1E"/>
          </a:solidFill>
          <a:ln w="12700">
            <a:solidFill>
              <a:srgbClr val="F7DF1E"/>
            </a:solidFill>
            <a:prstDash val="solid"/>
          </a:ln>
        </p:spPr>
      </p:sp>
      <p:sp>
        <p:nvSpPr>
          <p:cNvPr id="6" name="Shape 4"/>
          <p:cNvSpPr/>
          <p:nvPr/>
        </p:nvSpPr>
        <p:spPr>
          <a:xfrm>
            <a:off x="365760" y="914400"/>
            <a:ext cx="2560320" cy="2560320"/>
          </a:xfrm>
          <a:prstGeom prst="rect">
            <a:avLst/>
          </a:prstGeom>
          <a:solidFill>
            <a:srgbClr val="E8EDFF"/>
          </a:solidFill>
          <a:ln w="12700">
            <a:solidFill>
              <a:srgbClr val="CBD5FF"/>
            </a:solidFill>
            <a:prstDash val="solid"/>
          </a:ln>
        </p:spPr>
      </p:sp>
      <p:sp>
        <p:nvSpPr>
          <p:cNvPr id="7" name="Text 5"/>
          <p:cNvSpPr txBox="1"/>
          <p:nvPr/>
        </p:nvSpPr>
        <p:spPr>
          <a:xfrm>
            <a:off x="365760" y="1005840"/>
            <a:ext cx="2560320" cy="1371600"/>
          </a:xfrm>
          <a:prstGeom prst="rect">
            <a:avLst/>
          </a:prstGeom>
          <a:noFill/>
          <a:ln/>
        </p:spPr>
        <p:txBody>
          <a:bodyPr wrap="square" lIns="0" tIns="0" rIns="0" bIns="0" rtlCol="0" anchor="ctr"/>
          <a:lstStyle/>
          <a:p>
            <a:pPr algn="ctr" indent="0" marL="0">
              <a:buNone/>
            </a:pPr>
            <a:r>
              <a:rPr lang="en-US" sz="7200" b="1" dirty="0">
                <a:solidFill>
                  <a:srgbClr val="27C93F"/>
                </a:solidFill>
                <a:latin typeface="Calibri" pitchFamily="34" charset="0"/>
                <a:ea typeface="Calibri" pitchFamily="34" charset="-122"/>
                <a:cs typeface="Calibri" pitchFamily="34" charset="-120"/>
              </a:rPr>
              <a:t>95</a:t>
            </a:r>
            <a:endParaRPr lang="en-US" sz="7200" dirty="0"/>
          </a:p>
        </p:txBody>
      </p:sp>
      <p:sp>
        <p:nvSpPr>
          <p:cNvPr id="8" name="Text 6"/>
          <p:cNvSpPr txBox="1"/>
          <p:nvPr/>
        </p:nvSpPr>
        <p:spPr>
          <a:xfrm>
            <a:off x="365760" y="2377440"/>
            <a:ext cx="2560320" cy="548640"/>
          </a:xfrm>
          <a:prstGeom prst="rect">
            <a:avLst/>
          </a:prstGeom>
          <a:noFill/>
          <a:ln/>
        </p:spPr>
        <p:txBody>
          <a:bodyPr wrap="square" lIns="0" tIns="0" rIns="0" bIns="0" rtlCol="0" anchor="ctr"/>
          <a:lstStyle/>
          <a:p>
            <a:pPr algn="ctr" indent="0" marL="0">
              <a:buNone/>
            </a:pPr>
            <a:r>
              <a:rPr lang="en-US" sz="1200" dirty="0">
                <a:solidFill>
                  <a:srgbClr val="8892B0"/>
                </a:solidFill>
                <a:latin typeface="Calibri" pitchFamily="34" charset="0"/>
                <a:ea typeface="Calibri" pitchFamily="34" charset="-122"/>
                <a:cs typeface="Calibri" pitchFamily="34" charset="-120"/>
              </a:rPr>
              <a:t>Lighthouse</a:t>
            </a:r>
            <a:endParaRPr lang="en-US" sz="1200" dirty="0"/>
          </a:p>
          <a:p>
            <a:pPr algn="ctr" indent="0" marL="0">
              <a:buNone/>
            </a:pPr>
            <a:r>
              <a:rPr lang="en-US" sz="1200" dirty="0">
                <a:solidFill>
                  <a:srgbClr val="8892B0"/>
                </a:solidFill>
                <a:latin typeface="Calibri" pitchFamily="34" charset="0"/>
                <a:ea typeface="Calibri" pitchFamily="34" charset="-122"/>
                <a:cs typeface="Calibri" pitchFamily="34" charset="-120"/>
              </a:rPr>
              <a:t>A11y Score</a:t>
            </a:r>
            <a:endParaRPr lang="en-US" sz="1200" dirty="0"/>
          </a:p>
        </p:txBody>
      </p:sp>
      <p:sp>
        <p:nvSpPr>
          <p:cNvPr id="9" name="Shape 7"/>
          <p:cNvSpPr/>
          <p:nvPr/>
        </p:nvSpPr>
        <p:spPr>
          <a:xfrm>
            <a:off x="3108960" y="914400"/>
            <a:ext cx="5577840" cy="3977640"/>
          </a:xfrm>
          <a:prstGeom prst="rect">
            <a:avLst/>
          </a:prstGeom>
          <a:solidFill>
            <a:srgbClr val="1E2336"/>
          </a:solidFill>
          <a:ln w="12700">
            <a:solidFill>
              <a:srgbClr val="2D3250"/>
            </a:solidFill>
            <a:prstDash val="solid"/>
          </a:ln>
        </p:spPr>
      </p:sp>
      <p:sp>
        <p:nvSpPr>
          <p:cNvPr id="10" name="Shape 8"/>
          <p:cNvSpPr/>
          <p:nvPr/>
        </p:nvSpPr>
        <p:spPr>
          <a:xfrm>
            <a:off x="3227832" y="1014984"/>
            <a:ext cx="118872" cy="118872"/>
          </a:xfrm>
          <a:prstGeom prst="ellipse">
            <a:avLst/>
          </a:prstGeom>
          <a:solidFill>
            <a:srgbClr val="FF5F56"/>
          </a:solidFill>
          <a:ln w="12700">
            <a:solidFill>
              <a:srgbClr val="FF5F56"/>
            </a:solidFill>
            <a:prstDash val="solid"/>
          </a:ln>
        </p:spPr>
      </p:sp>
      <p:sp>
        <p:nvSpPr>
          <p:cNvPr id="11" name="Shape 9"/>
          <p:cNvSpPr/>
          <p:nvPr/>
        </p:nvSpPr>
        <p:spPr>
          <a:xfrm>
            <a:off x="3429000" y="1014984"/>
            <a:ext cx="118872" cy="118872"/>
          </a:xfrm>
          <a:prstGeom prst="ellipse">
            <a:avLst/>
          </a:prstGeom>
          <a:solidFill>
            <a:srgbClr val="FFBD2E"/>
          </a:solidFill>
          <a:ln w="12700">
            <a:solidFill>
              <a:srgbClr val="FFBD2E"/>
            </a:solidFill>
            <a:prstDash val="solid"/>
          </a:ln>
        </p:spPr>
      </p:sp>
      <p:sp>
        <p:nvSpPr>
          <p:cNvPr id="12" name="Shape 10"/>
          <p:cNvSpPr/>
          <p:nvPr/>
        </p:nvSpPr>
        <p:spPr>
          <a:xfrm>
            <a:off x="3630168" y="1014984"/>
            <a:ext cx="118872" cy="118872"/>
          </a:xfrm>
          <a:prstGeom prst="ellipse">
            <a:avLst/>
          </a:prstGeom>
          <a:solidFill>
            <a:srgbClr val="27C93F"/>
          </a:solidFill>
          <a:ln w="12700">
            <a:solidFill>
              <a:srgbClr val="27C93F"/>
            </a:solidFill>
            <a:prstDash val="solid"/>
          </a:ln>
        </p:spPr>
      </p:sp>
      <p:sp>
        <p:nvSpPr>
          <p:cNvPr id="13" name="Text 11"/>
          <p:cNvSpPr txBox="1"/>
          <p:nvPr/>
        </p:nvSpPr>
        <p:spPr>
          <a:xfrm>
            <a:off x="3246120" y="1243584"/>
            <a:ext cx="5303520" cy="310896"/>
          </a:xfrm>
          <a:prstGeom prst="rect">
            <a:avLst/>
          </a:prstGeom>
          <a:noFill/>
          <a:ln/>
        </p:spPr>
        <p:txBody>
          <a:bodyPr wrap="square" lIns="0" tIns="0" rIns="0" bIns="0" rtlCol="0" anchor="ctr"/>
          <a:lstStyle/>
          <a:p>
            <a:pPr algn="l" indent="0" marL="0">
              <a:buNone/>
            </a:pPr>
            <a:r>
              <a:rPr lang="en-US" sz="1100" dirty="0">
                <a:solidFill>
                  <a:srgbClr val="64FFDA"/>
                </a:solidFill>
                <a:latin typeface="Courier New" pitchFamily="34" charset="0"/>
                <a:ea typeface="Courier New" pitchFamily="34" charset="-122"/>
                <a:cs typeface="Courier New" pitchFamily="34" charset="-120"/>
              </a:rPr>
              <a:t>1. Open Chrome DevTools (F12)</a:t>
            </a:r>
            <a:endParaRPr lang="en-US" sz="1100" dirty="0"/>
          </a:p>
        </p:txBody>
      </p:sp>
      <p:sp>
        <p:nvSpPr>
          <p:cNvPr id="14" name="Text 12"/>
          <p:cNvSpPr txBox="1"/>
          <p:nvPr/>
        </p:nvSpPr>
        <p:spPr>
          <a:xfrm>
            <a:off x="3246120" y="1591056"/>
            <a:ext cx="5303520" cy="310896"/>
          </a:xfrm>
          <a:prstGeom prst="rect">
            <a:avLst/>
          </a:prstGeom>
          <a:noFill/>
          <a:ln/>
        </p:spPr>
        <p:txBody>
          <a:bodyPr wrap="square" lIns="0" tIns="0" rIns="0" bIns="0" rtlCol="0" anchor="ctr"/>
          <a:lstStyle/>
          <a:p>
            <a:pPr algn="l" indent="0" marL="0">
              <a:buNone/>
            </a:pPr>
            <a:r>
              <a:rPr lang="en-US" sz="1100" dirty="0">
                <a:solidFill>
                  <a:srgbClr val="64FFDA"/>
                </a:solidFill>
                <a:latin typeface="Courier New" pitchFamily="34" charset="0"/>
                <a:ea typeface="Courier New" pitchFamily="34" charset="-122"/>
                <a:cs typeface="Courier New" pitchFamily="34" charset="-120"/>
              </a:rPr>
              <a:t>2. Click the "Lighthouse" tab</a:t>
            </a:r>
            <a:endParaRPr lang="en-US" sz="1100" dirty="0"/>
          </a:p>
        </p:txBody>
      </p:sp>
      <p:sp>
        <p:nvSpPr>
          <p:cNvPr id="15" name="Text 13"/>
          <p:cNvSpPr txBox="1"/>
          <p:nvPr/>
        </p:nvSpPr>
        <p:spPr>
          <a:xfrm>
            <a:off x="3246120" y="1938528"/>
            <a:ext cx="5303520" cy="310896"/>
          </a:xfrm>
          <a:prstGeom prst="rect">
            <a:avLst/>
          </a:prstGeom>
          <a:noFill/>
          <a:ln/>
        </p:spPr>
        <p:txBody>
          <a:bodyPr wrap="square" lIns="0" tIns="0" rIns="0" bIns="0" rtlCol="0" anchor="ctr"/>
          <a:lstStyle/>
          <a:p>
            <a:pPr algn="l" indent="0" marL="0">
              <a:buNone/>
            </a:pPr>
            <a:r>
              <a:rPr lang="en-US" sz="1100" dirty="0">
                <a:solidFill>
                  <a:srgbClr val="64FFDA"/>
                </a:solidFill>
                <a:latin typeface="Courier New" pitchFamily="34" charset="0"/>
                <a:ea typeface="Courier New" pitchFamily="34" charset="-122"/>
                <a:cs typeface="Courier New" pitchFamily="34" charset="-120"/>
              </a:rPr>
              <a:t>3. Check "Accessibility" only</a:t>
            </a:r>
            <a:endParaRPr lang="en-US" sz="1100" dirty="0"/>
          </a:p>
        </p:txBody>
      </p:sp>
      <p:sp>
        <p:nvSpPr>
          <p:cNvPr id="16" name="Text 14"/>
          <p:cNvSpPr txBox="1"/>
          <p:nvPr/>
        </p:nvSpPr>
        <p:spPr>
          <a:xfrm>
            <a:off x="3246120" y="2286000"/>
            <a:ext cx="5303520" cy="310896"/>
          </a:xfrm>
          <a:prstGeom prst="rect">
            <a:avLst/>
          </a:prstGeom>
          <a:noFill/>
          <a:ln/>
        </p:spPr>
        <p:txBody>
          <a:bodyPr wrap="square" lIns="0" tIns="0" rIns="0" bIns="0" rtlCol="0" anchor="ctr"/>
          <a:lstStyle/>
          <a:p>
            <a:pPr algn="l" indent="0" marL="0">
              <a:buNone/>
            </a:pPr>
            <a:r>
              <a:rPr lang="en-US" sz="1100" dirty="0">
                <a:solidFill>
                  <a:srgbClr val="64FFDA"/>
                </a:solidFill>
                <a:latin typeface="Courier New" pitchFamily="34" charset="0"/>
                <a:ea typeface="Courier New" pitchFamily="34" charset="-122"/>
                <a:cs typeface="Courier New" pitchFamily="34" charset="-120"/>
              </a:rPr>
              <a:t>4. Click "Analyze page load"</a:t>
            </a:r>
            <a:endParaRPr lang="en-US" sz="1100" dirty="0"/>
          </a:p>
        </p:txBody>
      </p:sp>
      <p:sp>
        <p:nvSpPr>
          <p:cNvPr id="17" name="Text 15"/>
          <p:cNvSpPr txBox="1"/>
          <p:nvPr/>
        </p:nvSpPr>
        <p:spPr>
          <a:xfrm>
            <a:off x="3246120" y="2633472"/>
            <a:ext cx="5303520" cy="310896"/>
          </a:xfrm>
          <a:prstGeom prst="rect">
            <a:avLst/>
          </a:prstGeom>
          <a:noFill/>
          <a:ln/>
        </p:spPr>
        <p:txBody>
          <a:bodyPr wrap="square" lIns="0" tIns="0" rIns="0" bIns="0" rtlCol="0" anchor="ctr"/>
          <a:lstStyle/>
          <a:p>
            <a:pPr algn="l" indent="0" marL="0">
              <a:buNone/>
            </a:pPr>
            <a:r>
              <a:rPr lang="en-US" sz="1100" dirty="0">
                <a:solidFill>
                  <a:srgbClr val="64FFDA"/>
                </a:solidFill>
                <a:latin typeface="Courier New" pitchFamily="34" charset="0"/>
                <a:ea typeface="Courier New" pitchFamily="34" charset="-122"/>
                <a:cs typeface="Courier New" pitchFamily="34" charset="-120"/>
              </a:rPr>
              <a:t>5. Read the score (0–100)</a:t>
            </a:r>
            <a:endParaRPr lang="en-US" sz="1100" dirty="0"/>
          </a:p>
        </p:txBody>
      </p:sp>
      <p:sp>
        <p:nvSpPr>
          <p:cNvPr id="18" name="Text 16"/>
          <p:cNvSpPr txBox="1"/>
          <p:nvPr/>
        </p:nvSpPr>
        <p:spPr>
          <a:xfrm>
            <a:off x="3246120" y="2980944"/>
            <a:ext cx="5303520" cy="310896"/>
          </a:xfrm>
          <a:prstGeom prst="rect">
            <a:avLst/>
          </a:prstGeom>
          <a:noFill/>
          <a:ln/>
        </p:spPr>
        <p:txBody>
          <a:bodyPr wrap="square" lIns="0" tIns="0" rIns="0" bIns="0" rtlCol="0" anchor="ctr"/>
          <a:lstStyle/>
          <a:p>
            <a:pPr algn="l" indent="0" marL="0">
              <a:buNone/>
            </a:pPr>
            <a:r>
              <a:rPr lang="en-US" sz="1100" dirty="0">
                <a:solidFill>
                  <a:srgbClr val="64FFDA"/>
                </a:solidFill>
                <a:latin typeface="Courier New" pitchFamily="34" charset="0"/>
                <a:ea typeface="Courier New" pitchFamily="34" charset="-122"/>
                <a:cs typeface="Courier New" pitchFamily="34" charset="-120"/>
              </a:rPr>
              <a:t>6. Expand each failed audit</a:t>
            </a:r>
            <a:endParaRPr lang="en-US" sz="1100" dirty="0"/>
          </a:p>
        </p:txBody>
      </p:sp>
      <p:sp>
        <p:nvSpPr>
          <p:cNvPr id="19" name="Text 17"/>
          <p:cNvSpPr txBox="1"/>
          <p:nvPr/>
        </p:nvSpPr>
        <p:spPr>
          <a:xfrm>
            <a:off x="3246120" y="3328416"/>
            <a:ext cx="5303520" cy="310896"/>
          </a:xfrm>
          <a:prstGeom prst="rect">
            <a:avLst/>
          </a:prstGeom>
          <a:noFill/>
          <a:ln/>
        </p:spPr>
        <p:txBody>
          <a:bodyPr wrap="square" lIns="0" tIns="0" rIns="0" bIns="0" rtlCol="0" anchor="ctr"/>
          <a:lstStyle/>
          <a:p>
            <a:pPr algn="l" indent="0" marL="0">
              <a:buNone/>
            </a:pPr>
            <a:r>
              <a:rPr lang="en-US" sz="1100" dirty="0">
                <a:solidFill>
                  <a:srgbClr val="64FFDA"/>
                </a:solidFill>
                <a:latin typeface="Courier New" pitchFamily="34" charset="0"/>
                <a:ea typeface="Courier New" pitchFamily="34" charset="-122"/>
                <a:cs typeface="Courier New" pitchFamily="34" charset="-120"/>
              </a:rPr>
              <a:t>7. Click "Learn more" links</a:t>
            </a:r>
            <a:endParaRPr lang="en-US" sz="1100" dirty="0"/>
          </a:p>
        </p:txBody>
      </p:sp>
      <p:sp>
        <p:nvSpPr>
          <p:cNvPr id="20" name="Text 18"/>
          <p:cNvSpPr txBox="1"/>
          <p:nvPr/>
        </p:nvSpPr>
        <p:spPr>
          <a:xfrm>
            <a:off x="3246120" y="3675888"/>
            <a:ext cx="5303520" cy="310896"/>
          </a:xfrm>
          <a:prstGeom prst="rect">
            <a:avLst/>
          </a:prstGeom>
          <a:noFill/>
          <a:ln/>
        </p:spPr>
        <p:txBody>
          <a:bodyPr wrap="square" lIns="0" tIns="0" rIns="0" bIns="0" rtlCol="0" anchor="ctr"/>
          <a:lstStyle/>
          <a:p>
            <a:pPr algn="l" indent="0" marL="0">
              <a:buNone/>
            </a:pPr>
            <a:r>
              <a:rPr lang="en-US" sz="1100" dirty="0">
                <a:solidFill>
                  <a:srgbClr val="64FFDA"/>
                </a:solidFill>
                <a:latin typeface="Courier New" pitchFamily="34" charset="0"/>
                <a:ea typeface="Courier New" pitchFamily="34" charset="-122"/>
                <a:cs typeface="Courier New" pitchFamily="34" charset="-120"/>
              </a:rPr>
              <a:t>8. Fix and re-run to verify</a:t>
            </a:r>
            <a:endParaRPr lang="en-US" sz="1100" dirty="0"/>
          </a:p>
        </p:txBody>
      </p:sp>
      <p:sp>
        <p:nvSpPr>
          <p:cNvPr id="21" name="Text 19"/>
          <p:cNvSpPr txBox="1"/>
          <p:nvPr/>
        </p:nvSpPr>
        <p:spPr>
          <a:xfrm>
            <a:off x="365760" y="4663440"/>
            <a:ext cx="8412480" cy="274320"/>
          </a:xfrm>
          <a:prstGeom prst="rect">
            <a:avLst/>
          </a:prstGeom>
          <a:noFill/>
          <a:ln/>
        </p:spPr>
        <p:txBody>
          <a:bodyPr wrap="square" lIns="0" tIns="0" rIns="0" bIns="0" rtlCol="0" anchor="ctr"/>
          <a:lstStyle/>
          <a:p>
            <a:pPr algn="ctr" indent="0" marL="0">
              <a:buNone/>
            </a:pPr>
            <a:r>
              <a:rPr lang="en-US" sz="1050" dirty="0">
                <a:solidFill>
                  <a:srgbClr val="8892B0"/>
                </a:solidFill>
                <a:latin typeface="Calibri" pitchFamily="34" charset="0"/>
                <a:ea typeface="Calibri" pitchFamily="34" charset="-122"/>
                <a:cs typeface="Calibri" pitchFamily="34" charset="-120"/>
              </a:rPr>
              <a:t>Common failures: missing alt text, insufficient contrast, unlabeled form inputs, missing document language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w="12700">
            <a:solidFill>
              <a:srgbClr val="1A2540"/>
            </a:solidFill>
            <a:prstDash val="solid"/>
          </a:ln>
        </p:spPr>
      </p:sp>
      <p:sp>
        <p:nvSpPr>
          <p:cNvPr id="3" name="Shape 1"/>
          <p:cNvSpPr/>
          <p:nvPr/>
        </p:nvSpPr>
        <p:spPr>
          <a:xfrm>
            <a:off x="0" y="0"/>
            <a:ext cx="9144000" cy="109728"/>
          </a:xfrm>
          <a:prstGeom prst="rect">
            <a:avLst/>
          </a:prstGeom>
          <a:solidFill>
            <a:srgbClr val="F7DF1E"/>
          </a:solidFill>
          <a:ln w="12700">
            <a:solidFill>
              <a:srgbClr val="F7DF1E"/>
            </a:solidFill>
            <a:prstDash val="solid"/>
          </a:ln>
        </p:spPr>
      </p:sp>
      <p:sp>
        <p:nvSpPr>
          <p:cNvPr id="4" name="Text 2"/>
          <p:cNvSpPr txBox="1"/>
          <p:nvPr/>
        </p:nvSpPr>
        <p:spPr>
          <a:xfrm>
            <a:off x="457200" y="228600"/>
            <a:ext cx="8229600" cy="54864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Summary &amp; Homework</a:t>
            </a:r>
            <a:endParaRPr lang="en-US" sz="2600" dirty="0"/>
          </a:p>
        </p:txBody>
      </p:sp>
      <p:sp>
        <p:nvSpPr>
          <p:cNvPr id="5" name="Shape 3"/>
          <p:cNvSpPr/>
          <p:nvPr/>
        </p:nvSpPr>
        <p:spPr>
          <a:xfrm>
            <a:off x="457200" y="1005840"/>
            <a:ext cx="3931920" cy="777240"/>
          </a:xfrm>
          <a:prstGeom prst="rect">
            <a:avLst/>
          </a:prstGeom>
          <a:solidFill>
            <a:srgbClr val="243055"/>
          </a:solidFill>
          <a:ln w="12700">
            <a:solidFill>
              <a:srgbClr val="3A4F7A"/>
            </a:solidFill>
            <a:prstDash val="solid"/>
          </a:ln>
        </p:spPr>
      </p:sp>
      <p:sp>
        <p:nvSpPr>
          <p:cNvPr id="6" name="Text 4"/>
          <p:cNvSpPr txBox="1"/>
          <p:nvPr/>
        </p:nvSpPr>
        <p:spPr>
          <a:xfrm>
            <a:off x="594360" y="10515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Semantic HTML</a:t>
            </a:r>
            <a:endParaRPr lang="en-US" sz="1300" dirty="0"/>
          </a:p>
        </p:txBody>
      </p:sp>
      <p:sp>
        <p:nvSpPr>
          <p:cNvPr id="7" name="Text 5"/>
          <p:cNvSpPr txBox="1"/>
          <p:nvPr/>
        </p:nvSpPr>
        <p:spPr>
          <a:xfrm>
            <a:off x="594360" y="13898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&lt;header&gt;, &lt;nav&gt;, &lt;main&gt;, &lt;article&gt;</a:t>
            </a:r>
            <a:endParaRPr lang="en-US" sz="1100" dirty="0"/>
          </a:p>
        </p:txBody>
      </p:sp>
      <p:sp>
        <p:nvSpPr>
          <p:cNvPr id="8" name="Shape 6"/>
          <p:cNvSpPr/>
          <p:nvPr/>
        </p:nvSpPr>
        <p:spPr>
          <a:xfrm>
            <a:off x="4663440" y="1005840"/>
            <a:ext cx="3931920" cy="777240"/>
          </a:xfrm>
          <a:prstGeom prst="rect">
            <a:avLst/>
          </a:prstGeom>
          <a:solidFill>
            <a:srgbClr val="243055"/>
          </a:solidFill>
          <a:ln w="12700">
            <a:solidFill>
              <a:srgbClr val="3A4F7A"/>
            </a:solidFill>
            <a:prstDash val="solid"/>
          </a:ln>
        </p:spPr>
      </p:sp>
      <p:sp>
        <p:nvSpPr>
          <p:cNvPr id="9" name="Text 7"/>
          <p:cNvSpPr txBox="1"/>
          <p:nvPr/>
        </p:nvSpPr>
        <p:spPr>
          <a:xfrm>
            <a:off x="4800600" y="10515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Native elements</a:t>
            </a:r>
            <a:endParaRPr lang="en-US" sz="1300" dirty="0"/>
          </a:p>
        </p:txBody>
      </p:sp>
      <p:sp>
        <p:nvSpPr>
          <p:cNvPr id="10" name="Text 8"/>
          <p:cNvSpPr txBox="1"/>
          <p:nvPr/>
        </p:nvSpPr>
        <p:spPr>
          <a:xfrm>
            <a:off x="4800600" y="13898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&lt;button&gt; not &lt;div onclick&gt;</a:t>
            </a:r>
            <a:endParaRPr lang="en-US" sz="1100" dirty="0"/>
          </a:p>
        </p:txBody>
      </p:sp>
      <p:sp>
        <p:nvSpPr>
          <p:cNvPr id="11" name="Shape 9"/>
          <p:cNvSpPr/>
          <p:nvPr/>
        </p:nvSpPr>
        <p:spPr>
          <a:xfrm>
            <a:off x="457200" y="1920240"/>
            <a:ext cx="3931920" cy="777240"/>
          </a:xfrm>
          <a:prstGeom prst="rect">
            <a:avLst/>
          </a:prstGeom>
          <a:solidFill>
            <a:srgbClr val="243055"/>
          </a:solidFill>
          <a:ln w="12700">
            <a:solidFill>
              <a:srgbClr val="3A4F7A"/>
            </a:solidFill>
            <a:prstDash val="solid"/>
          </a:ln>
        </p:spPr>
      </p:sp>
      <p:sp>
        <p:nvSpPr>
          <p:cNvPr id="12" name="Text 10"/>
          <p:cNvSpPr txBox="1"/>
          <p:nvPr/>
        </p:nvSpPr>
        <p:spPr>
          <a:xfrm>
            <a:off x="594360" y="19659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Alt text</a:t>
            </a:r>
            <a:endParaRPr lang="en-US" sz="1300" dirty="0"/>
          </a:p>
        </p:txBody>
      </p:sp>
      <p:sp>
        <p:nvSpPr>
          <p:cNvPr id="13" name="Text 11"/>
          <p:cNvSpPr txBox="1"/>
          <p:nvPr/>
        </p:nvSpPr>
        <p:spPr>
          <a:xfrm>
            <a:off x="594360" y="23042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Describe purpose; "" for decorative</a:t>
            </a:r>
            <a:endParaRPr lang="en-US" sz="1100" dirty="0"/>
          </a:p>
        </p:txBody>
      </p:sp>
      <p:sp>
        <p:nvSpPr>
          <p:cNvPr id="14" name="Shape 12"/>
          <p:cNvSpPr/>
          <p:nvPr/>
        </p:nvSpPr>
        <p:spPr>
          <a:xfrm>
            <a:off x="4663440" y="1920240"/>
            <a:ext cx="3931920" cy="777240"/>
          </a:xfrm>
          <a:prstGeom prst="rect">
            <a:avLst/>
          </a:prstGeom>
          <a:solidFill>
            <a:srgbClr val="243055"/>
          </a:solidFill>
          <a:ln w="12700">
            <a:solidFill>
              <a:srgbClr val="3A4F7A"/>
            </a:solidFill>
            <a:prstDash val="solid"/>
          </a:ln>
        </p:spPr>
      </p:sp>
      <p:sp>
        <p:nvSpPr>
          <p:cNvPr id="15" name="Text 13"/>
          <p:cNvSpPr txBox="1"/>
          <p:nvPr/>
        </p:nvSpPr>
        <p:spPr>
          <a:xfrm>
            <a:off x="4800600" y="19659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ARIA attributes</a:t>
            </a:r>
            <a:endParaRPr lang="en-US" sz="1300" dirty="0"/>
          </a:p>
        </p:txBody>
      </p:sp>
      <p:sp>
        <p:nvSpPr>
          <p:cNvPr id="16" name="Text 14"/>
          <p:cNvSpPr txBox="1"/>
          <p:nvPr/>
        </p:nvSpPr>
        <p:spPr>
          <a:xfrm>
            <a:off x="4800600" y="23042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aria-label, aria-hidden, aria-expanded</a:t>
            </a:r>
            <a:endParaRPr lang="en-US" sz="1100" dirty="0"/>
          </a:p>
        </p:txBody>
      </p:sp>
      <p:sp>
        <p:nvSpPr>
          <p:cNvPr id="17" name="Shape 15"/>
          <p:cNvSpPr/>
          <p:nvPr/>
        </p:nvSpPr>
        <p:spPr>
          <a:xfrm>
            <a:off x="457200" y="2834640"/>
            <a:ext cx="3931920" cy="777240"/>
          </a:xfrm>
          <a:prstGeom prst="rect">
            <a:avLst/>
          </a:prstGeom>
          <a:solidFill>
            <a:srgbClr val="243055"/>
          </a:solidFill>
          <a:ln w="12700">
            <a:solidFill>
              <a:srgbClr val="3A4F7A"/>
            </a:solidFill>
            <a:prstDash val="solid"/>
          </a:ln>
        </p:spPr>
      </p:sp>
      <p:sp>
        <p:nvSpPr>
          <p:cNvPr id="18" name="Text 16"/>
          <p:cNvSpPr txBox="1"/>
          <p:nvPr/>
        </p:nvSpPr>
        <p:spPr>
          <a:xfrm>
            <a:off x="594360" y="28803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Keyboard nav</a:t>
            </a:r>
            <a:endParaRPr lang="en-US" sz="1300" dirty="0"/>
          </a:p>
        </p:txBody>
      </p:sp>
      <p:sp>
        <p:nvSpPr>
          <p:cNvPr id="19" name="Text 17"/>
          <p:cNvSpPr txBox="1"/>
          <p:nvPr/>
        </p:nvSpPr>
        <p:spPr>
          <a:xfrm>
            <a:off x="594360" y="32186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Tab, Enter, Space, Arrows must work</a:t>
            </a:r>
            <a:endParaRPr lang="en-US" sz="1100" dirty="0"/>
          </a:p>
        </p:txBody>
      </p:sp>
      <p:sp>
        <p:nvSpPr>
          <p:cNvPr id="20" name="Shape 18"/>
          <p:cNvSpPr/>
          <p:nvPr/>
        </p:nvSpPr>
        <p:spPr>
          <a:xfrm>
            <a:off x="4663440" y="2834640"/>
            <a:ext cx="3931920" cy="777240"/>
          </a:xfrm>
          <a:prstGeom prst="rect">
            <a:avLst/>
          </a:prstGeom>
          <a:solidFill>
            <a:srgbClr val="243055"/>
          </a:solidFill>
          <a:ln w="12700">
            <a:solidFill>
              <a:srgbClr val="3A4F7A"/>
            </a:solidFill>
            <a:prstDash val="solid"/>
          </a:ln>
        </p:spPr>
      </p:sp>
      <p:sp>
        <p:nvSpPr>
          <p:cNvPr id="21" name="Text 19"/>
          <p:cNvSpPr txBox="1"/>
          <p:nvPr/>
        </p:nvSpPr>
        <p:spPr>
          <a:xfrm>
            <a:off x="4800600" y="2880360"/>
            <a:ext cx="3657600" cy="320040"/>
          </a:xfrm>
          <a:prstGeom prst="rect">
            <a:avLst/>
          </a:prstGeom>
          <a:noFill/>
          <a:ln/>
        </p:spPr>
        <p:txBody>
          <a:bodyPr wrap="square" lIns="0" tIns="0" rIns="0" bIns="0" rtlCol="0" anchor="ctr"/>
          <a:lstStyle/>
          <a:p>
            <a:pPr algn="l" indent="0" marL="0">
              <a:buNone/>
            </a:pPr>
            <a:r>
              <a:rPr lang="en-US" sz="1300" b="1" dirty="0">
                <a:solidFill>
                  <a:srgbClr val="F7DF1E"/>
                </a:solidFill>
                <a:latin typeface="Calibri" pitchFamily="34" charset="0"/>
                <a:ea typeface="Calibri" pitchFamily="34" charset="-122"/>
                <a:cs typeface="Calibri" pitchFamily="34" charset="-120"/>
              </a:rPr>
              <a:t>Color contrast</a:t>
            </a:r>
            <a:endParaRPr lang="en-US" sz="1300" dirty="0"/>
          </a:p>
        </p:txBody>
      </p:sp>
      <p:sp>
        <p:nvSpPr>
          <p:cNvPr id="22" name="Text 20"/>
          <p:cNvSpPr txBox="1"/>
          <p:nvPr/>
        </p:nvSpPr>
        <p:spPr>
          <a:xfrm>
            <a:off x="4800600" y="3218688"/>
            <a:ext cx="3657600" cy="274320"/>
          </a:xfrm>
          <a:prstGeom prst="rect">
            <a:avLst/>
          </a:prstGeom>
          <a:noFill/>
          <a:ln/>
        </p:spPr>
        <p:txBody>
          <a:bodyPr wrap="square" lIns="0" tIns="0" rIns="0" bIns="0" rtlCol="0" anchor="ctr"/>
          <a:lstStyle/>
          <a:p>
            <a:pPr algn="l" indent="0" marL="0">
              <a:buNone/>
            </a:pPr>
            <a:r>
              <a:rPr lang="en-US" sz="1100" dirty="0">
                <a:solidFill>
                  <a:srgbClr val="CDD6F4"/>
                </a:solidFill>
                <a:latin typeface="Calibri" pitchFamily="34" charset="0"/>
                <a:ea typeface="Calibri" pitchFamily="34" charset="-122"/>
                <a:cs typeface="Calibri" pitchFamily="34" charset="-120"/>
              </a:rPr>
              <a:t>WCAG AA: 4.5:1 minimum ratio</a:t>
            </a:r>
            <a:endParaRPr lang="en-US" sz="1100" dirty="0"/>
          </a:p>
        </p:txBody>
      </p:sp>
      <p:sp>
        <p:nvSpPr>
          <p:cNvPr id="23" name="Shape 21"/>
          <p:cNvSpPr/>
          <p:nvPr/>
        </p:nvSpPr>
        <p:spPr>
          <a:xfrm>
            <a:off x="457200" y="3886200"/>
            <a:ext cx="8229600" cy="960120"/>
          </a:xfrm>
          <a:prstGeom prst="rect">
            <a:avLst/>
          </a:prstGeom>
          <a:solidFill>
            <a:srgbClr val="162030"/>
          </a:solidFill>
          <a:ln w="12700">
            <a:solidFill>
              <a:srgbClr val="F7DF1E"/>
            </a:solidFill>
            <a:prstDash val="solid"/>
          </a:ln>
        </p:spPr>
      </p:sp>
      <p:sp>
        <p:nvSpPr>
          <p:cNvPr id="24" name="Text 22"/>
          <p:cNvSpPr txBox="1"/>
          <p:nvPr/>
        </p:nvSpPr>
        <p:spPr>
          <a:xfrm>
            <a:off x="548640" y="3931920"/>
            <a:ext cx="1280160" cy="320040"/>
          </a:xfrm>
          <a:prstGeom prst="rect">
            <a:avLst/>
          </a:prstGeom>
          <a:noFill/>
          <a:ln/>
        </p:spPr>
        <p:txBody>
          <a:bodyPr wrap="square" lIns="0" tIns="0" rIns="0" bIns="0" rtlCol="0" anchor="ctr"/>
          <a:lstStyle/>
          <a:p>
            <a:pPr algn="l" indent="0" marL="0">
              <a:buNone/>
            </a:pPr>
            <a:r>
              <a:rPr lang="en-US" sz="900" b="1" dirty="0">
                <a:solidFill>
                  <a:srgbClr val="F7DF1E"/>
                </a:solidFill>
                <a:latin typeface="Calibri" pitchFamily="34" charset="0"/>
                <a:ea typeface="Calibri" pitchFamily="34" charset="-122"/>
                <a:cs typeface="Calibri" pitchFamily="34" charset="-120"/>
              </a:rPr>
              <a:t>HOMEWORK</a:t>
            </a:r>
            <a:endParaRPr lang="en-US" sz="900" dirty="0"/>
          </a:p>
        </p:txBody>
      </p:sp>
      <p:sp>
        <p:nvSpPr>
          <p:cNvPr id="25" name="Text 23"/>
          <p:cNvSpPr txBox="1"/>
          <p:nvPr/>
        </p:nvSpPr>
        <p:spPr>
          <a:xfrm>
            <a:off x="548640" y="4251960"/>
            <a:ext cx="7955280" cy="502920"/>
          </a:xfrm>
          <a:prstGeom prst="rect">
            <a:avLst/>
          </a:prstGeom>
          <a:noFill/>
          <a:ln/>
        </p:spPr>
        <p:txBody>
          <a:bodyPr wrap="square" lIns="0" tIns="0" rIns="0" bIns="0"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Run Lighthouse on your personal site and screenshot the Accessibility score. Fix at least 3 failing audits. Re-run and screenshot the improved score. Post both screenshots to the course Discord by Thursday.</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Gachon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Accessibility</dc:title>
  <dc:subject>Web Programming K0126002</dc:subject>
  <dc:creator>Dr. Toshpulatov</dc:creator>
  <cp:lastModifiedBy>Dr. Toshpulatov</cp:lastModifiedBy>
  <cp:revision>1</cp:revision>
  <dcterms:created xsi:type="dcterms:W3CDTF">2026-10-21T09:46:57Z</dcterms:created>
  <dcterms:modified xsi:type="dcterms:W3CDTF">2026-10-21T09:46:57Z</dcterms:modified>
</cp:coreProperties>
</file>