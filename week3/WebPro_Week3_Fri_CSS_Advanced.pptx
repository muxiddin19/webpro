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DFA"/>
                </a:solidFill>
                <a:latin typeface="Calibri"/>
              </a:rPr>
              <a:t>K0126002 — Web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CSS Advanced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B8A6"/>
                </a:solidFill>
                <a:latin typeface="Calibri"/>
              </a:rPr>
              <a:t>Week 3 · Friday 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11274552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DFA"/>
                </a:solidFill>
                <a:latin typeface="Calibri"/>
              </a:rPr>
              <a:t>→  CSS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383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DFA"/>
                </a:solidFill>
                <a:latin typeface="Calibri"/>
              </a:rPr>
              <a:t>→  Pseudo-classes &amp; Pseudo-elements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383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DFA"/>
                </a:solidFill>
                <a:latin typeface="Calibri"/>
              </a:rPr>
              <a:t>→  Transitions &amp; Animations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5020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DFA"/>
                </a:solidFill>
                <a:latin typeface="Calibri"/>
              </a:rPr>
              <a:t>→  Custom 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95020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DFA"/>
                </a:solidFill>
                <a:latin typeface="Calibri"/>
              </a:rPr>
              <a:t>→  Media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95020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DFA"/>
                </a:solidFill>
                <a:latin typeface="Calibri"/>
              </a:rPr>
              <a:t>→  CSS Grid 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Gachon University  ·  Dept. of AI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What we cover in this Friday 2-hour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109728" cy="1600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CSS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static · relative · absolute · fixed · sticky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109728" cy="1600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Pseudo-classes &amp; Elements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033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:hover · :focus · :nth-child · ::before · ::after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5488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754880"/>
            <a:ext cx="10972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9194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Transitions &amp; Animations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440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transition · @keyframes · animation shorthand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28016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280160"/>
            <a:ext cx="109728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4447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CSS Custom Properties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9659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--variables · var() · theming with :root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01752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017520"/>
            <a:ext cx="109728" cy="1600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18211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Media Queries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7033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@media · responsive breakpoints · mobile-first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75488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754880"/>
            <a:ext cx="109728" cy="1600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9194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CSS Grid Introduction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440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display:grid · template-columns ·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Five values that control how an element is placed in the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19456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070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position: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426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static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21945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74519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Default — normal flow
No top/left/right/bottom effect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188720"/>
            <a:ext cx="219456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12070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position: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426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relative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737360"/>
            <a:ext cx="21945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874519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Normal flow THEN offset
from its own original spot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1188720"/>
            <a:ext cx="21945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12070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position: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1426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absolute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737360"/>
            <a:ext cx="21945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1874519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Removed from flow
Anchored to nearest positioned parent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1188720"/>
            <a:ext cx="2194560" cy="5029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208" y="12070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position: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1426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fixed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1737360"/>
            <a:ext cx="21945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874519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Removed from flow
Stays fixed to the VIEWPORT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188720"/>
            <a:ext cx="219456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0928" y="12070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position: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1426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sticky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737360"/>
            <a:ext cx="21945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1874519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Relative until scroll
threshold → then fixed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03520"/>
            <a:ext cx="11640312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303520"/>
            <a:ext cx="64008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" y="5358384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5596128"/>
            <a:ext cx="11384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/* position affects HOW coordinates apply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.elem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position: absolute;  /* removes from flow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top:    20px;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right:  20px;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absolute vs fixed — The Key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One anchors to a parent, the other to the browser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76072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09728" cy="5394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position: absolute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Removed from normal flow
• Positioned relative to nearest POSITIONED ancestor
  (parent with position ≠ static)
• If no positioned ancestor → positions relative to &lt;body&gt;
• SCROLLS with the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434840"/>
            <a:ext cx="5577840" cy="1965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4434840"/>
            <a:ext cx="64008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448970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4727448"/>
            <a:ext cx="5321808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.parent { position: relative; 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.tooltip { position: absolute;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top: 0; right: 0; 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1188720"/>
            <a:ext cx="576072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3912" y="1188720"/>
            <a:ext cx="109728" cy="53949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3258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3F5E"/>
                </a:solidFill>
                <a:latin typeface="Calibri"/>
              </a:rPr>
              <a:t>position: fixed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920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Removed from normal flow
• Positioned relative to the VIEWPORT (browser window)
• Does NOT move when the page scrolls
• Perfect for sticky navbars, chat buttons,
  cookie banners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4434840"/>
            <a:ext cx="5577840" cy="1965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4434840"/>
            <a:ext cx="64008" cy="19659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48970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727448"/>
            <a:ext cx="5321808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nav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position: fixed;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top: 0; left: 0;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width: 100%;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position: sticky — The Smart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Behaves as relative until a threshold → then acts like fixed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09728" cy="2286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36599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position: sticky is a HYBRID.  Before the element reaches the specified offset during scrolling it sits in the normal flow (like relative). Once the scroll position hits the threshold (e.g., top: 0), it sticks in place (like fixed) — but ONLY within its parent container.  When you scroll past the parent, the element unsticks.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657600"/>
            <a:ext cx="6703923" cy="2971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657600"/>
            <a:ext cx="64008" cy="2971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3712464"/>
            <a:ext cx="670392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3950208"/>
            <a:ext cx="6447891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/* Section heading that sticks as you scroll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.section-title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position: sticky;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top: 60px;   /* sticks 60px from the top of the viewport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background: #0f766e;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z-index: 10;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9592" y="3657600"/>
            <a:ext cx="4875580" cy="297180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1481" y="3749039"/>
            <a:ext cx="463180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B8A6"/>
                </a:solidFill>
                <a:latin typeface="Calibri"/>
              </a:rPr>
              <a:t>Common 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481" y="4251960"/>
            <a:ext cx="463180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DFA"/>
                </a:solidFill>
                <a:latin typeface="Calibri"/>
              </a:rPr>
              <a:t>→  Table headers that stay visible
while scrolling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1481" y="4846320"/>
            <a:ext cx="463180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DFA"/>
                </a:solidFill>
                <a:latin typeface="Calibri"/>
              </a:rPr>
              <a:t>→  Section labels in long
scrollable 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1481" y="5440680"/>
            <a:ext cx="463180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DFA"/>
                </a:solidFill>
                <a:latin typeface="Calibri"/>
              </a:rPr>
              <a:t>→  Sidebar that sticks until
the section 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1481" y="6035040"/>
            <a:ext cx="463180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DFA"/>
                </a:solidFill>
                <a:latin typeface="Calibri"/>
              </a:rPr>
              <a:t>→  Progress bar at top
that appears after scroll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Check-In · CSS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Q1–Q5 · Answer each before reading the next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  What is the DEFAULT value of the CSS position property?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static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2885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relative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4602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absolute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6319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fixed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  position: relative offsets the element relative to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its nearest positioned ancestor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2885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viewport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4602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✘ its own original 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66319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document &lt;body&gt;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6324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154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Q3  position: absolute anchors the element relative to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79476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viewport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01193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✘ its nearest POSITIONED ancestor (or &lt;body&gt;)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22910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document root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4627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screen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6324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154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Q4  Which position value stays fixed to the viewport while scrolling?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9476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absolute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01193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relative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22910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✘ fixed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44627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sticky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84632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49377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Q5  position: sticky switches from relative to fixed when 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57784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element is clicked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79501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z-index becomes positive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601218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✘ the scroll reaches the element's 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6229350"/>
            <a:ext cx="5394960" cy="21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JavaScript sets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Pseudo-classes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Style an element based on its STATE — no JavaScript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657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91440" cy="1508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25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Consolas"/>
              </a:rPr>
              <a:t>:hover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3736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User hovers the mouse over the element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24028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onsolas"/>
              </a:rPr>
              <a:t>a:hover { color: teal;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234440"/>
            <a:ext cx="3657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234440"/>
            <a:ext cx="9144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25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onsolas"/>
              </a:rPr>
              <a:t>:focus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73736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Element receives keyboard/click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24028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onsolas"/>
              </a:rPr>
              <a:t>input:focus { outline: 2px solid teal;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880360"/>
            <a:ext cx="3657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2880360"/>
            <a:ext cx="91440" cy="1508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29718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Consolas"/>
              </a:rPr>
              <a:t>:active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338328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Element is being clicked RIGHT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38862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onsolas"/>
              </a:rPr>
              <a:t>button:active { transform: scale(0.97); 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80360"/>
            <a:ext cx="3657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880360"/>
            <a:ext cx="91440" cy="1508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9718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3F5E"/>
                </a:solidFill>
                <a:latin typeface="Consolas"/>
              </a:rPr>
              <a:t>:visited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338328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Link has already been visited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38862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onsolas"/>
              </a:rPr>
              <a:t>a:visited { color: purple; 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4526280"/>
            <a:ext cx="3657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69080" y="4526280"/>
            <a:ext cx="91440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46177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  <a:latin typeface="Consolas"/>
              </a:rPr>
              <a:t>:first-child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502920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First child of its parent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553212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onsolas"/>
              </a:rPr>
              <a:t>li:first-child { font-weight: bold; 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4526280"/>
            <a:ext cx="3657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3840" y="4526280"/>
            <a:ext cx="91440" cy="1508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8" y="46177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onsolas"/>
              </a:rPr>
              <a:t>:nth-child(n)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8" y="502920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Every nth child (2n = even, 2n+1 = odd)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553212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onsolas"/>
              </a:rPr>
              <a:t>tr:nth-child(even) { background: #f0fdfa;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Pseudo-elements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::before &amp; ::after — insert virtual elements with CSS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76072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91440" cy="5394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9844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onsolas"/>
              </a:rPr>
              <a:t>::before  — content BEFORE the element's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7451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Inserts a virtual element BEFORE the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3774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Must have content: property to 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88035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Can be styled just like a real 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38327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No extra HTML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557784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64008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407822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315968"/>
            <a:ext cx="5321808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h2::before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content: '🌿 ';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color: #14b8a6;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/* Renders: 🌿 My Heading */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576072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91440" cy="5394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29844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onsolas"/>
              </a:rPr>
              <a:t>::after  — content AFTER the element's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87451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Inserts a virtual element AFTER the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3774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Same rules: must have content: property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88035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Popular for decorative lines, badges, icons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38327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• Used in CSS-only tooltip patterns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023360"/>
            <a:ext cx="557784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023360"/>
            <a:ext cx="64008" cy="2377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407822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4315968"/>
            <a:ext cx="5321808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.required::after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content: ' *';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color: red;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font-size: 0.9em;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Check-In · Pseudo-classes, z-index, overflow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Q6–Q12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Q6  z-index controls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stacking order (which element is on top)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871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element zoom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082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opacity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294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3D depth in perspective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Q7  overflow: hidden on a container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clips content beyond the container bounds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871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hides the element completely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082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makes content scrollable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294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collapses the height to zero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060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6974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Q8  Which pseudo-class fires when a mouse hovers?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3375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:hover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4587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:focus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5798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:active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7010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:visited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6060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6974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Q9  :focus applies when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375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the element receives keyboard or click 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587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mouse hovers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798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 link was already visited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7010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element is the first child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9776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Q10  :nth-child(2n) selects 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7091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every even-numbered child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8303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every 2nd type element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9514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children after the 2nd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0726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only the 2nd child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9776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Q11  ::before inserts content 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7091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before the element's own text/content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8303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before the parent element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9514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as the last child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0726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as a sibling after the element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46120" y="53492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0" y="5440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Q12  ::before and ::after MUST always have which property to be visible?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60807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content: (even if empty string '')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62019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display: block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63230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position: absolute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64442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z-index: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Transitions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Smoothly animate a CSS property change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09728" cy="2011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3659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4B8A6"/>
                </a:solidFill>
                <a:latin typeface="Consolas"/>
              </a:rPr>
              <a:t>transition:  property  duration  timing-function  delay;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2606040" cy="123444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onsolas"/>
              </a:rPr>
              <a:t>property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to animate
(background-color, transform, opacity 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783080"/>
            <a:ext cx="2606040" cy="123444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onsolas"/>
              </a:rPr>
              <a:t>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LONG (0.3s, 500ms …)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2606040" cy="123444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onsolas"/>
              </a:rPr>
              <a:t>timing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EASING CURVE
(ease · linear · ease-in · ease-out)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783080"/>
            <a:ext cx="2606040" cy="123444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onsolas"/>
              </a:rPr>
              <a:t>delay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WAIT before starting
(0s, 200ms …)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83280"/>
            <a:ext cx="7069592" cy="3246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383280"/>
            <a:ext cx="64008" cy="3246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3438144"/>
            <a:ext cx="7069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" y="3675888"/>
            <a:ext cx="681356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/* Smooth hover button — the classic use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.btn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background: #0f766e;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color: white;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transition: background 0.25s ease, transform 0.15s ease;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.btn:hover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background: #14b8a6;   /* transition animates this change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transform: translateY(-2px);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35260" y="3383280"/>
            <a:ext cx="4509912" cy="324612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7150" y="3493008"/>
            <a:ext cx="426613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Best 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7150" y="3931920"/>
            <a:ext cx="426613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DFA"/>
                </a:solidFill>
                <a:latin typeface="Calibri"/>
              </a:rPr>
              <a:t>→  Use 0.2s–0.4s for UI transitions
(fast enough to feel instant, slow enough to see)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7150" y="4800600"/>
            <a:ext cx="426613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DFA"/>
                </a:solidFill>
                <a:latin typeface="Calibri"/>
              </a:rPr>
              <a:t>→  transition: all  works but is slow
— name the specific property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7150" y="5669280"/>
            <a:ext cx="426613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0FDFA"/>
                </a:solidFill>
                <a:latin typeface="Calibri"/>
              </a:rPr>
              <a:t>→  You can list multiple transitions
separated by commas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Animations — @keyframes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Multi-step animations that run automatically, no JavaScript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0FDFA"/>
                </a:solidFill>
                <a:latin typeface="Calibri"/>
              </a:rPr>
              <a:t>transition = A → B  (triggered by state change)       animation = A → B → C → … (runs on its own)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6947702" cy="4773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64008" cy="4773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883664"/>
            <a:ext cx="694770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121408"/>
            <a:ext cx="6691670" cy="4407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/* STEP 1: define the keyframe sequence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@keyframes fadeIn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from { opacity: 0; transform: translateY(20px); 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to   { opacity: 1; transform: translateY(0); 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/* STEP 2: attach to the element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.hero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animation: fadeIn 0.6s ease-out forwards;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/* Multiple stops: 0%  33%  66%  100%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@keyframes pulse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0%, 100% { transform: scale(1);    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50%      { transform: scale(1.05); 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3371" y="1828800"/>
            <a:ext cx="4631801" cy="4773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5260" y="1920240"/>
            <a:ext cx="438802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animation shorthand parts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526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8260" y="2423160"/>
            <a:ext cx="31993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fadeIn — must match @keyframes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5260" y="30449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8260" y="3044952"/>
            <a:ext cx="31993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0.6s — how long one cycle takes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5260" y="366674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timing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8260" y="3666744"/>
            <a:ext cx="31993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ease-out · linear · cubic-bezier(…)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5260" y="428853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delay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8260" y="4288536"/>
            <a:ext cx="31993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0s — wait before starting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5260" y="49103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iteration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8260" y="4910328"/>
            <a:ext cx="31993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1 · infinite ·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5260" y="5532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8260" y="5532120"/>
            <a:ext cx="31993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normal · reverse · alternate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5260" y="61539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fill-mode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8260" y="6153912"/>
            <a:ext cx="31993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forwards (keep final state)
none · backwards · both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Check-In · Transitions, Animations,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Q13–Q17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Q13  The CSS transition property animates changes in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CSS property values when they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717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HTML element positions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JavaScript variable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8318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DOM 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Q14  Which at-rule defines a CSS animation's keyframe sequence?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@keyframes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717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@media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7744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@font-face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8318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@animate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7180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0632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Q15  CSS custom properties (variables) are declared with the syntax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70332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--name: value;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90906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$name: value;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1148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var(name): value;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32054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name = value;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97180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0632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Q16  To USE a CSS variable called --primary, the syntax is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0332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var(--primary)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90906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$(--primary)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1148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#primary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32054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%(primary)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709160"/>
            <a:ext cx="566928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4800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Q17  @media (max-width: 768px) { } applies styles when 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44068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the viewport is 768px wide or NARROWER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64642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viewport is exactly 768px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85216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font is 768px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6057900"/>
            <a:ext cx="53949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the device is mobile-only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Custom Properties (Variables)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Define once in :root, use everywhere with var()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7069592" cy="5349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64008" cy="5349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289304"/>
            <a:ext cx="7069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527048"/>
            <a:ext cx="681356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/* 1. DECLARE variables on :root so they're globally available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:root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--primary:    #0f766e;   /* teal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--accent:     #14b8a6;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--bg:         #f0fdfa;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--text:       #1e293b;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--radius:     8px;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--shadow:     0 4px 16px rgba(0,0,0,0.12);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/* 2. USE with var()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.btn  { background: var(--primary);  border-radius: var(--radius); 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.card { background: var(--bg);       box-shadow:    var(--shadow); 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h1    { color:      var(--primary); 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/* 3. DARK MODE: just redefine the same variables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@media (prefers-color-scheme: dark)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:root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  --bg:   #051a0a;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  --text: #d4edda;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35260" y="1234440"/>
            <a:ext cx="4509912" cy="5349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7150" y="1325880"/>
            <a:ext cx="426613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Why variables?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7150" y="1874519"/>
            <a:ext cx="42661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One change updates everywhere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7150" y="2258567"/>
            <a:ext cx="426613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Change --primary once and every button,
link, and card updates instantly.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7150" y="3044951"/>
            <a:ext cx="42661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Easy dark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7150" y="3428999"/>
            <a:ext cx="426613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Redefine variables in a @media query:
no class changes, no JavaScript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7150" y="4215383"/>
            <a:ext cx="42661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Component theming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7150" y="4599431"/>
            <a:ext cx="426613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Pass a different value per component:
.card { --accent: red;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7150" y="5385815"/>
            <a:ext cx="42661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Runtime access via 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7150" y="5769863"/>
            <a:ext cx="426613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document.documentElement.style
.setProperty('--primary','blue')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Media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Apply styles only when certain conditions are met (responsive design)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365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onsolas"/>
              </a:rPr>
              <a:t>@media  ( condition )  { /* CSS rules that only apply when condition is true */ }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2697480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84708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Mobile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12848"/>
            <a:ext cx="269748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860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3F5E"/>
                </a:solidFill>
                <a:latin typeface="Consolas"/>
              </a:rPr>
              <a:t>@media (max-width: 480px)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≤ 480px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828800"/>
            <a:ext cx="269748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184708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Tablet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212848"/>
            <a:ext cx="269748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2860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9E0B"/>
                </a:solidFill>
                <a:latin typeface="Consolas"/>
              </a:rPr>
              <a:t>@media (max-width: 768px)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6974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≤ 768px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28800"/>
            <a:ext cx="269748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184708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Desktop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212848"/>
            <a:ext cx="269748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2860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  <a:latin typeface="Consolas"/>
              </a:rPr>
              <a:t>@media (min-width: 1024px)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6974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≥ 1024px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828800"/>
            <a:ext cx="269748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184708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Wide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2212848"/>
            <a:ext cx="269748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22860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8BDF8"/>
                </a:solidFill>
                <a:latin typeface="Consolas"/>
              </a:rPr>
              <a:t>@media (min-width: 1440px)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6974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≥ 1440px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37560"/>
            <a:ext cx="7557150" cy="3291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337560"/>
            <a:ext cx="64008" cy="3291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" y="3392424"/>
            <a:ext cx="75571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" y="3630168"/>
            <a:ext cx="7301118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/* Mobile-first approach — START with mobile, ADD complexity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/* Base styles target mobile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.grid { display: block; 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@media (min-width: 768px)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.grid { display: flex; gap: 20px; }   /* tablet: row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@media (min-width: 1024px)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.grid { display: grid; grid-template-columns: repeat(3, 1fr); 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22818" y="3337560"/>
            <a:ext cx="4022354" cy="3291840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4708" y="3429000"/>
            <a:ext cx="37785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Other media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4708" y="3886200"/>
            <a:ext cx="377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DFA"/>
                </a:solidFill>
                <a:latin typeface="Consolas"/>
              </a:rPr>
              <a:t>→  (orientation: landscape)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4708" y="4407407"/>
            <a:ext cx="377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DFA"/>
                </a:solidFill>
                <a:latin typeface="Consolas"/>
              </a:rPr>
              <a:t>→  (prefers-color-scheme: dark)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4708" y="4928614"/>
            <a:ext cx="377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DFA"/>
                </a:solidFill>
                <a:latin typeface="Consolas"/>
              </a:rPr>
              <a:t>→  (prefers-reduced-motion)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4708" y="5449821"/>
            <a:ext cx="377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DFA"/>
                </a:solidFill>
                <a:latin typeface="Consolas"/>
              </a:rPr>
              <a:t>→  print — styles for printing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4708" y="5971028"/>
            <a:ext cx="377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DFA"/>
                </a:solidFill>
                <a:latin typeface="Consolas"/>
              </a:rPr>
              <a:t>→  screen — default, any display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Flexbox — Deeper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flex-direction · flex-wrap · order · flex-grow ·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657600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91440" cy="15361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25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B8A6"/>
                </a:solidFill>
                <a:latin typeface="Consolas"/>
              </a:rPr>
              <a:t>flex-direction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46504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row (default) / column
row-reverse / column-reverse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234440"/>
            <a:ext cx="3657600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1234440"/>
            <a:ext cx="91440" cy="15361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325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onsolas"/>
              </a:rPr>
              <a:t>flex-wrap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746504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nowrap (default) / wrap
wrap-reverse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234440"/>
            <a:ext cx="3657600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234440"/>
            <a:ext cx="91440" cy="15361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325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onsolas"/>
              </a:rPr>
              <a:t>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746504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Default: 0  ·  lower = earlier
Visual reorder without changing HTML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26080"/>
            <a:ext cx="3657600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926080"/>
            <a:ext cx="91440" cy="15361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0175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Consolas"/>
              </a:rPr>
              <a:t>flex-grow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438144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 (don't grow) or 1 (fill space)
flex: 1 = grow:1, shrink:1, basis:0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2926080"/>
            <a:ext cx="3657600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2926080"/>
            <a:ext cx="91440" cy="15361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30175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onsolas"/>
              </a:rPr>
              <a:t>align-self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3438144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Override align-items for ONE item
auto·flex-start·center·flex-end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2926080"/>
            <a:ext cx="3657600" cy="1536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80" y="2926080"/>
            <a:ext cx="91440" cy="15361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30175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3F5E"/>
                </a:solidFill>
                <a:latin typeface="Consolas"/>
              </a:rPr>
              <a:t>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438144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Space between items (row &amp; column)
Replaces margin hacks —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663440"/>
            <a:ext cx="11640312" cy="1965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663440"/>
            <a:ext cx="64008" cy="19659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" y="4718304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" y="4956048"/>
            <a:ext cx="11384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.container { display:flex; flex-wrap:wrap; gap:16px; 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.item      { flex: 1; min-width: 200px; 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.featured  { order: -1; flex: 2; }   /* appears first, twice as wide */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CSS Grid —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Two-dimensional layout: rows AND columns at the same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25296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0FDFA"/>
                </a:solidFill>
                <a:latin typeface="Calibri"/>
              </a:rPr>
              <a:t>Flexbox = 1 axis (row OR column)     Grid = 2 axes (rows AND columns together)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6947702" cy="4800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64008" cy="4800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883664"/>
            <a:ext cx="694770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121408"/>
            <a:ext cx="669167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.grid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display: grid;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grid-template-columns: repeat(3, 1fr); /* 3 equal cols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grid-template-rows: auto auto;          /* rows = content height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gap: 20px;                              /* both row &amp; col gap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/* Span multiple cells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.hero   { grid-column: 1 / 3; }  /* spans cols 1 to 3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.sidebar{ grid-row:    1 / 3; }  /* spans rows 1 to 3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/* Named areas — even cleaner */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.layout {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grid-template-areas: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  'header  header  header'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  'sidebar main    main'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    'footer  footer  footer';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}</a:t>
            </a:r>
          </a:p>
          <a:p>
            <a:pPr algn="l"/>
            <a:r>
              <a:rPr sz="1300" b="0">
                <a:solidFill>
                  <a:srgbClr val="14B8A6"/>
                </a:solidFill>
                <a:latin typeface="Consolas"/>
              </a:rPr>
              <a:t>.main-content { grid-area: main;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35260" y="1828800"/>
            <a:ext cx="4509912" cy="4800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7150" y="1920240"/>
            <a:ext cx="426613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Key properties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7150" y="2395728"/>
            <a:ext cx="42661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grid-template-columns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7150" y="2706624"/>
            <a:ext cx="42661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DFA"/>
                </a:solidFill>
                <a:latin typeface="Calibri"/>
              </a:rPr>
              <a:t>Defines column widths
repeat(3,1fr) · 200px 1fr 200px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7150" y="3108960"/>
            <a:ext cx="42661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grid-template-rows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7150" y="3419856"/>
            <a:ext cx="42661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DFA"/>
                </a:solidFill>
                <a:latin typeface="Calibri"/>
              </a:rPr>
              <a:t>Defines row heights
auto · 100px · minmax(100px,auto)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7150" y="3822192"/>
            <a:ext cx="42661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gap (or column-gap)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7150" y="4133088"/>
            <a:ext cx="42661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DFA"/>
                </a:solidFill>
                <a:latin typeface="Calibri"/>
              </a:rPr>
              <a:t>Space between cells
16px or 12px 20px (row col)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7150" y="4535424"/>
            <a:ext cx="42661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grid-column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7150" y="4846320"/>
            <a:ext cx="42661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DFA"/>
                </a:solidFill>
                <a:latin typeface="Calibri"/>
              </a:rPr>
              <a:t>Which columns item spans
1 / 3 or span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7150" y="5248656"/>
            <a:ext cx="42661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grid-row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7150" y="5559552"/>
            <a:ext cx="42661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DFA"/>
                </a:solidFill>
                <a:latin typeface="Calibri"/>
              </a:rPr>
              <a:t>Which rows item spans
1 / 4 or span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7150" y="5961888"/>
            <a:ext cx="42661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grid-template-areas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150" y="6272784"/>
            <a:ext cx="42661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DFA"/>
                </a:solidFill>
                <a:latin typeface="Calibri"/>
              </a:rPr>
              <a:t>Named layout zones — most
readable way to define a page layout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628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Check-In · Grid, Flexbox Advanced, border-radius, box-shadow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628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DFA"/>
                </a:solidFill>
                <a:latin typeface="Calibri"/>
              </a:rPr>
              <a:t>Q18–Q25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Q18  flex-direction: column makes flex items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stack vertically (a column)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871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wrap to the next 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082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reverse their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294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shrink to minimum width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Q19  flex-wrap: wrap allows flex items to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move to a new row when they overflow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871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shrink below minimum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082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overlap each other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294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ignore the gap property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060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6974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Q20  display: grid on a container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3375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activates the 2-dimensional Grid layout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4587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makes children flex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5798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hides overflowing children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7010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stacks children absolutely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6060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6974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Q21  grid-template-columns: repeat(3, 1fr) creates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375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3 equal-width columns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587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1 column of 3fr width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798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3 rows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7010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 fixed 300px grid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9776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Q22  Which property adds space between grid OR flex items?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7091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8303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9514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padding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0726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spacing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9776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Q23  border-radius: 50% on a square element creates 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7091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a perfect circle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8303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 rounded rectangle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9514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an 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0726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 hexagon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3492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440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Q24  In box-shadow: 2px 4px 8px rgba(0,0,0,0.2)  the 3rd value (8px) controls 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0807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blur radius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2019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horizontal offset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3230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vertical offset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64442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spread radius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5349240"/>
            <a:ext cx="5669280" cy="1261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54406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Q25  The CSS inherit keyword makes a property 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6080760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✔ take the computed value from the parent element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6201918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reset to browser default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6323076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apply !important override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6444234"/>
            <a:ext cx="5394960" cy="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     copy from the next sibling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5832" y="45720"/>
            <a:ext cx="2011680" cy="475488"/>
          </a:xfrm>
          <a:prstGeom prst="rect">
            <a:avLst/>
          </a:prstGeom>
          <a:solidFill>
            <a:srgbClr val="064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5832" y="109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Calibri"/>
              </a:rPr>
              <a:t>WEEK 3 · FRIDAY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628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FDFA"/>
                </a:solidFill>
                <a:latin typeface="Calibri"/>
              </a:rPr>
              <a:t>Week 3 · Friday — CSS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  <a:latin typeface="Calibri"/>
              </a:rPr>
              <a:t>What you can now do: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91440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562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5623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Use static/relative/absolute/fixed/sticky to place elements precisely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9144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562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Pseudo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85623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Style elements by state (:hover :focus) and insert content (::before ::after)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8036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880360"/>
            <a:ext cx="9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9535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Transition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95351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Animate property changes smoothly with transition: property duration easing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88036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880360"/>
            <a:ext cx="91440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9535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Animation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95351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Create multi-step effects with @keyframes and the animation shorthand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7764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977640"/>
            <a:ext cx="91440" cy="960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0507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Variables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05079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Define --custom-properties in :root and use them everywhere with var()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97764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977640"/>
            <a:ext cx="9144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40507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  <a:latin typeface="Calibri"/>
              </a:rPr>
              <a:t>Responsive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05079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Use @media (max-width: …) to apply styles only at certain viewport sizes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5074920"/>
            <a:ext cx="54864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37560" y="5074920"/>
            <a:ext cx="91440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8728" y="51480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Grid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514807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Create 2-dimensional layouts with display:grid and grid-template-columns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35508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Next: Week 4 · Monday → JavaScript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