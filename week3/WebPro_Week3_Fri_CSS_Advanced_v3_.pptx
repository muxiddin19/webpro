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3" r:id="rId10"/>
    <p:sldId id="264" r:id="rId11"/>
    <p:sldId id="265" r:id="rId12"/>
    <p:sldId id="266" r:id="rId13"/>
    <p:sldId id="267" r:id="rId14"/>
    <p:sldId id="268" r:id="rId15"/>
    <p:sldId id="284" r:id="rId16"/>
    <p:sldId id="269" r:id="rId17"/>
    <p:sldId id="270" r:id="rId18"/>
    <p:sldId id="271" r:id="rId19"/>
    <p:sldId id="272" r:id="rId20"/>
    <p:sldId id="273" r:id="rId21"/>
    <p:sldId id="285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6" r:id="rId31"/>
    <p:sldId id="282" r:id="rId3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4" autoAdjust="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234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31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Week 3 Friday — CSS Advanced! Today we make pages come ALIVE. Six topics, four check-ins. Go step by step — ask questions at any time!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overview. Point to each block. Four check-in quizzes are built into the slides so students can test themselves as we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OVERVIEW. Analogy: sticky notes on a whiteboard. Static=default, can't move with coordinates. Relative=shift from own spot, ghost stays. Absolute=remove from flow, anchor to positioned parent. Fixed=anchor to browser window. Sticky=hybrid. Common mistake: top/left on static element does nothing — must set position first!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VISUAL: Point to each column. Static=flows in order. Relative=the light ghost shows where it WAS, the bright block shows where it moved. Absolute=the badge lives inside the parent box in the corner. Fixed=the pink nav bar is locked to the top regardless of scroll. Sticky=teal header sits in flow and sticks when scroll reaches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QUESTION: Badge in card corner — use absolute. Nav always at top of screen — use fixed. Absolute scrolls with the page. Fixed stays glued to the viewport. Common mistake: position:fixed inside a CSS transform parent breaks — transforms create a new stacking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ANALOGY: Wikipedia table of contents — scrolls with you then sticks at top. Key: sticky only works WITHIN its parent container. GOTCHA: if any ancestor has overflow:hidden or overflow:scroll, sticky breaks. If sticky seems not working, check parent overflow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VISUAL: Left panel = before scroll. The sticky header sits in the normal document flow. Right panel = after scrolling past the threshold. The header locks to the top (top:60px) while content scrolls behind it. Key teaching point: the sticky element ONLY sticks within its parent container — once you scroll past the parent, it scrolls away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CHECK-IN 1. Q1:static. Q2:its own original position. Q3:nearest positioned ancestor. Q4:fixed. Q5:scroll reaches the threshold. If students got Q2 wrong — draw a box, show normal position, show shifted position. Space in flow STAYS, surrounding elements do NOT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CHECK-IN 1. Q1:static. Q2:its own original position. Q3:nearest positioned ancestor. Q4:fixed. Q5:scroll reaches the threshold. If students got Q2 wrong — draw a box, show normal position, show shifted position. Space in flow STAYS, surrounding elements do NOT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24906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PSEUDO-CLASSES: Colon(:) = pseudo-class (state-based). Two colons(::) = pseudo-element. :hover works on ANY element. :focus — NEVER write outline:none without an alternative! Keyboard users depend on the focus ring. :nth-child(2n) = even rows, great for zebra-striped tables. Demo: add .btn:hover in VS Code, show color changing, then add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VISUAL: Walk across the four button mockups. Normal=the resting state. :hover=mouse is over it, slightly lighter, floats up 2px (translateY). :focus=keyboard Tab reached it, amber outline ring around it (show students: NEVER remove this without replacement). :active=finger/mouse is held down, darker, slightly compressed (scale 0.97). Show students how the transition property on .btn makes ALL these state changes animate smoothly — one rule does the work for all four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PSEUDO-ELEMENTS: Two colons(::) = pseudo-element = creates new virtual HTML. Difference: :hover = styling existing element. ::before = CREATING a new mini-element. MANDATORY: content: property — without it the pseudo-element is completely invisible. Even for purely decorative shapes write content:'' (empty string). Demo: .required::after {content:' *'; color:red;} — asterisk appears without touching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VISUAL: Three zones at top show where ::before and ::after content goes — before, the real content, after. Example 1: heading with leaf emoji injected by CSS alone. Example 2: required field asterisk added to every .req label automatically — change CSS once, all labels update. Key rule: content: is MANDATORY. Without it, nothing renders — not even a decorative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CHECK-IN 2. Q6:stacking order. Q7:clips content. Q8::hover. Q9:keyboard/click focus. Q10:even-numbered. Q11:before element's content. Q12:content: property. Repeat Q12: WITHOUT content, pseudo-element does NOT render.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CHECK-IN 2. Q6:stacking order. Q7:clips content. Q8::hover. Q9:keyboard/click focus. Q10:even-numbered. Q11:before element's content. Q12:content: property. Repeat Q12: WITHOUT content, pseudo-element does NOT render.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74721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TRANSITIONS: Analogy: dimmer switch vs on/off. The most important rule: PUT transition on BASE element, NOT inside :hover. If in :hover only — animates forward (mouse enters) but JUMPS back (mouse leaves). On base element — smooth BOTH ways. Don't use transition:all — slow and animates things you didn't intend. 0.2s-0.4s is the UI sweet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VISUAL: Most common beginner transition mistake. Left (wrong): transition is inside :hover. When mouse LEAVES, :hover is removed — and the transition rule goes with it. So the element snaps back instantly. Right (correct): transition is on the base .btn. It's ALWAYS there, so both directions — enter and leave — animate smoothly. Rule to memorize: transition goes on the BASE, values go in :hover.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@keyframes: transition = A to B on trigger. Animation = A to B to C running automatically. STEP1: define with @keyframes name{}. STEP2: attach with animation shorthand. fill-mode:forwards = keep final state (otherwise element snaps back — almost never wanted). iteration-count:infinite = loop forever (loading spinners). Demo: show a hero heading fading in on page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VISUAL: The horizontal line is time from 0s to 0.6s. Each colored marker is a keyframe stop. At each stop the element has specific CSS values — the browser interpolates the smooth in-between frames automatically. Students often ask: can I have any number of stops? Yes. The % values are positions in time. 0% = start, 50% = halfway through duration, 100% = end. fill-mode:forwards in the bottom-right box is critical: without it the element snaps back to 0% values when animation finishes.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CHECK-IN 3. Q13:CSS property values. Q14:@keyframes. Q15:--name:value (double dash). Q16:var(--primary). Q17:768px or NARROWER (max-width). Clarify max-width vs min-width: max-width:768px = small screens. min-width:768px = large screens (mobile-first, recommended).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CHECK-IN 3. Q13:CSS property values. Q14:@keyframes. Q15:--name:value (double dash). Q16:var(--primary). Q17:768px or NARROWER (max-width). Clarify max-width vs min-width: max-width:768px = small screens. min-width:768px = large screens (mobile-first, recommended).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044190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CSS VARIABLES: Analogy: brand color used in 50 places. Without variables, change means 50 edits. With --primary, change ONE line. :root = html element = globally available to everything. Syntax: double dash prefix, --name:value. Read back with var(--name). Dark mode: just redefine color variables in @media, all components switch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VISUAL: :root box at top = the single source of truth. Tree branches down to every consumer element. .btn uses --primary for background. .card uses --bg and --shadow. h1/h2 use --primary for color. Dark mode box at bottom: notice how redefining just the variables in :root causes ALL consumer elements to update automatically — no extra selectors needed. This is the power of the token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MEDIA QUERIES: Responsive design = looks good on any screen. Mobile-first (recommended): write minimal mobile CSS, then ADD with min-width. Desktop-first (old): start desktop, REMOVE with max-width. Mobile traffic is 60%+ globally — mobile-first is the standard. CRITICAL: add &lt;meta name='viewport' content='width=device-width, initial-scale=1.0'&gt; in HTML — without this media queries don't work on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VISUAL: Three 'device frames' showing the same content (.grid with four cards) at different viewport widths. Mobile (pink): single column stack. Tablet (amber): two-column flex row. Desktop (green): three-column CSS Grid. The code at bottom shows how three media queries achieve this. Key point: it's the SAME HTML — only CSS changes. The page content never moves; only the layout reflows.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ADVANCED FLEXBOX. flex-wrap:wrap = items break to new line when space runs out (key for responsive card grids). flex:1 = shorthand for grow:1, shrink:1, basis:0 — item fills available space. Two items with flex:1 split evenly; flex:2 gets twice as much. order:-1 moves item to visual front without HTML change (warn: screen readers use HTML order, not visual). gap replaces messy margin hacks on last-child.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CSS GRID: Flexbox = one shelf, Grid = entire bookcase. Use Grid when you know rows AND columns (page layout, photo gallery, form). Use Flexbox inside grid cells. grid-template-columns:repeat(3,1fr) = three equal columns. 1fr = one fraction of remaining space. grid-column:1/3 = spans from column line 1 to line 3. Named areas = most readable: draw the layout in text form, then assign grid-area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VISUAL: Left side = the CSS as text. Right side = what the browser renders. The text layout in grid-template-areas literally draws the grid — you can see header spanning two columns, sidebar and main side-by-side, footer spanning both again. Each element just declares grid-area with its name — the browser places it automatically. Column widths: 200px for sidebar (fixed), 1fr for main (fills rest). This is the most beginner-readable way to build a complete webpage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CHECK-IN 4. Q18:stack vertically. Q19:move to new row. Q20:2D Grid layout. Q21:3 equal columns. Q22:gap. Q23:perfect circle (50% on square). Q24:blur radius (order: x-offset, y-offset, blur, spread, color). Q25:take parent's computed value. Wrap up: ask which topic to explore more in lab. Direct students to Study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CHECK-IN 4. Q18:stack vertically. Q19:move to new row. Q20:2D Grid layout. Q21:3 equal columns. Q22:gap. Q23:perfect circle (50% on square). Q24:blur radius (order: x-offset, y-offset, blur, spread, color). Q25:take parent's computed value. Wrap up: ask which topic to explore more in lab. Direct students to Study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229704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SUMMARY: Read each row with the class. HOMEWORK: Open Week 3 Friday Study Guide. Read each topic, run the live code example, then do exercises E1-E7. Type every line manually — no copy-paste. Submit via GitHub. NEXT: Week 4 Monday = JavaScript Introduction. CSS = styling. JavaScript = behaviour. Making pages DO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K0126002 — Web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CSS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B8A6"/>
                </a:solidFill>
                <a:latin typeface="Calibri"/>
              </a:rPr>
              <a:t>Week 3 · Friday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1274552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CSS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Pseudo-classes &amp; Pseudo-elements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Transitions &amp; Animations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5020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Custom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95020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Media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95020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CSS Grid 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Gachon University  ·  Dept. of AI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What we cover in this Friday 2-hour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109728" cy="1600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CSS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static · relative · absolute · fixed · sticky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109728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Pseudo-classes &amp; Elements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:hover · :focus · :nth-child · ::before · ::after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5488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54880"/>
            <a:ext cx="10972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9194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Transitions &amp; Animations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440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transition · @keyframes · animation shorthand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28016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280160"/>
            <a:ext cx="109728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4447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CSS Custom 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965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--variables · var() · theming with :root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01752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3017520"/>
            <a:ext cx="109728" cy="1600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1821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Media Queries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703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@media · responsive breakpoints · mobile-first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5488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754880"/>
            <a:ext cx="109728" cy="1600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49194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CSS Grid Introduction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440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display:grid · template-columns ·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Five values that control how an element is placed in the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9456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position: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static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21945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Default — normal flow
No top/left/right/bottom 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188720"/>
            <a:ext cx="219456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15768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position: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relative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737360"/>
            <a:ext cx="21945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1874519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Normal flow THEN offset
from its own original spot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188720"/>
            <a:ext cx="21945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7488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position: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absolute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737360"/>
            <a:ext cx="21945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1874519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Removed from flow
Anchored to nearest positioned parent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188720"/>
            <a:ext cx="2194560" cy="5029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79208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position: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fixed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1737360"/>
            <a:ext cx="21945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1874519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Removed from flow
Stays fixed to the VIEWPORT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188720"/>
            <a:ext cx="219456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10928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position: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sticky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737360"/>
            <a:ext cx="21945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38360" y="1874519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Relative until scroll
threshold → then fixed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03520"/>
            <a:ext cx="11640312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5303520"/>
            <a:ext cx="6400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336" y="5358384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5596128"/>
            <a:ext cx="11384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/* position affects HOW coordinates apply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.elem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position: absolute;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top:   20px;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right: 20px;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Position — Visual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See exactly where each value places an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88720"/>
            <a:ext cx="2148840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43584"/>
            <a:ext cx="2039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static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21488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" y="1737360"/>
            <a:ext cx="19476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" y="2304288"/>
            <a:ext cx="19476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" y="2871216"/>
            <a:ext cx="1947672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" y="3438144"/>
            <a:ext cx="19476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6616" y="4005072"/>
            <a:ext cx="19476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" y="5394960"/>
            <a:ext cx="1947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↓ Normal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5815584"/>
            <a:ext cx="2057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Flows normally.
Coordinates ignored.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23744" y="1188720"/>
            <a:ext cx="21488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15184" y="1243584"/>
            <a:ext cx="2039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onsolas"/>
              </a:rPr>
              <a:t>relative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23744" y="1627632"/>
            <a:ext cx="21488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24328" y="1737360"/>
            <a:ext cx="19476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24328" y="2304288"/>
            <a:ext cx="19476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24328" y="2871216"/>
            <a:ext cx="1947672" cy="475488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88920" y="2670048"/>
            <a:ext cx="1947672" cy="4754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25496" y="2706624"/>
            <a:ext cx="1856232" cy="332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shifted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24328" y="3438144"/>
            <a:ext cx="19476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624328" y="4005072"/>
            <a:ext cx="19476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24328" y="5394960"/>
            <a:ext cx="1947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2C55E"/>
                </a:solidFill>
                <a:latin typeface="Calibri"/>
              </a:rPr>
              <a:t>ghost=original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5815584"/>
            <a:ext cx="2057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C55E"/>
                </a:solidFill>
                <a:latin typeface="Calibri"/>
              </a:rPr>
              <a:t>Shifts from its
original spot.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91456" y="1188720"/>
            <a:ext cx="2148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82896" y="1243584"/>
            <a:ext cx="2039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onsolas"/>
              </a:rPr>
              <a:t>absolute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91456" y="1627632"/>
            <a:ext cx="21488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92040" y="1737360"/>
            <a:ext cx="1947672" cy="2377440"/>
          </a:xfrm>
          <a:prstGeom prst="rect">
            <a:avLst/>
          </a:prstGeom>
          <a:solidFill>
            <a:srgbClr val="2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65192" y="1773936"/>
            <a:ext cx="1856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9E0B"/>
                </a:solidFill>
                <a:latin typeface="Calibri"/>
              </a:rPr>
              <a:t>parent
position:relative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17336" y="1764792"/>
            <a:ext cx="68580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35624" y="1783080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badge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4206240"/>
            <a:ext cx="1947672" cy="38039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892040" y="4678070"/>
            <a:ext cx="1947672" cy="38039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92040" y="5394960"/>
            <a:ext cx="1947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9E0B"/>
                </a:solidFill>
                <a:latin typeface="Calibri"/>
              </a:rPr>
              <a:t>badge in corner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5815584"/>
            <a:ext cx="2057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Calibri"/>
              </a:rPr>
              <a:t>Placed inside
positioned parent.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1188720"/>
            <a:ext cx="2148840" cy="38404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50608" y="1243584"/>
            <a:ext cx="2039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fixed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9168" y="1627632"/>
            <a:ext cx="21488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159752" y="1700784"/>
            <a:ext cx="1947672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32904" y="1728216"/>
            <a:ext cx="1856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NAV — fixed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59752" y="2139696"/>
            <a:ext cx="1947672" cy="370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159752" y="2602016"/>
            <a:ext cx="1947672" cy="370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59752" y="3064337"/>
            <a:ext cx="1947672" cy="370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159752" y="3526657"/>
            <a:ext cx="1947672" cy="370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159752" y="3988978"/>
            <a:ext cx="1947672" cy="370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59752" y="5394960"/>
            <a:ext cx="1947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43F5E"/>
                </a:solidFill>
                <a:latin typeface="Calibri"/>
              </a:rPr>
              <a:t>nav stays on scroll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815584"/>
            <a:ext cx="2057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43F5E"/>
                </a:solidFill>
                <a:latin typeface="Calibri"/>
              </a:rPr>
              <a:t>Locked to the
browser window.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1188720"/>
            <a:ext cx="21488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18320" y="1243584"/>
            <a:ext cx="2039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sticky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1627632"/>
            <a:ext cx="21488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427464" y="1737360"/>
            <a:ext cx="19476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427464" y="2304288"/>
            <a:ext cx="19476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427464" y="2871216"/>
            <a:ext cx="1947672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00616" y="2962656"/>
            <a:ext cx="1856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sticky header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27464" y="3438144"/>
            <a:ext cx="1947672" cy="370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427464" y="3900464"/>
            <a:ext cx="1947672" cy="370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27464" y="5394960"/>
            <a:ext cx="1947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4B8A6"/>
                </a:solidFill>
                <a:latin typeface="Calibri"/>
              </a:rPr>
              <a:t>sticks at top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00032" y="5815584"/>
            <a:ext cx="2057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4B8A6"/>
                </a:solidFill>
                <a:latin typeface="Calibri"/>
              </a:rPr>
              <a:t>Flows then sticks
at scroll threshold.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absolute vs fixed — The Key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One anchors to a parent, the other to the browser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7607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09728" cy="5394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position: absolute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Removed from normal flow
• Positioned relative to nearest POSITIONED ancestor
  (parent with position ≠ static)
• If no positioned ancestor → positions relative to &lt;body&gt;
• SCROLLS with the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34840"/>
            <a:ext cx="5577840" cy="1965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4434840"/>
            <a:ext cx="64008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448970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4727448"/>
            <a:ext cx="5321808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.parent { position: relative;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.tooltip { position: absolute;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top: 0; right: 0;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188720"/>
            <a:ext cx="57607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53912" y="1188720"/>
            <a:ext cx="109728" cy="53949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3258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3F5E"/>
                </a:solidFill>
                <a:latin typeface="Calibri"/>
              </a:rPr>
              <a:t>position: 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920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Removed from normal flow
• Positioned relative to the VIEWPORT (browser window)
• Does NOT move when the page scrolls
• Perfect for sticky navbars, chat buttons,
  cookie banners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4434840"/>
            <a:ext cx="5577840" cy="1965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45352" y="4434840"/>
            <a:ext cx="64008" cy="19659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448970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727448"/>
            <a:ext cx="5321808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nav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position: fixed;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top: 0; left: 0;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width: 100%;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position: sticky — The Smart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Behaves as relative until a threshold → then acts like 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09728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36599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position: sticky is a HYBRID.  Before the element reaches the specified offset during scrolling it sits in the normal flow (like relative). Once the scroll position hits the threshold (e.g., top: 0), it sticks in place (like fixed) — but ONLY within its parent container.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657600"/>
            <a:ext cx="6703923" cy="2971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64008" cy="2971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3712464"/>
            <a:ext cx="67039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3950208"/>
            <a:ext cx="6447891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.section-title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position: sticky;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top: 60px;   /* sticks 60px from top of viewport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background: #0f766e;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z-index: 10;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9592" y="3657600"/>
            <a:ext cx="4875580" cy="297180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91481" y="3749039"/>
            <a:ext cx="463180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  <a:latin typeface="Calibri"/>
              </a:rPr>
              <a:t>Common 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481" y="4251960"/>
            <a:ext cx="463180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DFA"/>
                </a:solidFill>
                <a:latin typeface="Calibri"/>
              </a:rPr>
              <a:t>→  Table headers visible while scrolling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1481" y="4846320"/>
            <a:ext cx="463180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DFA"/>
                </a:solidFill>
                <a:latin typeface="Calibri"/>
              </a:rPr>
              <a:t>→  Section labels in long scrollable 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1481" y="5440680"/>
            <a:ext cx="463180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DFA"/>
                </a:solidFill>
                <a:latin typeface="Calibri"/>
              </a:rPr>
              <a:t>→  Sidebar that sticks until section 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1481" y="6035040"/>
            <a:ext cx="463180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DFA"/>
                </a:solidFill>
                <a:latin typeface="Calibri"/>
              </a:rPr>
              <a:t>→  Progress bar at top after scroll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Sticky — Before &amp; After Scroll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Two states of the same element as you scroll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949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BEFORE scrolling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55648"/>
            <a:ext cx="5120640" cy="54864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81051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Content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14016"/>
            <a:ext cx="5120640" cy="54864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6888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Content block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5120640" cy="5303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182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STICKY HEADER (in flow)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94176"/>
            <a:ext cx="5120640" cy="530352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7490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Content below header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334256"/>
            <a:ext cx="5120640" cy="530352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Content below header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974336"/>
            <a:ext cx="5120640" cy="530352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0292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Content below header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172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  <a:latin typeface="Consolas"/>
              </a:rPr>
              <a:t>position: sticky  (acts like relative)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291840"/>
            <a:ext cx="822960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0" y="3246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scroll 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188720"/>
            <a:ext cx="53949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12984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AFTER scroll threshold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1691640"/>
            <a:ext cx="5120640" cy="5303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18013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STICKY HEADER (stuck at top:60px)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2331720"/>
            <a:ext cx="5120640" cy="54864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2386584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Content block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2990088"/>
            <a:ext cx="5120640" cy="54864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304495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Content block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3648456"/>
            <a:ext cx="5120640" cy="54864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12280" y="370332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Content block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4306824"/>
            <a:ext cx="5120640" cy="54864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12280" y="436168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Content block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4965192"/>
            <a:ext cx="5120640" cy="54864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12280" y="5020056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Content block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172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3F5E"/>
                </a:solidFill>
                <a:latin typeface="Consolas"/>
              </a:rPr>
              <a:t>position: sticky  (acts like fixed)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CSS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Q1–5 · Answer each before reading the next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  What is the DEFAULT value of the CSS position property?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dirty="0">
                <a:solidFill>
                  <a:srgbClr val="64748B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static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2885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64748B"/>
                </a:solidFill>
                <a:latin typeface="Calibri"/>
              </a:rPr>
              <a:t>     relative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4602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absolute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6319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fixed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  position: relative offsets the element relative to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its nearest positioned ancestor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2885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viewport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4602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64748B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its own original 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6319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document &lt;body&gt;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6324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154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Q3  position: absolute anchors the element relative to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9476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viewport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01193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i="0" dirty="0">
                <a:solidFill>
                  <a:srgbClr val="22C55E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its nearest POSITIONED ancestor (or &lt;body&gt;)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2910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document root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4627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screen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6324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154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Q4  Which position value stays fixed to the viewport while scrolling?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9476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absolute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01193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relative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22910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dirty="0">
                <a:solidFill>
                  <a:srgbClr val="64748B"/>
                </a:solidFill>
                <a:latin typeface="Calibri"/>
              </a:rPr>
              <a:t>✔ fixed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44627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sticky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84632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80" y="49377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Q5  position: sticky switches from relative to fixed when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57784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element is clicked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79501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z-index becomes positive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601218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dirty="0">
                <a:solidFill>
                  <a:srgbClr val="64748B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the scroll reaches the element's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622935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JavaScript sets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CSS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Q1–5 · Answer each before reading the next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  What is the DEFAULT value of the CSS position property?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static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2885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relative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4602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absolute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6319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fixed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  position: relative offsets the element relative to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its nearest positioned ancestor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2885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viewport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4602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its own original 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6319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document &lt;body&gt;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6324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154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Q3  position: absolute anchors the element relative to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9476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viewport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01193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its nearest POSITIONED ancestor (or &lt;body&gt;)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2910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document root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4627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screen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6324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154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Q4  Which position value stays fixed to the viewport while scrolling?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9476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absolute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01193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relative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22910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fixed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44627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sticky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84632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80" y="49377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Q5  position: sticky switches from relative to fixed when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57784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element is clicked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79501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z-index becomes positive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601218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the scroll reaches the element's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622935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JavaScript sets it</a:t>
            </a:r>
          </a:p>
        </p:txBody>
      </p:sp>
    </p:spTree>
    <p:extLst>
      <p:ext uri="{BB962C8B-B14F-4D97-AF65-F5344CB8AC3E}">
        <p14:creationId xmlns:p14="http://schemas.microsoft.com/office/powerpoint/2010/main" val="3656990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Pseudo-classes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Style an element based on its STATE — no JavaScript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91440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Consolas"/>
              </a:rPr>
              <a:t>:hover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3736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User hovers the mouse over the element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2402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a:hover { color: teal;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23444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80" y="1234440"/>
            <a:ext cx="9144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onsolas"/>
              </a:rPr>
              <a:t>:focus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73736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Element receives keyboard/click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2402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input:focus { outline: 2px solid teal;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88036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0" y="2880360"/>
            <a:ext cx="91440" cy="1508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65008" y="29718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Consolas"/>
              </a:rPr>
              <a:t>:active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338328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Element is being clicked RIGHT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886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button:active { transform: scale(0.97); 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8036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2880360"/>
            <a:ext cx="91440" cy="1508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29718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3F5E"/>
                </a:solidFill>
                <a:latin typeface="Consolas"/>
              </a:rPr>
              <a:t>:visited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38328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Link has already been visited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886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a:visited { color: purple; 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452628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069080" y="4526280"/>
            <a:ext cx="91440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70248" y="4617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Consolas"/>
              </a:rPr>
              <a:t>:first-child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502920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First child of its parent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553212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li:first-child { font-weight: bold; 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452628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63840" y="4526280"/>
            <a:ext cx="91440" cy="1508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65008" y="4617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onsolas"/>
              </a:rPr>
              <a:t>:nth-child(n)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502920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Every nth child (2n=even, 2n+1=odd)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553212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tr:nth-child(even) { background: #f0fdfa;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Pseudo-classes — Button State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One button, four CSS states — all styled with pure CSS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560320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92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Trigger: (no pseudo-class)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76272"/>
            <a:ext cx="20116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3042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Click 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809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Default appearance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2560320" cy="1783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64008" cy="17830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" y="31638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401568"/>
            <a:ext cx="2304288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background: #0f766e;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color: white;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padding: 12px 24px;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transition: all 0.25s;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1371600"/>
            <a:ext cx="256032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38728" y="140817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onsolas"/>
              </a:rPr>
              <a:t>:hover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792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Trigger: mouse over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103120"/>
            <a:ext cx="2011680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22311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Click 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9809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  <a:latin typeface="Calibri"/>
              </a:rPr>
              <a:t>Lighter + moves up 2px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108960"/>
            <a:ext cx="2560320" cy="1783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29000" y="3108960"/>
            <a:ext cx="64008" cy="1783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57016" y="31638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6" y="3401568"/>
            <a:ext cx="2304288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.btn:hover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background: #14b8a6;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transform: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translateY(-2px);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5603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140817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onsolas"/>
              </a:rPr>
              <a:t>:focus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792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Trigger: Tab key / click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176272"/>
            <a:ext cx="20116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23042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Click 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0528" y="2121408"/>
            <a:ext cx="2157984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0" y="2176272"/>
            <a:ext cx="20116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3042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Click 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9260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onsolas"/>
              </a:rPr>
              <a:t>outline: 3px solid #F59E0B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9809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Focus ring visible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108960"/>
            <a:ext cx="2560320" cy="1783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3108960"/>
            <a:ext cx="6400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37376" y="31638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3401568"/>
            <a:ext cx="2304288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.btn:focus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outline: 3px solid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#F59E0B;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outline-offset: 2px;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1371600"/>
            <a:ext cx="2560320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99448" y="140817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:active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1792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Trigger: while clicking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64040" y="2176272"/>
            <a:ext cx="2011680" cy="640080"/>
          </a:xfrm>
          <a:prstGeom prst="rect">
            <a:avLst/>
          </a:prstGeom>
          <a:solidFill>
            <a:srgbClr val="09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64040" y="23042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Click 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29809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3F5E"/>
                </a:solidFill>
                <a:latin typeface="Calibri"/>
              </a:rPr>
              <a:t>Darker + scale 97%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3108960"/>
            <a:ext cx="2560320" cy="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189720" y="3108960"/>
            <a:ext cx="64008" cy="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17736" y="31638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17736" y="3401568"/>
            <a:ext cx="2304288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.btn:active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background: #095C56;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transform: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scale(0.97);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120640"/>
            <a:ext cx="11640312" cy="150876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5212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Calibri"/>
              </a:rPr>
              <a:t>How to read this: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559552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DFA"/>
                </a:solidFill>
                <a:latin typeface="Calibri"/>
              </a:rPr>
              <a:t>All four states are the SAME button — same HTML, same base CSS. The pseudo-class selector adds extra styles ONLY while that state is active. The transition on the base .btn makes the change animate smoothly. Remove transition and the change is instant — try both in the browser!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Pseudo-elements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::before &amp; ::after — insert virtual elements with CSS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7607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91440" cy="5394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29844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onsolas"/>
              </a:rPr>
              <a:t>::before  — content BEFORE the element's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Inserts a virtual element BEFORE the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3774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Must have content: property to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8803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Can be styled just like a real 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3832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No extra HTML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557784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407822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315968"/>
            <a:ext cx="5321808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h2::before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content: '🌿 ';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color: #14b8a6;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/* Renders: 🌿 My Heading */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57607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91440" cy="5394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129844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onsolas"/>
              </a:rPr>
              <a:t>::after  — content AFTER the element's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Inserts a virtual element AFTER the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3774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Same rules: must have content: property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8803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Popular for decorative lines, badges, icons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832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Used in CSS-only tooltip patterns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023360"/>
            <a:ext cx="557784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023360"/>
            <a:ext cx="64008" cy="2377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45936" y="407822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4315968"/>
            <a:ext cx="5321808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.required::after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content: ' *';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color: red;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font-size: 0.9em;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::before &amp; ::after — Where Content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CSS inserts virtual elements around the real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192024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How the browser renders an element with ::before and ::after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38328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01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onsolas"/>
              </a:rPr>
              <a:t>::before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585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Created by CSS
content: '🌿'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91640"/>
            <a:ext cx="33832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801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Element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2585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alibri"/>
              </a:rPr>
              <a:t>The real HTML text
'My Heading'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691640"/>
            <a:ext cx="338328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1801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::after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2585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alibri"/>
              </a:rPr>
              <a:t>Created by CSS
content: ' *'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91840"/>
            <a:ext cx="11640312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3375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 examples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03320"/>
            <a:ext cx="5577840" cy="3017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91440" cy="3017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Example 1 — Icon before heading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onsolas"/>
              </a:rPr>
              <a:t>HTML:   &lt;h2&gt;About Us&lt;/h2&gt;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445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9E0B"/>
                </a:solidFill>
                <a:latin typeface="Consolas"/>
              </a:rPr>
              <a:t>CSS:    h2::before { content: '🌿 ';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651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Result: 🌿 About 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32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2C55E"/>
                </a:solidFill>
                <a:latin typeface="Calibri"/>
              </a:rPr>
              <a:t>No extra &lt;span&gt; or icon tag needed in the HTML!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16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2C55E"/>
                </a:solidFill>
                <a:latin typeface="Calibri"/>
              </a:rPr>
              <a:t>Change all icons site-wide by editing ONE CSS rule.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703320"/>
            <a:ext cx="5715000" cy="3017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3703320"/>
            <a:ext cx="91440" cy="3017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3794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Example 2 — Required field asterisk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206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onsolas"/>
              </a:rPr>
              <a:t>HTML:   &lt;label class="req"&gt;Email&lt;/label&gt;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445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5CF6"/>
                </a:solidFill>
                <a:latin typeface="Consolas"/>
              </a:rPr>
              <a:t>.req::after { content: ' *'; color:red;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96519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Result: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9651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937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3F5E"/>
                </a:solidFill>
                <a:latin typeface="Calibri"/>
              </a:rPr>
              <a:t> 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532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2C55E"/>
                </a:solidFill>
                <a:latin typeface="Calibri"/>
              </a:rPr>
              <a:t>No * in the HTML — CSS adds it automatically.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9161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2C55E"/>
                </a:solidFill>
                <a:latin typeface="Calibri"/>
              </a:rPr>
              <a:t>Remove class='req' and the asterisk disappears.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Pseudo-classes, z-index, overflow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Q6–12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Q6  z-index controls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50" b="0" i="0">
                <a:solidFill>
                  <a:srgbClr val="64748B"/>
                </a:solidFill>
                <a:latin typeface="Calibri"/>
              </a:defRPr>
            </a:lvl1pPr>
          </a:lstStyle>
          <a:p>
            <a:r>
              <a:rPr lang="en-US" dirty="0"/>
              <a:t>     </a:t>
            </a:r>
            <a:r>
              <a:rPr dirty="0"/>
              <a:t>stacking order (which element is on top)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64748B"/>
                </a:solidFill>
                <a:latin typeface="Calibri"/>
              </a:rPr>
              <a:t>     element zoom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opacity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3D depth in perspective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Q7  overflow: hidden on a container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50" b="0" i="0">
                <a:solidFill>
                  <a:srgbClr val="64748B"/>
                </a:solidFill>
                <a:latin typeface="Calibri"/>
              </a:defRPr>
            </a:lvl1pPr>
          </a:lstStyle>
          <a:p>
            <a:r>
              <a:rPr lang="en-US" dirty="0"/>
              <a:t>     </a:t>
            </a:r>
            <a:r>
              <a:rPr dirty="0"/>
              <a:t>clips content beyond the container bounds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64748B"/>
                </a:solidFill>
                <a:latin typeface="Calibri"/>
              </a:rPr>
              <a:t>     hides the element completely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makes content scrollable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collapses the height to zero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Q8  Which pseudo-class fires when a mouse hovers?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3375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50" b="0" i="0">
                <a:solidFill>
                  <a:srgbClr val="64748B"/>
                </a:solidFill>
                <a:latin typeface="Calibri"/>
              </a:defRPr>
            </a:lvl1pPr>
          </a:lstStyle>
          <a:p>
            <a:r>
              <a:rPr lang="en-US" dirty="0"/>
              <a:t>     </a:t>
            </a:r>
            <a:r>
              <a:rPr dirty="0"/>
              <a:t>:hover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:focus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:active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:visited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Q9  :focus applies when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50" b="0" i="0">
                <a:solidFill>
                  <a:srgbClr val="64748B"/>
                </a:solidFill>
                <a:latin typeface="Calibri"/>
              </a:defRPr>
            </a:lvl1pPr>
          </a:lstStyle>
          <a:p>
            <a:r>
              <a:rPr lang="en-US" dirty="0"/>
              <a:t>     </a:t>
            </a:r>
            <a:r>
              <a:rPr dirty="0"/>
              <a:t>the element receives keyboard or click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mouse hovers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link was already visited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element is the first child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Q10  :nth-child(2n) selects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091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i="0" dirty="0">
                <a:solidFill>
                  <a:srgbClr val="22C55E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every even-numbered child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every 2nd type element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64748B"/>
                </a:solidFill>
                <a:latin typeface="Calibri"/>
              </a:rPr>
              <a:t>     children after the 2nd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64748B"/>
                </a:solidFill>
                <a:latin typeface="Calibri"/>
              </a:rPr>
              <a:t>     only the 2nd child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Q11  ::before inserts content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7091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dirty="0">
                <a:solidFill>
                  <a:srgbClr val="64748B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before the element's own text/content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before the parent element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as the last child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as a sibling after the element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6120" y="53492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83280" y="5440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 dirty="0">
                <a:solidFill>
                  <a:srgbClr val="FFFFFF"/>
                </a:solidFill>
                <a:latin typeface="Calibri"/>
              </a:rPr>
              <a:t>Q12  ::before and ::after MUST always have which property to be visible?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60807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i="0" dirty="0">
                <a:solidFill>
                  <a:srgbClr val="22C55E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content: (even if empty string '')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62019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display: block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63230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position: absolute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64442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z-index: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Pseudo-classes, z-index, overflow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Q6–12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Q6  z-index controls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stacking order (which element is on top)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element zoom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opacity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3D depth in perspective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Q7  overflow: hidden on a container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clips content beyond the container bounds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hides the element completely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makes content scrollable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collapses the height to zero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Q8  Which pseudo-class fires when a mouse hovers?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3375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:hover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:focus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:active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:visited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Q9  :focus applies when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the element receives keyboard or click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mouse hovers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link was already visited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element is the first child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Q10  :nth-child(2n) selects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091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every even-numbered child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every 2nd type element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children after the 2nd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only the 2nd child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Q11  ::before inserts content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7091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before the element's own text/content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before the parent element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as the last child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as a sibling after the element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6120" y="53492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83280" y="5440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Q12  ::before and ::after MUST always have which property to be visible?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60807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content: (even if empty string '')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62019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display: block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63230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position: absolute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64442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z-index: 1</a:t>
            </a:r>
          </a:p>
        </p:txBody>
      </p:sp>
    </p:spTree>
    <p:extLst>
      <p:ext uri="{BB962C8B-B14F-4D97-AF65-F5344CB8AC3E}">
        <p14:creationId xmlns:p14="http://schemas.microsoft.com/office/powerpoint/2010/main" val="3260911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Smoothly animate a CSS property change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09728" cy="2011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3659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4B8A6"/>
                </a:solidFill>
                <a:latin typeface="Consolas"/>
              </a:rPr>
              <a:t>transition:  property  duration  timing-function  delay;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2606040" cy="12344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onsolas"/>
              </a:rPr>
              <a:t>property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to animate
(background-color, transform, opacity 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83080"/>
            <a:ext cx="2606040" cy="12344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onsolas"/>
              </a:rP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LONG (0.3s, 500ms …)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2606040" cy="12344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onsolas"/>
              </a:rPr>
              <a:t>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EASING CURVE
(ease · linear · ease-in · ease-out)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783080"/>
            <a:ext cx="2606040" cy="12344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onsolas"/>
              </a:rPr>
              <a:t>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WAIT before starting
(0s, 200ms …)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83280"/>
            <a:ext cx="7069592" cy="3246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383280"/>
            <a:ext cx="64008" cy="3246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336" y="3438144"/>
            <a:ext cx="706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" y="3675888"/>
            <a:ext cx="681356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background: #0f766e;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transition: background 0.25s ease, transform 0.15s ease;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.btn:hover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background: #14b8a6;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transform: translateY(-2px);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5260" y="3383280"/>
            <a:ext cx="4509912" cy="324612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57150" y="3493008"/>
            <a:ext cx="42661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Best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7150" y="3931920"/>
            <a:ext cx="426613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DFA"/>
                </a:solidFill>
                <a:latin typeface="Calibri"/>
              </a:rPr>
              <a:t>→  Use 0.2s–0.4s for UI transitions
(fast enough to feel instant, slow enough to see)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7150" y="4800600"/>
            <a:ext cx="426613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DFA"/>
                </a:solidFill>
                <a:latin typeface="Calibri"/>
              </a:rPr>
              <a:t>→  transition: all  works but is slow
— name the specific property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7150" y="5669280"/>
            <a:ext cx="426613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DFA"/>
                </a:solidFill>
                <a:latin typeface="Calibri"/>
              </a:rPr>
              <a:t>→  Put transition on BASE state, not :hover
(so it animates in BOTH directions)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Transition — Right vs Wrong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Where you write transition changes how it behaves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9496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09728" cy="5486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  <a:latin typeface="Calibri"/>
              </a:rPr>
              <a:t>✗  WRONG — transition in :hover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28800"/>
            <a:ext cx="51206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828800"/>
            <a:ext cx="64008" cy="2560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" y="188366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2121408"/>
            <a:ext cx="4864608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background: #0f766e;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/* NO transition here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.btn:hover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background: #14b8a6;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transition: background 0.3s ease;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         /* WRONG PLACE!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4846320" cy="347472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5445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What happens: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19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→ Mouse ENTERS: smooth animation (0.3s)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852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  <a:latin typeface="Calibri"/>
              </a:rPr>
              <a:t>→ Mouse LEAVES: INSTANT JUMP back! (broken)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Because :hover styles (including transition) are removed when mouse leaves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188720"/>
            <a:ext cx="539496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37960" y="1188720"/>
            <a:ext cx="109728" cy="5486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9128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Calibri"/>
              </a:rPr>
              <a:t>✓  CORRECT — transition on base element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828800"/>
            <a:ext cx="51206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75120" y="1828800"/>
            <a:ext cx="64008" cy="2560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03136" y="188366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2121408"/>
            <a:ext cx="4864608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background: #0f766e;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transition: background 0.3s ease;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         /* CORRECT PLACE!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.btn:hover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background: #14b8a6;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/* only the changed value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4526280"/>
            <a:ext cx="4846320" cy="347472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45445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What happens: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919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→ Mouse ENTERS: smooth animation (0.3s)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2852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→ Mouse LEAVES: smooth animation back (0.3s)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66928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transition stays on .btn always, so both directions animate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Animations — @keyframes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Multi-step animations that run automatically, no JavaScript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0FDFA"/>
                </a:solidFill>
                <a:latin typeface="Calibri"/>
              </a:rPr>
              <a:t>transition = A → B  (triggered by state change)       animation = A → B → C → … (runs on its own)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6947702" cy="4773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64008" cy="4773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2336" y="1883664"/>
            <a:ext cx="694770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121408"/>
            <a:ext cx="6691670" cy="4407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/* STEP 1: define the keyframe sequence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@keyframes fadeIn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from { opacity: 0; transform: translateY(20px);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to   { opacity: 1; transform: translateY(0);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endParaRPr sz="1300">
              <a:solidFill>
                <a:srgbClr val="14B8A6"/>
              </a:solidFill>
              <a:latin typeface="Consolas"/>
            </a:endParaRP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/* STEP 2: attach to the element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.hero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animation: fadeIn 0.6s ease-out forwards;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endParaRPr sz="1300">
              <a:solidFill>
                <a:srgbClr val="14B8A6"/>
              </a:solidFill>
              <a:latin typeface="Consolas"/>
            </a:endParaRP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/* Multiple stops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@keyframes pulse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0%, 100% { transform: scale(1);   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50%      { transform: scale(1.05);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3371" y="1828800"/>
            <a:ext cx="4631801" cy="4773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35260" y="1920240"/>
            <a:ext cx="43880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animation shorthand parts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52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8260" y="2423160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fadeIn — must match @keyframes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5260" y="3044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8260" y="3044952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0.6s — how long one cycle takes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5260" y="36667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timing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8260" y="3666744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ease-out · linear · cubic-bezier(…)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5260" y="42885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delay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8260" y="4288536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0s — wait before starting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5260" y="49103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iteration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8260" y="4910328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1 · infinite ·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260" y="5532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8260" y="5532120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normal · reverse · alternate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5260" y="6153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fill-mode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8260" y="6153912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forwards = keep final state
none · backwards · both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Animation Timeline — @keyframes Visualized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How the browser interprets keyframe stops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0725912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2103120"/>
            <a:ext cx="36576" cy="5303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2468880"/>
            <a:ext cx="219456" cy="21945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onsolas"/>
              </a:rPr>
              <a:t>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20116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73152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907792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opacity: 0
translateY(20px)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2782" y="2103120"/>
            <a:ext cx="36576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1342" y="2468880"/>
            <a:ext cx="219456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05310" y="17373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onsolas"/>
              </a:rPr>
              <a:t>33%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5230" y="2834640"/>
            <a:ext cx="20116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65230" y="283464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822" y="2907792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opacity: 0.5
translateY(10px)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2333" y="2103120"/>
            <a:ext cx="36576" cy="5303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00893" y="2468880"/>
            <a:ext cx="219456" cy="21945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44861" y="17373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onsolas"/>
              </a:rPr>
              <a:t>66%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04781" y="2834640"/>
            <a:ext cx="20116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04781" y="2834640"/>
            <a:ext cx="73152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69373" y="2907792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opacity: 0.8
translateY(4px)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9144" y="2103120"/>
            <a:ext cx="36576" cy="5303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347704" y="2468880"/>
            <a:ext cx="219456" cy="21945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091672" y="17373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3F5E"/>
                </a:solidFill>
                <a:latin typeface="Consolas"/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45752" y="2834640"/>
            <a:ext cx="20116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45752" y="2834640"/>
            <a:ext cx="73152" cy="10058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10344" y="2907792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opacity: 1
translateY(0px)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8872" y="24871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time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1592" y="26517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0.6s (duration)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160520"/>
            <a:ext cx="621792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" y="4160520"/>
            <a:ext cx="64008" cy="2468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9536" y="421538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4453128"/>
            <a:ext cx="5961888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@keyframes fadeIn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from { opacity: 0; transform: translateY(20px);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33%  { opacity: 0.5; transform: translateY(10px);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66%  { opacity: 0.8; transform: translateY(4px);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to   { opacity: 1; transform: translateY(0);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.hero { animation: fadeIn 0.6s ease-out forwards; 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4160520"/>
            <a:ext cx="4572000" cy="246888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0" y="427939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fill-mode: forwards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709160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alibri"/>
              </a:rPr>
              <a:t>WITHOUT forwards:
Element returns to opacity:0 after animation ends (invisible!)
WITH forwards:
Element keeps the FINAL keyframe state (opacity:1) after animation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Transitions, Animations,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Q13–17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Q13  The CSS transition property animates changes in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i="0" dirty="0">
                <a:solidFill>
                  <a:srgbClr val="22C55E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CSS property values when they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717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64748B"/>
                </a:solidFill>
                <a:latin typeface="Calibri"/>
              </a:rPr>
              <a:t>     HTML element 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JavaScript variable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8318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DOM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Q14  Which at-rule defines a CSS animation's keyframe sequence?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dirty="0">
                <a:solidFill>
                  <a:srgbClr val="64748B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@keyframes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17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@media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774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@font-face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8318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@animate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7180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0632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Q15  CSS custom properties (variables) are declared with the syntax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0332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i="0" dirty="0">
                <a:solidFill>
                  <a:srgbClr val="22C55E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--name: value;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9090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$name: value;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1148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var(name): value;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3205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name = value;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7180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0632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Q16  To USE a CSS variable called --primary, the syntax is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0332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i="0" dirty="0">
                <a:solidFill>
                  <a:srgbClr val="22C55E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var(--primary)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9090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$(--primary)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148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#primary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3205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%(primary)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70916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80" y="4800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Q17  @media (max-width: 768px) { } applies styles when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44068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i="0" dirty="0">
                <a:solidFill>
                  <a:srgbClr val="22C55E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the viewport is 768px wide or NARROWER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64642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viewport is exactly 768px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8521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font is 768px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60579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device is mobile-only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Transitions, Animations,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Q13–17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Q13  The CSS transition property animates changes in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CSS property values when they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717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HTML element 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JavaScript variable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8318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DOM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Q14  Which at-rule defines a CSS animation's keyframe sequence?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@keyframes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17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@media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774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@font-face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8318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@animate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7180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0632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Q15  CSS custom properties (variables) are declared with the syntax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0332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--name: value;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9090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$name: value;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1148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var(name): value;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3205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name = value;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7180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0632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Q16  To USE a CSS variable called --primary, the syntax is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0332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var(--primary)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9090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$(--primary)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148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#primary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3205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%(primary)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70916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80" y="4800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Q17  @media (max-width: 768px) { } applies styles when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44068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the viewport is 768px wide or NARROWER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64642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viewport is exactly 768px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8521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font is 768px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60579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device is mobile-only</a:t>
            </a:r>
          </a:p>
        </p:txBody>
      </p:sp>
    </p:spTree>
    <p:extLst>
      <p:ext uri="{BB962C8B-B14F-4D97-AF65-F5344CB8AC3E}">
        <p14:creationId xmlns:p14="http://schemas.microsoft.com/office/powerpoint/2010/main" val="3375819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Custom Properties (Variables)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Define once in :root, use everywhere with var()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7069592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64008" cy="5349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" y="1289304"/>
            <a:ext cx="706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527048"/>
            <a:ext cx="681356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:root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--primary:    #0f766e;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--accent:     #14b8a6;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--bg:         #f0fdfa;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--text:       #1e293b;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--radius:     8px;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--shadow:     0 4px 16px rgba(0,0,0,0.12);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endParaRPr sz="1300">
              <a:solidFill>
                <a:srgbClr val="14B8A6"/>
              </a:solidFill>
              <a:latin typeface="Consolas"/>
            </a:endParaRP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.btn  { background: var(--primary);  border-radius: var(--radius);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.card { background: var(--bg);       box-shadow:    var(--shadow);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h1    { color:      var(--primary); }</a:t>
            </a:r>
          </a:p>
          <a:p>
            <a:pPr algn="l"/>
            <a:endParaRPr sz="1300">
              <a:solidFill>
                <a:srgbClr val="14B8A6"/>
              </a:solidFill>
              <a:latin typeface="Consolas"/>
            </a:endParaRP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@media (prefers-color-scheme: dark)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:root { --bg: #051a0a; --text: #d4edda;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35260" y="1234440"/>
            <a:ext cx="4509912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57150" y="1325880"/>
            <a:ext cx="426613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Why variables?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7150" y="1874519"/>
            <a:ext cx="42661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One change updates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7150" y="2258567"/>
            <a:ext cx="426613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Change --primary once: every button, link, card updates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150" y="3044951"/>
            <a:ext cx="42661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Easy dark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7150" y="3428999"/>
            <a:ext cx="426613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Redefine variables in @media: no class changes, no JS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7150" y="4215383"/>
            <a:ext cx="42661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Component theming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7150" y="4599431"/>
            <a:ext cx="426613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Override per-component:
.card { --accent: red;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7150" y="5385815"/>
            <a:ext cx="42661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Runtime JS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7150" y="5769863"/>
            <a:ext cx="426613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el.style.setProperty('--primary','blue')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Variables — Token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How :root variables cascade to every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4076" y="1188720"/>
            <a:ext cx="6400800" cy="137160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94076" y="1188720"/>
            <a:ext cx="10972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22676" y="1261872"/>
            <a:ext cx="6080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  <a:latin typeface="Consolas"/>
              </a:rPr>
              <a:t>:root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2676" y="1609344"/>
            <a:ext cx="6080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Consolas"/>
              </a:rPr>
              <a:t>  --primary: #0f766e;   --accent: #14b8a6;   --radius: 8px;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2676" y="1920240"/>
            <a:ext cx="6080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These variables are available to EVERY element on the page (they cascade downward through the entire DOM tree)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6188" y="2560320"/>
            <a:ext cx="36576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73352" y="2761488"/>
            <a:ext cx="36576" cy="3017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3063240"/>
            <a:ext cx="28346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063240"/>
            <a:ext cx="91440" cy="1691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3154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onsolas"/>
              </a:rPr>
              <a:t>.btn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593592"/>
            <a:ext cx="2606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background: var(--primary)
border-radius: var(--radius)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9432" y="2761488"/>
            <a:ext cx="36576" cy="3017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0" y="3063240"/>
            <a:ext cx="28346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0" y="3063240"/>
            <a:ext cx="91440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64992" y="3154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onsolas"/>
              </a:rPr>
              <a:t>.card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593592"/>
            <a:ext cx="2606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background: var(--bg)
box-shadow: var(--shadow)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71232" y="2761488"/>
            <a:ext cx="36576" cy="3017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063240"/>
            <a:ext cx="28346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063240"/>
            <a:ext cx="91440" cy="1691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3154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onsolas"/>
              </a:rPr>
              <a:t>h1, h2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593592"/>
            <a:ext cx="2606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color: var(--primary)
font-size: var(--heading)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97312" y="2761488"/>
            <a:ext cx="36576" cy="3017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98280" y="3063240"/>
            <a:ext cx="28346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98280" y="3063240"/>
            <a:ext cx="91440" cy="16916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62872" y="3154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  <a:latin typeface="Consolas"/>
              </a:rPr>
              <a:t>:root
(dark)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3593592"/>
            <a:ext cx="2606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--primary: #7dd3d0
--bg: #0a1a1a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2761488"/>
            <a:ext cx="10222992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4937760"/>
            <a:ext cx="11640312" cy="169164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5047488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Dark Mode — just redefine the same variable names: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40680"/>
            <a:ext cx="11457432" cy="10789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5440680"/>
            <a:ext cx="64008" cy="10789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5216" y="5495544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5733288"/>
            <a:ext cx="112014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@media (prefers-color-scheme: dark)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:root { --primary: #7dd3d0; --bg: #0a1a1a; --text: #e2f8f6;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  /* All .btn, .card, h1 — automatically update. Zero extra CSS needed. */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Media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Apply styles only when certain conditions are met (responsive design)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365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onsolas"/>
              </a:rPr>
              <a:t>@media  ( condition )  { /* CSS rules that only apply when condition is true */ 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697480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8470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Mobile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26974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3F5E"/>
                </a:solidFill>
                <a:latin typeface="Consolas"/>
              </a:rPr>
              <a:t>@media (max-width: 480px)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≤ 480px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828800"/>
            <a:ext cx="269748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18688" y="18470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Tablet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212848"/>
            <a:ext cx="26974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286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9E0B"/>
                </a:solidFill>
                <a:latin typeface="Consolas"/>
              </a:rPr>
              <a:t>@media (max-width: 768px)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≤ 768px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28800"/>
            <a:ext cx="269748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3328" y="18470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Desktop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212848"/>
            <a:ext cx="26974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2286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  <a:latin typeface="Consolas"/>
              </a:rPr>
              <a:t>@media (min-width: 1024px)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≥ 1024px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828800"/>
            <a:ext cx="269748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87968" y="18470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Wide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2212848"/>
            <a:ext cx="26974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0" y="2286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8BDF8"/>
                </a:solidFill>
                <a:latin typeface="Consolas"/>
              </a:rPr>
              <a:t>@media (min-width: 1440px)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≥ 1440px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37560"/>
            <a:ext cx="755715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3337560"/>
            <a:ext cx="64008" cy="3291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2336" y="3392424"/>
            <a:ext cx="7557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" y="3630168"/>
            <a:ext cx="7301118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/* Mobile-first approach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.grid { display: block; }</a:t>
            </a:r>
          </a:p>
          <a:p>
            <a:pPr algn="l"/>
            <a:endParaRPr sz="1300">
              <a:solidFill>
                <a:srgbClr val="14B8A6"/>
              </a:solidFill>
              <a:latin typeface="Consolas"/>
            </a:endParaRP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@media (min-width: 768px)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.grid { display: flex; gap: 20px;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endParaRPr sz="1300">
              <a:solidFill>
                <a:srgbClr val="14B8A6"/>
              </a:solidFill>
              <a:latin typeface="Consolas"/>
            </a:endParaRP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@media (min-width: 1024px)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.grid { display: grid; grid-template-columns: repeat(3, 1fr);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2818" y="3337560"/>
            <a:ext cx="4022354" cy="32918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4708" y="3429000"/>
            <a:ext cx="37785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Other media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4708" y="3886200"/>
            <a:ext cx="377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onsolas"/>
              </a:rPr>
              <a:t>→  (orientation: landscape)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4708" y="4407407"/>
            <a:ext cx="377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onsolas"/>
              </a:rPr>
              <a:t>→  (prefers-color-scheme: dark)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4708" y="4928614"/>
            <a:ext cx="377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onsolas"/>
              </a:rPr>
              <a:t>→  (prefers-reduced-motion)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4708" y="5449821"/>
            <a:ext cx="377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onsolas"/>
              </a:rPr>
              <a:t>→  print — styles for printing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4708" y="5971028"/>
            <a:ext cx="377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onsolas"/>
              </a:rPr>
              <a:t>→  screen — default, any display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Responsive Design — Three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Same HTML, different CSS layout at each breakpoint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743200" cy="475488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" cy="47548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743200" cy="38404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Mobile  ≤ 480px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" y="2121408"/>
            <a:ext cx="2542032" cy="92134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" y="2397812"/>
            <a:ext cx="2432304" cy="46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Card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" y="3088477"/>
            <a:ext cx="2542032" cy="92134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" y="3364882"/>
            <a:ext cx="2432304" cy="46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Card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" y="4055546"/>
            <a:ext cx="2542032" cy="92134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" y="4331951"/>
            <a:ext cx="2432304" cy="46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Card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" y="5022616"/>
            <a:ext cx="2542032" cy="92134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" y="5299021"/>
            <a:ext cx="2432304" cy="46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Card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3F5E"/>
                </a:solidFill>
                <a:latin typeface="Calibri"/>
              </a:rPr>
              <a:t>single
column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1417320"/>
            <a:ext cx="4389120" cy="498348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0" y="1417320"/>
            <a:ext cx="54864" cy="4983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0" y="1417320"/>
            <a:ext cx="438912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67328" y="1472184"/>
            <a:ext cx="4224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Tablet  ≤ 768px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58184" y="1892808"/>
            <a:ext cx="2048256" cy="1987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31336" y="2588414"/>
            <a:ext cx="1938528" cy="695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Card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892808"/>
            <a:ext cx="2048256" cy="1987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71032" y="2588414"/>
            <a:ext cx="1938528" cy="695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Card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58184" y="3971696"/>
            <a:ext cx="2048256" cy="1987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31336" y="4667303"/>
            <a:ext cx="1938528" cy="695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Card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3971696"/>
            <a:ext cx="2048256" cy="1987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1032" y="4667303"/>
            <a:ext cx="1938528" cy="695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Card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4922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2 columns
(flex row)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1234440"/>
            <a:ext cx="3566160" cy="516636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321040" y="1234440"/>
            <a:ext cx="54864" cy="5166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1234440"/>
            <a:ext cx="356616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30768" y="1289304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Desktop  ≥ 1024px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1624" y="1709928"/>
            <a:ext cx="1078992" cy="193176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67344" y="2386044"/>
            <a:ext cx="1005840" cy="676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C1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64624" y="1709928"/>
            <a:ext cx="1078992" cy="193176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10344" y="2386044"/>
            <a:ext cx="1005840" cy="676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C2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07624" y="1709928"/>
            <a:ext cx="1078992" cy="193176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53344" y="2386044"/>
            <a:ext cx="1005840" cy="676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C3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21624" y="4009644"/>
            <a:ext cx="3364992" cy="193176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13064" y="4745553"/>
            <a:ext cx="3227832" cy="689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Full-width 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4922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  <a:latin typeface="Calibri"/>
              </a:rPr>
              <a:t>3 columns
(grid)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263640"/>
            <a:ext cx="1164031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" y="6263640"/>
            <a:ext cx="6400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02336" y="6318504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" y="6556248"/>
            <a:ext cx="11384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/* Mobile-first — base CSS targets mobile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.grid { display: block; }                           /* 1 col */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@media (min-width: 480px) { .grid { display: flex; flex-wrap: wrap; }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@media (min-width: 1024px) { .grid { display: grid; grid-template-columns: repeat(3,1fr); } 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Flexbox — Deeper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flex-direction · flex-wrap · order · flex-grow ·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91440" cy="15361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  <a:latin typeface="Consolas"/>
              </a:rPr>
              <a:t>flex-direction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4650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row (default) / column
row-reverse / column-reverse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23444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0" y="1234440"/>
            <a:ext cx="91440" cy="1536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onsolas"/>
              </a:rPr>
              <a:t>flex-wrap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74650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nowrap (default) / wrap
wrap-reverse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23444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80" y="1234440"/>
            <a:ext cx="91440" cy="15361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onsolas"/>
              </a:rPr>
              <a:t>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74650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Default: 0  ·  lower = earlier
Visual reorder without changing 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2608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2926080"/>
            <a:ext cx="91440" cy="15361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0175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Consolas"/>
              </a:rPr>
              <a:t>flex-grow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43814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 = don't grow  /  1 = fill space
flex: 1 = grow:1, shrink:1, basis:0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92608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2926080"/>
            <a:ext cx="91440" cy="15361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15968" y="30175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onsolas"/>
              </a:rPr>
              <a:t>align-self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343814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Override align-items for ONE item
auto·flex-start·center·flex-end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292608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55280" y="2926080"/>
            <a:ext cx="91440" cy="15361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56448" y="30175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  <a:latin typeface="Consolas"/>
              </a:rPr>
              <a:t>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43814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Space between items (row &amp; column)
Replaces margin hacks —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63440"/>
            <a:ext cx="11640312" cy="1965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4663440"/>
            <a:ext cx="64008" cy="1965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2336" y="4718304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4956048"/>
            <a:ext cx="11384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.container { display:flex; flex-wrap:wrap; gap:16px;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.item      { flex: 1; min-width: 200px;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.featured  { order: -1; flex: 2; 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Grid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Two-dimensional layout: rows AND columns at the same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0FDFA"/>
                </a:solidFill>
                <a:latin typeface="Calibri"/>
              </a:rPr>
              <a:t>Flexbox = 1 axis (row OR column)     Grid = 2 axes (rows AND columns together)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6947702" cy="4800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64008" cy="4800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2336" y="1883664"/>
            <a:ext cx="694770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121408"/>
            <a:ext cx="669167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.grid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display: grid;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grid-template-columns: repeat(3, 1fr);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grid-template-rows: auto auto;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gap: 20px;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.hero    { grid-column: 1 / 3;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.sidebar { grid-row:    1 / 3; }</a:t>
            </a:r>
          </a:p>
          <a:p>
            <a:pPr algn="l"/>
            <a:endParaRPr sz="1300">
              <a:solidFill>
                <a:srgbClr val="14B8A6"/>
              </a:solidFill>
              <a:latin typeface="Consolas"/>
            </a:endParaRP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.layout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grid-template-areas: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'header  header  header'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'sidebar main    main'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'footer  footer  footer';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.main-content { grid-area: main;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35260" y="1828800"/>
            <a:ext cx="4509912" cy="4800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57150" y="1920240"/>
            <a:ext cx="42661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Key 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150" y="2395728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grid-template-columns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7150" y="2706624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Defines column widths
repeat(3,1fr) · 200px 1fr 200px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7150" y="3108960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grid-template-rows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7150" y="3419856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Defines row heights
auto · 100px · minmax(100px,auto)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7150" y="3822192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7150" y="4133088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Space between cells
16px or 12px 20px (row col)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7150" y="4535424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grid-column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7150" y="4846320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Which columns item spans
1 / 3 or span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7150" y="5248656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grid-row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7150" y="5559552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Which rows item spans
1 / 4 or span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7150" y="5961888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grid-template-areas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150" y="6272784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Named layout zones — most
readable way to define a layout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Grid — Named Areas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Visual breakdown of grid-template-areas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0352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91440" cy="5486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298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The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507492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719072"/>
            <a:ext cx="64008" cy="4846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" y="177393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2011680"/>
            <a:ext cx="4818888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.layout {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display: grid;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grid-template-columns: 200px 1fr;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grid-template-rows: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60px auto 50px;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grid-template-areas: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'header  header'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'sidebar main'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  'footer  footer';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  gap: 12px;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endParaRPr sz="1300">
              <a:solidFill>
                <a:srgbClr val="14B8A6"/>
              </a:solidFill>
              <a:latin typeface="Consolas"/>
            </a:endParaRP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header  { grid-area: header; 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.sidebar{ grid-area: sidebar;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main    { grid-area: main;    }</a:t>
            </a:r>
          </a:p>
          <a:p>
            <a:pPr algn="l"/>
            <a:r>
              <a:rPr sz="1300">
                <a:solidFill>
                  <a:srgbClr val="14B8A6"/>
                </a:solidFill>
                <a:latin typeface="Consolas"/>
              </a:rPr>
              <a:t>footer  { grid-area: footer; 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766E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188720"/>
            <a:ext cx="5650992" cy="5486400"/>
          </a:xfrm>
          <a:prstGeom prst="rect">
            <a:avLst/>
          </a:prstGeom>
          <a:solidFill>
            <a:srgbClr val="2A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The 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5376672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56232"/>
            <a:ext cx="5148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30552"/>
            <a:ext cx="5239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0FDFA"/>
                </a:solidFill>
                <a:latin typeface="Consolas"/>
              </a:rPr>
              <a:t>grid-area: header  (spans full width)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441448"/>
            <a:ext cx="1645920" cy="32735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685397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side
bar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42239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0FDFA"/>
                </a:solidFill>
                <a:latin typeface="Consolas"/>
              </a:rPr>
              <a:t>200px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441448"/>
            <a:ext cx="3639312" cy="3273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816339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422392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onsolas"/>
              </a:rPr>
              <a:t>1fr  (fills remaining space)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806440"/>
            <a:ext cx="5376672" cy="5486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5806440"/>
            <a:ext cx="91440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943600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DFA"/>
                </a:solidFill>
                <a:latin typeface="Calibri"/>
              </a:rPr>
              <a:t>footer  (spans full width)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099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5CF6"/>
                </a:solidFill>
                <a:latin typeface="Consolas"/>
              </a:rPr>
              <a:t>← 200px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409944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onsolas"/>
              </a:rPr>
              <a:t>← 1fr (auto) →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Grid, Flexbox Advanced, border-radius, box-shadow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Q18–25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Q18  flex-direction: column makes flex items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50" b="0" i="0">
                <a:solidFill>
                  <a:srgbClr val="64748B"/>
                </a:solidFill>
                <a:latin typeface="Calibri"/>
              </a:defRPr>
            </a:lvl1pPr>
          </a:lstStyle>
          <a:p>
            <a:r>
              <a:rPr lang="en-US" dirty="0"/>
              <a:t>     </a:t>
            </a:r>
            <a:r>
              <a:rPr dirty="0"/>
              <a:t>stack vertically (a column)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wrap to the next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reverse their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shrink to minimum width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Q19  flex-wrap: wrap allows flex items to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64748B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move to a new row when they overflow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shrink below minimum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overlap each 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ignore the gap property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Q20  display: grid on a container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3375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64748B"/>
                </a:solidFill>
                <a:latin typeface="Calibri"/>
              </a:rPr>
              <a:t>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 activates the 2-dimensional Grid 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makes children flex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hides overflowing children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stacks children absolutely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Q21  grid-template-columns: repeat(3, 1fr) creates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64748B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3 equal-width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1 column of 3fr width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3 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fixed 300px grid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Q22  Which property adds space between grid OR flex items?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091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50" b="0" i="0">
                <a:solidFill>
                  <a:srgbClr val="64748B"/>
                </a:solidFill>
                <a:latin typeface="Calibri"/>
              </a:defRPr>
            </a:lvl1pPr>
          </a:lstStyle>
          <a:p>
            <a:r>
              <a:rPr lang="en-US" dirty="0"/>
              <a:t>    </a:t>
            </a:r>
            <a:r>
              <a:rPr dirty="0"/>
              <a:t>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padding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spacing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Q23  border-radius: 50% on a square element creates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7091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dirty="0">
                <a:solidFill>
                  <a:srgbClr val="22C55E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a perfect circle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rounded rectangle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an 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hexagon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3492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80" y="5440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Q24  In box-shadow: 2px 4px 8px rgba(0,0,0,0.2)  the 3rd value (8px) controls 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0807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dirty="0">
                <a:solidFill>
                  <a:srgbClr val="22C55E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blur radius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2019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horizontal offset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3230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vertical offset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4442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spread radius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3492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5440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Q25  The CSS inherit keyword makes a property 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6080760"/>
            <a:ext cx="53949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dirty="0">
                <a:solidFill>
                  <a:srgbClr val="22C55E"/>
                </a:solidFill>
                <a:latin typeface="Calibri"/>
              </a:rPr>
              <a:t>     </a:t>
            </a:r>
            <a:r>
              <a:rPr sz="1150" dirty="0">
                <a:solidFill>
                  <a:srgbClr val="64748B"/>
                </a:solidFill>
                <a:latin typeface="Calibri"/>
              </a:rPr>
              <a:t>take the computed value from the parent element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62019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reset to browser default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63230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apply !important override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64442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copy from the next sibling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Grid, Flexbox Advanced, border-radius, box-shadow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Q18–25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Q18  flex-direction: column makes flex items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stack vertically (a column)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wrap to the next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reverse their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shrink to minimum width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Q19  flex-wrap: wrap allows flex items to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move to a new row when they overflow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shrink below minimum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overlap each 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ignore the gap property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Q20  display: grid on a container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3375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activates the 2-dimensional Grid 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makes children flex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hides overflowing children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stacks children absolutely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Q21  grid-template-columns: repeat(3, 1fr) creates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3 equal-width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1 column of 3fr width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3 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fixed 300px grid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Q22  Which property adds space between grid OR flex items?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091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padding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spacing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Q23  border-radius: 50% on a square element creates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7091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a perfect circle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rounded rectangle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an 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hexagon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3492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80" y="5440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Q24  In box-shadow: 2px 4px 8px rgba(0,0,0,0.2)  the 3rd value (8px) controls 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0807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blur radius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2019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horizontal offset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3230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vertical offset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4442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spread radius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3492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5440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Q25  The CSS inherit keyword makes a property 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60807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take the computed value from the parent element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62019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reset to browser default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63230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apply !important override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64442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copy from the next sibling</a:t>
            </a:r>
          </a:p>
        </p:txBody>
      </p:sp>
    </p:spTree>
    <p:extLst>
      <p:ext uri="{BB962C8B-B14F-4D97-AF65-F5344CB8AC3E}">
        <p14:creationId xmlns:p14="http://schemas.microsoft.com/office/powerpoint/2010/main" val="2876427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628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DFA"/>
                </a:solidFill>
                <a:latin typeface="Calibri"/>
              </a:rPr>
              <a:t>Week 3 · Friday — CSS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Calibri"/>
              </a:rPr>
              <a:t>What you can now do: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91440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8562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5623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Use static/relative/absolute/fixed/sticky to place elements precisely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9144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8562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Pseudo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85623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Style elements by state (:hover :focus) and insert content (::before ::after)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880360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9535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Transition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95351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Animate property changes smoothly with transition: property duration easing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88036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880360"/>
            <a:ext cx="91440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29535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Animation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95351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Create multi-step effects with @keyframes and the animation shorthand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7764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977640"/>
            <a:ext cx="91440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40507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Variables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05079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Define --custom-properties in :root and use them everywhere with var()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97764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3977640"/>
            <a:ext cx="9144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40507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Responsive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05079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Use @media (max-width: …) to apply styles only at certain viewport sizes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507492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37560" y="5074920"/>
            <a:ext cx="91440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38728" y="51480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Grid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14807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Create 2-dimensional layouts with display:grid and grid-template-columns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3550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Next: Week 4 · Monday → JavaScript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7138</Words>
  <Application>Microsoft Office PowerPoint</Application>
  <PresentationFormat>Custom</PresentationFormat>
  <Paragraphs>882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Mukhiddin Toshpulatov</cp:lastModifiedBy>
  <cp:revision>2</cp:revision>
  <dcterms:created xsi:type="dcterms:W3CDTF">2013-01-27T09:14:16Z</dcterms:created>
  <dcterms:modified xsi:type="dcterms:W3CDTF">2026-09-17T11:27:32Z</dcterms:modified>
  <cp:category/>
</cp:coreProperties>
</file>