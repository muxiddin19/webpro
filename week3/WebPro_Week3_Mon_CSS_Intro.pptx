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30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3314F"/>
                </a:solidFill>
                <a:latin typeface="Consolas"/>
              </a:rPr>
              <a:t>selector  {  property:  value;  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023360"/>
          </a:xfrm>
          <a:prstGeom prst="roundRect">
            <a:avLst/>
          </a:prstGeom>
          <a:solidFill>
            <a:srgbClr val="1A1F3C"/>
          </a:solidFill>
          <a:ln>
            <a:solidFill>
              <a:srgbClr val="1A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3C5FD"/>
                </a:solidFill>
                <a:latin typeface="Calibri"/>
              </a:rPr>
              <a:t>Web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CSS 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474720"/>
            <a:ext cx="3931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Week 3 · Monday  ·  1-Hour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5B4FC"/>
                </a:solidFill>
                <a:latin typeface="Calibri"/>
              </a:rPr>
              <a:t>🎨  HTML is the skeleton — CSS is the clothing.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02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What CSS is — and why it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39112"/>
            <a:ext cx="502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391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Three ways to attach CSS to 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89504"/>
            <a:ext cx="502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8895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Syntax: selector { property: value;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39896"/>
            <a:ext cx="502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73989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313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Selectors — element, .class, #id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90288"/>
            <a:ext cx="502920" cy="54864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902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817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Colors and text styling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40680"/>
            <a:ext cx="502920" cy="5486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440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93B"/>
                </a:solidFill>
                <a:latin typeface="Calibri"/>
              </a:rPr>
              <a:t>The box model (most important concept!)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CSS?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394960" cy="521208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4F46E5"/>
                </a:solidFill>
                <a:latin typeface="Calibri"/>
              </a:rPr>
              <a:t>🦴  HTML = the skeleton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1E293B"/>
                </a:solidFill>
                <a:latin typeface="Calibri"/>
              </a:rPr>
              <a:t>Structure only — plain, unstyled</a:t>
            </a:r>
          </a:p>
          <a:p>
            <a:pPr>
              <a:spcBef>
                <a:spcPts val="1000"/>
              </a:spcBef>
            </a:pPr>
            <a:endParaRPr sz="1900" b="0">
              <a:solidFill>
                <a:srgbClr val="1E293B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4F46E5"/>
                </a:solidFill>
                <a:latin typeface="Calibri"/>
              </a:rPr>
              <a:t>🎨  CSS = the clothing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1E293B"/>
                </a:solidFill>
                <a:latin typeface="Calibri"/>
              </a:rPr>
              <a:t>Colors, fonts, layout, animation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572000"/>
            <a:ext cx="5394960" cy="164592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CSS  =  Cascading Style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7FF"/>
                </a:solidFill>
                <a:latin typeface="Calibri"/>
              </a:rPr>
              <a:t>"Cascading" = styles flow from parent to child
and follow specificity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Without 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00200"/>
            <a:ext cx="57607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600200"/>
            <a:ext cx="5760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627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947672"/>
            <a:ext cx="5541264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&lt;h1&gt;Hello World&lt;/h1&gt;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&lt;p&gt;Welcome to CSS.&lt;/p&gt;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&lt;ul&gt;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  &lt;li&gt;Unstyled&lt;/li&gt;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  &lt;li&gt;Boring&lt;/li&gt;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&lt;/ul&gt;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749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✨  With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160520"/>
            <a:ext cx="57607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4160520"/>
            <a:ext cx="5760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41879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507992"/>
            <a:ext cx="5541264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F59E0B"/>
                </a:solidFill>
                <a:latin typeface="Consolas"/>
              </a:rPr>
              <a:t>h1 { color: #4F46E5;</a:t>
            </a:r>
          </a:p>
          <a:p>
            <a:pPr algn="l"/>
            <a:r>
              <a:rPr sz="1500">
                <a:solidFill>
                  <a:srgbClr val="F59E0B"/>
                </a:solidFill>
                <a:latin typeface="Consolas"/>
              </a:rPr>
              <a:t>     font-size: 2rem; }</a:t>
            </a:r>
          </a:p>
          <a:p>
            <a:pPr algn="l"/>
            <a:r>
              <a:rPr sz="1500">
                <a:solidFill>
                  <a:srgbClr val="F59E0B"/>
                </a:solidFill>
                <a:latin typeface="Consolas"/>
              </a:rPr>
              <a:t>p  { line-height: 1.6; }</a:t>
            </a:r>
          </a:p>
          <a:p>
            <a:pPr algn="l"/>
            <a:r>
              <a:rPr sz="1500">
                <a:solidFill>
                  <a:srgbClr val="F59E0B"/>
                </a:solidFill>
                <a:latin typeface="Consolas"/>
              </a:rPr>
              <a:t>ul { list-style: square;</a:t>
            </a:r>
          </a:p>
          <a:p>
            <a:pPr algn="l"/>
            <a:r>
              <a:rPr sz="1500">
                <a:solidFill>
                  <a:srgbClr val="F59E0B"/>
                </a:solidFill>
                <a:latin typeface="Consolas"/>
              </a:rPr>
              <a:t>     color: #10B981;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1B69"/>
          </a:solidFill>
          <a:ln>
            <a:solidFill>
              <a:srgbClr val="2D1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⚡ Quick Check 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56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B4FC"/>
                </a:solidFill>
                <a:latin typeface="Calibri"/>
              </a:rPr>
              <a:t>Think first — then discuss!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What does CSS stand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1064240" cy="713232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713232" cy="71323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Cascading Style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713232" cy="7132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Computer Style Syntax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713232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Creative Styling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713232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5780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Code Styling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Ways to Add 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49039" cy="52120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①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style attribute directly on the element
→ highest priority, not reusable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34747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3474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4048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24912"/>
            <a:ext cx="3255264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3C5FD"/>
                </a:solidFill>
                <a:latin typeface="Consolas"/>
              </a:rPr>
              <a:t>p style="color: red; font-size:18px;"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  …text…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/p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749039" cy="521208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②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&lt;style&gt; block inside &lt;head&gt;
→ scoped to one HTML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377440"/>
            <a:ext cx="34747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2377440"/>
            <a:ext cx="3474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4568" y="24048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24912"/>
            <a:ext cx="3255264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head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  style</a:t>
            </a:r>
          </a:p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    p { color: blue; }</a:t>
            </a:r>
          </a:p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    h1 { font-size: 2rem; }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  /style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/head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097280"/>
            <a:ext cx="3749039" cy="5212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③ External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4E3B"/>
                </a:solidFill>
                <a:latin typeface="Calibri"/>
              </a:rPr>
              <a:t>Separate .css file linked in &lt;head&gt;
→ BEST PRACTICE — shared across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377440"/>
            <a:ext cx="34747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66760" y="2377440"/>
            <a:ext cx="3474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76488" y="24048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724912"/>
            <a:ext cx="3255264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head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  link rel="stylesheet"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       href="styles.css"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onsolas"/>
              </a:rPr>
              <a:t>/head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577840"/>
            <a:ext cx="11430000" cy="685800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  Best Practice: always use an external .css file — one file styles your entire website.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CSS Syntax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F46E5"/>
                </a:solidFill>
                <a:latin typeface="Consola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nsolas"/>
              </a:rPr>
              <a:t>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93C5FD"/>
                </a:solidFill>
                <a:latin typeface="Consolas"/>
              </a:rPr>
              <a:t>  color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nsolas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6EE7B7"/>
                </a:solidFill>
                <a:latin typeface="Consolas"/>
              </a:rPr>
              <a:t> #4F46E5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nsolas"/>
              </a:rPr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  <a:latin typeface="Calibri"/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Selector
(WHO to style)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3C5FD"/>
                </a:solidFill>
                <a:latin typeface="Calibri"/>
              </a:rPr>
              <a:t>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C5FD"/>
                </a:solidFill>
                <a:latin typeface="Calibri"/>
              </a:rPr>
              <a:t>Property
(WHAT to change)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E7B7"/>
                </a:solidFill>
                <a:latin typeface="Calibri"/>
              </a:rPr>
              <a:t>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E7B7"/>
                </a:solidFill>
                <a:latin typeface="Calibri"/>
              </a:rPr>
              <a:t>Value
(HOW to change 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Calibri"/>
              </a:rPr>
              <a:t>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Semicolon
(end each rule!)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 b="1">
                <a:solidFill>
                  <a:srgbClr val="4F46E5"/>
                </a:solidFill>
                <a:latin typeface="Calibri"/>
              </a:rPr>
              <a:t>Rules of CSS syntax: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• A rule block starts with { and ends with }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• Each declaration ends with a semicolon  ;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• Property and value are separated by a colon  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• Multiple rules can target the same selector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1B69"/>
          </a:solidFill>
          <a:ln>
            <a:solidFill>
              <a:srgbClr val="2D1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⚡ Quick Check 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56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B4FC"/>
                </a:solidFill>
                <a:latin typeface="Calibri"/>
              </a:rPr>
              <a:t>Think first — then discuss!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What is wrong with this CSS?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920240"/>
            <a:ext cx="5760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1920240"/>
            <a:ext cx="57607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0128" y="19476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267712"/>
            <a:ext cx="5541264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p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font-size 16px;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color: blue;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713232" cy="71323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Nothing — this CSS is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16552"/>
            <a:ext cx="11064240" cy="713232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416552"/>
            <a:ext cx="713232" cy="7132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1655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07992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Missing colon (:) after  font-size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21224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5221224"/>
            <a:ext cx="713232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221224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12664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font-size is not a valid property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25896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6025896"/>
            <a:ext cx="713232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025896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117336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px should be replaced with 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CSS Selectors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657600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00200"/>
            <a:ext cx="36576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onsolas"/>
              </a:rPr>
              <a:t>p {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Targets ALL &lt;p&gt; tags
Everywhere on the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71800"/>
            <a:ext cx="36576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365760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29992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319272"/>
            <a:ext cx="3438144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p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color: navy;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font-size: 16px;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097280"/>
            <a:ext cx="3657600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Class  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36576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onsolas"/>
              </a:rPr>
              <a:t>.highlight {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031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Targets elements with
class="highlight"
Many elements can 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971800"/>
            <a:ext cx="36576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2971800"/>
            <a:ext cx="365760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29992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319272"/>
            <a:ext cx="3438144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.highlight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background: yellow;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font-weight: bold;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1097280"/>
            <a:ext cx="3657600" cy="5029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8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# 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1600200"/>
            <a:ext cx="36576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onsolas"/>
              </a:rPr>
              <a:t>#header {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031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Targets ONE element with
id="header"
Must be unique per page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971800"/>
            <a:ext cx="36576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2971800"/>
            <a:ext cx="365760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93608" y="29992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319272"/>
            <a:ext cx="3438144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#header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height: 80px;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background: #4F46E5;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4846320"/>
            <a:ext cx="1152144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937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9E0B"/>
                </a:solidFill>
                <a:latin typeface="Calibri"/>
              </a:rPr>
              <a:t>⚡ Specificity rule:   #ID  &gt;  .class  &gt;  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  <a:latin typeface="Calibri"/>
              </a:rPr>
              <a:t>If two rules conflict, the MORE specific selector wins.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1B69"/>
          </a:solidFill>
          <a:ln>
            <a:solidFill>
              <a:srgbClr val="2D1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⚡ Quick Check 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56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B4FC"/>
                </a:solidFill>
                <a:latin typeface="Calibri"/>
              </a:rPr>
              <a:t>Think first — then discuss!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Both rules set the same &lt;p&gt; tag color.
Which one WINS?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75895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2011680"/>
            <a:ext cx="75895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95728" y="20391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359152"/>
            <a:ext cx="737006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p { color: red; }           /* rule A */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.intro { color: blue; }     /* rule B 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713232" cy="71323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Rule A wins — element selectors are stronger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064240" cy="713232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713232" cy="7132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Rule B wins — .class is more specific than element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713232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Both apply — the color blends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5577840"/>
            <a:ext cx="713232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The last rule in the file always wins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Colors in 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703320" cy="4572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Named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37033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37033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627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947672"/>
            <a:ext cx="3483864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red;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navy;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teal;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gold;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coral;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931920"/>
            <a:ext cx="64008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33272" y="3931920"/>
            <a:ext cx="640080" cy="6400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46504" y="3931920"/>
            <a:ext cx="640080" cy="64008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9736" y="3931920"/>
            <a:ext cx="640080" cy="640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172968" y="3931920"/>
            <a:ext cx="640080" cy="6400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51960" y="1097280"/>
            <a:ext cx="3703320" cy="4572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0972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Hexadecimal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600200"/>
            <a:ext cx="37033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60" y="1600200"/>
            <a:ext cx="37033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1627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947672"/>
            <a:ext cx="3483864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#FF0000;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#4F46E5;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#10B981;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#F59E0B;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#EF4444;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640080" cy="6400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65192" y="3931920"/>
            <a:ext cx="640080" cy="6400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78424" y="3931920"/>
            <a:ext cx="640080" cy="6400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91656" y="3931920"/>
            <a:ext cx="640080" cy="640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04888" y="3931920"/>
            <a:ext cx="64008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83880" y="1097280"/>
            <a:ext cx="3703320" cy="4572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10972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RGB / HSL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600200"/>
            <a:ext cx="37033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1600200"/>
            <a:ext cx="37033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1627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1947672"/>
            <a:ext cx="3483864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rgb(255,0,0);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rgb(79,70,229);</a:t>
            </a:r>
          </a:p>
          <a:p>
            <a:pPr algn="l"/>
            <a:r>
              <a:rPr sz="1300">
                <a:solidFill>
                  <a:srgbClr val="93C5FD"/>
                </a:solidFill>
                <a:latin typeface="Consolas"/>
              </a:rPr>
              <a:t>color: rgba(16,185,129,0.5);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hsl(250,90%,60%);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hsla(250,90%,60%,0.8);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931920"/>
            <a:ext cx="640080" cy="6400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897112" y="3931920"/>
            <a:ext cx="640080" cy="6400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610344" y="3931920"/>
            <a:ext cx="640080" cy="640080"/>
          </a:xfrm>
          <a:prstGeom prst="roundRect">
            <a:avLst/>
          </a:prstGeom>
          <a:solidFill>
            <a:srgbClr val="80D5C5"/>
          </a:solidFill>
          <a:ln>
            <a:solidFill>
              <a:srgbClr val="8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23576" y="3931920"/>
            <a:ext cx="640080" cy="640080"/>
          </a:xfrm>
          <a:prstGeom prst="roundRect">
            <a:avLst/>
          </a:prstGeom>
          <a:solidFill>
            <a:srgbClr val="9B88F5"/>
          </a:solidFill>
          <a:ln>
            <a:solidFill>
              <a:srgbClr val="9B8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036808" y="3931920"/>
            <a:ext cx="640080" cy="640080"/>
          </a:xfrm>
          <a:prstGeom prst="roundRect">
            <a:avLst/>
          </a:prstGeom>
          <a:solidFill>
            <a:srgbClr val="BBADFA"/>
          </a:solidFill>
          <a:ln>
            <a:solidFill>
              <a:srgbClr val="BBA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20040" y="4754880"/>
            <a:ext cx="11521440" cy="19202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8463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4F46E5"/>
                </a:solidFill>
                <a:latin typeface="Calibri"/>
              </a:rPr>
              <a:t>💡  Practical tips: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1E293B"/>
                </a:solidFill>
                <a:latin typeface="Calibri"/>
              </a:rPr>
              <a:t>• Use hex (#4F46E5) for fixed brand colors — copy from Figma or design tools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1E293B"/>
                </a:solidFill>
                <a:latin typeface="Calibri"/>
              </a:rPr>
              <a:t>• Use rgba() when you need transparency:  rgba(0,0,0,0.5) = 50% black overlay</a:t>
            </a:r>
          </a:p>
          <a:p>
            <a:pPr>
              <a:spcBef>
                <a:spcPts val="700"/>
              </a:spcBef>
            </a:pPr>
            <a:r>
              <a:rPr sz="1500" b="0">
                <a:solidFill>
                  <a:srgbClr val="1E293B"/>
                </a:solidFill>
                <a:latin typeface="Calibri"/>
              </a:rPr>
              <a:t>• Use HSL for programmatic color manipulation (hue shifts, lighter/darker)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Text Styling Properties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62179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font-family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Arial, sans-serif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344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The typeface. Always provide a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901952"/>
            <a:ext cx="2834640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font-size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16px  /  1.2rem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9339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16px is browser default. rem is relative to root.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660904"/>
            <a:ext cx="2834640" cy="62179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523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font-weight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52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bold  / 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75234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100–900. bold = 700. normal = 400.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419856"/>
            <a:ext cx="2834640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color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5112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#1E293B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5112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Text foreground color (NOT background).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178808"/>
            <a:ext cx="2834640" cy="62179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70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text-align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70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left / center / right / justify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2702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Horizontal alignment within the container.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937760"/>
            <a:ext cx="2834640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line-height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1.6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0292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Line spacing multiplier. 1.5–1.8 is readable body 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5696712"/>
            <a:ext cx="2834640" cy="62179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7881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text-decoration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788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46E5"/>
                </a:solidFill>
                <a:latin typeface="Consolas"/>
              </a:rPr>
              <a:t>none / underline / line-through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78815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Links default to underline.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64282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6748272"/>
            <a:ext cx="11301984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p.intro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font-family: "Segoe UI", Arial, sans-serif;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font-size: 1.1rem;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line-height: 1.7;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color: #1E293B;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text-align: justify;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1B69"/>
          </a:solidFill>
          <a:ln>
            <a:solidFill>
              <a:srgbClr val="2D1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⚡ Quick Check 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56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B4FC"/>
                </a:solidFill>
                <a:latin typeface="Calibri"/>
              </a:rPr>
              <a:t>Think first — then discuss!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Which CSS property centers text horizontally?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920240"/>
            <a:ext cx="48463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0" y="1920240"/>
            <a:ext cx="484632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7328" y="19476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267712"/>
            <a:ext cx="4626864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p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??? : center;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713232" cy="71323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align-text: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96512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096512"/>
            <a:ext cx="713232" cy="7132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87952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font-align: center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01184"/>
            <a:ext cx="11064240" cy="713232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901184"/>
            <a:ext cx="713232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901184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92624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text-align: center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05856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5705856"/>
            <a:ext cx="713232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705856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97296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justify: center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Box Model  — Most Important CSS Concept!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883664"/>
            <a:ext cx="5705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MARGIN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4937760" cy="32918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249424"/>
            <a:ext cx="4791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BORDER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560320"/>
            <a:ext cx="4023360" cy="2560320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2615184"/>
            <a:ext cx="3877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PADDING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926080"/>
            <a:ext cx="2926080" cy="1828800"/>
          </a:xfrm>
          <a:prstGeom prst="rect">
            <a:avLst/>
          </a:prstGeom>
          <a:solidFill>
            <a:srgbClr val="DDD6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84832" y="2980944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143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What each layer controls: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onsolas"/>
              </a:rPr>
              <a:t>🟡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Space OUTSIDE the border — keeps elements apart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Consolas"/>
              </a:rPr>
              <a:t>⬛ border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The visible edge line (width, style, color)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337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onsolas"/>
              </a:rPr>
              <a:t>🔵 padding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Space INSIDE the border — between content &amp;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onsolas"/>
              </a:rPr>
              <a:t>🟣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06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The actual text / image  (set via width/height)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5212080"/>
            <a:ext cx="466344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5303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Total visible width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715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onsolas"/>
              </a:rPr>
              <a:t>content + padding×2 + border×2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172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( margin is OUTSIDE — not part of visible width 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29200"/>
            <a:ext cx="5029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029200"/>
            <a:ext cx="502920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50566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5376672"/>
            <a:ext cx="4809744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div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width:   200px;  /* content */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padding: 20px;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border:  2px solid #4F46E5;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margin:  16px;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1B69"/>
          </a:solidFill>
          <a:ln>
            <a:solidFill>
              <a:srgbClr val="2D1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⚡ Quick Check 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56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B4FC"/>
                </a:solidFill>
                <a:latin typeface="Calibri"/>
              </a:rPr>
              <a:t>Think first — then discuss!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An element has the following CSS. What is its VISIBLE width?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63093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1828800"/>
            <a:ext cx="630936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5808" y="185623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176272"/>
            <a:ext cx="6089904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div {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width:   200px;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padding: 20px;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border:  5px solid black;</a:t>
            </a:r>
          </a:p>
          <a:p>
            <a:pPr algn="l"/>
            <a:r>
              <a:rPr sz="1400">
                <a:solidFill>
                  <a:srgbClr val="93C5FD"/>
                </a:solidFill>
                <a:latin typeface="Consolas"/>
              </a:rPr>
              <a:t>  margin:  30px;</a:t>
            </a:r>
          </a:p>
          <a:p>
            <a:pPr algn="l"/>
            <a:r>
              <a:rPr sz="1400">
                <a:solidFill>
                  <a:srgbClr val="F59E0B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5B4FC"/>
                </a:solidFill>
                <a:latin typeface="Calibri"/>
              </a:rPr>
              <a:t>Visible width = content + padding×2 + border×2   (margin is outside)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713232" cy="713232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100px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8348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713232" cy="7132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7492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200px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06424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713232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85216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230px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537960"/>
            <a:ext cx="11064240" cy="713232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" y="6537960"/>
            <a:ext cx="713232" cy="713232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629400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250px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display Property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23560" cy="256032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5623560" cy="50292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display: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Starts on new line, full 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8FAFC"/>
                </a:solidFill>
                <a:latin typeface="Calibri"/>
              </a:rPr>
              <a:t>p, div, h1, ul, table are all block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5440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544068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587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907792"/>
            <a:ext cx="5221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div { display: block;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886200"/>
            <a:ext cx="5623560" cy="25603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3886200"/>
            <a:ext cx="5623560" cy="50292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9410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display: inline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Stays in text flow, width =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8FAFC"/>
                </a:solidFill>
                <a:latin typeface="Calibri"/>
              </a:rPr>
              <a:t>a, span, strong, em, img are all inline by default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5440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5349240"/>
            <a:ext cx="544068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" y="53766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5696712"/>
            <a:ext cx="5221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span { display: inline; 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097280"/>
            <a:ext cx="5623560" cy="25603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1097280"/>
            <a:ext cx="5623560" cy="50292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1521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display: inline-block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 the flow, BUT can set width/height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8FAFC"/>
                </a:solidFill>
                <a:latin typeface="Calibri"/>
              </a:rPr>
              <a:t>Useful for buttons, nav items that need sizing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60320"/>
            <a:ext cx="5440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560320"/>
            <a:ext cx="544068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2587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907792"/>
            <a:ext cx="5221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button { display: inline-block;</a:t>
            </a:r>
          </a:p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  width: 120px; height: 40px; 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886200"/>
            <a:ext cx="5623560" cy="25603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26480" y="3886200"/>
            <a:ext cx="5623560" cy="50292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9410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display: none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80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Element disappears — no space kept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8FAFC"/>
                </a:solidFill>
                <a:latin typeface="Calibri"/>
              </a:rPr>
              <a:t>Commonly used with JavaScript to toggle 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349240"/>
            <a:ext cx="5440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5349240"/>
            <a:ext cx="5440680" cy="292608"/>
          </a:xfrm>
          <a:prstGeom prst="rect">
            <a:avLst/>
          </a:prstGeom>
          <a:solidFill>
            <a:srgbClr val="2D3B55"/>
          </a:solidFill>
          <a:ln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537667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5696712"/>
            <a:ext cx="5221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59E0B"/>
                </a:solidFill>
                <a:latin typeface="Consolas"/>
              </a:rPr>
              <a:t>.hidden { display: none;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💻  Live Coding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EE7B7"/>
                </a:solidFill>
                <a:latin typeface="Calibri"/>
              </a:rPr>
              <a:t>Starting from plain HTML — we add CSS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FAE5"/>
                </a:solidFill>
                <a:latin typeface="Calibri"/>
              </a:rPr>
              <a:t>1.  Open index.html in VS Code — notice: no CSS = boring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68296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FAE5"/>
                </a:solidFill>
                <a:latin typeface="Calibri"/>
              </a:rPr>
              <a:t>2.  Create styles.css in the same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99232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FAE5"/>
                </a:solidFill>
                <a:latin typeface="Calibri"/>
              </a:rPr>
              <a:t>3.  Link it:  &lt;link rel="stylesheet" href="styles.css"&gt;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630168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9417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4.  Add  body { font-family: Arial; background: #f0f4ff;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61104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5.  Style headings:  h1 { color: #4F46E5; font-size: 2rem;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6.  Add box model:  .card { padding: 20px; border: 1px solid #ccc; 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522976"/>
            <a:ext cx="114300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5869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  <a:latin typeface="Calibri"/>
              </a:rPr>
              <a:t>7.  Student challenge: "what should we add next?"  →  vote!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Today's Lab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182880"/>
            <a:ext cx="2011680" cy="54864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182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 · MONDAY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258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styles.css and link it to your Week 2 HTML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6888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246888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body: font-family, background-color, max-width: 800px, margin: auto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79476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379476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1148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776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headings: color, font-size for h1, h2, h3 with clear hierarchy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2064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" y="512064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54406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035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links: color, text-decoration: none, add :hover color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4300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114300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3258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images: max-width: 100%, border-radius: 8px, box-shadow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46888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46888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7889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6517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table: border-collapse: collapse, alternating row colors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9476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379476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1148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9776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the box model: add padding + border to at least 3 elements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20640"/>
            <a:ext cx="557784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5120640"/>
            <a:ext cx="100584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54406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3035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Add Google Fonts — paste one @import and use font-family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 — What You Learned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CSS = Cascading Style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HTML provides structure; CSS provides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8892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External .css files are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Link once in &lt;head&gt; — style the whole site from one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8056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" y="448056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selector { property: value;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Every CSS rule follows this exact syntax with semicolons.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09728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109728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Specificity:  #id &gt; .class &gt; 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More specific rules override less specific 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Box model = content+padding+border+margin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Visible width = content + padding×2 + border×2.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80560"/>
            <a:ext cx="557784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63640" y="4480560"/>
            <a:ext cx="201168" cy="1508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onsolas"/>
              </a:rPr>
              <a:t>display controls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074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block (new line), inline (in text), none (hidden).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7FF"/>
                </a:solidFill>
                <a:latin typeface="Calibri"/>
              </a:rPr>
              <a:t>Friday: CSS Selectors advanced · Flexbox layout · Grid · Responsive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1780</Words>
  <Application>Microsoft Office PowerPoint</Application>
  <PresentationFormat>Widescreen</PresentationFormat>
  <Paragraphs>340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Mukhiddin Toshpulatov</cp:lastModifiedBy>
  <cp:revision>1</cp:revision>
  <dcterms:created xsi:type="dcterms:W3CDTF">2013-01-27T09:14:16Z</dcterms:created>
  <dcterms:modified xsi:type="dcterms:W3CDTF">2026-09-13T11:41:52Z</dcterms:modified>
  <cp:category/>
</cp:coreProperties>
</file>