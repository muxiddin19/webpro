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74" r:id="rId8"/>
    <p:sldId id="262" r:id="rId9"/>
    <p:sldId id="263" r:id="rId10"/>
    <p:sldId id="264" r:id="rId11"/>
    <p:sldId id="275" r:id="rId12"/>
    <p:sldId id="265" r:id="rId13"/>
    <p:sldId id="266" r:id="rId14"/>
    <p:sldId id="267" r:id="rId15"/>
    <p:sldId id="276" r:id="rId16"/>
    <p:sldId id="268" r:id="rId17"/>
    <p:sldId id="269" r:id="rId18"/>
    <p:sldId id="270" r:id="rId19"/>
    <p:sldId id="271" r:id="rId20"/>
    <p:sldId id="272" r:id="rId21"/>
    <p:sldId id="277" r:id="rId22"/>
    <p:sldId id="273" r:id="rId23"/>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50" d="100"/>
          <a:sy n="150" d="100"/>
        </p:scale>
        <p:origin x="654" y="1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158775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Welcome to Week 3 Friday — CSS Advanced!</a:t>
            </a:r>
          </a:p>
          <a:p>
            <a:endParaRPr dirty="0"/>
          </a:p>
          <a:p>
            <a:r>
              <a:rPr dirty="0"/>
              <a:t>Today's session builds directly on what you learned Monday. If Monday was about understanding what CSS is and how selectors and the box model work, today is about making pages come ALIVE and RESPOND to users.</a:t>
            </a:r>
          </a:p>
          <a:p>
            <a:endParaRPr dirty="0"/>
          </a:p>
          <a:p>
            <a:r>
              <a:rPr dirty="0"/>
              <a:t>Don't be nervous about the word "Advanced" — every topic here follows a simple pattern: you learn ONE new property, you see it in action, and then you practice it. By the end of class you will be able to:</a:t>
            </a:r>
          </a:p>
          <a:p>
            <a:r>
              <a:rPr dirty="0"/>
              <a:t>  • Make elements pop out and stay in exactly the right place (Position)</a:t>
            </a:r>
          </a:p>
          <a:p>
            <a:r>
              <a:rPr dirty="0"/>
              <a:t>  • React to mouse hover and keyboard focus WITHOUT any JavaScript (Pseudo-classes)</a:t>
            </a:r>
          </a:p>
          <a:p>
            <a:r>
              <a:rPr dirty="0"/>
              <a:t>  • Add smooth animations when users interact (Transitions &amp; @keyframes)</a:t>
            </a:r>
          </a:p>
          <a:p>
            <a:r>
              <a:rPr dirty="0"/>
              <a:t>  • Control your entire </a:t>
            </a:r>
            <a:r>
              <a:rPr dirty="0" err="1"/>
              <a:t>colour</a:t>
            </a:r>
            <a:r>
              <a:rPr dirty="0"/>
              <a:t> palette from ONE place (Custom Properties)</a:t>
            </a:r>
          </a:p>
          <a:p>
            <a:r>
              <a:rPr dirty="0"/>
              <a:t>  • Make your page look good on both phones and computers (Media Queries)</a:t>
            </a:r>
          </a:p>
          <a:p>
            <a:r>
              <a:rPr dirty="0"/>
              <a:t>  • Create complex two-dimensional layouts (CSS Grid)</a:t>
            </a:r>
          </a:p>
          <a:p>
            <a:endParaRPr dirty="0"/>
          </a:p>
          <a:p>
            <a:r>
              <a:rPr dirty="0"/>
              <a:t>Take a deep breath. We go step by step. Ask questions at any time!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Agenda overview — briefly walk through each topic so students know the road map.</a:t>
            </a:r>
          </a:p>
          <a:p>
            <a:endParaRPr dirty="0"/>
          </a:p>
          <a:p>
            <a:r>
              <a:rPr dirty="0"/>
              <a:t>Point to each block and give one sentence:</a:t>
            </a:r>
          </a:p>
          <a:p>
            <a:endParaRPr dirty="0"/>
          </a:p>
          <a:p>
            <a:r>
              <a:rPr dirty="0"/>
              <a:t>  TEAL — Position: "This answers the question WHERE does an element sit on the page? By default everything flows top-to-bottom, but with position we can place a badge in a corner, keep a nav bar at the top of the screen, or make a tooltip appear over other content."</a:t>
            </a:r>
          </a:p>
          <a:p>
            <a:endParaRPr dirty="0"/>
          </a:p>
          <a:p>
            <a:r>
              <a:rPr dirty="0"/>
              <a:t>  PURPLE — Pseudo-classes &amp; Elements: "These let us style elements based on what the USER is DOING — no JavaScript needed. :hover makes buttons change </a:t>
            </a:r>
            <a:r>
              <a:rPr dirty="0" err="1"/>
              <a:t>colour</a:t>
            </a:r>
            <a:r>
              <a:rPr dirty="0"/>
              <a:t> on mouse-over. ::before lets us add decorative icons from pure CSS."</a:t>
            </a:r>
          </a:p>
          <a:p>
            <a:endParaRPr dirty="0"/>
          </a:p>
          <a:p>
            <a:r>
              <a:rPr dirty="0"/>
              <a:t>  AMBER — Transitions &amp; Animations: "This is the 'polish' step. You already know how to change a </a:t>
            </a:r>
            <a:r>
              <a:rPr dirty="0" err="1"/>
              <a:t>colour</a:t>
            </a:r>
            <a:r>
              <a:rPr dirty="0"/>
              <a:t> on hover. Transitions make that change happen SMOOTHLY over time. @keyframes gives you full animation sequences like loading spinners."</a:t>
            </a:r>
          </a:p>
          <a:p>
            <a:endParaRPr dirty="0"/>
          </a:p>
          <a:p>
            <a:r>
              <a:rPr dirty="0"/>
              <a:t>  GREEN — Custom Properties: "Think of these as variables in a programming language, but for CSS. Define your brand </a:t>
            </a:r>
            <a:r>
              <a:rPr dirty="0" err="1"/>
              <a:t>colour</a:t>
            </a:r>
            <a:r>
              <a:rPr dirty="0"/>
              <a:t> ONCE at the top, use it 50 times. Want to change it? Change it in ONE place."</a:t>
            </a:r>
          </a:p>
          <a:p>
            <a:endParaRPr dirty="0"/>
          </a:p>
          <a:p>
            <a:r>
              <a:rPr dirty="0"/>
              <a:t>  BLUE — Media Queries: "This is how we make responsive layouts — the page looks different on a phone vs. a wide monitor. We write rules that only apply when the screen is a certain width."</a:t>
            </a:r>
          </a:p>
          <a:p>
            <a:endParaRPr dirty="0"/>
          </a:p>
          <a:p>
            <a:r>
              <a:rPr dirty="0"/>
              <a:t>  RED — CSS Grid: "Flexbox (which you know) lays things in one direction — a row OR a column. Grid gives us rows AND columns at the same time. Perfect for page-level layouts."</a:t>
            </a:r>
          </a:p>
          <a:p>
            <a:endParaRPr dirty="0"/>
          </a:p>
          <a:p>
            <a:r>
              <a:rPr dirty="0"/>
              <a:t>Tell students: "We have four check-in quizzes built into the slides so you can test yourself as we go." </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POSITION OVERVIEW — Walk students through each column left to right.</a:t>
            </a:r>
          </a:p>
          <a:p>
            <a:endParaRPr dirty="0"/>
          </a:p>
          <a:p>
            <a:r>
              <a:rPr dirty="0"/>
              <a:t>ANALOGY to use: "Imagine you are placing sticky notes on a whiteboard."</a:t>
            </a:r>
          </a:p>
          <a:p>
            <a:endParaRPr dirty="0"/>
          </a:p>
          <a:p>
            <a:r>
              <a:rPr dirty="0"/>
              <a:t>  STATIC (grey): "This is the default. Every element you write in HTML is static. The browser places it in the normal reading order — left to right, top to bottom. The top/left/right/bottom properties are COMPLETELY IGNORED on a static element. You cannot move it by setting coordinates. It just flows."</a:t>
            </a:r>
          </a:p>
          <a:p>
            <a:endParaRPr dirty="0"/>
          </a:p>
          <a:p>
            <a:r>
              <a:rPr dirty="0"/>
              <a:t>  RELATIVE (green): "Now imagine lifting the sticky note 20px upward from where it normally sits, but you leave a ghost of it in the original spot so other elements don't shift. That's relative. The element moves VISUALLY but keeps its space in the flow. Very commonly used just to create an anchor for absolute children — more on that next."</a:t>
            </a:r>
          </a:p>
          <a:p>
            <a:endParaRPr dirty="0"/>
          </a:p>
          <a:p>
            <a:r>
              <a:rPr dirty="0"/>
              <a:t>  ABSOLUTE (amber): "Now you fully REMOVE the sticky note from the whiteboard. Other notes close the gap. You place it at an exact X/Y coordinate, measured from its nearest parent that has position set (not static). If no parent has position, it measures from the page body. Perfect for badges, tooltips, dropdowns."</a:t>
            </a:r>
          </a:p>
          <a:p>
            <a:endParaRPr dirty="0"/>
          </a:p>
          <a:p>
            <a:r>
              <a:rPr dirty="0"/>
              <a:t>  FIXED (pink): "Same as absolute — removed from flow — but the coordinate is measured from the BROWSER WINDOW, not the page. So if you scroll, it stays exactly where it is. Classic use: navigation bar that's always at the top."</a:t>
            </a:r>
          </a:p>
          <a:p>
            <a:endParaRPr dirty="0"/>
          </a:p>
          <a:p>
            <a:r>
              <a:rPr dirty="0"/>
              <a:t>  STICKY (teal): "The smart hybrid. It acts like relative until you scroll to it. At that point it 'sticks' in view like fixed. Used for section headers that stay visible as you scroll through content. Important: it only sticks WITHIN its parent container."</a:t>
            </a:r>
          </a:p>
          <a:p>
            <a:endParaRPr dirty="0"/>
          </a:p>
          <a:p>
            <a:r>
              <a:rPr dirty="0"/>
              <a:t>Common beginner mistake: "Students often try top/left on a static element and wonder why nothing moves. ALWAYS set position first!"</a:t>
            </a:r>
          </a:p>
          <a:p>
            <a:endParaRPr dirty="0"/>
          </a:p>
          <a:p>
            <a:r>
              <a:rPr dirty="0"/>
              <a:t>The code at the bottom shows the minimal syntax. Point out that without position: absolute, the top/right coordinates would be ignored.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ABSOLUTE vs FIXED — The most common source of confusion for beginners.</a:t>
            </a:r>
          </a:p>
          <a:p>
            <a:endParaRPr dirty="0"/>
          </a:p>
          <a:p>
            <a:r>
              <a:rPr dirty="0"/>
              <a:t>KEY QUESTION to ask students: "You want a badge in the corner of a card. Which do you use — absolute or fixed?"</a:t>
            </a:r>
          </a:p>
          <a:p>
            <a:r>
              <a:rPr dirty="0"/>
              <a:t>  → ABSOLUTE. Because you want it relative to the CARD, not the browser window.</a:t>
            </a:r>
          </a:p>
          <a:p>
            <a:endParaRPr dirty="0"/>
          </a:p>
          <a:p>
            <a:r>
              <a:rPr dirty="0"/>
              <a:t>KEY QUESTION 2: "You want a navigation bar that is always visible at the top of the screen even when the user scrolls. Which do you use?"</a:t>
            </a:r>
          </a:p>
          <a:p>
            <a:r>
              <a:rPr dirty="0"/>
              <a:t>  → FIXED. Because it must be relative to the VIEWPORT (browser window), not any element.</a:t>
            </a:r>
          </a:p>
          <a:p>
            <a:endParaRPr dirty="0"/>
          </a:p>
          <a:p>
            <a:r>
              <a:rPr dirty="0"/>
              <a:t>Left panel — ABSOLUTE:</a:t>
            </a:r>
          </a:p>
          <a:p>
            <a:r>
              <a:rPr dirty="0"/>
              <a:t>  • "Removed from flow" means the gap it used to occupy disappears. Other elements move up.</a:t>
            </a:r>
          </a:p>
          <a:p>
            <a:r>
              <a:rPr dirty="0"/>
              <a:t>  • "Nearest POSITIONED ancestor" — this trips up many beginners. If the parent has position: static (the default), it does NOT count. You have to go up the tree to find a parent with position: relative, absolute, or fixed. THIS is why you always add position: relative to the parent card/container when you want to absolutely position a child inside it.</a:t>
            </a:r>
          </a:p>
          <a:p>
            <a:r>
              <a:rPr dirty="0"/>
              <a:t>  • Demo idea: Show a card div with position: relative, then an absolutely positioned badge at top:0, right:0. Change the parent to position: static and watch the badge fly to the body corner.</a:t>
            </a:r>
          </a:p>
          <a:p>
            <a:r>
              <a:rPr dirty="0"/>
              <a:t>  • "SCROLLS with the page" — if you scroll the page, the absolute element scrolls with it (unlike fixed).</a:t>
            </a:r>
          </a:p>
          <a:p>
            <a:endParaRPr dirty="0"/>
          </a:p>
          <a:p>
            <a:r>
              <a:rPr dirty="0"/>
              <a:t>Right panel — FIXED:</a:t>
            </a:r>
          </a:p>
          <a:p>
            <a:r>
              <a:rPr dirty="0"/>
              <a:t>  • Anchored to the VIEWPORT — the 'window' coordinates, not the document.</a:t>
            </a:r>
          </a:p>
          <a:p>
            <a:r>
              <a:rPr dirty="0"/>
              <a:t>  • width: 100% is needed because fixed elements don't inherit the parent's width.</a:t>
            </a:r>
          </a:p>
          <a:p>
            <a:r>
              <a:rPr dirty="0"/>
              <a:t>  • z-index is almost always needed — the nav must appear ON TOP of all other content.</a:t>
            </a:r>
          </a:p>
          <a:p>
            <a:endParaRPr dirty="0"/>
          </a:p>
          <a:p>
            <a:r>
              <a:rPr dirty="0"/>
              <a:t>Common mistake: Setting position: fixed on an element that is inside a transformed parent. CSS transforms create a new stacking context and break fixed positioning. This is a known CSS quirk — mention it so advanced students are warned.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STICKY POSITION — The hybrid behaviour.</a:t>
            </a:r>
          </a:p>
          <a:p>
            <a:endParaRPr/>
          </a:p>
          <a:p>
            <a:r>
              <a:t>ANALOGY: "Imagine you are reading a long Wikipedia article. As you scroll down, the table of contents on the left side scrolls with you at first — but once it reaches the top of the screen, it STICKS there and stays visible while the rest of the page keeps scrolling. That's exactly what position: sticky does."</a:t>
            </a:r>
          </a:p>
          <a:p>
            <a:endParaRPr/>
          </a:p>
          <a:p>
            <a:r>
              <a:t>Walk through the explanation text on the slide:</a:t>
            </a:r>
          </a:p>
          <a:p>
            <a:r>
              <a:t>  • "Sits in normal flow" — before the threshold, sticky elements behave exactly like relative. They don't remove themselves from the flow. No gap is created.</a:t>
            </a:r>
          </a:p>
          <a:p>
            <a:r>
              <a:t>  • "top: 60px" in the code — this is the threshold. "When this element comes within 60px of the top of the screen while scrolling, it locks in place."</a:t>
            </a:r>
          </a:p>
          <a:p>
            <a:r>
              <a:t>  • "Only within its parent" — this is the key limitation beginners miss. Once you scroll PAST the parent container, the sticky element will scroll away too. It cannot escape its parent. This is why long sticky sidebars must be placed inside a tall parent.</a:t>
            </a:r>
          </a:p>
          <a:p>
            <a:endParaRPr/>
          </a:p>
          <a:p>
            <a:r>
              <a:t>Sticky vs Fixed — which should I use?</a:t>
            </a:r>
          </a:p>
          <a:p>
            <a:r>
              <a:t>  • Use sticky for section headers, sidebar navigation, table headers — elements that belong to a SECTION of content.</a:t>
            </a:r>
          </a:p>
          <a:p>
            <a:r>
              <a:t>  • Use fixed for global UI — the main nav bar, a live chat button, a cookie notice — things that always appear regardless of where you are on the page.</a:t>
            </a:r>
          </a:p>
          <a:p>
            <a:endParaRPr/>
          </a:p>
          <a:p>
            <a:r>
              <a:t>Four common uses on the right:</a:t>
            </a:r>
          </a:p>
          <a:p>
            <a:r>
              <a:t>  1. Table headers — as you scroll down a long data table, the column names stay visible.</a:t>
            </a:r>
          </a:p>
          <a:p>
            <a:r>
              <a:t>  2. Section labels — like the letter dividers (A, B, C…) in a contacts list.</a:t>
            </a:r>
          </a:p>
          <a:p>
            <a:r>
              <a:t>  3. Sidebar — a menu that follows you while you read the section but goes away after.</a:t>
            </a:r>
          </a:p>
          <a:p>
            <a:r>
              <a:t>  4. Progress bar — a reading progress bar that sticks once you pass the hero section.</a:t>
            </a:r>
          </a:p>
          <a:p>
            <a:endParaRPr/>
          </a:p>
          <a:p>
            <a:r>
              <a:t>GOTCHA: position: sticky has NO effect if ANY ancestor has overflow: hidden or overflow: scroll on it. This is a very common bug. If sticky seems broken, check parent overflow values.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CHECK-IN 1 — CSS Position (Q1–Q5). Give students 2–3 minutes to read each card silently.</a:t>
            </a:r>
          </a:p>
          <a:p>
            <a:endParaRPr/>
          </a:p>
          <a:p>
            <a:r>
              <a:t>Correct answers are highlighted in green on the slide. Read each question aloud and ask the class before revealing.</a:t>
            </a:r>
          </a:p>
          <a:p>
            <a:endParaRPr/>
          </a:p>
          <a:p>
            <a:r>
              <a:t>  Q1: static — "This should be memorised. The default is always static. That's why you have to explicitly write 'position: relative' or 'absolute' to do anything useful with coordinates."</a:t>
            </a:r>
          </a:p>
          <a:p>
            <a:endParaRPr/>
          </a:p>
          <a:p>
            <a:r>
              <a:t>  Q2: its own original position — "Relative is SELF-REFERENCED. It shifts from where IT WOULD NORMALLY BE. NOT relative to the parent, NOT to the viewport."</a:t>
            </a:r>
          </a:p>
          <a:p>
            <a:endParaRPr/>
          </a:p>
          <a:p>
            <a:r>
              <a:t>  Q3: its nearest POSITIONED ancestor (or &lt;body&gt;) — "Absolute looks UP the DOM tree for the first parent that is NOT static. If none found, it uses the body. This is why we put position: relative on the wrapper card."</a:t>
            </a:r>
          </a:p>
          <a:p>
            <a:endParaRPr/>
          </a:p>
          <a:p>
            <a:r>
              <a:t>  Q4: fixed — "The clue is in the name: fixed stays fixed to the window. Absolute scrolls."</a:t>
            </a:r>
          </a:p>
          <a:p>
            <a:endParaRPr/>
          </a:p>
          <a:p>
            <a:r>
              <a:t>  Q5: the scroll reaches the element's threshold — "Sticky responds to scroll position. The threshold is set by the top/bottom value (e.g., top: 0)."</a:t>
            </a:r>
          </a:p>
          <a:p>
            <a:endParaRPr/>
          </a:p>
          <a:p>
            <a:r>
              <a:t>If any students got Q2 wrong (a common mistake), take a moment: draw a box on the board, show its normal position, then show the shifted position. Emphasise that the space in the flow stays — the surrounding elements do not move.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CHECK-IN 1 — CSS Position (Q1–Q5). Give students 2–3 minutes to read each card silently.</a:t>
            </a:r>
          </a:p>
          <a:p>
            <a:endParaRPr/>
          </a:p>
          <a:p>
            <a:r>
              <a:t>Correct answers are highlighted in green on the slide. Read each question aloud and ask the class before revealing.</a:t>
            </a:r>
          </a:p>
          <a:p>
            <a:endParaRPr/>
          </a:p>
          <a:p>
            <a:r>
              <a:t>  Q1: static — "This should be memorised. The default is always static. That's why you have to explicitly write 'position: relative' or 'absolute' to do anything useful with coordinates."</a:t>
            </a:r>
          </a:p>
          <a:p>
            <a:endParaRPr/>
          </a:p>
          <a:p>
            <a:r>
              <a:t>  Q2: its own original position — "Relative is SELF-REFERENCED. It shifts from where IT WOULD NORMALLY BE. NOT relative to the parent, NOT to the viewport."</a:t>
            </a:r>
          </a:p>
          <a:p>
            <a:endParaRPr/>
          </a:p>
          <a:p>
            <a:r>
              <a:t>  Q3: its nearest POSITIONED ancestor (or &lt;body&gt;) — "Absolute looks UP the DOM tree for the first parent that is NOT static. If none found, it uses the body. This is why we put position: relative on the wrapper card."</a:t>
            </a:r>
          </a:p>
          <a:p>
            <a:endParaRPr/>
          </a:p>
          <a:p>
            <a:r>
              <a:t>  Q4: fixed — "The clue is in the name: fixed stays fixed to the window. Absolute scrolls."</a:t>
            </a:r>
          </a:p>
          <a:p>
            <a:endParaRPr/>
          </a:p>
          <a:p>
            <a:r>
              <a:t>  Q5: the scroll reaches the element's threshold — "Sticky responds to scroll position. The threshold is set by the top/bottom value (e.g., top: 0)."</a:t>
            </a:r>
          </a:p>
          <a:p>
            <a:endParaRPr/>
          </a:p>
          <a:p>
            <a:r>
              <a:t>If any students got Q2 wrong (a common mistake), take a moment: draw a box on the board, show its normal position, then show the shifted position. Emphasise that the space in the flow stays — the surrounding elements do not move.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3086054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PSEUDO-CLASSES — Styling elements based on USER STATE.</a:t>
            </a:r>
          </a:p>
          <a:p>
            <a:endParaRPr/>
          </a:p>
          <a:p>
            <a:r>
              <a:t>Opening explanation: "Until now every CSS rule we wrote targeted an element based on what IT IS — its tag name, class, or ID. Pseudo-classes let us target based on what the user IS DOING or where the element IS in the document."</a:t>
            </a:r>
          </a:p>
          <a:p>
            <a:endParaRPr/>
          </a:p>
          <a:p>
            <a:r>
              <a:t>The colon (:) is the signal. One colon = pseudo-CLASS (state-based). Two colons (::) = pseudo-ELEMENT (we'll see those next).</a:t>
            </a:r>
          </a:p>
          <a:p>
            <a:endParaRPr/>
          </a:p>
          <a:p>
            <a:r>
              <a:t>Walk through each card:</a:t>
            </a:r>
          </a:p>
          <a:p>
            <a:endParaRPr/>
          </a:p>
          <a:p>
            <a:r>
              <a:t>  :hover — "The bread and butter of interactive CSS. Works on ANY element, not just links and buttons. You can make an entire card change colour when the user hovers it. Combine with transition and it becomes a smooth animation."</a:t>
            </a:r>
          </a:p>
          <a:p>
            <a:endParaRPr/>
          </a:p>
          <a:p>
            <a:r>
              <a:t>  :focus — "This fires when an element receives keyboard focus (Tab key) or the user clicks on an input field. ACCESSIBILITY WARNING: NEVER write 'outline: none' without providing an alternative visible focus indicator. Screen readers and keyboard-only users depend on the focus ring to know which element is active."</a:t>
            </a:r>
          </a:p>
          <a:p>
            <a:endParaRPr/>
          </a:p>
          <a:p>
            <a:r>
              <a:t>  :active — "This fires while the mouse button is held down on the element — the brief 'pressed' state. Useful for giving physical feedback: scale(0.97) makes a button look physically pressed."</a:t>
            </a:r>
          </a:p>
          <a:p>
            <a:endParaRPr/>
          </a:p>
          <a:p>
            <a:r>
              <a:t>  :visited — "CSS can detect if the user has already followed a link. Useful for distinguishing read vs. unread links. Security note: browsers limit which properties :visited can change (for privacy reasons — a malicious site could otherwise detect your browsing history)."</a:t>
            </a:r>
          </a:p>
          <a:p>
            <a:endParaRPr/>
          </a:p>
          <a:p>
            <a:r>
              <a:t>  :first-child / :last-child — "Select the first (or last) child inside any parent. Classic use: remove the bottom border from the LAST list item so you don't get a double border at the end."</a:t>
            </a:r>
          </a:p>
          <a:p>
            <a:endParaRPr/>
          </a:p>
          <a:p>
            <a:r>
              <a:t>  :nth-child(n) — "The most powerful structural pseudo-class. 'n' is a formula: 2n = every even element, 2n+1 = every odd element, 3 = only the 3rd element. Used for zebra-striped table rows."</a:t>
            </a:r>
          </a:p>
          <a:p>
            <a:endParaRPr/>
          </a:p>
          <a:p>
            <a:r>
              <a:t>DEMO idea: Live-code in VS Code — add a .btn:hover rule and show the colour changing in the browser. Then add a transition and show it becoming smooth.</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PSEUDO-ELEMENTS ::before and ::after — CSS-generated content.</a:t>
            </a:r>
          </a:p>
          <a:p>
            <a:endParaRPr/>
          </a:p>
          <a:p>
            <a:r>
              <a:t>Opening: "While pseudo-CLASSES add styling based on state, pseudo-ELEMENTS actually CREATE new virtual HTML elements using only CSS. No extra markup needed!"</a:t>
            </a:r>
          </a:p>
          <a:p>
            <a:endParaRPr/>
          </a:p>
          <a:p>
            <a:r>
              <a:t>Key concept — the difference from pseudo-classes:</a:t>
            </a:r>
          </a:p>
          <a:p>
            <a:r>
              <a:t>  • :hover = styling the EXISTING element differently</a:t>
            </a:r>
          </a:p>
          <a:p>
            <a:r>
              <a:t>  • ::before = CREATING a new mini-element BEFORE the content</a:t>
            </a:r>
          </a:p>
          <a:p>
            <a:endParaRPr/>
          </a:p>
          <a:p>
            <a:r>
              <a:t>The content: property is MANDATORY:</a:t>
            </a:r>
          </a:p>
          <a:p>
            <a:r>
              <a:t>  "This is the most common beginner mistake. If you forget 'content:' on a ::before or ::after rule, the pseudo-element is completely invisible — it does not render at all. Even if you want a purely decorative shape, you must write content: ''; (empty string). The browser needs the content property to know the pseudo-element should exist."</a:t>
            </a:r>
          </a:p>
          <a:p>
            <a:endParaRPr/>
          </a:p>
          <a:p>
            <a:r>
              <a:t>::before examples (left panel):</a:t>
            </a:r>
          </a:p>
          <a:p>
            <a:r>
              <a:t>  1. 'h2::before { content: "🌿 "; }' — Every h2 on the page gets a leaf emoji before it. No JavaScript, no extra spans in the HTML. Change the CSS once, all headings update.</a:t>
            </a:r>
          </a:p>
          <a:p>
            <a:r>
              <a:t>  2. Decorative underline: set the pseudo-element to position: absolute, bottom: 0, with a colored background and zero height — creates a CSS-only underline bar.</a:t>
            </a:r>
          </a:p>
          <a:p>
            <a:endParaRPr/>
          </a:p>
          <a:p>
            <a:r>
              <a:t>::after examples (right panel):</a:t>
            </a:r>
          </a:p>
          <a:p>
            <a:r>
              <a:t>  1. '.required::after { content: " *"; color: red; }' — Automatically adds a red asterisk to every label marked as required. Much cleaner than adding * to every label in HTML.</a:t>
            </a:r>
          </a:p>
          <a:p>
            <a:r>
              <a:t>  2. Tooltip pattern: ::after on a [data-tooltip] attribute can display the tooltip text using 'content: attr(data-tooltip)' — a powerful advanced technique.</a:t>
            </a:r>
          </a:p>
          <a:p>
            <a:endParaRPr/>
          </a:p>
          <a:p>
            <a:r>
              <a:t>When are pseudo-elements better than real elements?</a:t>
            </a:r>
          </a:p>
          <a:p>
            <a:r>
              <a:t>  → When the content is DECORATIVE and not meaningful for screen readers. The CSS-generated content is typically ignored by accessibility tools (which is correct — visual decoration should not clutter screen reader output).</a:t>
            </a:r>
          </a:p>
          <a:p>
            <a:endParaRPr/>
          </a:p>
          <a:p>
            <a:r>
              <a:t>Demo idea: Show the 'required' label example live. Add data-label to an input, write ::after in CSS, and show the asterisk appear without touching the HTML.</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CHECK-IN 2 — z-index, overflow, pseudo-classes &amp; elements (Q6–Q12).</a:t>
            </a:r>
          </a:p>
          <a:p>
            <a:endParaRPr/>
          </a:p>
          <a:p>
            <a:r>
              <a:t>These questions cover the supplementary concepts. Give 2–3 minutes.</a:t>
            </a:r>
          </a:p>
          <a:p>
            <a:endParaRPr/>
          </a:p>
          <a:p>
            <a:r>
              <a:t>  Q6: stacking order — "z-index is like the Z axis on a 3D chart. Higher number = closer to you = appears on top. IMPORTANT: z-index ONLY works on positioned elements (position is not static). Many beginners set z-index on a static element and wonder why it does nothing."</a:t>
            </a:r>
          </a:p>
          <a:p>
            <a:endParaRPr/>
          </a:p>
          <a:p>
            <a:r>
              <a:t>  Q7: clips content beyond the container bounds — "overflow: hidden is like putting a frame around a photo — anything outside the frame is invisible. Very useful when combined with border-radius to clip images into circles, or to hide absolute positioned children that overflow the container."</a:t>
            </a:r>
          </a:p>
          <a:p>
            <a:endParaRPr/>
          </a:p>
          <a:p>
            <a:r>
              <a:t>  Q8: :hover — straightforward.</a:t>
            </a:r>
          </a:p>
          <a:p>
            <a:endParaRPr/>
          </a:p>
          <a:p>
            <a:r>
              <a:t>  Q9: keyboard or click focus — "Emphasise KEYBOARD focus. People who can't use a mouse navigate with the Tab key. When they Tab to a button, :focus fires. This is how we make websites accessible."</a:t>
            </a:r>
          </a:p>
          <a:p>
            <a:endParaRPr/>
          </a:p>
          <a:p>
            <a:r>
              <a:t>  Q10: every even-numbered child — ":nth-child(2n) is the algebraic formula for even numbers: 2×1=2, 2×2=4, 2×3=6… You can also write :nth-child(even) as a shorthand."</a:t>
            </a:r>
          </a:p>
          <a:p>
            <a:endParaRPr/>
          </a:p>
          <a:p>
            <a:r>
              <a:t>  Q11: before the element's own text/content — straightforward.</a:t>
            </a:r>
          </a:p>
          <a:p>
            <a:endParaRPr/>
          </a:p>
          <a:p>
            <a:r>
              <a:t>  Q12: content: — "This is the most important rule for pseudo-elements. Repeat it: WITHOUT content, the pseudo-element does NOT render. Period. Even content: '' (empty string) is required for decorative pseudo-elements."</a:t>
            </a:r>
          </a:p>
          <a:p>
            <a:endParaRPr/>
          </a:p>
          <a:p>
            <a:r>
              <a:t>If time: ask the class "What is the difference between :hover and ::before?" — to confirm they understand pseudo-CLASS (state) vs pseudo-ELEMENT (generated content).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CHECK-IN 2 — z-index, overflow, pseudo-classes &amp; elements (Q6–Q12).</a:t>
            </a:r>
          </a:p>
          <a:p>
            <a:endParaRPr/>
          </a:p>
          <a:p>
            <a:r>
              <a:t>These questions cover the supplementary concepts. Give 2–3 minutes.</a:t>
            </a:r>
          </a:p>
          <a:p>
            <a:endParaRPr/>
          </a:p>
          <a:p>
            <a:r>
              <a:t>  Q6: stacking order — "z-index is like the Z axis on a 3D chart. Higher number = closer to you = appears on top. IMPORTANT: z-index ONLY works on positioned elements (position is not static). Many beginners set z-index on a static element and wonder why it does nothing."</a:t>
            </a:r>
          </a:p>
          <a:p>
            <a:endParaRPr/>
          </a:p>
          <a:p>
            <a:r>
              <a:t>  Q7: clips content beyond the container bounds — "overflow: hidden is like putting a frame around a photo — anything outside the frame is invisible. Very useful when combined with border-radius to clip images into circles, or to hide absolute positioned children that overflow the container."</a:t>
            </a:r>
          </a:p>
          <a:p>
            <a:endParaRPr/>
          </a:p>
          <a:p>
            <a:r>
              <a:t>  Q8: :hover — straightforward.</a:t>
            </a:r>
          </a:p>
          <a:p>
            <a:endParaRPr/>
          </a:p>
          <a:p>
            <a:r>
              <a:t>  Q9: keyboard or click focus — "Emphasise KEYBOARD focus. People who can't use a mouse navigate with the Tab key. When they Tab to a button, :focus fires. This is how we make websites accessible."</a:t>
            </a:r>
          </a:p>
          <a:p>
            <a:endParaRPr/>
          </a:p>
          <a:p>
            <a:r>
              <a:t>  Q10: every even-numbered child — ":nth-child(2n) is the algebraic formula for even numbers: 2×1=2, 2×2=4, 2×3=6… You can also write :nth-child(even) as a shorthand."</a:t>
            </a:r>
          </a:p>
          <a:p>
            <a:endParaRPr/>
          </a:p>
          <a:p>
            <a:r>
              <a:t>  Q11: before the element's own text/content — straightforward.</a:t>
            </a:r>
          </a:p>
          <a:p>
            <a:endParaRPr/>
          </a:p>
          <a:p>
            <a:r>
              <a:t>  Q12: content: — "This is the most important rule for pseudo-elements. Repeat it: WITHOUT content, the pseudo-element does NOT render. Period. Even content: '' (empty string) is required for decorative pseudo-elements."</a:t>
            </a:r>
          </a:p>
          <a:p>
            <a:endParaRPr/>
          </a:p>
          <a:p>
            <a:r>
              <a:t>If time: ask the class "What is the difference between :hover and ::before?" — to confirm they understand pseudo-CLASS (state) vs pseudo-ELEMENT (generated content).</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8414028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CSS TRANSITIONS — The smoothing layer between two states.</a:t>
            </a:r>
          </a:p>
          <a:p>
            <a:endParaRPr/>
          </a:p>
          <a:p>
            <a:r>
              <a:t>Opening analogy: "Think of a light switch. Without transition, flicking the switch instantly turns the light on — a hard, instant jump. With transition, it's like a dimmer — it smoothly brightens or dims over time."</a:t>
            </a:r>
          </a:p>
          <a:p>
            <a:endParaRPr/>
          </a:p>
          <a:p>
            <a:r>
              <a:t>The shorthand anatomy (top of slide):</a:t>
            </a:r>
          </a:p>
          <a:p>
            <a:r>
              <a:t>  transition: property  duration  timing-function  delay;</a:t>
            </a:r>
          </a:p>
          <a:p>
            <a:r>
              <a:t>  Example: transition: background 0.3s ease 0s;</a:t>
            </a:r>
          </a:p>
          <a:p>
            <a:endParaRPr/>
          </a:p>
          <a:p>
            <a:r>
              <a:t>Walk through each box:</a:t>
            </a:r>
          </a:p>
          <a:p>
            <a:r>
              <a:t>  PROPERTY — "Which CSS property to animate. You can write 'all' to catch everything, but this is bad practice: it's slow and will accidentally animate properties you don't want to (like position during a layout reflow). ALWAYS name the specific property."</a:t>
            </a:r>
          </a:p>
          <a:p>
            <a:endParaRPr/>
          </a:p>
          <a:p>
            <a:r>
              <a:t>  DURATION — "How long the animation takes. 0.3s (300 milliseconds) is the sweet spot for UI transitions — fast enough to feel responsive, slow enough to be visible. Anything over 0.5s starts to feel sluggish. Loading animations can be 0.8s–1s."</a:t>
            </a:r>
          </a:p>
          <a:p>
            <a:endParaRPr/>
          </a:p>
          <a:p>
            <a:r>
              <a:t>  TIMING — "The easing curve — how the speed changes DURING the animation.</a:t>
            </a:r>
          </a:p>
          <a:p>
            <a:r>
              <a:t>    • ease (default): starts fast, slows down at the end — most natural.</a:t>
            </a:r>
          </a:p>
          <a:p>
            <a:r>
              <a:t>    • linear: constant speed throughout — good for spinners.</a:t>
            </a:r>
          </a:p>
          <a:p>
            <a:r>
              <a:t>    • ease-in: starts slow, ends fast — dramatic entrance.</a:t>
            </a:r>
          </a:p>
          <a:p>
            <a:r>
              <a:t>    • ease-out: starts fast, ends slow — smooth landing."</a:t>
            </a:r>
          </a:p>
          <a:p>
            <a:endParaRPr/>
          </a:p>
          <a:p>
            <a:r>
              <a:t>  DELAY — "Wait this many milliseconds before starting. Useful for staggered animations on a list. Usually 0 for simple hover effects."</a:t>
            </a:r>
          </a:p>
          <a:p>
            <a:endParaRPr/>
          </a:p>
          <a:p>
            <a:r>
              <a:t>THE MOST IMPORTANT RULE: "Put transition on the BASE state, NOT inside :hover. If you put it only in :hover, the animation plays forward (when mouse enters) but jumps back instantly (when mouse leaves). On the base element, it plays smoothly in BOTH directions."</a:t>
            </a:r>
          </a:p>
          <a:p>
            <a:endParaRPr/>
          </a:p>
          <a:p>
            <a:r>
              <a:t>Code example: point out that .btn has transition, .btn:hover has the changed values. The browser automatically interpolates the in-between frames.</a:t>
            </a:r>
          </a:p>
          <a:p>
            <a:endParaRPr/>
          </a:p>
          <a:p>
            <a:r>
              <a:t>Best practices (right panel): Reinforce 'don't use transition: all'. Mention comma separation for multiple properties: 'transition: background 0.3s ease, transform 0.2s ease;'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@keyframes ANIMATIONS — Going beyond two-state transitions.</a:t>
            </a:r>
          </a:p>
          <a:p>
            <a:endParaRPr/>
          </a:p>
          <a:p>
            <a:r>
              <a:t>Opening: "Transition takes you from State A to State B when something changes. @keyframes lets you define A to B to C to D — multiple steps — and it runs automatically, not just on hover."</a:t>
            </a:r>
          </a:p>
          <a:p>
            <a:endParaRPr/>
          </a:p>
          <a:p>
            <a:r>
              <a:t>The comparison bar at the top:</a:t>
            </a:r>
          </a:p>
          <a:p>
            <a:r>
              <a:t>  "transition = A → B (triggered by a state change like :hover)</a:t>
            </a:r>
          </a:p>
          <a:p>
            <a:r>
              <a:t>   animation  = A → B → C → … (runs on its own or on page load)"</a:t>
            </a:r>
          </a:p>
          <a:p>
            <a:endParaRPr/>
          </a:p>
          <a:p>
            <a:r>
              <a:t>STEP 1 — Define the @keyframes rule:</a:t>
            </a:r>
          </a:p>
          <a:p>
            <a:r>
              <a:t>  "Think of @keyframes as a screenplay. You are the director writing what happens at each moment in time. 'from' is 0% of the way through. 'to' is 100% of the way through."</a:t>
            </a:r>
          </a:p>
          <a:p>
            <a:endParaRPr/>
          </a:p>
          <a:p>
            <a:r>
              <a:t>  "@keyframes fadeIn { from { opacity: 0; ... } to { opacity: 1; ... } }"</a:t>
            </a:r>
          </a:p>
          <a:p>
            <a:endParaRPr/>
          </a:p>
          <a:p>
            <a:r>
              <a:t>  "The name 'fadeIn' is arbitrary — you invent it. You will use this same name when attaching the animation."</a:t>
            </a:r>
          </a:p>
          <a:p>
            <a:endParaRPr/>
          </a:p>
          <a:p>
            <a:r>
              <a:t>STEP 2 — Attach with the animation property:</a:t>
            </a:r>
          </a:p>
          <a:p>
            <a:r>
              <a:t>  "animation: fadeIn 0.6s ease-out forwards;"</a:t>
            </a:r>
          </a:p>
          <a:p>
            <a:r>
              <a:t>  Breaking it down: fadeIn (the @keyframes name) · 0.6s (duration) · ease-out (timing) · forwards (fill-mode).</a:t>
            </a:r>
          </a:p>
          <a:p>
            <a:endParaRPr/>
          </a:p>
          <a:p>
            <a:r>
              <a:t>  "FILL MODE: 'forwards' keeps the FINAL keyframe's styles applied when the animation ends. WITHOUT forwards, when the animation finishes, the element SNAPS back to its original state. That's almost never what you want."</a:t>
            </a:r>
          </a:p>
          <a:p>
            <a:endParaRPr/>
          </a:p>
          <a:p>
            <a:r>
              <a:t>Multiple stops with percentages:</a:t>
            </a:r>
          </a:p>
          <a:p>
            <a:r>
              <a:t>  "@keyframes pulse { 0%, 100% { ... } 50% { ... } }"</a:t>
            </a:r>
          </a:p>
          <a:p>
            <a:r>
              <a:t>  "You can put as many stops as you like. 0% and 100% at the same value creates a smooth looping animation. 'iteration-count: infinite' makes it loop forever — perfect for loading spinners."</a:t>
            </a:r>
          </a:p>
          <a:p>
            <a:endParaRPr/>
          </a:p>
          <a:p>
            <a:r>
              <a:t>Right panel — animation shorthand parts:</a:t>
            </a:r>
          </a:p>
          <a:p>
            <a:r>
              <a:t>  Walk through each part. Highlight fill-mode (forwards) and iteration-count (infinite) as the two most commonly needed non-default values.</a:t>
            </a:r>
          </a:p>
          <a:p>
            <a:endParaRPr/>
          </a:p>
          <a:p>
            <a:r>
              <a:t>DEMO idea: Show a hero heading that fades and slides in when the page loads. Then show a loading spinner with spin @keyframes + infinite iteration.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CHECK-IN 3 — Transitions, Animations, Variables (Q13–Q17).</a:t>
            </a:r>
          </a:p>
          <a:p>
            <a:endParaRPr/>
          </a:p>
          <a:p>
            <a:r>
              <a:t>  Q13: CSS property values when they change — "Transition animates the CSS property values (colour, size, position, opacity…). It does NOT animate JavaScript variables or DOM structure changes."</a:t>
            </a:r>
          </a:p>
          <a:p>
            <a:endParaRPr/>
          </a:p>
          <a:p>
            <a:r>
              <a:t>  Q14: @keyframes — "The at-rule that defines the animation sequence. @media is for responsive conditions. @font-face is for custom fonts. There is no @animate rule."</a:t>
            </a:r>
          </a:p>
          <a:p>
            <a:endParaRPr/>
          </a:p>
          <a:p>
            <a:r>
              <a:t>  Q15: --name: value; — "The double-dash (--) is the syntax. NO spaces inside the name. NO $ or @ prefix like other languages. These are sometimes called 'CSS custom properties' and sometimes 'CSS variables' — both terms are correct."</a:t>
            </a:r>
          </a:p>
          <a:p>
            <a:endParaRPr/>
          </a:p>
          <a:p>
            <a:r>
              <a:t>  Q16: var(--primary) — "The reading function is var(). You pass the variable name including the double-dash. You can also provide a fallback: var(--primary, #0f766e) — if --primary is not defined, use #0f766e as the default."</a:t>
            </a:r>
          </a:p>
          <a:p>
            <a:endParaRPr/>
          </a:p>
          <a:p>
            <a:r>
              <a:t>  Q17: the viewport is 768px wide or NARROWER — "max-width: 768px means 'apply these styles when the screen is AT MOST 768px wide'. This is the DESKTOP-first approach. The opposite is min-width (mobile-first: styles apply when the screen is AT LEAST that wide)."</a:t>
            </a:r>
          </a:p>
          <a:p>
            <a:endParaRPr/>
          </a:p>
          <a:p>
            <a:r>
              <a:t>Take a moment to distinguish max-width vs min-width — this confuses many students:</a:t>
            </a:r>
          </a:p>
          <a:p>
            <a:r>
              <a:t>  'max-width: 768px' → fires on SMALL screens (768 and below) → desktop-first</a:t>
            </a:r>
          </a:p>
          <a:p>
            <a:r>
              <a:t>  'min-width: 768px' → fires on LARGE screens (768 and above) → mobile-first (recommended)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CHECK-IN 3 — Transitions, Animations, Variables (Q13–Q17).</a:t>
            </a:r>
          </a:p>
          <a:p>
            <a:endParaRPr/>
          </a:p>
          <a:p>
            <a:r>
              <a:t>  Q13: CSS property values when they change — "Transition animates the CSS property values (colour, size, position, opacity…). It does NOT animate JavaScript variables or DOM structure changes."</a:t>
            </a:r>
          </a:p>
          <a:p>
            <a:endParaRPr/>
          </a:p>
          <a:p>
            <a:r>
              <a:t>  Q14: @keyframes — "The at-rule that defines the animation sequence. @media is for responsive conditions. @font-face is for custom fonts. There is no @animate rule."</a:t>
            </a:r>
          </a:p>
          <a:p>
            <a:endParaRPr/>
          </a:p>
          <a:p>
            <a:r>
              <a:t>  Q15: --name: value; — "The double-dash (--) is the syntax. NO spaces inside the name. NO $ or @ prefix like other languages. These are sometimes called 'CSS custom properties' and sometimes 'CSS variables' — both terms are correct."</a:t>
            </a:r>
          </a:p>
          <a:p>
            <a:endParaRPr/>
          </a:p>
          <a:p>
            <a:r>
              <a:t>  Q16: var(--primary) — "The reading function is var(). You pass the variable name including the double-dash. You can also provide a fallback: var(--primary, #0f766e) — if --primary is not defined, use #0f766e as the default."</a:t>
            </a:r>
          </a:p>
          <a:p>
            <a:endParaRPr/>
          </a:p>
          <a:p>
            <a:r>
              <a:t>  Q17: the viewport is 768px wide or NARROWER — "max-width: 768px means 'apply these styles when the screen is AT MOST 768px wide'. This is the DESKTOP-first approach. The opposite is min-width (mobile-first: styles apply when the screen is AT LEAST that wide)."</a:t>
            </a:r>
          </a:p>
          <a:p>
            <a:endParaRPr/>
          </a:p>
          <a:p>
            <a:r>
              <a:t>Take a moment to distinguish max-width vs min-width — this confuses many students:</a:t>
            </a:r>
          </a:p>
          <a:p>
            <a:r>
              <a:t>  'max-width: 768px' → fires on SMALL screens (768 and below) → desktop-first</a:t>
            </a:r>
          </a:p>
          <a:p>
            <a:r>
              <a:t>  'min-width: 768px' → fires on LARGE screens (768 and above) → mobile-first (recommended)</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6348789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CSS CUSTOM PROPERTIES (VARIABLES) — The design token system.</a:t>
            </a:r>
          </a:p>
          <a:p>
            <a:endParaRPr/>
          </a:p>
          <a:p>
            <a:r>
              <a:t>Opening analogy: "Imagine you are designing a company website and the brand colour is teal (#0f766e). You use this colour in 50 different places — buttons, links, headings, borders, shadows. Then the marketing team calls and says 'we are rebranding to purple.' Without variables you must manually find and change all 50 colour values. With CSS variables, you change ONE line at the top and all 50 places update instantly."</a:t>
            </a:r>
          </a:p>
          <a:p>
            <a:endParaRPr/>
          </a:p>
          <a:p>
            <a:r>
              <a:t>STEP 1 — DECLARE on :root (left panel, lines 1–10):</a:t>
            </a:r>
          </a:p>
          <a:p>
            <a:r>
              <a:t>  ":root is a special CSS selector that targets the &lt;html&gt; element — the topmost element. Variables declared there are available to EVERY element on the page (they cascade down through the entire document tree, just like all other CSS properties)."</a:t>
            </a:r>
          </a:p>
          <a:p>
            <a:endParaRPr/>
          </a:p>
          <a:p>
            <a:r>
              <a:t>  "The syntax: --name: value; — always double-dash prefix. The name is case-sensitive: --Primary and --primary are different variables."</a:t>
            </a:r>
          </a:p>
          <a:p>
            <a:endParaRPr/>
          </a:p>
          <a:p>
            <a:r>
              <a:t>STEP 2 — USE with var() (lines 12–15):</a:t>
            </a:r>
          </a:p>
          <a:p>
            <a:r>
              <a:t>  "var(--primary) reads back the value you stored. If --primary is '#0f766e', then background: var(--primary) becomes background: #0f766e."</a:t>
            </a:r>
          </a:p>
          <a:p>
            <a:endParaRPr/>
          </a:p>
          <a:p>
            <a:r>
              <a:t>  "The great benefit: you can see '.btn uses the primary colour' by reading the CSS — it's self-documenting."</a:t>
            </a:r>
          </a:p>
          <a:p>
            <a:endParaRPr/>
          </a:p>
          <a:p>
            <a:r>
              <a:t>STEP 3 — DARK MODE (lines 17–23):</a:t>
            </a:r>
          </a:p>
          <a:p>
            <a:r>
              <a:t>  "This is the real power. Instead of writing completely different CSS for dark mode, you ONLY need to redefine the colour variables. The structure, layout, typography — all the same CSS, just different variable values. The browser handles the rest."</a:t>
            </a:r>
          </a:p>
          <a:p>
            <a:endParaRPr/>
          </a:p>
          <a:p>
            <a:r>
              <a:t>  "prefers-color-scheme: dark is an automatic media query — it fires when the user's operating system is set to dark mode. No JavaScript needed."</a:t>
            </a:r>
          </a:p>
          <a:p>
            <a:endParaRPr/>
          </a:p>
          <a:p>
            <a:r>
              <a:t>Right panel — Why variables:</a:t>
            </a:r>
          </a:p>
          <a:p>
            <a:r>
              <a:t>  Benefit 3 (Component theming): "You can override a variable locally on a specific element: .card { --accent: red; } — this changes --accent only for that card and its children, not globally. Incredibly powerful for theming component variants."</a:t>
            </a:r>
          </a:p>
          <a:p>
            <a:endParaRPr/>
          </a:p>
          <a:p>
            <a:r>
              <a:t>  Benefit 4 (JS access): "JavaScript can read and set these: getComputedStyle(el).getPropertyValue('--primary') and el.style.setProperty('--primary', 'blue'). This bridges CSS and JavaScript theming beautifully."</a:t>
            </a:r>
          </a:p>
          <a:p>
            <a:endParaRPr/>
          </a:p>
          <a:p>
            <a:r>
              <a:t>Common mistake: Using var() before the variable is declared. Variables declared in :root are available everywhere. Variables declared inside a specific selector are only available to that element and its descendants.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MEDIA QUERIES — Making pages responsive.</a:t>
            </a:r>
          </a:p>
          <a:p>
            <a:endParaRPr/>
          </a:p>
          <a:p>
            <a:r>
              <a:t>Opening: "Responsive design means your page looks good and works well on ANY screen — a small phone, a tablet, a laptop, a wide monitor. The tool that makes this possible is the @media query."</a:t>
            </a:r>
          </a:p>
          <a:p>
            <a:endParaRPr/>
          </a:p>
          <a:p>
            <a:r>
              <a:t>The syntax box at the top:</a:t>
            </a:r>
          </a:p>
          <a:p>
            <a:r>
              <a:t>  "@media ( condition ) { /* these rules only apply when the condition is true */ }"</a:t>
            </a:r>
          </a:p>
          <a:p>
            <a:r>
              <a:t>  The condition can test the viewport width, the device orientation, the user's colour scheme preference, and more.</a:t>
            </a:r>
          </a:p>
          <a:p>
            <a:endParaRPr/>
          </a:p>
          <a:p>
            <a:r>
              <a:t>The four breakpoints (colour bars):</a:t>
            </a:r>
          </a:p>
          <a:p>
            <a:r>
              <a:t>  PINK — Mobile (≤ 480px): "Small phones. Very tight space. Stack everything vertically, simplify navigation."</a:t>
            </a:r>
          </a:p>
          <a:p>
            <a:r>
              <a:t>  AMBER — Tablet (≤ 768px): "The most common breakpoint. Tablet and large phone landscape."</a:t>
            </a:r>
          </a:p>
          <a:p>
            <a:r>
              <a:t>  GREEN — Desktop (≥ 1024px): "The standard desktop layout with sidebars and multi-column grids."</a:t>
            </a:r>
          </a:p>
          <a:p>
            <a:r>
              <a:t>  BLUE — Wide (≥ 1440px): "Large monitors. You might cap the content width and center it."</a:t>
            </a:r>
          </a:p>
          <a:p>
            <a:endParaRPr/>
          </a:p>
          <a:p>
            <a:r>
              <a:t>MOBILE-FIRST vs DESKTOP-FIRST (very important):</a:t>
            </a:r>
          </a:p>
          <a:p>
            <a:r>
              <a:t>  Desktop-first (old way): "Write full desktop CSS at the top, then use MAX-WIDTH queries to simplify for smaller screens. You are REMOVING features as you go smaller."</a:t>
            </a:r>
          </a:p>
          <a:p>
            <a:endParaRPr/>
          </a:p>
          <a:p>
            <a:r>
              <a:t>  Mobile-first (recommended): "Write minimal mobile CSS at the top, then use MIN-WIDTH queries to ADD features as the screen gets bigger. This is the industry standard — mobile internet traffic is now over 60% globally."</a:t>
            </a:r>
          </a:p>
          <a:p>
            <a:endParaRPr/>
          </a:p>
          <a:p>
            <a:r>
              <a:t>Walk through the code:</a:t>
            </a:r>
          </a:p>
          <a:p>
            <a:r>
              <a:t>  ".grid { display: block; }" — on mobile: single column, full width.</a:t>
            </a:r>
          </a:p>
          <a:p>
            <a:r>
              <a:t>  "@media (min-width: 768px) { .grid { display: flex; } }" — on tablet: horizontal row.</a:t>
            </a:r>
          </a:p>
          <a:p>
            <a:r>
              <a:t>  "@media (min-width: 1024px) { .grid { display: grid; grid-template-columns: repeat(3, 1fr); } }" — on desktop: 3-column grid.</a:t>
            </a:r>
          </a:p>
          <a:p>
            <a:r>
              <a:t>  "Each breakpoint ADDS to what the previous one set — CSS cascades. The mobile rule still applies on desktop unless overridden."</a:t>
            </a:r>
          </a:p>
          <a:p>
            <a:endParaRPr/>
          </a:p>
          <a:p>
            <a:r>
              <a:t>Other media features (right panel):</a:t>
            </a:r>
          </a:p>
          <a:p>
            <a:r>
              <a:t>  "prefers-color-scheme: dark — we just saw this with CSS variables. Automatic dark mode."</a:t>
            </a:r>
          </a:p>
          <a:p>
            <a:r>
              <a:t>  "prefers-reduced-motion — extremely important for accessibility. Some users with vestibular disorders experience nausea from page animations. This media query lets you disable or simplify animations for those users."</a:t>
            </a:r>
          </a:p>
          <a:p>
            <a:r>
              <a:t>  "print — write special styles for when the page is printed: hide the navigation bar, adjust font sizes, remove backgrounds to save ink."</a:t>
            </a:r>
          </a:p>
          <a:p>
            <a:endParaRPr/>
          </a:p>
          <a:p>
            <a:r>
              <a:t>IMPORTANT: Never forget the viewport meta tag in HTML:</a:t>
            </a:r>
          </a:p>
          <a:p>
            <a:r>
              <a:t>  &lt;meta name="viewport" content="width=device-width, initial-scale=1.0"&gt;</a:t>
            </a:r>
          </a:p>
          <a:p>
            <a:r>
              <a:t>  Without this, mobile browsers will pretend they are a full-width desktop and scale down — media queries will not work correctly.</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ADVANCED FLEXBOX — Beyond the basics you already know.</a:t>
            </a:r>
          </a:p>
          <a:p>
            <a:endParaRPr/>
          </a:p>
          <a:p>
            <a:r>
              <a:t>Students already know: display: flex, justify-content, align-items. This slide covers the properties that unlock the real power.</a:t>
            </a:r>
          </a:p>
          <a:p>
            <a:endParaRPr/>
          </a:p>
          <a:p>
            <a:r>
              <a:t>Walk through each card:</a:t>
            </a:r>
          </a:p>
          <a:p>
            <a:endParaRPr/>
          </a:p>
          <a:p>
            <a:r>
              <a:t>  flex-direction (teal): "The MAIN AXIS direction. Row (default) = left to right. Column = top to bottom — turns the flex container into a vertical stack. This is actually how many column layouts are built WITHOUT grid."</a:t>
            </a:r>
          </a:p>
          <a:p>
            <a:endParaRPr/>
          </a:p>
          <a:p>
            <a:r>
              <a:t>  flex-wrap (amber): "By default flex items squish together and NEVER wrap — they will shrink below their minimum size to stay on one line. flex-wrap: wrap lets items BREAK to a new row when there's not enough space. This is the key to responsive card grids WITHOUT media queries!"</a:t>
            </a:r>
          </a:p>
          <a:p>
            <a:endParaRPr/>
          </a:p>
          <a:p>
            <a:r>
              <a:t>  Example: ".card { flex: 1; min-width: 200px; }" — if the screen is wide, all cards are on one row. If narrower, they wrap. The min-width is the breakpoint.</a:t>
            </a:r>
          </a:p>
          <a:p>
            <a:endParaRPr/>
          </a:p>
          <a:p>
            <a:r>
              <a:t>  order (purple): "By default, items appear in the HTML source order. The order property changes the VISUAL order without touching the HTML. order: -1 moves an item to the FRONT; order: 999 moves it to the back. This is incredibly useful for responsive layouts where you want to reorder content between mobile and desktop."</a:t>
            </a:r>
          </a:p>
          <a:p>
            <a:endParaRPr/>
          </a:p>
          <a:p>
            <a:r>
              <a:t>  WARNING: "Screen readers still read in the HTML source order, not the visual order. Using order to completely reverse meaning can hurt accessibility."</a:t>
            </a:r>
          </a:p>
          <a:p>
            <a:endParaRPr/>
          </a:p>
          <a:p>
            <a:r>
              <a:t>  flex-grow (green): "flex: 1 is the shorthand for flex-grow: 1; flex-shrink: 1; flex-basis: 0. This tells the item to grow and fill available space. If two items both have flex: 1, they share the space equally. If one has flex: 2, it gets twice as much space. This replaces width: 50% / width: 33% calculations."</a:t>
            </a:r>
          </a:p>
          <a:p>
            <a:endParaRPr/>
          </a:p>
          <a:p>
            <a:r>
              <a:t>  align-self (sky): "align-items on the CONTAINER sets the default for ALL children. align-self on a CHILD overrides that for just that one item. Common use: stretch a sidebar to full height while content has height: auto."</a:t>
            </a:r>
          </a:p>
          <a:p>
            <a:endParaRPr/>
          </a:p>
          <a:p>
            <a:r>
              <a:t>  gap (pink): "gap: 16px adds space between flex items — both rows and columns. This is the modern replacement for margin hacks like 'margin-right: 16px on everything except :last-child.' Much cleaner."</a:t>
            </a:r>
          </a:p>
          <a:p>
            <a:endParaRPr/>
          </a:p>
          <a:p>
            <a:r>
              <a:t>Code at the bottom: ".featured { order: -1; flex: 2; }" — this item appears FIRST and takes TWICE as much horizontal space — all with two CSS properties, no HTML changes.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CSS GRID — Two-dimensional layout.</a:t>
            </a:r>
          </a:p>
          <a:p>
            <a:endParaRPr/>
          </a:p>
          <a:p>
            <a:r>
              <a:t>Opening: "Flexbox is one-dimensional: items go in a ROW or a COLUMN. Grid is two-dimensional: you define ROWS and COLUMNS at the same time. If Flexbox is a single shelf, Grid is an entire bookcase."</a:t>
            </a:r>
          </a:p>
          <a:p>
            <a:endParaRPr/>
          </a:p>
          <a:p>
            <a:r>
              <a:t>When to use Grid vs Flexbox:</a:t>
            </a:r>
          </a:p>
          <a:p>
            <a:r>
              <a:t>  → USE GRID when you know the number of columns AND rows (page layouts, card grids, form layouts, data tables)</a:t>
            </a:r>
          </a:p>
          <a:p>
            <a:r>
              <a:t>  → USE FLEXBOX when items flow naturally and wrapping is fine (navigation bars, button groups, icon + text combos)</a:t>
            </a:r>
          </a:p>
          <a:p>
            <a:r>
              <a:t>  → They work GREAT together: Grid for the page skeleton, Flexbox inside each grid cell.</a:t>
            </a:r>
          </a:p>
          <a:p>
            <a:endParaRPr/>
          </a:p>
          <a:p>
            <a:r>
              <a:t>The comparison bar: "Flexbox = 1 axis (think of a single row of cards). Grid = 2 axes (think of a spreadsheet or a photo gallery)."</a:t>
            </a:r>
          </a:p>
          <a:p>
            <a:endParaRPr/>
          </a:p>
          <a:p>
            <a:r>
              <a:t>The code example — walk through line by line:</a:t>
            </a:r>
          </a:p>
          <a:p>
            <a:r>
              <a:t>  "display: grid" — activates Grid on the container. All direct children become grid items.</a:t>
            </a:r>
          </a:p>
          <a:p>
            <a:r>
              <a:t>  "grid-template-columns: repeat(3, 1fr)" — creates 3 columns of equal width. 'repeat(3, 1fr)' is shorthand for '1fr 1fr 1fr'. The 'fr' unit = fraction of remaining space after fixed widths are subtracted.</a:t>
            </a:r>
          </a:p>
          <a:p>
            <a:r>
              <a:t>  "gap: 20px" — same as in flexbox. Space between ALL cells, both between rows and columns.</a:t>
            </a:r>
          </a:p>
          <a:p>
            <a:r>
              <a:t>  ".hero { grid-column: 1 / 3; }" — this item starts at column LINE 1 and ends at column line 3. Lines are numbered from 1, so '1 / 3' means it spans across 2 columns. You can also write 'grid-column: span 2' — same effect.</a:t>
            </a:r>
          </a:p>
          <a:p>
            <a:endParaRPr/>
          </a:p>
          <a:p>
            <a:r>
              <a:t>Named areas (the most beginner-friendly feature):</a:t>
            </a:r>
          </a:p>
          <a:p>
            <a:r>
              <a:t>  "grid-template-areas is the most readable way to define a layout. You literally draw it in text form. Then each child just declares 'grid-area: main' (or header, sidebar, footer) and the browser places it automatically."</a:t>
            </a:r>
          </a:p>
          <a:p>
            <a:endParaRPr/>
          </a:p>
          <a:p>
            <a:r>
              <a:t>  "This is how real websites are built. Header across the top, sidebar on the left, main content fills the rest, footer across the bottom — 5 lines of CSS defines this entire classic web layout."</a:t>
            </a:r>
          </a:p>
          <a:p>
            <a:endParaRPr/>
          </a:p>
          <a:p>
            <a:r>
              <a:t>Right panel — key properties:</a:t>
            </a:r>
          </a:p>
          <a:p>
            <a:r>
              <a:t>  minmax(100px, auto) — "minimum 100px, maximum as big as the content needs. Prevents rows from collapsing too small."</a:t>
            </a:r>
          </a:p>
          <a:p>
            <a:r>
              <a:t>  grid-template-areas — Emphasise this as the most readable method for beginners. Write the layout first as text, then assign grid-area names to elements.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CHECK-IN 4 — Grid, Flexbox advanced, border-radius, box-shadow (Q18–Q25).</a:t>
            </a:r>
          </a:p>
          <a:p>
            <a:endParaRPr/>
          </a:p>
          <a:p>
            <a:r>
              <a:t>  Q18: stack vertically (a column) — "flex-direction: column turns the main axis vertical. justify-content then works top-to-bottom. align-items works left-to-right."</a:t>
            </a:r>
          </a:p>
          <a:p>
            <a:endParaRPr/>
          </a:p>
          <a:p>
            <a:r>
              <a:t>  Q19: move to a new row when they overflow — "Without flex-wrap: wrap, items squish and never wrap. With wrap, they break to a new row like words in a paragraph."</a:t>
            </a:r>
          </a:p>
          <a:p>
            <a:endParaRPr/>
          </a:p>
          <a:p>
            <a:r>
              <a:t>  Q20: activates the 2-dimensional Grid layout — "Two-dimensional is the key term that distinguishes Grid from Flexbox."</a:t>
            </a:r>
          </a:p>
          <a:p>
            <a:endParaRPr/>
          </a:p>
          <a:p>
            <a:r>
              <a:t>  Q21: 3 equal-width columns — "repeat(3, 1fr) = three columns each taking 1 fraction of the space. Since there are 3 equal fractions, each is 33.33% of the container width."</a:t>
            </a:r>
          </a:p>
          <a:p>
            <a:endParaRPr/>
          </a:p>
          <a:p>
            <a:r>
              <a:t>  Q22: gap — "gap works in BOTH flex and grid containers. It replaces messy margin hacks. Note: gap does NOT add space outside the container — only between items."</a:t>
            </a:r>
          </a:p>
          <a:p>
            <a:endParaRPr/>
          </a:p>
          <a:p>
            <a:r>
              <a:t>  Q23: a perfect circle — "50% of the element's width and height as the corner radius. On a square (width = height), all four corners meet perfectly at the centre — creating a circle. On a non-square, you get an oval."</a:t>
            </a:r>
          </a:p>
          <a:p>
            <a:endParaRPr/>
          </a:p>
          <a:p>
            <a:r>
              <a:t>  Q24: blur radius — "The box-shadow values in order: horizontal offset, vertical offset, BLUR, spread, colour. The third value is blur. Blur 0 = sharp hard shadow. Large blur = soft diffused shadow like natural lighting."</a:t>
            </a:r>
          </a:p>
          <a:p>
            <a:endParaRPr/>
          </a:p>
          <a:p>
            <a:r>
              <a:t>  Q25: take the computed value from the parent element — "inherit forces the cascade. Normally border, background, padding do NOT inherit from the parent. Writing 'border: inherit' makes the child take the parent's computed border value."</a:t>
            </a:r>
          </a:p>
          <a:p>
            <a:endParaRPr/>
          </a:p>
          <a:p>
            <a:r>
              <a:t>WRAP UP: Ask students "Which concept from today do you want to explore more in the lab exercise?" — direct their attention to the Study Guide for self-paced practice.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CHECK-IN 4 — Grid, Flexbox advanced, border-radius, box-shadow (Q18–Q25).</a:t>
            </a:r>
          </a:p>
          <a:p>
            <a:endParaRPr/>
          </a:p>
          <a:p>
            <a:r>
              <a:t>  Q18: stack vertically (a column) — "flex-direction: column turns the main axis vertical. justify-content then works top-to-bottom. align-items works left-to-right."</a:t>
            </a:r>
          </a:p>
          <a:p>
            <a:endParaRPr/>
          </a:p>
          <a:p>
            <a:r>
              <a:t>  Q19: move to a new row when they overflow — "Without flex-wrap: wrap, items squish and never wrap. With wrap, they break to a new row like words in a paragraph."</a:t>
            </a:r>
          </a:p>
          <a:p>
            <a:endParaRPr/>
          </a:p>
          <a:p>
            <a:r>
              <a:t>  Q20: activates the 2-dimensional Grid layout — "Two-dimensional is the key term that distinguishes Grid from Flexbox."</a:t>
            </a:r>
          </a:p>
          <a:p>
            <a:endParaRPr/>
          </a:p>
          <a:p>
            <a:r>
              <a:t>  Q21: 3 equal-width columns — "repeat(3, 1fr) = three columns each taking 1 fraction of the space. Since there are 3 equal fractions, each is 33.33% of the container width."</a:t>
            </a:r>
          </a:p>
          <a:p>
            <a:endParaRPr/>
          </a:p>
          <a:p>
            <a:r>
              <a:t>  Q22: gap — "gap works in BOTH flex and grid containers. It replaces messy margin hacks. Note: gap does NOT add space outside the container — only between items."</a:t>
            </a:r>
          </a:p>
          <a:p>
            <a:endParaRPr/>
          </a:p>
          <a:p>
            <a:r>
              <a:t>  Q23: a perfect circle — "50% of the element's width and height as the corner radius. On a square (width = height), all four corners meet perfectly at the centre — creating a circle. On a non-square, you get an oval."</a:t>
            </a:r>
          </a:p>
          <a:p>
            <a:endParaRPr/>
          </a:p>
          <a:p>
            <a:r>
              <a:t>  Q24: blur radius — "The box-shadow values in order: horizontal offset, vertical offset, BLUR, spread, colour. The third value is blur. Blur 0 = sharp hard shadow. Large blur = soft diffused shadow like natural lighting."</a:t>
            </a:r>
          </a:p>
          <a:p>
            <a:endParaRPr/>
          </a:p>
          <a:p>
            <a:r>
              <a:t>  Q25: take the computed value from the parent element — "inherit forces the cascade. Normally border, background, padding do NOT inherit from the parent. Writing 'border: inherit' makes the child take the parent's computed border value."</a:t>
            </a:r>
          </a:p>
          <a:p>
            <a:endParaRPr/>
          </a:p>
          <a:p>
            <a:r>
              <a:t>WRAP UP: Ask students "Which concept from today do you want to explore more in the lab exercise?" — direct their attention to the Study Guide for self-paced practice.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7782248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SUMMARY — What you can now do.</a:t>
            </a:r>
          </a:p>
          <a:p>
            <a:endParaRPr/>
          </a:p>
          <a:p>
            <a:r>
              <a:t>Read through each row with the class as a confidence check.</a:t>
            </a:r>
          </a:p>
          <a:p>
            <a:endParaRPr/>
          </a:p>
          <a:p>
            <a:r>
              <a:t>POSITION: "You can now use position: relative to create an anchor, position: absolute to place a badge or tooltip precisely inside a parent, position: fixed for a persistent nav bar, and position: sticky for section headers that stick while scrolling."</a:t>
            </a:r>
          </a:p>
          <a:p>
            <a:endParaRPr/>
          </a:p>
          <a:p>
            <a:r>
              <a:t>PSEUDO: "You can now make buttons react to hover without JavaScript, show focus rings for keyboard users, insert decorative icons before or after any element purely in CSS."</a:t>
            </a:r>
          </a:p>
          <a:p>
            <a:endParaRPr/>
          </a:p>
          <a:p>
            <a:r>
              <a:t>TRANSITION: "You know the four-part shorthand: property, duration, timing, delay. You know to put it on the BASE element so it animates both on entry and exit."</a:t>
            </a:r>
          </a:p>
          <a:p>
            <a:endParaRPr/>
          </a:p>
          <a:p>
            <a:r>
              <a:t>ANIMATION: "You can define a @keyframes sequence with any number of steps and attach it with the animation shorthand. You know that fill-mode: forwards keeps the final state."</a:t>
            </a:r>
          </a:p>
          <a:p>
            <a:endParaRPr/>
          </a:p>
          <a:p>
            <a:r>
              <a:t>VARIABLES: "You can centralise your colour palette in :root with --name: value; and update your entire design by changing one line. You can implement dark mode with a single @media block."</a:t>
            </a:r>
          </a:p>
          <a:p>
            <a:endParaRPr/>
          </a:p>
          <a:p>
            <a:r>
              <a:t>RESPONSIVE: "You know the difference between min-width (mobile-first) and max-width (desktop-first). You know about prefers-color-scheme and prefers-reduced-motion."</a:t>
            </a:r>
          </a:p>
          <a:p>
            <a:endParaRPr/>
          </a:p>
          <a:p>
            <a:r>
              <a:t>GRID: "You can build a two-dimensional layout with display: grid, define columns with repeat() and fr units, span cells across rows or columns, and use named template areas for readable page layouts."</a:t>
            </a:r>
          </a:p>
          <a:p>
            <a:endParaRPr/>
          </a:p>
          <a:p>
            <a:r>
              <a:t>HOMEWORK / STUDY GUIDE REMINDER:</a:t>
            </a:r>
          </a:p>
          <a:p>
            <a:r>
              <a:t>  "Open the Week 3 Friday Study Guide (link on Cyber system). Read each topic's theory, run the live code example, check the key points, then DO the exercises. Start from E1 (beginner) and go as far as you can — the goal is E7, the complete CSS Advanced portfolio page. Type every line of code manually — do not copy-paste — and submit your work via GitHub as always."</a:t>
            </a:r>
          </a:p>
          <a:p>
            <a:endParaRPr/>
          </a:p>
          <a:p>
            <a:r>
              <a:t>NEXT WEEK: Week 4 Monday → JavaScript Introduction. CSS is the STYLING layer. JavaScript is the BEHAVIOUR layer — making pages actually DO things when users interact.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6403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144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0085832" y="45720"/>
            <a:ext cx="2011680" cy="475488"/>
          </a:xfrm>
          <a:prstGeom prst="rect">
            <a:avLst/>
          </a:prstGeom>
          <a:solidFill>
            <a:srgbClr val="064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85832" y="109728"/>
            <a:ext cx="2011680" cy="365760"/>
          </a:xfrm>
          <a:prstGeom prst="rect">
            <a:avLst/>
          </a:prstGeom>
          <a:noFill/>
        </p:spPr>
        <p:txBody>
          <a:bodyPr wrap="square">
            <a:spAutoFit/>
          </a:bodyPr>
          <a:lstStyle/>
          <a:p>
            <a:pPr algn="ctr"/>
            <a:r>
              <a:rPr sz="1000" b="1" i="0">
                <a:solidFill>
                  <a:srgbClr val="14B8A6"/>
                </a:solidFill>
                <a:latin typeface="Calibri"/>
              </a:rPr>
              <a:t>WEEK 3 · FRIDAY</a:t>
            </a:r>
          </a:p>
        </p:txBody>
      </p:sp>
      <p:sp>
        <p:nvSpPr>
          <p:cNvPr id="5" name="TextBox 4"/>
          <p:cNvSpPr txBox="1"/>
          <p:nvPr/>
        </p:nvSpPr>
        <p:spPr>
          <a:xfrm>
            <a:off x="457200" y="182880"/>
            <a:ext cx="12188952" cy="594360"/>
          </a:xfrm>
          <a:prstGeom prst="rect">
            <a:avLst/>
          </a:prstGeom>
          <a:noFill/>
        </p:spPr>
        <p:txBody>
          <a:bodyPr wrap="square">
            <a:spAutoFit/>
          </a:bodyPr>
          <a:lstStyle/>
          <a:p>
            <a:pPr algn="l"/>
            <a:r>
              <a:rPr sz="1400" b="0" i="0">
                <a:solidFill>
                  <a:srgbClr val="F0FDFA"/>
                </a:solidFill>
                <a:latin typeface="Calibri"/>
              </a:rPr>
              <a:t>K0126002 — Web Programming</a:t>
            </a:r>
          </a:p>
        </p:txBody>
      </p:sp>
      <p:sp>
        <p:nvSpPr>
          <p:cNvPr id="6" name="TextBox 5"/>
          <p:cNvSpPr txBox="1"/>
          <p:nvPr/>
        </p:nvSpPr>
        <p:spPr>
          <a:xfrm>
            <a:off x="457200" y="1280160"/>
            <a:ext cx="11274552" cy="1097280"/>
          </a:xfrm>
          <a:prstGeom prst="rect">
            <a:avLst/>
          </a:prstGeom>
          <a:noFill/>
        </p:spPr>
        <p:txBody>
          <a:bodyPr wrap="square">
            <a:spAutoFit/>
          </a:bodyPr>
          <a:lstStyle/>
          <a:p>
            <a:pPr algn="l"/>
            <a:r>
              <a:rPr sz="6000" b="1" i="0">
                <a:solidFill>
                  <a:srgbClr val="FFFFFF"/>
                </a:solidFill>
                <a:latin typeface="Calibri"/>
              </a:rPr>
              <a:t>CSS Advanced</a:t>
            </a:r>
          </a:p>
        </p:txBody>
      </p:sp>
      <p:sp>
        <p:nvSpPr>
          <p:cNvPr id="7" name="TextBox 6"/>
          <p:cNvSpPr txBox="1"/>
          <p:nvPr/>
        </p:nvSpPr>
        <p:spPr>
          <a:xfrm>
            <a:off x="457200" y="2423160"/>
            <a:ext cx="11274552" cy="640080"/>
          </a:xfrm>
          <a:prstGeom prst="rect">
            <a:avLst/>
          </a:prstGeom>
          <a:noFill/>
        </p:spPr>
        <p:txBody>
          <a:bodyPr wrap="square">
            <a:spAutoFit/>
          </a:bodyPr>
          <a:lstStyle/>
          <a:p>
            <a:pPr algn="l"/>
            <a:r>
              <a:rPr sz="2800" b="1" i="0">
                <a:solidFill>
                  <a:srgbClr val="14B8A6"/>
                </a:solidFill>
                <a:latin typeface="Calibri"/>
              </a:rPr>
              <a:t>Week 3 · Friday Session</a:t>
            </a:r>
          </a:p>
        </p:txBody>
      </p:sp>
      <p:sp>
        <p:nvSpPr>
          <p:cNvPr id="8" name="Rectangle 7"/>
          <p:cNvSpPr/>
          <p:nvPr/>
        </p:nvSpPr>
        <p:spPr>
          <a:xfrm>
            <a:off x="457200" y="3200400"/>
            <a:ext cx="11274552" cy="4572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3383280"/>
            <a:ext cx="3657600" cy="502920"/>
          </a:xfrm>
          <a:prstGeom prst="rect">
            <a:avLst/>
          </a:prstGeom>
          <a:noFill/>
        </p:spPr>
        <p:txBody>
          <a:bodyPr wrap="square">
            <a:spAutoFit/>
          </a:bodyPr>
          <a:lstStyle/>
          <a:p>
            <a:pPr algn="l"/>
            <a:r>
              <a:rPr sz="1400" b="0" i="0">
                <a:solidFill>
                  <a:srgbClr val="F0FDFA"/>
                </a:solidFill>
                <a:latin typeface="Calibri"/>
              </a:rPr>
              <a:t>→  CSS Position</a:t>
            </a:r>
          </a:p>
        </p:txBody>
      </p:sp>
      <p:sp>
        <p:nvSpPr>
          <p:cNvPr id="10" name="TextBox 9"/>
          <p:cNvSpPr txBox="1"/>
          <p:nvPr/>
        </p:nvSpPr>
        <p:spPr>
          <a:xfrm>
            <a:off x="4297680" y="3383280"/>
            <a:ext cx="3657600" cy="502920"/>
          </a:xfrm>
          <a:prstGeom prst="rect">
            <a:avLst/>
          </a:prstGeom>
          <a:noFill/>
        </p:spPr>
        <p:txBody>
          <a:bodyPr wrap="square">
            <a:spAutoFit/>
          </a:bodyPr>
          <a:lstStyle/>
          <a:p>
            <a:pPr algn="l"/>
            <a:r>
              <a:rPr sz="1400" b="0" i="0">
                <a:solidFill>
                  <a:srgbClr val="F0FDFA"/>
                </a:solidFill>
                <a:latin typeface="Calibri"/>
              </a:rPr>
              <a:t>→  Pseudo-classes &amp; Pseudo-elements</a:t>
            </a:r>
          </a:p>
        </p:txBody>
      </p:sp>
      <p:sp>
        <p:nvSpPr>
          <p:cNvPr id="11" name="TextBox 10"/>
          <p:cNvSpPr txBox="1"/>
          <p:nvPr/>
        </p:nvSpPr>
        <p:spPr>
          <a:xfrm>
            <a:off x="8138160" y="3383280"/>
            <a:ext cx="3657600" cy="502920"/>
          </a:xfrm>
          <a:prstGeom prst="rect">
            <a:avLst/>
          </a:prstGeom>
          <a:noFill/>
        </p:spPr>
        <p:txBody>
          <a:bodyPr wrap="square">
            <a:spAutoFit/>
          </a:bodyPr>
          <a:lstStyle/>
          <a:p>
            <a:pPr algn="l"/>
            <a:r>
              <a:rPr sz="1400" b="0" i="0">
                <a:solidFill>
                  <a:srgbClr val="F0FDFA"/>
                </a:solidFill>
                <a:latin typeface="Calibri"/>
              </a:rPr>
              <a:t>→  Transitions &amp; Animations</a:t>
            </a:r>
          </a:p>
        </p:txBody>
      </p:sp>
      <p:sp>
        <p:nvSpPr>
          <p:cNvPr id="12" name="TextBox 11"/>
          <p:cNvSpPr txBox="1"/>
          <p:nvPr/>
        </p:nvSpPr>
        <p:spPr>
          <a:xfrm>
            <a:off x="457200" y="3950208"/>
            <a:ext cx="3657600" cy="502920"/>
          </a:xfrm>
          <a:prstGeom prst="rect">
            <a:avLst/>
          </a:prstGeom>
          <a:noFill/>
        </p:spPr>
        <p:txBody>
          <a:bodyPr wrap="square">
            <a:spAutoFit/>
          </a:bodyPr>
          <a:lstStyle/>
          <a:p>
            <a:pPr algn="l"/>
            <a:r>
              <a:rPr sz="1400" b="0" i="0">
                <a:solidFill>
                  <a:srgbClr val="F0FDFA"/>
                </a:solidFill>
                <a:latin typeface="Calibri"/>
              </a:rPr>
              <a:t>→  Custom Properties</a:t>
            </a:r>
          </a:p>
        </p:txBody>
      </p:sp>
      <p:sp>
        <p:nvSpPr>
          <p:cNvPr id="13" name="TextBox 12"/>
          <p:cNvSpPr txBox="1"/>
          <p:nvPr/>
        </p:nvSpPr>
        <p:spPr>
          <a:xfrm>
            <a:off x="4297680" y="3950208"/>
            <a:ext cx="3657600" cy="502920"/>
          </a:xfrm>
          <a:prstGeom prst="rect">
            <a:avLst/>
          </a:prstGeom>
          <a:noFill/>
        </p:spPr>
        <p:txBody>
          <a:bodyPr wrap="square">
            <a:spAutoFit/>
          </a:bodyPr>
          <a:lstStyle/>
          <a:p>
            <a:pPr algn="l"/>
            <a:r>
              <a:rPr sz="1400" b="0" i="0">
                <a:solidFill>
                  <a:srgbClr val="F0FDFA"/>
                </a:solidFill>
                <a:latin typeface="Calibri"/>
              </a:rPr>
              <a:t>→  Media Queries</a:t>
            </a:r>
          </a:p>
        </p:txBody>
      </p:sp>
      <p:sp>
        <p:nvSpPr>
          <p:cNvPr id="14" name="TextBox 13"/>
          <p:cNvSpPr txBox="1"/>
          <p:nvPr/>
        </p:nvSpPr>
        <p:spPr>
          <a:xfrm>
            <a:off x="8138160" y="3950208"/>
            <a:ext cx="3657600" cy="502920"/>
          </a:xfrm>
          <a:prstGeom prst="rect">
            <a:avLst/>
          </a:prstGeom>
          <a:noFill/>
        </p:spPr>
        <p:txBody>
          <a:bodyPr wrap="square">
            <a:spAutoFit/>
          </a:bodyPr>
          <a:lstStyle/>
          <a:p>
            <a:pPr algn="l"/>
            <a:r>
              <a:rPr sz="1400" b="0" i="0">
                <a:solidFill>
                  <a:srgbClr val="F0FDFA"/>
                </a:solidFill>
                <a:latin typeface="Calibri"/>
              </a:rPr>
              <a:t>→  CSS Grid Introduction</a:t>
            </a:r>
          </a:p>
        </p:txBody>
      </p:sp>
      <p:sp>
        <p:nvSpPr>
          <p:cNvPr id="15" name="TextBox 14"/>
          <p:cNvSpPr txBox="1"/>
          <p:nvPr/>
        </p:nvSpPr>
        <p:spPr>
          <a:xfrm>
            <a:off x="457200" y="6355080"/>
            <a:ext cx="11274552" cy="411480"/>
          </a:xfrm>
          <a:prstGeom prst="rect">
            <a:avLst/>
          </a:prstGeom>
          <a:noFill/>
        </p:spPr>
        <p:txBody>
          <a:bodyPr wrap="square">
            <a:spAutoFit/>
          </a:bodyPr>
          <a:lstStyle/>
          <a:p>
            <a:pPr algn="l"/>
            <a:r>
              <a:rPr sz="1300" b="0" i="0">
                <a:solidFill>
                  <a:srgbClr val="64748B"/>
                </a:solidFill>
                <a:latin typeface="Calibri"/>
              </a:rPr>
              <a:t>Gachon University  ·  Dept. of AI Software Engineering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9628632" cy="685800"/>
          </a:xfrm>
          <a:prstGeom prst="rect">
            <a:avLst/>
          </a:prstGeom>
          <a:noFill/>
        </p:spPr>
        <p:txBody>
          <a:bodyPr wrap="square">
            <a:spAutoFit/>
          </a:bodyPr>
          <a:lstStyle/>
          <a:p>
            <a:pPr algn="l"/>
            <a:r>
              <a:rPr sz="3200" b="1" i="0">
                <a:solidFill>
                  <a:srgbClr val="FFFFFF"/>
                </a:solidFill>
                <a:latin typeface="Calibri"/>
              </a:rPr>
              <a:t>Today's Agenda</a:t>
            </a:r>
          </a:p>
        </p:txBody>
      </p:sp>
      <p:sp>
        <p:nvSpPr>
          <p:cNvPr id="4" name="TextBox 3"/>
          <p:cNvSpPr txBox="1"/>
          <p:nvPr/>
        </p:nvSpPr>
        <p:spPr>
          <a:xfrm>
            <a:off x="365760" y="685800"/>
            <a:ext cx="9628632" cy="347472"/>
          </a:xfrm>
          <a:prstGeom prst="rect">
            <a:avLst/>
          </a:prstGeom>
          <a:noFill/>
        </p:spPr>
        <p:txBody>
          <a:bodyPr wrap="square">
            <a:spAutoFit/>
          </a:bodyPr>
          <a:lstStyle/>
          <a:p>
            <a:pPr algn="l"/>
            <a:r>
              <a:rPr sz="1500" b="0" i="0">
                <a:solidFill>
                  <a:srgbClr val="F0FDFA"/>
                </a:solidFill>
                <a:latin typeface="Calibri"/>
              </a:rPr>
              <a:t>What we cover in this Friday 2-hour session</a:t>
            </a:r>
          </a:p>
        </p:txBody>
      </p:sp>
      <p:sp>
        <p:nvSpPr>
          <p:cNvPr id="5" name="Rectangle 4"/>
          <p:cNvSpPr/>
          <p:nvPr/>
        </p:nvSpPr>
        <p:spPr>
          <a:xfrm>
            <a:off x="10085832" y="45720"/>
            <a:ext cx="2011680" cy="475488"/>
          </a:xfrm>
          <a:prstGeom prst="rect">
            <a:avLst/>
          </a:prstGeom>
          <a:solidFill>
            <a:srgbClr val="064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85832" y="109728"/>
            <a:ext cx="2011680" cy="365760"/>
          </a:xfrm>
          <a:prstGeom prst="rect">
            <a:avLst/>
          </a:prstGeom>
          <a:noFill/>
        </p:spPr>
        <p:txBody>
          <a:bodyPr wrap="square">
            <a:spAutoFit/>
          </a:bodyPr>
          <a:lstStyle/>
          <a:p>
            <a:pPr algn="ctr"/>
            <a:r>
              <a:rPr sz="1000" b="1" i="0">
                <a:solidFill>
                  <a:srgbClr val="14B8A6"/>
                </a:solidFill>
                <a:latin typeface="Calibri"/>
              </a:rPr>
              <a:t>WEEK 3 · FRIDAY</a:t>
            </a:r>
          </a:p>
        </p:txBody>
      </p:sp>
      <p:sp>
        <p:nvSpPr>
          <p:cNvPr id="7" name="Rectangle 6"/>
          <p:cNvSpPr/>
          <p:nvPr/>
        </p:nvSpPr>
        <p:spPr>
          <a:xfrm>
            <a:off x="365760" y="1280160"/>
            <a:ext cx="5669280" cy="1600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280160"/>
            <a:ext cx="109728" cy="16002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4360" y="1444752"/>
            <a:ext cx="5303520" cy="502920"/>
          </a:xfrm>
          <a:prstGeom prst="rect">
            <a:avLst/>
          </a:prstGeom>
          <a:noFill/>
        </p:spPr>
        <p:txBody>
          <a:bodyPr wrap="square">
            <a:spAutoFit/>
          </a:bodyPr>
          <a:lstStyle/>
          <a:p>
            <a:pPr algn="l"/>
            <a:r>
              <a:rPr sz="1700" b="1" i="0">
                <a:solidFill>
                  <a:srgbClr val="FFFFFF"/>
                </a:solidFill>
                <a:latin typeface="Calibri"/>
              </a:rPr>
              <a:t>CSS Position</a:t>
            </a:r>
          </a:p>
        </p:txBody>
      </p:sp>
      <p:sp>
        <p:nvSpPr>
          <p:cNvPr id="10" name="TextBox 9"/>
          <p:cNvSpPr txBox="1"/>
          <p:nvPr/>
        </p:nvSpPr>
        <p:spPr>
          <a:xfrm>
            <a:off x="594360" y="1965960"/>
            <a:ext cx="5303520" cy="777240"/>
          </a:xfrm>
          <a:prstGeom prst="rect">
            <a:avLst/>
          </a:prstGeom>
          <a:noFill/>
        </p:spPr>
        <p:txBody>
          <a:bodyPr wrap="square">
            <a:spAutoFit/>
          </a:bodyPr>
          <a:lstStyle/>
          <a:p>
            <a:pPr algn="l"/>
            <a:r>
              <a:rPr sz="1300" b="0" i="0">
                <a:solidFill>
                  <a:srgbClr val="64748B"/>
                </a:solidFill>
                <a:latin typeface="Calibri"/>
              </a:rPr>
              <a:t>static · relative · absolute · fixed · sticky</a:t>
            </a:r>
          </a:p>
        </p:txBody>
      </p:sp>
      <p:sp>
        <p:nvSpPr>
          <p:cNvPr id="11" name="Rectangle 10"/>
          <p:cNvSpPr/>
          <p:nvPr/>
        </p:nvSpPr>
        <p:spPr>
          <a:xfrm>
            <a:off x="365760" y="3017520"/>
            <a:ext cx="5669280" cy="1600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65760" y="3017520"/>
            <a:ext cx="109728" cy="16002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3182112"/>
            <a:ext cx="5303520" cy="502920"/>
          </a:xfrm>
          <a:prstGeom prst="rect">
            <a:avLst/>
          </a:prstGeom>
          <a:noFill/>
        </p:spPr>
        <p:txBody>
          <a:bodyPr wrap="square">
            <a:spAutoFit/>
          </a:bodyPr>
          <a:lstStyle/>
          <a:p>
            <a:pPr algn="l"/>
            <a:r>
              <a:rPr sz="1700" b="1" i="0">
                <a:solidFill>
                  <a:srgbClr val="FFFFFF"/>
                </a:solidFill>
                <a:latin typeface="Calibri"/>
              </a:rPr>
              <a:t>Pseudo-classes &amp; Elements</a:t>
            </a:r>
          </a:p>
        </p:txBody>
      </p:sp>
      <p:sp>
        <p:nvSpPr>
          <p:cNvPr id="14" name="TextBox 13"/>
          <p:cNvSpPr txBox="1"/>
          <p:nvPr/>
        </p:nvSpPr>
        <p:spPr>
          <a:xfrm>
            <a:off x="594360" y="3703320"/>
            <a:ext cx="5303520" cy="777240"/>
          </a:xfrm>
          <a:prstGeom prst="rect">
            <a:avLst/>
          </a:prstGeom>
          <a:noFill/>
        </p:spPr>
        <p:txBody>
          <a:bodyPr wrap="square">
            <a:spAutoFit/>
          </a:bodyPr>
          <a:lstStyle/>
          <a:p>
            <a:pPr algn="l"/>
            <a:r>
              <a:rPr sz="1300" b="0" i="0">
                <a:solidFill>
                  <a:srgbClr val="64748B"/>
                </a:solidFill>
                <a:latin typeface="Calibri"/>
              </a:rPr>
              <a:t>:hover · :focus · :nth-child · ::before · ::after</a:t>
            </a:r>
          </a:p>
        </p:txBody>
      </p:sp>
      <p:sp>
        <p:nvSpPr>
          <p:cNvPr id="15" name="Rectangle 14"/>
          <p:cNvSpPr/>
          <p:nvPr/>
        </p:nvSpPr>
        <p:spPr>
          <a:xfrm>
            <a:off x="365760" y="4754880"/>
            <a:ext cx="5669280" cy="1600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65760" y="4754880"/>
            <a:ext cx="109728" cy="16002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94360" y="4919472"/>
            <a:ext cx="5303520" cy="502920"/>
          </a:xfrm>
          <a:prstGeom prst="rect">
            <a:avLst/>
          </a:prstGeom>
          <a:noFill/>
        </p:spPr>
        <p:txBody>
          <a:bodyPr wrap="square">
            <a:spAutoFit/>
          </a:bodyPr>
          <a:lstStyle/>
          <a:p>
            <a:pPr algn="l"/>
            <a:r>
              <a:rPr sz="1700" b="1" i="0">
                <a:solidFill>
                  <a:srgbClr val="FFFFFF"/>
                </a:solidFill>
                <a:latin typeface="Calibri"/>
              </a:rPr>
              <a:t>Transitions &amp; Animations</a:t>
            </a:r>
          </a:p>
        </p:txBody>
      </p:sp>
      <p:sp>
        <p:nvSpPr>
          <p:cNvPr id="18" name="TextBox 17"/>
          <p:cNvSpPr txBox="1"/>
          <p:nvPr/>
        </p:nvSpPr>
        <p:spPr>
          <a:xfrm>
            <a:off x="594360" y="5440680"/>
            <a:ext cx="5303520" cy="777240"/>
          </a:xfrm>
          <a:prstGeom prst="rect">
            <a:avLst/>
          </a:prstGeom>
          <a:noFill/>
        </p:spPr>
        <p:txBody>
          <a:bodyPr wrap="square">
            <a:spAutoFit/>
          </a:bodyPr>
          <a:lstStyle/>
          <a:p>
            <a:pPr algn="l"/>
            <a:r>
              <a:rPr sz="1300" b="0" i="0">
                <a:solidFill>
                  <a:srgbClr val="64748B"/>
                </a:solidFill>
                <a:latin typeface="Calibri"/>
              </a:rPr>
              <a:t>transition · @keyframes · animation shorthand</a:t>
            </a:r>
          </a:p>
        </p:txBody>
      </p:sp>
      <p:sp>
        <p:nvSpPr>
          <p:cNvPr id="19" name="Rectangle 18"/>
          <p:cNvSpPr/>
          <p:nvPr/>
        </p:nvSpPr>
        <p:spPr>
          <a:xfrm>
            <a:off x="6309360" y="1280160"/>
            <a:ext cx="5669280" cy="1600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309360" y="1280160"/>
            <a:ext cx="109728" cy="16002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37960" y="1444752"/>
            <a:ext cx="5303520" cy="502920"/>
          </a:xfrm>
          <a:prstGeom prst="rect">
            <a:avLst/>
          </a:prstGeom>
          <a:noFill/>
        </p:spPr>
        <p:txBody>
          <a:bodyPr wrap="square">
            <a:spAutoFit/>
          </a:bodyPr>
          <a:lstStyle/>
          <a:p>
            <a:pPr algn="l"/>
            <a:r>
              <a:rPr sz="1700" b="1" i="0">
                <a:solidFill>
                  <a:srgbClr val="FFFFFF"/>
                </a:solidFill>
                <a:latin typeface="Calibri"/>
              </a:rPr>
              <a:t>CSS Custom Properties</a:t>
            </a:r>
          </a:p>
        </p:txBody>
      </p:sp>
      <p:sp>
        <p:nvSpPr>
          <p:cNvPr id="22" name="TextBox 21"/>
          <p:cNvSpPr txBox="1"/>
          <p:nvPr/>
        </p:nvSpPr>
        <p:spPr>
          <a:xfrm>
            <a:off x="6537960" y="1965960"/>
            <a:ext cx="5303520" cy="777240"/>
          </a:xfrm>
          <a:prstGeom prst="rect">
            <a:avLst/>
          </a:prstGeom>
          <a:noFill/>
        </p:spPr>
        <p:txBody>
          <a:bodyPr wrap="square">
            <a:spAutoFit/>
          </a:bodyPr>
          <a:lstStyle/>
          <a:p>
            <a:pPr algn="l"/>
            <a:r>
              <a:rPr sz="1300" b="0" i="0">
                <a:solidFill>
                  <a:srgbClr val="64748B"/>
                </a:solidFill>
                <a:latin typeface="Calibri"/>
              </a:rPr>
              <a:t>--variables · var() · theming with :root</a:t>
            </a:r>
          </a:p>
        </p:txBody>
      </p:sp>
      <p:sp>
        <p:nvSpPr>
          <p:cNvPr id="23" name="Rectangle 22"/>
          <p:cNvSpPr/>
          <p:nvPr/>
        </p:nvSpPr>
        <p:spPr>
          <a:xfrm>
            <a:off x="6309360" y="3017520"/>
            <a:ext cx="5669280" cy="1600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309360" y="3017520"/>
            <a:ext cx="109728" cy="16002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537960" y="3182112"/>
            <a:ext cx="5303520" cy="502920"/>
          </a:xfrm>
          <a:prstGeom prst="rect">
            <a:avLst/>
          </a:prstGeom>
          <a:noFill/>
        </p:spPr>
        <p:txBody>
          <a:bodyPr wrap="square">
            <a:spAutoFit/>
          </a:bodyPr>
          <a:lstStyle/>
          <a:p>
            <a:pPr algn="l"/>
            <a:r>
              <a:rPr sz="1700" b="1" i="0">
                <a:solidFill>
                  <a:srgbClr val="FFFFFF"/>
                </a:solidFill>
                <a:latin typeface="Calibri"/>
              </a:rPr>
              <a:t>Media Queries</a:t>
            </a:r>
          </a:p>
        </p:txBody>
      </p:sp>
      <p:sp>
        <p:nvSpPr>
          <p:cNvPr id="26" name="TextBox 25"/>
          <p:cNvSpPr txBox="1"/>
          <p:nvPr/>
        </p:nvSpPr>
        <p:spPr>
          <a:xfrm>
            <a:off x="6537960" y="3703320"/>
            <a:ext cx="5303520" cy="777240"/>
          </a:xfrm>
          <a:prstGeom prst="rect">
            <a:avLst/>
          </a:prstGeom>
          <a:noFill/>
        </p:spPr>
        <p:txBody>
          <a:bodyPr wrap="square">
            <a:spAutoFit/>
          </a:bodyPr>
          <a:lstStyle/>
          <a:p>
            <a:pPr algn="l"/>
            <a:r>
              <a:rPr sz="1300" b="0" i="0">
                <a:solidFill>
                  <a:srgbClr val="64748B"/>
                </a:solidFill>
                <a:latin typeface="Calibri"/>
              </a:rPr>
              <a:t>@media · responsive breakpoints · mobile-first</a:t>
            </a:r>
          </a:p>
        </p:txBody>
      </p:sp>
      <p:sp>
        <p:nvSpPr>
          <p:cNvPr id="27" name="Rectangle 26"/>
          <p:cNvSpPr/>
          <p:nvPr/>
        </p:nvSpPr>
        <p:spPr>
          <a:xfrm>
            <a:off x="6309360" y="4754880"/>
            <a:ext cx="5669280" cy="1600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309360" y="4754880"/>
            <a:ext cx="109728" cy="160020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537960" y="4919472"/>
            <a:ext cx="5303520" cy="502920"/>
          </a:xfrm>
          <a:prstGeom prst="rect">
            <a:avLst/>
          </a:prstGeom>
          <a:noFill/>
        </p:spPr>
        <p:txBody>
          <a:bodyPr wrap="square">
            <a:spAutoFit/>
          </a:bodyPr>
          <a:lstStyle/>
          <a:p>
            <a:pPr algn="l"/>
            <a:r>
              <a:rPr sz="1700" b="1" i="0">
                <a:solidFill>
                  <a:srgbClr val="FFFFFF"/>
                </a:solidFill>
                <a:latin typeface="Calibri"/>
              </a:rPr>
              <a:t>CSS Grid Introduction</a:t>
            </a:r>
          </a:p>
        </p:txBody>
      </p:sp>
      <p:sp>
        <p:nvSpPr>
          <p:cNvPr id="30" name="TextBox 29"/>
          <p:cNvSpPr txBox="1"/>
          <p:nvPr/>
        </p:nvSpPr>
        <p:spPr>
          <a:xfrm>
            <a:off x="6537960" y="5440680"/>
            <a:ext cx="5303520" cy="777240"/>
          </a:xfrm>
          <a:prstGeom prst="rect">
            <a:avLst/>
          </a:prstGeom>
          <a:noFill/>
        </p:spPr>
        <p:txBody>
          <a:bodyPr wrap="square">
            <a:spAutoFit/>
          </a:bodyPr>
          <a:lstStyle/>
          <a:p>
            <a:pPr algn="l"/>
            <a:r>
              <a:rPr sz="1300" b="0" i="0">
                <a:solidFill>
                  <a:srgbClr val="64748B"/>
                </a:solidFill>
                <a:latin typeface="Calibri"/>
              </a:rPr>
              <a:t>display:grid · template-columns · gap</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9628632" cy="685800"/>
          </a:xfrm>
          <a:prstGeom prst="rect">
            <a:avLst/>
          </a:prstGeom>
          <a:noFill/>
        </p:spPr>
        <p:txBody>
          <a:bodyPr wrap="square">
            <a:spAutoFit/>
          </a:bodyPr>
          <a:lstStyle/>
          <a:p>
            <a:pPr algn="l"/>
            <a:r>
              <a:rPr sz="3200" b="1" i="0">
                <a:solidFill>
                  <a:srgbClr val="FFFFFF"/>
                </a:solidFill>
                <a:latin typeface="Calibri"/>
              </a:rPr>
              <a:t>CSS Position</a:t>
            </a:r>
          </a:p>
        </p:txBody>
      </p:sp>
      <p:sp>
        <p:nvSpPr>
          <p:cNvPr id="4" name="TextBox 3"/>
          <p:cNvSpPr txBox="1"/>
          <p:nvPr/>
        </p:nvSpPr>
        <p:spPr>
          <a:xfrm>
            <a:off x="365760" y="685800"/>
            <a:ext cx="9628632" cy="347472"/>
          </a:xfrm>
          <a:prstGeom prst="rect">
            <a:avLst/>
          </a:prstGeom>
          <a:noFill/>
        </p:spPr>
        <p:txBody>
          <a:bodyPr wrap="square">
            <a:spAutoFit/>
          </a:bodyPr>
          <a:lstStyle/>
          <a:p>
            <a:pPr algn="l"/>
            <a:r>
              <a:rPr sz="1500" b="0" i="0">
                <a:solidFill>
                  <a:srgbClr val="F0FDFA"/>
                </a:solidFill>
                <a:latin typeface="Calibri"/>
              </a:rPr>
              <a:t>Five values that control how an element is placed in the layout</a:t>
            </a:r>
          </a:p>
        </p:txBody>
      </p:sp>
      <p:sp>
        <p:nvSpPr>
          <p:cNvPr id="5" name="Rectangle 4"/>
          <p:cNvSpPr/>
          <p:nvPr/>
        </p:nvSpPr>
        <p:spPr>
          <a:xfrm>
            <a:off x="10085832" y="45720"/>
            <a:ext cx="2011680" cy="475488"/>
          </a:xfrm>
          <a:prstGeom prst="rect">
            <a:avLst/>
          </a:prstGeom>
          <a:solidFill>
            <a:srgbClr val="064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85832" y="109728"/>
            <a:ext cx="2011680" cy="365760"/>
          </a:xfrm>
          <a:prstGeom prst="rect">
            <a:avLst/>
          </a:prstGeom>
          <a:noFill/>
        </p:spPr>
        <p:txBody>
          <a:bodyPr wrap="square">
            <a:spAutoFit/>
          </a:bodyPr>
          <a:lstStyle/>
          <a:p>
            <a:pPr algn="ctr"/>
            <a:r>
              <a:rPr sz="1000" b="1" i="0">
                <a:solidFill>
                  <a:srgbClr val="14B8A6"/>
                </a:solidFill>
                <a:latin typeface="Calibri"/>
              </a:rPr>
              <a:t>WEEK 3 · FRIDAY</a:t>
            </a:r>
          </a:p>
        </p:txBody>
      </p:sp>
      <p:sp>
        <p:nvSpPr>
          <p:cNvPr id="7" name="Rectangle 6"/>
          <p:cNvSpPr/>
          <p:nvPr/>
        </p:nvSpPr>
        <p:spPr>
          <a:xfrm>
            <a:off x="274320" y="1188720"/>
            <a:ext cx="2194560" cy="50292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84048" y="1207008"/>
            <a:ext cx="2194560" cy="256032"/>
          </a:xfrm>
          <a:prstGeom prst="rect">
            <a:avLst/>
          </a:prstGeom>
          <a:noFill/>
        </p:spPr>
        <p:txBody>
          <a:bodyPr wrap="square">
            <a:spAutoFit/>
          </a:bodyPr>
          <a:lstStyle/>
          <a:p>
            <a:pPr algn="l"/>
            <a:r>
              <a:rPr sz="1000" b="0" i="0">
                <a:solidFill>
                  <a:srgbClr val="FFFFFF"/>
                </a:solidFill>
                <a:latin typeface="Consolas"/>
              </a:rPr>
              <a:t>position:</a:t>
            </a:r>
          </a:p>
        </p:txBody>
      </p:sp>
      <p:sp>
        <p:nvSpPr>
          <p:cNvPr id="9" name="TextBox 8"/>
          <p:cNvSpPr txBox="1"/>
          <p:nvPr/>
        </p:nvSpPr>
        <p:spPr>
          <a:xfrm>
            <a:off x="384048" y="1426464"/>
            <a:ext cx="2194560" cy="274320"/>
          </a:xfrm>
          <a:prstGeom prst="rect">
            <a:avLst/>
          </a:prstGeom>
          <a:noFill/>
        </p:spPr>
        <p:txBody>
          <a:bodyPr wrap="square">
            <a:spAutoFit/>
          </a:bodyPr>
          <a:lstStyle/>
          <a:p>
            <a:pPr algn="l"/>
            <a:r>
              <a:rPr sz="1600" b="1" i="0">
                <a:solidFill>
                  <a:srgbClr val="FFFFFF"/>
                </a:solidFill>
                <a:latin typeface="Consolas"/>
              </a:rPr>
              <a:t>static</a:t>
            </a:r>
          </a:p>
        </p:txBody>
      </p:sp>
      <p:sp>
        <p:nvSpPr>
          <p:cNvPr id="10" name="Rectangle 9"/>
          <p:cNvSpPr/>
          <p:nvPr/>
        </p:nvSpPr>
        <p:spPr>
          <a:xfrm>
            <a:off x="274320" y="1737360"/>
            <a:ext cx="2194560" cy="34747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11480" y="1874519"/>
            <a:ext cx="1920240" cy="3108960"/>
          </a:xfrm>
          <a:prstGeom prst="rect">
            <a:avLst/>
          </a:prstGeom>
          <a:noFill/>
        </p:spPr>
        <p:txBody>
          <a:bodyPr wrap="square">
            <a:spAutoFit/>
          </a:bodyPr>
          <a:lstStyle/>
          <a:p>
            <a:pPr algn="l"/>
            <a:r>
              <a:rPr sz="1400" b="0" i="0">
                <a:solidFill>
                  <a:srgbClr val="FFFFFF"/>
                </a:solidFill>
                <a:latin typeface="Calibri"/>
              </a:rPr>
              <a:t>Default — normal flow
No top/left/right/bottom effect</a:t>
            </a:r>
          </a:p>
        </p:txBody>
      </p:sp>
      <p:sp>
        <p:nvSpPr>
          <p:cNvPr id="12" name="Rectangle 11"/>
          <p:cNvSpPr/>
          <p:nvPr/>
        </p:nvSpPr>
        <p:spPr>
          <a:xfrm>
            <a:off x="2606040" y="1188720"/>
            <a:ext cx="2194560" cy="50292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715768" y="1207008"/>
            <a:ext cx="2194560" cy="256032"/>
          </a:xfrm>
          <a:prstGeom prst="rect">
            <a:avLst/>
          </a:prstGeom>
          <a:noFill/>
        </p:spPr>
        <p:txBody>
          <a:bodyPr wrap="square">
            <a:spAutoFit/>
          </a:bodyPr>
          <a:lstStyle/>
          <a:p>
            <a:pPr algn="l"/>
            <a:r>
              <a:rPr sz="1000" b="0" i="0">
                <a:solidFill>
                  <a:srgbClr val="FFFFFF"/>
                </a:solidFill>
                <a:latin typeface="Consolas"/>
              </a:rPr>
              <a:t>position:</a:t>
            </a:r>
          </a:p>
        </p:txBody>
      </p:sp>
      <p:sp>
        <p:nvSpPr>
          <p:cNvPr id="14" name="TextBox 13"/>
          <p:cNvSpPr txBox="1"/>
          <p:nvPr/>
        </p:nvSpPr>
        <p:spPr>
          <a:xfrm>
            <a:off x="2715768" y="1426464"/>
            <a:ext cx="2194560" cy="274320"/>
          </a:xfrm>
          <a:prstGeom prst="rect">
            <a:avLst/>
          </a:prstGeom>
          <a:noFill/>
        </p:spPr>
        <p:txBody>
          <a:bodyPr wrap="square">
            <a:spAutoFit/>
          </a:bodyPr>
          <a:lstStyle/>
          <a:p>
            <a:pPr algn="l"/>
            <a:r>
              <a:rPr sz="1600" b="1" i="0">
                <a:solidFill>
                  <a:srgbClr val="FFFFFF"/>
                </a:solidFill>
                <a:latin typeface="Consolas"/>
              </a:rPr>
              <a:t>relative</a:t>
            </a:r>
          </a:p>
        </p:txBody>
      </p:sp>
      <p:sp>
        <p:nvSpPr>
          <p:cNvPr id="15" name="Rectangle 14"/>
          <p:cNvSpPr/>
          <p:nvPr/>
        </p:nvSpPr>
        <p:spPr>
          <a:xfrm>
            <a:off x="2606040" y="1737360"/>
            <a:ext cx="2194560" cy="34747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743200" y="1874519"/>
            <a:ext cx="1920240" cy="3108960"/>
          </a:xfrm>
          <a:prstGeom prst="rect">
            <a:avLst/>
          </a:prstGeom>
          <a:noFill/>
        </p:spPr>
        <p:txBody>
          <a:bodyPr wrap="square">
            <a:spAutoFit/>
          </a:bodyPr>
          <a:lstStyle/>
          <a:p>
            <a:pPr algn="l"/>
            <a:r>
              <a:rPr sz="1400" b="0" i="0">
                <a:solidFill>
                  <a:srgbClr val="FFFFFF"/>
                </a:solidFill>
                <a:latin typeface="Calibri"/>
              </a:rPr>
              <a:t>Normal flow THEN offset
from its own original spot</a:t>
            </a:r>
          </a:p>
        </p:txBody>
      </p:sp>
      <p:sp>
        <p:nvSpPr>
          <p:cNvPr id="17" name="Rectangle 16"/>
          <p:cNvSpPr/>
          <p:nvPr/>
        </p:nvSpPr>
        <p:spPr>
          <a:xfrm>
            <a:off x="4937760" y="1188720"/>
            <a:ext cx="2194560" cy="5029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047488" y="1207008"/>
            <a:ext cx="2194560" cy="256032"/>
          </a:xfrm>
          <a:prstGeom prst="rect">
            <a:avLst/>
          </a:prstGeom>
          <a:noFill/>
        </p:spPr>
        <p:txBody>
          <a:bodyPr wrap="square">
            <a:spAutoFit/>
          </a:bodyPr>
          <a:lstStyle/>
          <a:p>
            <a:pPr algn="l"/>
            <a:r>
              <a:rPr sz="1000" b="0" i="0">
                <a:solidFill>
                  <a:srgbClr val="FFFFFF"/>
                </a:solidFill>
                <a:latin typeface="Consolas"/>
              </a:rPr>
              <a:t>position:</a:t>
            </a:r>
          </a:p>
        </p:txBody>
      </p:sp>
      <p:sp>
        <p:nvSpPr>
          <p:cNvPr id="19" name="TextBox 18"/>
          <p:cNvSpPr txBox="1"/>
          <p:nvPr/>
        </p:nvSpPr>
        <p:spPr>
          <a:xfrm>
            <a:off x="5047488" y="1426464"/>
            <a:ext cx="2194560" cy="274320"/>
          </a:xfrm>
          <a:prstGeom prst="rect">
            <a:avLst/>
          </a:prstGeom>
          <a:noFill/>
        </p:spPr>
        <p:txBody>
          <a:bodyPr wrap="square">
            <a:spAutoFit/>
          </a:bodyPr>
          <a:lstStyle/>
          <a:p>
            <a:pPr algn="l"/>
            <a:r>
              <a:rPr sz="1600" b="1" i="0">
                <a:solidFill>
                  <a:srgbClr val="FFFFFF"/>
                </a:solidFill>
                <a:latin typeface="Consolas"/>
              </a:rPr>
              <a:t>absolute</a:t>
            </a:r>
          </a:p>
        </p:txBody>
      </p:sp>
      <p:sp>
        <p:nvSpPr>
          <p:cNvPr id="20" name="Rectangle 19"/>
          <p:cNvSpPr/>
          <p:nvPr/>
        </p:nvSpPr>
        <p:spPr>
          <a:xfrm>
            <a:off x="4937760" y="1737360"/>
            <a:ext cx="2194560" cy="34747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74920" y="1874519"/>
            <a:ext cx="1920240" cy="3108960"/>
          </a:xfrm>
          <a:prstGeom prst="rect">
            <a:avLst/>
          </a:prstGeom>
          <a:noFill/>
        </p:spPr>
        <p:txBody>
          <a:bodyPr wrap="square">
            <a:spAutoFit/>
          </a:bodyPr>
          <a:lstStyle/>
          <a:p>
            <a:pPr algn="l"/>
            <a:r>
              <a:rPr sz="1400" b="0" i="0">
                <a:solidFill>
                  <a:srgbClr val="FFFFFF"/>
                </a:solidFill>
                <a:latin typeface="Calibri"/>
              </a:rPr>
              <a:t>Removed from flow
Anchored to nearest positioned parent</a:t>
            </a:r>
          </a:p>
        </p:txBody>
      </p:sp>
      <p:sp>
        <p:nvSpPr>
          <p:cNvPr id="22" name="Rectangle 21"/>
          <p:cNvSpPr/>
          <p:nvPr/>
        </p:nvSpPr>
        <p:spPr>
          <a:xfrm>
            <a:off x="7269480" y="1188720"/>
            <a:ext cx="2194560" cy="50292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79208" y="1207008"/>
            <a:ext cx="2194560" cy="256032"/>
          </a:xfrm>
          <a:prstGeom prst="rect">
            <a:avLst/>
          </a:prstGeom>
          <a:noFill/>
        </p:spPr>
        <p:txBody>
          <a:bodyPr wrap="square">
            <a:spAutoFit/>
          </a:bodyPr>
          <a:lstStyle/>
          <a:p>
            <a:pPr algn="l"/>
            <a:r>
              <a:rPr sz="1000" b="0" i="0">
                <a:solidFill>
                  <a:srgbClr val="FFFFFF"/>
                </a:solidFill>
                <a:latin typeface="Consolas"/>
              </a:rPr>
              <a:t>position:</a:t>
            </a:r>
          </a:p>
        </p:txBody>
      </p:sp>
      <p:sp>
        <p:nvSpPr>
          <p:cNvPr id="24" name="TextBox 23"/>
          <p:cNvSpPr txBox="1"/>
          <p:nvPr/>
        </p:nvSpPr>
        <p:spPr>
          <a:xfrm>
            <a:off x="7379208" y="1426464"/>
            <a:ext cx="2194560" cy="274320"/>
          </a:xfrm>
          <a:prstGeom prst="rect">
            <a:avLst/>
          </a:prstGeom>
          <a:noFill/>
        </p:spPr>
        <p:txBody>
          <a:bodyPr wrap="square">
            <a:spAutoFit/>
          </a:bodyPr>
          <a:lstStyle/>
          <a:p>
            <a:pPr algn="l"/>
            <a:r>
              <a:rPr sz="1600" b="1" i="0">
                <a:solidFill>
                  <a:srgbClr val="FFFFFF"/>
                </a:solidFill>
                <a:latin typeface="Consolas"/>
              </a:rPr>
              <a:t>fixed</a:t>
            </a:r>
          </a:p>
        </p:txBody>
      </p:sp>
      <p:sp>
        <p:nvSpPr>
          <p:cNvPr id="25" name="Rectangle 24"/>
          <p:cNvSpPr/>
          <p:nvPr/>
        </p:nvSpPr>
        <p:spPr>
          <a:xfrm>
            <a:off x="7269480" y="1737360"/>
            <a:ext cx="2194560" cy="34747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406640" y="1874519"/>
            <a:ext cx="1920240" cy="3108960"/>
          </a:xfrm>
          <a:prstGeom prst="rect">
            <a:avLst/>
          </a:prstGeom>
          <a:noFill/>
        </p:spPr>
        <p:txBody>
          <a:bodyPr wrap="square">
            <a:spAutoFit/>
          </a:bodyPr>
          <a:lstStyle/>
          <a:p>
            <a:pPr algn="l"/>
            <a:r>
              <a:rPr sz="1400" b="0" i="0">
                <a:solidFill>
                  <a:srgbClr val="FFFFFF"/>
                </a:solidFill>
                <a:latin typeface="Calibri"/>
              </a:rPr>
              <a:t>Removed from flow
Stays fixed to the VIEWPORT</a:t>
            </a:r>
          </a:p>
        </p:txBody>
      </p:sp>
      <p:sp>
        <p:nvSpPr>
          <p:cNvPr id="27" name="Rectangle 26"/>
          <p:cNvSpPr/>
          <p:nvPr/>
        </p:nvSpPr>
        <p:spPr>
          <a:xfrm>
            <a:off x="9601200" y="1188720"/>
            <a:ext cx="2194560" cy="50292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710928" y="1207008"/>
            <a:ext cx="2194560" cy="256032"/>
          </a:xfrm>
          <a:prstGeom prst="rect">
            <a:avLst/>
          </a:prstGeom>
          <a:noFill/>
        </p:spPr>
        <p:txBody>
          <a:bodyPr wrap="square">
            <a:spAutoFit/>
          </a:bodyPr>
          <a:lstStyle/>
          <a:p>
            <a:pPr algn="l"/>
            <a:r>
              <a:rPr sz="1000" b="0" i="0">
                <a:solidFill>
                  <a:srgbClr val="FFFFFF"/>
                </a:solidFill>
                <a:latin typeface="Consolas"/>
              </a:rPr>
              <a:t>position:</a:t>
            </a:r>
          </a:p>
        </p:txBody>
      </p:sp>
      <p:sp>
        <p:nvSpPr>
          <p:cNvPr id="29" name="TextBox 28"/>
          <p:cNvSpPr txBox="1"/>
          <p:nvPr/>
        </p:nvSpPr>
        <p:spPr>
          <a:xfrm>
            <a:off x="9710928" y="1426464"/>
            <a:ext cx="2194560" cy="274320"/>
          </a:xfrm>
          <a:prstGeom prst="rect">
            <a:avLst/>
          </a:prstGeom>
          <a:noFill/>
        </p:spPr>
        <p:txBody>
          <a:bodyPr wrap="square">
            <a:spAutoFit/>
          </a:bodyPr>
          <a:lstStyle/>
          <a:p>
            <a:pPr algn="l"/>
            <a:r>
              <a:rPr sz="1600" b="1" i="0">
                <a:solidFill>
                  <a:srgbClr val="FFFFFF"/>
                </a:solidFill>
                <a:latin typeface="Consolas"/>
              </a:rPr>
              <a:t>sticky</a:t>
            </a:r>
          </a:p>
        </p:txBody>
      </p:sp>
      <p:sp>
        <p:nvSpPr>
          <p:cNvPr id="30" name="Rectangle 29"/>
          <p:cNvSpPr/>
          <p:nvPr/>
        </p:nvSpPr>
        <p:spPr>
          <a:xfrm>
            <a:off x="9601200" y="1737360"/>
            <a:ext cx="2194560" cy="34747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738360" y="1874519"/>
            <a:ext cx="1920240" cy="3108960"/>
          </a:xfrm>
          <a:prstGeom prst="rect">
            <a:avLst/>
          </a:prstGeom>
          <a:noFill/>
        </p:spPr>
        <p:txBody>
          <a:bodyPr wrap="square">
            <a:spAutoFit/>
          </a:bodyPr>
          <a:lstStyle/>
          <a:p>
            <a:pPr algn="l"/>
            <a:r>
              <a:rPr sz="1400" b="0" i="0">
                <a:solidFill>
                  <a:srgbClr val="FFFFFF"/>
                </a:solidFill>
                <a:latin typeface="Calibri"/>
              </a:rPr>
              <a:t>Relative until scroll
threshold → then fixed</a:t>
            </a:r>
          </a:p>
        </p:txBody>
      </p:sp>
      <p:sp>
        <p:nvSpPr>
          <p:cNvPr id="32" name="Rectangle 31"/>
          <p:cNvSpPr/>
          <p:nvPr/>
        </p:nvSpPr>
        <p:spPr>
          <a:xfrm>
            <a:off x="274320" y="5303520"/>
            <a:ext cx="11640312" cy="13716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274320" y="5303520"/>
            <a:ext cx="64008" cy="13716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02336" y="5358384"/>
            <a:ext cx="11640312" cy="292608"/>
          </a:xfrm>
          <a:prstGeom prst="rect">
            <a:avLst/>
          </a:prstGeom>
          <a:noFill/>
        </p:spPr>
        <p:txBody>
          <a:bodyPr wrap="square">
            <a:spAutoFit/>
          </a:bodyPr>
          <a:lstStyle/>
          <a:p>
            <a:pPr algn="l"/>
            <a:r>
              <a:rPr sz="900" b="0" i="0">
                <a:solidFill>
                  <a:srgbClr val="64748B"/>
                </a:solidFill>
                <a:latin typeface="Consolas"/>
              </a:rPr>
              <a:t>CSS</a:t>
            </a:r>
          </a:p>
        </p:txBody>
      </p:sp>
      <p:sp>
        <p:nvSpPr>
          <p:cNvPr id="35" name="TextBox 34"/>
          <p:cNvSpPr txBox="1"/>
          <p:nvPr/>
        </p:nvSpPr>
        <p:spPr>
          <a:xfrm>
            <a:off x="402336" y="5596128"/>
            <a:ext cx="11384280" cy="1005840"/>
          </a:xfrm>
          <a:prstGeom prst="rect">
            <a:avLst/>
          </a:prstGeom>
          <a:noFill/>
        </p:spPr>
        <p:txBody>
          <a:bodyPr wrap="none">
            <a:spAutoFit/>
          </a:bodyPr>
          <a:lstStyle/>
          <a:p>
            <a:pPr algn="l"/>
            <a:r>
              <a:rPr sz="1300" b="0">
                <a:solidFill>
                  <a:srgbClr val="14B8A6"/>
                </a:solidFill>
                <a:latin typeface="Consolas"/>
              </a:rPr>
              <a:t>/* position affects HOW coordinates apply */</a:t>
            </a:r>
          </a:p>
          <a:p>
            <a:pPr algn="l"/>
            <a:r>
              <a:rPr sz="1300" b="0">
                <a:solidFill>
                  <a:srgbClr val="14B8A6"/>
                </a:solidFill>
                <a:latin typeface="Consolas"/>
              </a:rPr>
              <a:t>.elem {</a:t>
            </a:r>
          </a:p>
          <a:p>
            <a:pPr algn="l"/>
            <a:r>
              <a:rPr sz="1300" b="0">
                <a:solidFill>
                  <a:srgbClr val="14B8A6"/>
                </a:solidFill>
                <a:latin typeface="Consolas"/>
              </a:rPr>
              <a:t>  position: absolute;  /* removes from flow */</a:t>
            </a:r>
          </a:p>
          <a:p>
            <a:pPr algn="l"/>
            <a:r>
              <a:rPr sz="1300" b="0">
                <a:solidFill>
                  <a:srgbClr val="14B8A6"/>
                </a:solidFill>
                <a:latin typeface="Consolas"/>
              </a:rPr>
              <a:t>  top:    20px;</a:t>
            </a:r>
          </a:p>
          <a:p>
            <a:pPr algn="l"/>
            <a:r>
              <a:rPr sz="1300" b="0">
                <a:solidFill>
                  <a:srgbClr val="14B8A6"/>
                </a:solidFill>
                <a:latin typeface="Consolas"/>
              </a:rPr>
              <a:t>  right:  20px;</a:t>
            </a:r>
          </a:p>
          <a:p>
            <a:pPr algn="l"/>
            <a:r>
              <a:rPr sz="1300" b="0">
                <a:solidFill>
                  <a:srgbClr val="14B8A6"/>
                </a:solidFill>
                <a:latin typeface="Consolas"/>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9628632" cy="685800"/>
          </a:xfrm>
          <a:prstGeom prst="rect">
            <a:avLst/>
          </a:prstGeom>
          <a:noFill/>
        </p:spPr>
        <p:txBody>
          <a:bodyPr wrap="square">
            <a:spAutoFit/>
          </a:bodyPr>
          <a:lstStyle/>
          <a:p>
            <a:pPr algn="l"/>
            <a:r>
              <a:rPr sz="3200" b="1" i="0">
                <a:solidFill>
                  <a:srgbClr val="FFFFFF"/>
                </a:solidFill>
                <a:latin typeface="Calibri"/>
              </a:rPr>
              <a:t>absolute vs fixed — The Key Difference</a:t>
            </a:r>
          </a:p>
        </p:txBody>
      </p:sp>
      <p:sp>
        <p:nvSpPr>
          <p:cNvPr id="4" name="TextBox 3"/>
          <p:cNvSpPr txBox="1"/>
          <p:nvPr/>
        </p:nvSpPr>
        <p:spPr>
          <a:xfrm>
            <a:off x="365760" y="685800"/>
            <a:ext cx="9628632" cy="347472"/>
          </a:xfrm>
          <a:prstGeom prst="rect">
            <a:avLst/>
          </a:prstGeom>
          <a:noFill/>
        </p:spPr>
        <p:txBody>
          <a:bodyPr wrap="square">
            <a:spAutoFit/>
          </a:bodyPr>
          <a:lstStyle/>
          <a:p>
            <a:pPr algn="l"/>
            <a:r>
              <a:rPr sz="1500" b="0" i="0">
                <a:solidFill>
                  <a:srgbClr val="F0FDFA"/>
                </a:solidFill>
                <a:latin typeface="Calibri"/>
              </a:rPr>
              <a:t>One anchors to a parent, the other to the browser window</a:t>
            </a:r>
          </a:p>
        </p:txBody>
      </p:sp>
      <p:sp>
        <p:nvSpPr>
          <p:cNvPr id="5" name="Rectangle 4"/>
          <p:cNvSpPr/>
          <p:nvPr/>
        </p:nvSpPr>
        <p:spPr>
          <a:xfrm>
            <a:off x="10085832" y="45720"/>
            <a:ext cx="2011680" cy="475488"/>
          </a:xfrm>
          <a:prstGeom prst="rect">
            <a:avLst/>
          </a:prstGeom>
          <a:solidFill>
            <a:srgbClr val="064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85832" y="109728"/>
            <a:ext cx="2011680" cy="365760"/>
          </a:xfrm>
          <a:prstGeom prst="rect">
            <a:avLst/>
          </a:prstGeom>
          <a:noFill/>
        </p:spPr>
        <p:txBody>
          <a:bodyPr wrap="square">
            <a:spAutoFit/>
          </a:bodyPr>
          <a:lstStyle/>
          <a:p>
            <a:pPr algn="ctr"/>
            <a:r>
              <a:rPr sz="1000" b="1" i="0">
                <a:solidFill>
                  <a:srgbClr val="14B8A6"/>
                </a:solidFill>
                <a:latin typeface="Calibri"/>
              </a:rPr>
              <a:t>WEEK 3 · FRIDAY</a:t>
            </a:r>
          </a:p>
        </p:txBody>
      </p:sp>
      <p:sp>
        <p:nvSpPr>
          <p:cNvPr id="7" name="Rectangle 6"/>
          <p:cNvSpPr/>
          <p:nvPr/>
        </p:nvSpPr>
        <p:spPr>
          <a:xfrm>
            <a:off x="274320" y="1188720"/>
            <a:ext cx="5760720" cy="53949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188720"/>
            <a:ext cx="109728" cy="53949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325880"/>
            <a:ext cx="5760720" cy="502920"/>
          </a:xfrm>
          <a:prstGeom prst="rect">
            <a:avLst/>
          </a:prstGeom>
          <a:noFill/>
        </p:spPr>
        <p:txBody>
          <a:bodyPr wrap="square">
            <a:spAutoFit/>
          </a:bodyPr>
          <a:lstStyle/>
          <a:p>
            <a:pPr algn="l"/>
            <a:r>
              <a:rPr sz="1800" b="1" i="0">
                <a:solidFill>
                  <a:srgbClr val="F59E0B"/>
                </a:solidFill>
                <a:latin typeface="Calibri"/>
              </a:rPr>
              <a:t>position: absolute</a:t>
            </a:r>
          </a:p>
        </p:txBody>
      </p:sp>
      <p:sp>
        <p:nvSpPr>
          <p:cNvPr id="10" name="TextBox 9"/>
          <p:cNvSpPr txBox="1"/>
          <p:nvPr/>
        </p:nvSpPr>
        <p:spPr>
          <a:xfrm>
            <a:off x="502920" y="1920240"/>
            <a:ext cx="5394960" cy="2377440"/>
          </a:xfrm>
          <a:prstGeom prst="rect">
            <a:avLst/>
          </a:prstGeom>
          <a:noFill/>
        </p:spPr>
        <p:txBody>
          <a:bodyPr wrap="square">
            <a:spAutoFit/>
          </a:bodyPr>
          <a:lstStyle/>
          <a:p>
            <a:pPr algn="l"/>
            <a:r>
              <a:rPr sz="1400" b="0" i="0">
                <a:solidFill>
                  <a:srgbClr val="FFFFFF"/>
                </a:solidFill>
                <a:latin typeface="Calibri"/>
              </a:rPr>
              <a:t>• Removed from normal flow
• Positioned relative to nearest POSITIONED ancestor
  (parent with position ≠ static)
• If no positioned ancestor → positions relative to &lt;body&gt;
• SCROLLS with the page</a:t>
            </a:r>
          </a:p>
        </p:txBody>
      </p:sp>
      <p:sp>
        <p:nvSpPr>
          <p:cNvPr id="11" name="Rectangle 10"/>
          <p:cNvSpPr/>
          <p:nvPr/>
        </p:nvSpPr>
        <p:spPr>
          <a:xfrm>
            <a:off x="365760" y="4434840"/>
            <a:ext cx="5577840" cy="19659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65760" y="4434840"/>
            <a:ext cx="64008" cy="19659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93776" y="4489704"/>
            <a:ext cx="5577840" cy="292608"/>
          </a:xfrm>
          <a:prstGeom prst="rect">
            <a:avLst/>
          </a:prstGeom>
          <a:noFill/>
        </p:spPr>
        <p:txBody>
          <a:bodyPr wrap="square">
            <a:spAutoFit/>
          </a:bodyPr>
          <a:lstStyle/>
          <a:p>
            <a:pPr algn="l"/>
            <a:r>
              <a:rPr sz="900" b="0" i="0">
                <a:solidFill>
                  <a:srgbClr val="64748B"/>
                </a:solidFill>
                <a:latin typeface="Consolas"/>
              </a:rPr>
              <a:t>CSS</a:t>
            </a:r>
          </a:p>
        </p:txBody>
      </p:sp>
      <p:sp>
        <p:nvSpPr>
          <p:cNvPr id="14" name="TextBox 13"/>
          <p:cNvSpPr txBox="1"/>
          <p:nvPr/>
        </p:nvSpPr>
        <p:spPr>
          <a:xfrm>
            <a:off x="493776" y="4727448"/>
            <a:ext cx="5321808" cy="1600200"/>
          </a:xfrm>
          <a:prstGeom prst="rect">
            <a:avLst/>
          </a:prstGeom>
          <a:noFill/>
        </p:spPr>
        <p:txBody>
          <a:bodyPr wrap="none">
            <a:spAutoFit/>
          </a:bodyPr>
          <a:lstStyle/>
          <a:p>
            <a:pPr algn="l"/>
            <a:r>
              <a:rPr sz="1300" b="0">
                <a:solidFill>
                  <a:srgbClr val="14B8A6"/>
                </a:solidFill>
                <a:latin typeface="Consolas"/>
              </a:rPr>
              <a:t>.parent { position: relative; }</a:t>
            </a:r>
          </a:p>
          <a:p>
            <a:pPr algn="l"/>
            <a:r>
              <a:rPr sz="1300" b="0">
                <a:solidFill>
                  <a:srgbClr val="14B8A6"/>
                </a:solidFill>
                <a:latin typeface="Consolas"/>
              </a:rPr>
              <a:t>.tooltip { position: absolute;</a:t>
            </a:r>
          </a:p>
          <a:p>
            <a:pPr algn="l"/>
            <a:r>
              <a:rPr sz="1300" b="0">
                <a:solidFill>
                  <a:srgbClr val="14B8A6"/>
                </a:solidFill>
                <a:latin typeface="Consolas"/>
              </a:rPr>
              <a:t>  top: 0; right: 0; }</a:t>
            </a:r>
          </a:p>
        </p:txBody>
      </p:sp>
      <p:sp>
        <p:nvSpPr>
          <p:cNvPr id="15" name="Rectangle 14"/>
          <p:cNvSpPr/>
          <p:nvPr/>
        </p:nvSpPr>
        <p:spPr>
          <a:xfrm>
            <a:off x="6153912" y="1188720"/>
            <a:ext cx="5760720" cy="53949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153912" y="1188720"/>
            <a:ext cx="109728" cy="539496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82512" y="1325880"/>
            <a:ext cx="5760720" cy="502920"/>
          </a:xfrm>
          <a:prstGeom prst="rect">
            <a:avLst/>
          </a:prstGeom>
          <a:noFill/>
        </p:spPr>
        <p:txBody>
          <a:bodyPr wrap="square">
            <a:spAutoFit/>
          </a:bodyPr>
          <a:lstStyle/>
          <a:p>
            <a:pPr algn="l"/>
            <a:r>
              <a:rPr sz="1800" b="1" i="0">
                <a:solidFill>
                  <a:srgbClr val="F43F5E"/>
                </a:solidFill>
                <a:latin typeface="Calibri"/>
              </a:rPr>
              <a:t>position: fixed</a:t>
            </a:r>
          </a:p>
        </p:txBody>
      </p:sp>
      <p:sp>
        <p:nvSpPr>
          <p:cNvPr id="18" name="TextBox 17"/>
          <p:cNvSpPr txBox="1"/>
          <p:nvPr/>
        </p:nvSpPr>
        <p:spPr>
          <a:xfrm>
            <a:off x="6382512" y="1920240"/>
            <a:ext cx="5394960" cy="2377440"/>
          </a:xfrm>
          <a:prstGeom prst="rect">
            <a:avLst/>
          </a:prstGeom>
          <a:noFill/>
        </p:spPr>
        <p:txBody>
          <a:bodyPr wrap="square">
            <a:spAutoFit/>
          </a:bodyPr>
          <a:lstStyle/>
          <a:p>
            <a:pPr algn="l"/>
            <a:r>
              <a:rPr sz="1400" b="0" i="0">
                <a:solidFill>
                  <a:srgbClr val="FFFFFF"/>
                </a:solidFill>
                <a:latin typeface="Calibri"/>
              </a:rPr>
              <a:t>• Removed from normal flow
• Positioned relative to the VIEWPORT (browser window)
• Does NOT move when the page scrolls
• Perfect for sticky navbars, chat buttons,
  cookie banners</a:t>
            </a:r>
          </a:p>
        </p:txBody>
      </p:sp>
      <p:sp>
        <p:nvSpPr>
          <p:cNvPr id="19" name="Rectangle 18"/>
          <p:cNvSpPr/>
          <p:nvPr/>
        </p:nvSpPr>
        <p:spPr>
          <a:xfrm>
            <a:off x="6245352" y="4434840"/>
            <a:ext cx="5577840" cy="19659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245352" y="4434840"/>
            <a:ext cx="64008" cy="196596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73368" y="4489704"/>
            <a:ext cx="5577840" cy="292608"/>
          </a:xfrm>
          <a:prstGeom prst="rect">
            <a:avLst/>
          </a:prstGeom>
          <a:noFill/>
        </p:spPr>
        <p:txBody>
          <a:bodyPr wrap="square">
            <a:spAutoFit/>
          </a:bodyPr>
          <a:lstStyle/>
          <a:p>
            <a:pPr algn="l"/>
            <a:r>
              <a:rPr sz="900" b="0" i="0">
                <a:solidFill>
                  <a:srgbClr val="64748B"/>
                </a:solidFill>
                <a:latin typeface="Consolas"/>
              </a:rPr>
              <a:t>CSS</a:t>
            </a:r>
          </a:p>
        </p:txBody>
      </p:sp>
      <p:sp>
        <p:nvSpPr>
          <p:cNvPr id="22" name="TextBox 21"/>
          <p:cNvSpPr txBox="1"/>
          <p:nvPr/>
        </p:nvSpPr>
        <p:spPr>
          <a:xfrm>
            <a:off x="6373368" y="4727448"/>
            <a:ext cx="5321808" cy="1600200"/>
          </a:xfrm>
          <a:prstGeom prst="rect">
            <a:avLst/>
          </a:prstGeom>
          <a:noFill/>
        </p:spPr>
        <p:txBody>
          <a:bodyPr wrap="none">
            <a:spAutoFit/>
          </a:bodyPr>
          <a:lstStyle/>
          <a:p>
            <a:pPr algn="l"/>
            <a:r>
              <a:rPr sz="1300" b="0">
                <a:solidFill>
                  <a:srgbClr val="14B8A6"/>
                </a:solidFill>
                <a:latin typeface="Consolas"/>
              </a:rPr>
              <a:t>nav {</a:t>
            </a:r>
          </a:p>
          <a:p>
            <a:pPr algn="l"/>
            <a:r>
              <a:rPr sz="1300" b="0">
                <a:solidFill>
                  <a:srgbClr val="14B8A6"/>
                </a:solidFill>
                <a:latin typeface="Consolas"/>
              </a:rPr>
              <a:t>  position: fixed;</a:t>
            </a:r>
          </a:p>
          <a:p>
            <a:pPr algn="l"/>
            <a:r>
              <a:rPr sz="1300" b="0">
                <a:solidFill>
                  <a:srgbClr val="14B8A6"/>
                </a:solidFill>
                <a:latin typeface="Consolas"/>
              </a:rPr>
              <a:t>  top: 0; left: 0;</a:t>
            </a:r>
          </a:p>
          <a:p>
            <a:pPr algn="l"/>
            <a:r>
              <a:rPr sz="1300" b="0">
                <a:solidFill>
                  <a:srgbClr val="14B8A6"/>
                </a:solidFill>
                <a:latin typeface="Consolas"/>
              </a:rPr>
              <a:t>  width: 100%;</a:t>
            </a:r>
          </a:p>
          <a:p>
            <a:pPr algn="l"/>
            <a:r>
              <a:rPr sz="1300" b="0">
                <a:solidFill>
                  <a:srgbClr val="14B8A6"/>
                </a:solidFill>
                <a:latin typeface="Consolas"/>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9628632" cy="685800"/>
          </a:xfrm>
          <a:prstGeom prst="rect">
            <a:avLst/>
          </a:prstGeom>
          <a:noFill/>
        </p:spPr>
        <p:txBody>
          <a:bodyPr wrap="square">
            <a:spAutoFit/>
          </a:bodyPr>
          <a:lstStyle/>
          <a:p>
            <a:pPr algn="l"/>
            <a:r>
              <a:rPr sz="3200" b="1" i="0">
                <a:solidFill>
                  <a:srgbClr val="FFFFFF"/>
                </a:solidFill>
                <a:latin typeface="Calibri"/>
              </a:rPr>
              <a:t>position: sticky — The Smart One</a:t>
            </a:r>
          </a:p>
        </p:txBody>
      </p:sp>
      <p:sp>
        <p:nvSpPr>
          <p:cNvPr id="4" name="TextBox 3"/>
          <p:cNvSpPr txBox="1"/>
          <p:nvPr/>
        </p:nvSpPr>
        <p:spPr>
          <a:xfrm>
            <a:off x="365760" y="685800"/>
            <a:ext cx="9628632" cy="347472"/>
          </a:xfrm>
          <a:prstGeom prst="rect">
            <a:avLst/>
          </a:prstGeom>
          <a:noFill/>
        </p:spPr>
        <p:txBody>
          <a:bodyPr wrap="square">
            <a:spAutoFit/>
          </a:bodyPr>
          <a:lstStyle/>
          <a:p>
            <a:pPr algn="l"/>
            <a:r>
              <a:rPr sz="1500" b="0" i="0">
                <a:solidFill>
                  <a:srgbClr val="F0FDFA"/>
                </a:solidFill>
                <a:latin typeface="Calibri"/>
              </a:rPr>
              <a:t>Behaves as relative until a threshold → then acts like fixed</a:t>
            </a:r>
          </a:p>
        </p:txBody>
      </p:sp>
      <p:sp>
        <p:nvSpPr>
          <p:cNvPr id="5" name="Rectangle 4"/>
          <p:cNvSpPr/>
          <p:nvPr/>
        </p:nvSpPr>
        <p:spPr>
          <a:xfrm>
            <a:off x="10085832" y="45720"/>
            <a:ext cx="2011680" cy="475488"/>
          </a:xfrm>
          <a:prstGeom prst="rect">
            <a:avLst/>
          </a:prstGeom>
          <a:solidFill>
            <a:srgbClr val="064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85832" y="109728"/>
            <a:ext cx="2011680" cy="365760"/>
          </a:xfrm>
          <a:prstGeom prst="rect">
            <a:avLst/>
          </a:prstGeom>
          <a:noFill/>
        </p:spPr>
        <p:txBody>
          <a:bodyPr wrap="square">
            <a:spAutoFit/>
          </a:bodyPr>
          <a:lstStyle/>
          <a:p>
            <a:pPr algn="ctr"/>
            <a:r>
              <a:rPr sz="1000" b="1" i="0">
                <a:solidFill>
                  <a:srgbClr val="14B8A6"/>
                </a:solidFill>
                <a:latin typeface="Calibri"/>
              </a:rPr>
              <a:t>WEEK 3 · FRIDAY</a:t>
            </a:r>
          </a:p>
        </p:txBody>
      </p:sp>
      <p:sp>
        <p:nvSpPr>
          <p:cNvPr id="7" name="Rectangle 6"/>
          <p:cNvSpPr/>
          <p:nvPr/>
        </p:nvSpPr>
        <p:spPr>
          <a:xfrm>
            <a:off x="274320" y="1188720"/>
            <a:ext cx="11640312" cy="2286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188720"/>
            <a:ext cx="109728" cy="22860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11365992" cy="2103120"/>
          </a:xfrm>
          <a:prstGeom prst="rect">
            <a:avLst/>
          </a:prstGeom>
          <a:noFill/>
        </p:spPr>
        <p:txBody>
          <a:bodyPr wrap="square">
            <a:spAutoFit/>
          </a:bodyPr>
          <a:lstStyle/>
          <a:p>
            <a:pPr algn="l"/>
            <a:r>
              <a:rPr sz="1450" b="0" i="0">
                <a:solidFill>
                  <a:srgbClr val="FFFFFF"/>
                </a:solidFill>
                <a:latin typeface="Calibri"/>
              </a:rPr>
              <a:t>position: sticky is a HYBRID.  Before the element reaches the specified offset during scrolling it sits in the normal flow (like relative). Once the scroll position hits the threshold (e.g., top: 0), it sticks in place (like fixed) — but ONLY within its parent container.  When you scroll past the parent, the element unsticks.</a:t>
            </a:r>
          </a:p>
        </p:txBody>
      </p:sp>
      <p:sp>
        <p:nvSpPr>
          <p:cNvPr id="10" name="Rectangle 9"/>
          <p:cNvSpPr/>
          <p:nvPr/>
        </p:nvSpPr>
        <p:spPr>
          <a:xfrm>
            <a:off x="274320" y="3657600"/>
            <a:ext cx="6703923" cy="2971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74320" y="3657600"/>
            <a:ext cx="64008" cy="29718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02336" y="3712464"/>
            <a:ext cx="6703923" cy="292608"/>
          </a:xfrm>
          <a:prstGeom prst="rect">
            <a:avLst/>
          </a:prstGeom>
          <a:noFill/>
        </p:spPr>
        <p:txBody>
          <a:bodyPr wrap="square">
            <a:spAutoFit/>
          </a:bodyPr>
          <a:lstStyle/>
          <a:p>
            <a:pPr algn="l"/>
            <a:r>
              <a:rPr sz="900" b="0" i="0">
                <a:solidFill>
                  <a:srgbClr val="64748B"/>
                </a:solidFill>
                <a:latin typeface="Consolas"/>
              </a:rPr>
              <a:t>CSS</a:t>
            </a:r>
          </a:p>
        </p:txBody>
      </p:sp>
      <p:sp>
        <p:nvSpPr>
          <p:cNvPr id="13" name="TextBox 12"/>
          <p:cNvSpPr txBox="1"/>
          <p:nvPr/>
        </p:nvSpPr>
        <p:spPr>
          <a:xfrm>
            <a:off x="402336" y="3950208"/>
            <a:ext cx="6447891" cy="2606040"/>
          </a:xfrm>
          <a:prstGeom prst="rect">
            <a:avLst/>
          </a:prstGeom>
          <a:noFill/>
        </p:spPr>
        <p:txBody>
          <a:bodyPr wrap="none">
            <a:spAutoFit/>
          </a:bodyPr>
          <a:lstStyle/>
          <a:p>
            <a:pPr algn="l"/>
            <a:r>
              <a:rPr sz="1300" b="0">
                <a:solidFill>
                  <a:srgbClr val="14B8A6"/>
                </a:solidFill>
                <a:latin typeface="Consolas"/>
              </a:rPr>
              <a:t>/* Section heading that sticks as you scroll */</a:t>
            </a:r>
          </a:p>
          <a:p>
            <a:pPr algn="l"/>
            <a:r>
              <a:rPr sz="1300" b="0">
                <a:solidFill>
                  <a:srgbClr val="14B8A6"/>
                </a:solidFill>
                <a:latin typeface="Consolas"/>
              </a:rPr>
              <a:t>.section-title {</a:t>
            </a:r>
          </a:p>
          <a:p>
            <a:pPr algn="l"/>
            <a:r>
              <a:rPr sz="1300" b="0">
                <a:solidFill>
                  <a:srgbClr val="14B8A6"/>
                </a:solidFill>
                <a:latin typeface="Consolas"/>
              </a:rPr>
              <a:t>  position: sticky;</a:t>
            </a:r>
          </a:p>
          <a:p>
            <a:pPr algn="l"/>
            <a:r>
              <a:rPr sz="1300" b="0">
                <a:solidFill>
                  <a:srgbClr val="14B8A6"/>
                </a:solidFill>
                <a:latin typeface="Consolas"/>
              </a:rPr>
              <a:t>  top: 60px;   /* sticks 60px from the top of the viewport */</a:t>
            </a:r>
          </a:p>
          <a:p>
            <a:pPr algn="l"/>
            <a:r>
              <a:rPr sz="1300" b="0">
                <a:solidFill>
                  <a:srgbClr val="14B8A6"/>
                </a:solidFill>
                <a:latin typeface="Consolas"/>
              </a:rPr>
              <a:t>  background: #0f766e;</a:t>
            </a:r>
          </a:p>
          <a:p>
            <a:pPr algn="l"/>
            <a:r>
              <a:rPr sz="1300" b="0">
                <a:solidFill>
                  <a:srgbClr val="14B8A6"/>
                </a:solidFill>
                <a:latin typeface="Consolas"/>
              </a:rPr>
              <a:t>  z-index: 10;</a:t>
            </a:r>
          </a:p>
          <a:p>
            <a:pPr algn="l"/>
            <a:r>
              <a:rPr sz="1300" b="0">
                <a:solidFill>
                  <a:srgbClr val="14B8A6"/>
                </a:solidFill>
                <a:latin typeface="Consolas"/>
              </a:rPr>
              <a:t>}</a:t>
            </a:r>
          </a:p>
        </p:txBody>
      </p:sp>
      <p:sp>
        <p:nvSpPr>
          <p:cNvPr id="14" name="Rectangle 13"/>
          <p:cNvSpPr/>
          <p:nvPr/>
        </p:nvSpPr>
        <p:spPr>
          <a:xfrm>
            <a:off x="7069592" y="3657600"/>
            <a:ext cx="4875580" cy="2971800"/>
          </a:xfrm>
          <a:prstGeom prst="rect">
            <a:avLst/>
          </a:prstGeom>
          <a:solidFill>
            <a:srgbClr val="064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191481" y="3749039"/>
            <a:ext cx="4631801" cy="457200"/>
          </a:xfrm>
          <a:prstGeom prst="rect">
            <a:avLst/>
          </a:prstGeom>
          <a:noFill/>
        </p:spPr>
        <p:txBody>
          <a:bodyPr wrap="square">
            <a:spAutoFit/>
          </a:bodyPr>
          <a:lstStyle/>
          <a:p>
            <a:pPr algn="l"/>
            <a:r>
              <a:rPr sz="1500" b="1" i="0">
                <a:solidFill>
                  <a:srgbClr val="14B8A6"/>
                </a:solidFill>
                <a:latin typeface="Calibri"/>
              </a:rPr>
              <a:t>Common uses</a:t>
            </a:r>
          </a:p>
        </p:txBody>
      </p:sp>
      <p:sp>
        <p:nvSpPr>
          <p:cNvPr id="16" name="TextBox 15"/>
          <p:cNvSpPr txBox="1"/>
          <p:nvPr/>
        </p:nvSpPr>
        <p:spPr>
          <a:xfrm>
            <a:off x="7191481" y="4251960"/>
            <a:ext cx="4631801" cy="548640"/>
          </a:xfrm>
          <a:prstGeom prst="rect">
            <a:avLst/>
          </a:prstGeom>
          <a:noFill/>
        </p:spPr>
        <p:txBody>
          <a:bodyPr wrap="square">
            <a:spAutoFit/>
          </a:bodyPr>
          <a:lstStyle/>
          <a:p>
            <a:pPr algn="l"/>
            <a:r>
              <a:rPr sz="1300" b="0" i="0">
                <a:solidFill>
                  <a:srgbClr val="F0FDFA"/>
                </a:solidFill>
                <a:latin typeface="Calibri"/>
              </a:rPr>
              <a:t>→  Table headers that stay visible
while scrolling rows</a:t>
            </a:r>
          </a:p>
        </p:txBody>
      </p:sp>
      <p:sp>
        <p:nvSpPr>
          <p:cNvPr id="17" name="TextBox 16"/>
          <p:cNvSpPr txBox="1"/>
          <p:nvPr/>
        </p:nvSpPr>
        <p:spPr>
          <a:xfrm>
            <a:off x="7191481" y="4846320"/>
            <a:ext cx="4631801" cy="548640"/>
          </a:xfrm>
          <a:prstGeom prst="rect">
            <a:avLst/>
          </a:prstGeom>
          <a:noFill/>
        </p:spPr>
        <p:txBody>
          <a:bodyPr wrap="square">
            <a:spAutoFit/>
          </a:bodyPr>
          <a:lstStyle/>
          <a:p>
            <a:pPr algn="l"/>
            <a:r>
              <a:rPr sz="1300" b="0" i="0">
                <a:solidFill>
                  <a:srgbClr val="F0FDFA"/>
                </a:solidFill>
                <a:latin typeface="Calibri"/>
              </a:rPr>
              <a:t>→  Section labels in long
scrollable lists</a:t>
            </a:r>
          </a:p>
        </p:txBody>
      </p:sp>
      <p:sp>
        <p:nvSpPr>
          <p:cNvPr id="18" name="TextBox 17"/>
          <p:cNvSpPr txBox="1"/>
          <p:nvPr/>
        </p:nvSpPr>
        <p:spPr>
          <a:xfrm>
            <a:off x="7191481" y="5440680"/>
            <a:ext cx="4631801" cy="548640"/>
          </a:xfrm>
          <a:prstGeom prst="rect">
            <a:avLst/>
          </a:prstGeom>
          <a:noFill/>
        </p:spPr>
        <p:txBody>
          <a:bodyPr wrap="square">
            <a:spAutoFit/>
          </a:bodyPr>
          <a:lstStyle/>
          <a:p>
            <a:pPr algn="l"/>
            <a:r>
              <a:rPr sz="1300" b="0" i="0">
                <a:solidFill>
                  <a:srgbClr val="F0FDFA"/>
                </a:solidFill>
                <a:latin typeface="Calibri"/>
              </a:rPr>
              <a:t>→  Sidebar that sticks until
the section ends</a:t>
            </a:r>
          </a:p>
        </p:txBody>
      </p:sp>
      <p:sp>
        <p:nvSpPr>
          <p:cNvPr id="19" name="TextBox 18"/>
          <p:cNvSpPr txBox="1"/>
          <p:nvPr/>
        </p:nvSpPr>
        <p:spPr>
          <a:xfrm>
            <a:off x="7191481" y="6035040"/>
            <a:ext cx="4631801" cy="548640"/>
          </a:xfrm>
          <a:prstGeom prst="rect">
            <a:avLst/>
          </a:prstGeom>
          <a:noFill/>
        </p:spPr>
        <p:txBody>
          <a:bodyPr wrap="square">
            <a:spAutoFit/>
          </a:bodyPr>
          <a:lstStyle/>
          <a:p>
            <a:pPr algn="l"/>
            <a:r>
              <a:rPr sz="1300" b="0" i="0">
                <a:solidFill>
                  <a:srgbClr val="F0FDFA"/>
                </a:solidFill>
                <a:latin typeface="Calibri"/>
              </a:rPr>
              <a:t>→  Progress bar at top
that appears after scroll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9628632" cy="685800"/>
          </a:xfrm>
          <a:prstGeom prst="rect">
            <a:avLst/>
          </a:prstGeom>
          <a:noFill/>
        </p:spPr>
        <p:txBody>
          <a:bodyPr wrap="square">
            <a:spAutoFit/>
          </a:bodyPr>
          <a:lstStyle/>
          <a:p>
            <a:pPr algn="l"/>
            <a:r>
              <a:rPr sz="3200" b="1" i="0">
                <a:solidFill>
                  <a:srgbClr val="FFFFFF"/>
                </a:solidFill>
                <a:latin typeface="Calibri"/>
              </a:rPr>
              <a:t>Check-In · CSS Position</a:t>
            </a:r>
          </a:p>
        </p:txBody>
      </p:sp>
      <p:sp>
        <p:nvSpPr>
          <p:cNvPr id="4" name="TextBox 3"/>
          <p:cNvSpPr txBox="1"/>
          <p:nvPr/>
        </p:nvSpPr>
        <p:spPr>
          <a:xfrm>
            <a:off x="365760" y="685800"/>
            <a:ext cx="9628632" cy="347472"/>
          </a:xfrm>
          <a:prstGeom prst="rect">
            <a:avLst/>
          </a:prstGeom>
          <a:noFill/>
        </p:spPr>
        <p:txBody>
          <a:bodyPr wrap="square">
            <a:spAutoFit/>
          </a:bodyPr>
          <a:lstStyle/>
          <a:p>
            <a:pPr algn="l"/>
            <a:r>
              <a:rPr sz="1500" b="0" i="0">
                <a:solidFill>
                  <a:srgbClr val="F0FDFA"/>
                </a:solidFill>
                <a:latin typeface="Calibri"/>
              </a:rPr>
              <a:t>Q1–Q5 · Answer each before reading the next one</a:t>
            </a:r>
          </a:p>
        </p:txBody>
      </p:sp>
      <p:sp>
        <p:nvSpPr>
          <p:cNvPr id="5" name="Rectangle 4"/>
          <p:cNvSpPr/>
          <p:nvPr/>
        </p:nvSpPr>
        <p:spPr>
          <a:xfrm>
            <a:off x="10085832" y="45720"/>
            <a:ext cx="2011680" cy="475488"/>
          </a:xfrm>
          <a:prstGeom prst="rect">
            <a:avLst/>
          </a:prstGeom>
          <a:solidFill>
            <a:srgbClr val="064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85832" y="109728"/>
            <a:ext cx="2011680" cy="365760"/>
          </a:xfrm>
          <a:prstGeom prst="rect">
            <a:avLst/>
          </a:prstGeom>
          <a:noFill/>
        </p:spPr>
        <p:txBody>
          <a:bodyPr wrap="square">
            <a:spAutoFit/>
          </a:bodyPr>
          <a:lstStyle/>
          <a:p>
            <a:pPr algn="ctr"/>
            <a:r>
              <a:rPr sz="1000" b="1" i="0">
                <a:solidFill>
                  <a:srgbClr val="14B8A6"/>
                </a:solidFill>
                <a:latin typeface="Calibri"/>
              </a:rPr>
              <a:t>WEEK 3 · FRIDAY</a:t>
            </a:r>
          </a:p>
        </p:txBody>
      </p:sp>
      <p:sp>
        <p:nvSpPr>
          <p:cNvPr id="7" name="Rectangle 6"/>
          <p:cNvSpPr/>
          <p:nvPr/>
        </p:nvSpPr>
        <p:spPr>
          <a:xfrm>
            <a:off x="274320" y="1280160"/>
            <a:ext cx="5669280" cy="1645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80" y="1371600"/>
            <a:ext cx="5394960" cy="640080"/>
          </a:xfrm>
          <a:prstGeom prst="rect">
            <a:avLst/>
          </a:prstGeom>
          <a:noFill/>
        </p:spPr>
        <p:txBody>
          <a:bodyPr wrap="square">
            <a:spAutoFit/>
          </a:bodyPr>
          <a:lstStyle/>
          <a:p>
            <a:pPr algn="l"/>
            <a:r>
              <a:rPr sz="1350" b="1" i="0">
                <a:solidFill>
                  <a:srgbClr val="FFFFFF"/>
                </a:solidFill>
                <a:latin typeface="Calibri"/>
              </a:rPr>
              <a:t>Q1  What is the DEFAULT value of the CSS position property?</a:t>
            </a:r>
          </a:p>
        </p:txBody>
      </p:sp>
      <p:sp>
        <p:nvSpPr>
          <p:cNvPr id="9" name="TextBox 8"/>
          <p:cNvSpPr txBox="1"/>
          <p:nvPr/>
        </p:nvSpPr>
        <p:spPr>
          <a:xfrm>
            <a:off x="411480" y="2011680"/>
            <a:ext cx="5394960" cy="269304"/>
          </a:xfrm>
          <a:prstGeom prst="rect">
            <a:avLst/>
          </a:prstGeom>
          <a:noFill/>
        </p:spPr>
        <p:txBody>
          <a:bodyPr wrap="square">
            <a:spAutoFit/>
          </a:bodyPr>
          <a:lstStyle/>
          <a:p>
            <a:pPr algn="l"/>
            <a:r>
              <a:rPr lang="ko-KR" altLang="en-US" sz="1150" b="1" i="0" dirty="0">
                <a:solidFill>
                  <a:srgbClr val="22C55E"/>
                </a:solidFill>
                <a:latin typeface="Calibri"/>
              </a:rPr>
              <a:t>　</a:t>
            </a:r>
            <a:r>
              <a:rPr sz="1150" dirty="0">
                <a:solidFill>
                  <a:srgbClr val="64748B"/>
                </a:solidFill>
                <a:latin typeface="Calibri"/>
              </a:rPr>
              <a:t>static</a:t>
            </a:r>
          </a:p>
        </p:txBody>
      </p:sp>
      <p:sp>
        <p:nvSpPr>
          <p:cNvPr id="10" name="TextBox 9"/>
          <p:cNvSpPr txBox="1"/>
          <p:nvPr/>
        </p:nvSpPr>
        <p:spPr>
          <a:xfrm>
            <a:off x="411480" y="2228850"/>
            <a:ext cx="5394960" cy="217170"/>
          </a:xfrm>
          <a:prstGeom prst="rect">
            <a:avLst/>
          </a:prstGeom>
          <a:noFill/>
        </p:spPr>
        <p:txBody>
          <a:bodyPr wrap="square">
            <a:spAutoFit/>
          </a:bodyPr>
          <a:lstStyle/>
          <a:p>
            <a:pPr algn="l"/>
            <a:r>
              <a:rPr sz="1150" b="0" i="0">
                <a:solidFill>
                  <a:srgbClr val="64748B"/>
                </a:solidFill>
                <a:latin typeface="Calibri"/>
              </a:rPr>
              <a:t>     relative</a:t>
            </a:r>
          </a:p>
        </p:txBody>
      </p:sp>
      <p:sp>
        <p:nvSpPr>
          <p:cNvPr id="11" name="TextBox 10"/>
          <p:cNvSpPr txBox="1"/>
          <p:nvPr/>
        </p:nvSpPr>
        <p:spPr>
          <a:xfrm>
            <a:off x="411480" y="2446020"/>
            <a:ext cx="5394960" cy="217170"/>
          </a:xfrm>
          <a:prstGeom prst="rect">
            <a:avLst/>
          </a:prstGeom>
          <a:noFill/>
        </p:spPr>
        <p:txBody>
          <a:bodyPr wrap="square">
            <a:spAutoFit/>
          </a:bodyPr>
          <a:lstStyle/>
          <a:p>
            <a:pPr algn="l"/>
            <a:r>
              <a:rPr sz="1150" b="0" i="0">
                <a:solidFill>
                  <a:srgbClr val="64748B"/>
                </a:solidFill>
                <a:latin typeface="Calibri"/>
              </a:rPr>
              <a:t>     absolute</a:t>
            </a:r>
          </a:p>
        </p:txBody>
      </p:sp>
      <p:sp>
        <p:nvSpPr>
          <p:cNvPr id="12" name="TextBox 11"/>
          <p:cNvSpPr txBox="1"/>
          <p:nvPr/>
        </p:nvSpPr>
        <p:spPr>
          <a:xfrm>
            <a:off x="411480" y="2663190"/>
            <a:ext cx="5394960" cy="217170"/>
          </a:xfrm>
          <a:prstGeom prst="rect">
            <a:avLst/>
          </a:prstGeom>
          <a:noFill/>
        </p:spPr>
        <p:txBody>
          <a:bodyPr wrap="square">
            <a:spAutoFit/>
          </a:bodyPr>
          <a:lstStyle/>
          <a:p>
            <a:pPr algn="l"/>
            <a:r>
              <a:rPr sz="1150" b="0" i="0">
                <a:solidFill>
                  <a:srgbClr val="64748B"/>
                </a:solidFill>
                <a:latin typeface="Calibri"/>
              </a:rPr>
              <a:t>     fixed</a:t>
            </a:r>
          </a:p>
        </p:txBody>
      </p:sp>
      <p:sp>
        <p:nvSpPr>
          <p:cNvPr id="13" name="Rectangle 12"/>
          <p:cNvSpPr/>
          <p:nvPr/>
        </p:nvSpPr>
        <p:spPr>
          <a:xfrm>
            <a:off x="6217920" y="1280160"/>
            <a:ext cx="5669280" cy="1645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55080" y="1371600"/>
            <a:ext cx="5394960" cy="640080"/>
          </a:xfrm>
          <a:prstGeom prst="rect">
            <a:avLst/>
          </a:prstGeom>
          <a:noFill/>
        </p:spPr>
        <p:txBody>
          <a:bodyPr wrap="square">
            <a:spAutoFit/>
          </a:bodyPr>
          <a:lstStyle/>
          <a:p>
            <a:pPr algn="l"/>
            <a:r>
              <a:rPr sz="1350" b="1" i="0">
                <a:solidFill>
                  <a:srgbClr val="FFFFFF"/>
                </a:solidFill>
                <a:latin typeface="Calibri"/>
              </a:rPr>
              <a:t>Q2  position: relative offsets the element relative to …</a:t>
            </a:r>
          </a:p>
        </p:txBody>
      </p:sp>
      <p:sp>
        <p:nvSpPr>
          <p:cNvPr id="15" name="TextBox 14"/>
          <p:cNvSpPr txBox="1"/>
          <p:nvPr/>
        </p:nvSpPr>
        <p:spPr>
          <a:xfrm>
            <a:off x="6355080" y="2011680"/>
            <a:ext cx="5394960" cy="217170"/>
          </a:xfrm>
          <a:prstGeom prst="rect">
            <a:avLst/>
          </a:prstGeom>
          <a:noFill/>
        </p:spPr>
        <p:txBody>
          <a:bodyPr wrap="square">
            <a:spAutoFit/>
          </a:bodyPr>
          <a:lstStyle/>
          <a:p>
            <a:pPr algn="l"/>
            <a:r>
              <a:rPr sz="1150" b="0" i="0">
                <a:solidFill>
                  <a:srgbClr val="64748B"/>
                </a:solidFill>
                <a:latin typeface="Calibri"/>
              </a:rPr>
              <a:t>     its nearest positioned ancestor</a:t>
            </a:r>
          </a:p>
        </p:txBody>
      </p:sp>
      <p:sp>
        <p:nvSpPr>
          <p:cNvPr id="16" name="TextBox 15"/>
          <p:cNvSpPr txBox="1"/>
          <p:nvPr/>
        </p:nvSpPr>
        <p:spPr>
          <a:xfrm>
            <a:off x="6355080" y="2228850"/>
            <a:ext cx="5394960" cy="217170"/>
          </a:xfrm>
          <a:prstGeom prst="rect">
            <a:avLst/>
          </a:prstGeom>
          <a:noFill/>
        </p:spPr>
        <p:txBody>
          <a:bodyPr wrap="square">
            <a:spAutoFit/>
          </a:bodyPr>
          <a:lstStyle/>
          <a:p>
            <a:pPr algn="l"/>
            <a:r>
              <a:rPr sz="1150" b="0" i="0">
                <a:solidFill>
                  <a:srgbClr val="64748B"/>
                </a:solidFill>
                <a:latin typeface="Calibri"/>
              </a:rPr>
              <a:t>     the viewport</a:t>
            </a:r>
          </a:p>
        </p:txBody>
      </p:sp>
      <p:sp>
        <p:nvSpPr>
          <p:cNvPr id="17" name="TextBox 16"/>
          <p:cNvSpPr txBox="1"/>
          <p:nvPr/>
        </p:nvSpPr>
        <p:spPr>
          <a:xfrm>
            <a:off x="6355080" y="2446020"/>
            <a:ext cx="5394960" cy="269304"/>
          </a:xfrm>
          <a:prstGeom prst="rect">
            <a:avLst/>
          </a:prstGeom>
          <a:noFill/>
        </p:spPr>
        <p:txBody>
          <a:bodyPr wrap="square">
            <a:spAutoFit/>
          </a:bodyPr>
          <a:lstStyle/>
          <a:p>
            <a:pPr algn="l"/>
            <a:r>
              <a:rPr lang="ko-KR" altLang="en-US" sz="1150" b="1" dirty="0">
                <a:solidFill>
                  <a:srgbClr val="22C55E"/>
                </a:solidFill>
                <a:latin typeface="Calibri"/>
              </a:rPr>
              <a:t>　</a:t>
            </a:r>
            <a:r>
              <a:rPr sz="1150" dirty="0">
                <a:solidFill>
                  <a:srgbClr val="64748B"/>
                </a:solidFill>
                <a:latin typeface="Calibri"/>
              </a:rPr>
              <a:t>its own original position</a:t>
            </a:r>
          </a:p>
        </p:txBody>
      </p:sp>
      <p:sp>
        <p:nvSpPr>
          <p:cNvPr id="18" name="TextBox 17"/>
          <p:cNvSpPr txBox="1"/>
          <p:nvPr/>
        </p:nvSpPr>
        <p:spPr>
          <a:xfrm>
            <a:off x="6355080" y="2663190"/>
            <a:ext cx="5394960" cy="217170"/>
          </a:xfrm>
          <a:prstGeom prst="rect">
            <a:avLst/>
          </a:prstGeom>
          <a:noFill/>
        </p:spPr>
        <p:txBody>
          <a:bodyPr wrap="square">
            <a:spAutoFit/>
          </a:bodyPr>
          <a:lstStyle/>
          <a:p>
            <a:pPr algn="l"/>
            <a:r>
              <a:rPr sz="1150" b="0" i="0">
                <a:solidFill>
                  <a:srgbClr val="64748B"/>
                </a:solidFill>
                <a:latin typeface="Calibri"/>
              </a:rPr>
              <a:t>     the document &lt;body&gt;</a:t>
            </a:r>
          </a:p>
        </p:txBody>
      </p:sp>
      <p:sp>
        <p:nvSpPr>
          <p:cNvPr id="19" name="Rectangle 18"/>
          <p:cNvSpPr/>
          <p:nvPr/>
        </p:nvSpPr>
        <p:spPr>
          <a:xfrm>
            <a:off x="274320" y="3063240"/>
            <a:ext cx="5669280" cy="1645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11480" y="3154680"/>
            <a:ext cx="5394960" cy="640080"/>
          </a:xfrm>
          <a:prstGeom prst="rect">
            <a:avLst/>
          </a:prstGeom>
          <a:noFill/>
        </p:spPr>
        <p:txBody>
          <a:bodyPr wrap="square">
            <a:spAutoFit/>
          </a:bodyPr>
          <a:lstStyle/>
          <a:p>
            <a:pPr algn="l"/>
            <a:r>
              <a:rPr sz="1350" b="1" i="0" dirty="0">
                <a:solidFill>
                  <a:srgbClr val="FFFFFF"/>
                </a:solidFill>
                <a:latin typeface="Calibri"/>
              </a:rPr>
              <a:t>Q3  position: absolute anchors the element relative to …</a:t>
            </a:r>
          </a:p>
        </p:txBody>
      </p:sp>
      <p:sp>
        <p:nvSpPr>
          <p:cNvPr id="21" name="TextBox 20"/>
          <p:cNvSpPr txBox="1"/>
          <p:nvPr/>
        </p:nvSpPr>
        <p:spPr>
          <a:xfrm>
            <a:off x="411480" y="3794760"/>
            <a:ext cx="5394960" cy="217170"/>
          </a:xfrm>
          <a:prstGeom prst="rect">
            <a:avLst/>
          </a:prstGeom>
          <a:noFill/>
        </p:spPr>
        <p:txBody>
          <a:bodyPr wrap="square">
            <a:spAutoFit/>
          </a:bodyPr>
          <a:lstStyle/>
          <a:p>
            <a:pPr algn="l"/>
            <a:r>
              <a:rPr sz="1150" b="0" i="0">
                <a:solidFill>
                  <a:srgbClr val="64748B"/>
                </a:solidFill>
                <a:latin typeface="Calibri"/>
              </a:rPr>
              <a:t>     the viewport</a:t>
            </a:r>
          </a:p>
        </p:txBody>
      </p:sp>
      <p:sp>
        <p:nvSpPr>
          <p:cNvPr id="22" name="TextBox 21"/>
          <p:cNvSpPr txBox="1"/>
          <p:nvPr/>
        </p:nvSpPr>
        <p:spPr>
          <a:xfrm>
            <a:off x="411480" y="4011930"/>
            <a:ext cx="5394960" cy="269304"/>
          </a:xfrm>
          <a:prstGeom prst="rect">
            <a:avLst/>
          </a:prstGeom>
          <a:noFill/>
        </p:spPr>
        <p:txBody>
          <a:bodyPr wrap="square">
            <a:spAutoFit/>
          </a:bodyPr>
          <a:lstStyle/>
          <a:p>
            <a:pPr algn="l"/>
            <a:r>
              <a:rPr lang="ko-KR" altLang="en-US" sz="1150" b="1" dirty="0">
                <a:solidFill>
                  <a:srgbClr val="22C55E"/>
                </a:solidFill>
                <a:latin typeface="Calibri"/>
              </a:rPr>
              <a:t>　</a:t>
            </a:r>
            <a:r>
              <a:rPr sz="1150" dirty="0">
                <a:solidFill>
                  <a:srgbClr val="64748B"/>
                </a:solidFill>
                <a:latin typeface="Calibri"/>
              </a:rPr>
              <a:t>its nearest POSITIONED ancestor (or &lt;body&gt;)</a:t>
            </a:r>
          </a:p>
        </p:txBody>
      </p:sp>
      <p:sp>
        <p:nvSpPr>
          <p:cNvPr id="23" name="TextBox 22"/>
          <p:cNvSpPr txBox="1"/>
          <p:nvPr/>
        </p:nvSpPr>
        <p:spPr>
          <a:xfrm>
            <a:off x="411480" y="4229100"/>
            <a:ext cx="5394960" cy="217170"/>
          </a:xfrm>
          <a:prstGeom prst="rect">
            <a:avLst/>
          </a:prstGeom>
          <a:noFill/>
        </p:spPr>
        <p:txBody>
          <a:bodyPr wrap="square">
            <a:spAutoFit/>
          </a:bodyPr>
          <a:lstStyle/>
          <a:p>
            <a:pPr algn="l"/>
            <a:r>
              <a:rPr sz="1150" b="0" i="0" dirty="0">
                <a:solidFill>
                  <a:srgbClr val="64748B"/>
                </a:solidFill>
                <a:latin typeface="Calibri"/>
              </a:rPr>
              <a:t>     the document root</a:t>
            </a:r>
          </a:p>
        </p:txBody>
      </p:sp>
      <p:sp>
        <p:nvSpPr>
          <p:cNvPr id="24" name="TextBox 23"/>
          <p:cNvSpPr txBox="1"/>
          <p:nvPr/>
        </p:nvSpPr>
        <p:spPr>
          <a:xfrm>
            <a:off x="411480" y="4446270"/>
            <a:ext cx="5394960" cy="217170"/>
          </a:xfrm>
          <a:prstGeom prst="rect">
            <a:avLst/>
          </a:prstGeom>
          <a:noFill/>
        </p:spPr>
        <p:txBody>
          <a:bodyPr wrap="square">
            <a:spAutoFit/>
          </a:bodyPr>
          <a:lstStyle/>
          <a:p>
            <a:pPr algn="l"/>
            <a:r>
              <a:rPr sz="1150" b="0" i="0">
                <a:solidFill>
                  <a:srgbClr val="64748B"/>
                </a:solidFill>
                <a:latin typeface="Calibri"/>
              </a:rPr>
              <a:t>     the screen</a:t>
            </a:r>
          </a:p>
        </p:txBody>
      </p:sp>
      <p:sp>
        <p:nvSpPr>
          <p:cNvPr id="25" name="Rectangle 24"/>
          <p:cNvSpPr/>
          <p:nvPr/>
        </p:nvSpPr>
        <p:spPr>
          <a:xfrm>
            <a:off x="6217920" y="3063240"/>
            <a:ext cx="5669280" cy="1645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55080" y="3154680"/>
            <a:ext cx="5394960" cy="640080"/>
          </a:xfrm>
          <a:prstGeom prst="rect">
            <a:avLst/>
          </a:prstGeom>
          <a:noFill/>
        </p:spPr>
        <p:txBody>
          <a:bodyPr wrap="square">
            <a:spAutoFit/>
          </a:bodyPr>
          <a:lstStyle/>
          <a:p>
            <a:pPr algn="l"/>
            <a:r>
              <a:rPr sz="1350" b="1" i="0" dirty="0">
                <a:solidFill>
                  <a:srgbClr val="FFFFFF"/>
                </a:solidFill>
                <a:latin typeface="Calibri"/>
              </a:rPr>
              <a:t>Q4  Which position value stays fixed to the viewport while scrolling?</a:t>
            </a:r>
          </a:p>
        </p:txBody>
      </p:sp>
      <p:sp>
        <p:nvSpPr>
          <p:cNvPr id="27" name="TextBox 26"/>
          <p:cNvSpPr txBox="1"/>
          <p:nvPr/>
        </p:nvSpPr>
        <p:spPr>
          <a:xfrm>
            <a:off x="6355080" y="3794760"/>
            <a:ext cx="5394960" cy="217170"/>
          </a:xfrm>
          <a:prstGeom prst="rect">
            <a:avLst/>
          </a:prstGeom>
          <a:noFill/>
        </p:spPr>
        <p:txBody>
          <a:bodyPr wrap="square">
            <a:spAutoFit/>
          </a:bodyPr>
          <a:lstStyle/>
          <a:p>
            <a:pPr algn="l"/>
            <a:r>
              <a:rPr sz="1150" b="0" i="0">
                <a:solidFill>
                  <a:srgbClr val="64748B"/>
                </a:solidFill>
                <a:latin typeface="Calibri"/>
              </a:rPr>
              <a:t>     absolute</a:t>
            </a:r>
          </a:p>
        </p:txBody>
      </p:sp>
      <p:sp>
        <p:nvSpPr>
          <p:cNvPr id="28" name="TextBox 27"/>
          <p:cNvSpPr txBox="1"/>
          <p:nvPr/>
        </p:nvSpPr>
        <p:spPr>
          <a:xfrm>
            <a:off x="6355080" y="4011930"/>
            <a:ext cx="5394960" cy="217170"/>
          </a:xfrm>
          <a:prstGeom prst="rect">
            <a:avLst/>
          </a:prstGeom>
          <a:noFill/>
        </p:spPr>
        <p:txBody>
          <a:bodyPr wrap="square">
            <a:spAutoFit/>
          </a:bodyPr>
          <a:lstStyle/>
          <a:p>
            <a:pPr algn="l"/>
            <a:r>
              <a:rPr sz="1150" b="0" i="0">
                <a:solidFill>
                  <a:srgbClr val="64748B"/>
                </a:solidFill>
                <a:latin typeface="Calibri"/>
              </a:rPr>
              <a:t>     relative</a:t>
            </a:r>
          </a:p>
        </p:txBody>
      </p:sp>
      <p:sp>
        <p:nvSpPr>
          <p:cNvPr id="29" name="TextBox 28"/>
          <p:cNvSpPr txBox="1"/>
          <p:nvPr/>
        </p:nvSpPr>
        <p:spPr>
          <a:xfrm>
            <a:off x="6355080" y="4229100"/>
            <a:ext cx="5394960" cy="269304"/>
          </a:xfrm>
          <a:prstGeom prst="rect">
            <a:avLst/>
          </a:prstGeom>
          <a:noFill/>
        </p:spPr>
        <p:txBody>
          <a:bodyPr wrap="square">
            <a:spAutoFit/>
          </a:bodyPr>
          <a:lstStyle/>
          <a:p>
            <a:pPr algn="l"/>
            <a:r>
              <a:rPr lang="ko-KR" altLang="en-US" sz="1150" b="1" dirty="0">
                <a:solidFill>
                  <a:srgbClr val="22C55E"/>
                </a:solidFill>
                <a:latin typeface="Calibri"/>
              </a:rPr>
              <a:t>　</a:t>
            </a:r>
            <a:r>
              <a:rPr sz="1150" dirty="0">
                <a:solidFill>
                  <a:srgbClr val="64748B"/>
                </a:solidFill>
                <a:latin typeface="Calibri"/>
              </a:rPr>
              <a:t>fixed</a:t>
            </a:r>
          </a:p>
        </p:txBody>
      </p:sp>
      <p:sp>
        <p:nvSpPr>
          <p:cNvPr id="30" name="TextBox 29"/>
          <p:cNvSpPr txBox="1"/>
          <p:nvPr/>
        </p:nvSpPr>
        <p:spPr>
          <a:xfrm>
            <a:off x="6355080" y="4446270"/>
            <a:ext cx="5394960" cy="217170"/>
          </a:xfrm>
          <a:prstGeom prst="rect">
            <a:avLst/>
          </a:prstGeom>
          <a:noFill/>
        </p:spPr>
        <p:txBody>
          <a:bodyPr wrap="square">
            <a:spAutoFit/>
          </a:bodyPr>
          <a:lstStyle/>
          <a:p>
            <a:pPr algn="l"/>
            <a:r>
              <a:rPr sz="1150" b="0" i="0">
                <a:solidFill>
                  <a:srgbClr val="64748B"/>
                </a:solidFill>
                <a:latin typeface="Calibri"/>
              </a:rPr>
              <a:t>     sticky</a:t>
            </a:r>
          </a:p>
        </p:txBody>
      </p:sp>
      <p:sp>
        <p:nvSpPr>
          <p:cNvPr id="31" name="Rectangle 30"/>
          <p:cNvSpPr/>
          <p:nvPr/>
        </p:nvSpPr>
        <p:spPr>
          <a:xfrm>
            <a:off x="3246120" y="4846320"/>
            <a:ext cx="5669280" cy="1645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383280" y="4937760"/>
            <a:ext cx="5394960" cy="640080"/>
          </a:xfrm>
          <a:prstGeom prst="rect">
            <a:avLst/>
          </a:prstGeom>
          <a:noFill/>
        </p:spPr>
        <p:txBody>
          <a:bodyPr wrap="square">
            <a:spAutoFit/>
          </a:bodyPr>
          <a:lstStyle/>
          <a:p>
            <a:pPr algn="l"/>
            <a:r>
              <a:rPr sz="1350" b="1" i="0">
                <a:solidFill>
                  <a:srgbClr val="FFFFFF"/>
                </a:solidFill>
                <a:latin typeface="Calibri"/>
              </a:rPr>
              <a:t>Q5  position: sticky switches from relative to fixed when …</a:t>
            </a:r>
          </a:p>
        </p:txBody>
      </p:sp>
      <p:sp>
        <p:nvSpPr>
          <p:cNvPr id="33" name="TextBox 32"/>
          <p:cNvSpPr txBox="1"/>
          <p:nvPr/>
        </p:nvSpPr>
        <p:spPr>
          <a:xfrm>
            <a:off x="3383280" y="5577840"/>
            <a:ext cx="5394960" cy="217170"/>
          </a:xfrm>
          <a:prstGeom prst="rect">
            <a:avLst/>
          </a:prstGeom>
          <a:noFill/>
        </p:spPr>
        <p:txBody>
          <a:bodyPr wrap="square">
            <a:spAutoFit/>
          </a:bodyPr>
          <a:lstStyle/>
          <a:p>
            <a:pPr algn="l"/>
            <a:r>
              <a:rPr sz="1150" b="0" i="0">
                <a:solidFill>
                  <a:srgbClr val="64748B"/>
                </a:solidFill>
                <a:latin typeface="Calibri"/>
              </a:rPr>
              <a:t>     the element is clicked</a:t>
            </a:r>
          </a:p>
        </p:txBody>
      </p:sp>
      <p:sp>
        <p:nvSpPr>
          <p:cNvPr id="34" name="TextBox 33"/>
          <p:cNvSpPr txBox="1"/>
          <p:nvPr/>
        </p:nvSpPr>
        <p:spPr>
          <a:xfrm>
            <a:off x="3383280" y="5795010"/>
            <a:ext cx="5394960" cy="217170"/>
          </a:xfrm>
          <a:prstGeom prst="rect">
            <a:avLst/>
          </a:prstGeom>
          <a:noFill/>
        </p:spPr>
        <p:txBody>
          <a:bodyPr wrap="square">
            <a:spAutoFit/>
          </a:bodyPr>
          <a:lstStyle/>
          <a:p>
            <a:pPr algn="l"/>
            <a:r>
              <a:rPr sz="1150" b="0" i="0">
                <a:solidFill>
                  <a:srgbClr val="64748B"/>
                </a:solidFill>
                <a:latin typeface="Calibri"/>
              </a:rPr>
              <a:t>     z-index becomes positive</a:t>
            </a:r>
          </a:p>
        </p:txBody>
      </p:sp>
      <p:sp>
        <p:nvSpPr>
          <p:cNvPr id="35" name="TextBox 34"/>
          <p:cNvSpPr txBox="1"/>
          <p:nvPr/>
        </p:nvSpPr>
        <p:spPr>
          <a:xfrm>
            <a:off x="3383280" y="6012180"/>
            <a:ext cx="5394960" cy="269304"/>
          </a:xfrm>
          <a:prstGeom prst="rect">
            <a:avLst/>
          </a:prstGeom>
          <a:noFill/>
        </p:spPr>
        <p:txBody>
          <a:bodyPr wrap="square">
            <a:spAutoFit/>
          </a:bodyPr>
          <a:lstStyle/>
          <a:p>
            <a:pPr algn="l"/>
            <a:r>
              <a:rPr lang="ko-KR" altLang="en-US" sz="1150" b="1" dirty="0">
                <a:solidFill>
                  <a:srgbClr val="22C55E"/>
                </a:solidFill>
                <a:latin typeface="Calibri"/>
              </a:rPr>
              <a:t>　</a:t>
            </a:r>
            <a:r>
              <a:rPr sz="1150" dirty="0">
                <a:solidFill>
                  <a:srgbClr val="64748B"/>
                </a:solidFill>
                <a:latin typeface="Calibri"/>
              </a:rPr>
              <a:t>the scroll reaches the element's threshold</a:t>
            </a:r>
          </a:p>
        </p:txBody>
      </p:sp>
      <p:sp>
        <p:nvSpPr>
          <p:cNvPr id="36" name="TextBox 35"/>
          <p:cNvSpPr txBox="1"/>
          <p:nvPr/>
        </p:nvSpPr>
        <p:spPr>
          <a:xfrm>
            <a:off x="3383280" y="6229350"/>
            <a:ext cx="5394960" cy="217170"/>
          </a:xfrm>
          <a:prstGeom prst="rect">
            <a:avLst/>
          </a:prstGeom>
          <a:noFill/>
        </p:spPr>
        <p:txBody>
          <a:bodyPr wrap="square">
            <a:spAutoFit/>
          </a:bodyPr>
          <a:lstStyle/>
          <a:p>
            <a:pPr algn="l"/>
            <a:r>
              <a:rPr sz="1150" b="0" i="0">
                <a:solidFill>
                  <a:srgbClr val="64748B"/>
                </a:solidFill>
                <a:latin typeface="Calibri"/>
              </a:rPr>
              <a:t>     JavaScript sets it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9628632" cy="685800"/>
          </a:xfrm>
          <a:prstGeom prst="rect">
            <a:avLst/>
          </a:prstGeom>
          <a:noFill/>
        </p:spPr>
        <p:txBody>
          <a:bodyPr wrap="square">
            <a:spAutoFit/>
          </a:bodyPr>
          <a:lstStyle/>
          <a:p>
            <a:pPr algn="l"/>
            <a:r>
              <a:rPr sz="3200" b="1" i="0">
                <a:solidFill>
                  <a:srgbClr val="FFFFFF"/>
                </a:solidFill>
                <a:latin typeface="Calibri"/>
              </a:rPr>
              <a:t>Check-In · CSS Position</a:t>
            </a:r>
          </a:p>
        </p:txBody>
      </p:sp>
      <p:sp>
        <p:nvSpPr>
          <p:cNvPr id="4" name="TextBox 3"/>
          <p:cNvSpPr txBox="1"/>
          <p:nvPr/>
        </p:nvSpPr>
        <p:spPr>
          <a:xfrm>
            <a:off x="365760" y="685800"/>
            <a:ext cx="9628632" cy="347472"/>
          </a:xfrm>
          <a:prstGeom prst="rect">
            <a:avLst/>
          </a:prstGeom>
          <a:noFill/>
        </p:spPr>
        <p:txBody>
          <a:bodyPr wrap="square">
            <a:spAutoFit/>
          </a:bodyPr>
          <a:lstStyle/>
          <a:p>
            <a:pPr algn="l"/>
            <a:r>
              <a:rPr sz="1500" b="0" i="0">
                <a:solidFill>
                  <a:srgbClr val="F0FDFA"/>
                </a:solidFill>
                <a:latin typeface="Calibri"/>
              </a:rPr>
              <a:t>Q1–Q5 · Answer each before reading the next one</a:t>
            </a:r>
          </a:p>
        </p:txBody>
      </p:sp>
      <p:sp>
        <p:nvSpPr>
          <p:cNvPr id="5" name="Rectangle 4"/>
          <p:cNvSpPr/>
          <p:nvPr/>
        </p:nvSpPr>
        <p:spPr>
          <a:xfrm>
            <a:off x="10085832" y="45720"/>
            <a:ext cx="2011680" cy="475488"/>
          </a:xfrm>
          <a:prstGeom prst="rect">
            <a:avLst/>
          </a:prstGeom>
          <a:solidFill>
            <a:srgbClr val="064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85832" y="109728"/>
            <a:ext cx="2011680" cy="365760"/>
          </a:xfrm>
          <a:prstGeom prst="rect">
            <a:avLst/>
          </a:prstGeom>
          <a:noFill/>
        </p:spPr>
        <p:txBody>
          <a:bodyPr wrap="square">
            <a:spAutoFit/>
          </a:bodyPr>
          <a:lstStyle/>
          <a:p>
            <a:pPr algn="ctr"/>
            <a:r>
              <a:rPr sz="1000" b="1" i="0">
                <a:solidFill>
                  <a:srgbClr val="14B8A6"/>
                </a:solidFill>
                <a:latin typeface="Calibri"/>
              </a:rPr>
              <a:t>WEEK 3 · FRIDAY</a:t>
            </a:r>
          </a:p>
        </p:txBody>
      </p:sp>
      <p:sp>
        <p:nvSpPr>
          <p:cNvPr id="7" name="Rectangle 6"/>
          <p:cNvSpPr/>
          <p:nvPr/>
        </p:nvSpPr>
        <p:spPr>
          <a:xfrm>
            <a:off x="274320" y="1280160"/>
            <a:ext cx="5669280" cy="1645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80" y="1371600"/>
            <a:ext cx="5394960" cy="640080"/>
          </a:xfrm>
          <a:prstGeom prst="rect">
            <a:avLst/>
          </a:prstGeom>
          <a:noFill/>
        </p:spPr>
        <p:txBody>
          <a:bodyPr wrap="square">
            <a:spAutoFit/>
          </a:bodyPr>
          <a:lstStyle/>
          <a:p>
            <a:pPr algn="l"/>
            <a:r>
              <a:rPr sz="1350" b="1" i="0">
                <a:solidFill>
                  <a:srgbClr val="FFFFFF"/>
                </a:solidFill>
                <a:latin typeface="Calibri"/>
              </a:rPr>
              <a:t>Q1  What is the DEFAULT value of the CSS position property?</a:t>
            </a:r>
          </a:p>
        </p:txBody>
      </p:sp>
      <p:sp>
        <p:nvSpPr>
          <p:cNvPr id="9" name="TextBox 8"/>
          <p:cNvSpPr txBox="1"/>
          <p:nvPr/>
        </p:nvSpPr>
        <p:spPr>
          <a:xfrm>
            <a:off x="411480" y="2011680"/>
            <a:ext cx="5394960" cy="217170"/>
          </a:xfrm>
          <a:prstGeom prst="rect">
            <a:avLst/>
          </a:prstGeom>
          <a:noFill/>
        </p:spPr>
        <p:txBody>
          <a:bodyPr wrap="square">
            <a:spAutoFit/>
          </a:bodyPr>
          <a:lstStyle/>
          <a:p>
            <a:pPr algn="l"/>
            <a:r>
              <a:rPr sz="1150" b="1" i="0">
                <a:solidFill>
                  <a:srgbClr val="22C55E"/>
                </a:solidFill>
                <a:latin typeface="Calibri"/>
              </a:rPr>
              <a:t>✔ static</a:t>
            </a:r>
          </a:p>
        </p:txBody>
      </p:sp>
      <p:sp>
        <p:nvSpPr>
          <p:cNvPr id="10" name="TextBox 9"/>
          <p:cNvSpPr txBox="1"/>
          <p:nvPr/>
        </p:nvSpPr>
        <p:spPr>
          <a:xfrm>
            <a:off x="411480" y="2228850"/>
            <a:ext cx="5394960" cy="217170"/>
          </a:xfrm>
          <a:prstGeom prst="rect">
            <a:avLst/>
          </a:prstGeom>
          <a:noFill/>
        </p:spPr>
        <p:txBody>
          <a:bodyPr wrap="square">
            <a:spAutoFit/>
          </a:bodyPr>
          <a:lstStyle/>
          <a:p>
            <a:pPr algn="l"/>
            <a:r>
              <a:rPr sz="1150" b="0" i="0">
                <a:solidFill>
                  <a:srgbClr val="64748B"/>
                </a:solidFill>
                <a:latin typeface="Calibri"/>
              </a:rPr>
              <a:t>     relative</a:t>
            </a:r>
          </a:p>
        </p:txBody>
      </p:sp>
      <p:sp>
        <p:nvSpPr>
          <p:cNvPr id="11" name="TextBox 10"/>
          <p:cNvSpPr txBox="1"/>
          <p:nvPr/>
        </p:nvSpPr>
        <p:spPr>
          <a:xfrm>
            <a:off x="411480" y="2446020"/>
            <a:ext cx="5394960" cy="217170"/>
          </a:xfrm>
          <a:prstGeom prst="rect">
            <a:avLst/>
          </a:prstGeom>
          <a:noFill/>
        </p:spPr>
        <p:txBody>
          <a:bodyPr wrap="square">
            <a:spAutoFit/>
          </a:bodyPr>
          <a:lstStyle/>
          <a:p>
            <a:pPr algn="l"/>
            <a:r>
              <a:rPr sz="1150" b="0" i="0">
                <a:solidFill>
                  <a:srgbClr val="64748B"/>
                </a:solidFill>
                <a:latin typeface="Calibri"/>
              </a:rPr>
              <a:t>     absolute</a:t>
            </a:r>
          </a:p>
        </p:txBody>
      </p:sp>
      <p:sp>
        <p:nvSpPr>
          <p:cNvPr id="12" name="TextBox 11"/>
          <p:cNvSpPr txBox="1"/>
          <p:nvPr/>
        </p:nvSpPr>
        <p:spPr>
          <a:xfrm>
            <a:off x="411480" y="2663190"/>
            <a:ext cx="5394960" cy="217170"/>
          </a:xfrm>
          <a:prstGeom prst="rect">
            <a:avLst/>
          </a:prstGeom>
          <a:noFill/>
        </p:spPr>
        <p:txBody>
          <a:bodyPr wrap="square">
            <a:spAutoFit/>
          </a:bodyPr>
          <a:lstStyle/>
          <a:p>
            <a:pPr algn="l"/>
            <a:r>
              <a:rPr sz="1150" b="0" i="0">
                <a:solidFill>
                  <a:srgbClr val="64748B"/>
                </a:solidFill>
                <a:latin typeface="Calibri"/>
              </a:rPr>
              <a:t>     fixed</a:t>
            </a:r>
          </a:p>
        </p:txBody>
      </p:sp>
      <p:sp>
        <p:nvSpPr>
          <p:cNvPr id="13" name="Rectangle 12"/>
          <p:cNvSpPr/>
          <p:nvPr/>
        </p:nvSpPr>
        <p:spPr>
          <a:xfrm>
            <a:off x="6217920" y="1280160"/>
            <a:ext cx="5669280" cy="1645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55080" y="1371600"/>
            <a:ext cx="5394960" cy="640080"/>
          </a:xfrm>
          <a:prstGeom prst="rect">
            <a:avLst/>
          </a:prstGeom>
          <a:noFill/>
        </p:spPr>
        <p:txBody>
          <a:bodyPr wrap="square">
            <a:spAutoFit/>
          </a:bodyPr>
          <a:lstStyle/>
          <a:p>
            <a:pPr algn="l"/>
            <a:r>
              <a:rPr sz="1350" b="1" i="0">
                <a:solidFill>
                  <a:srgbClr val="FFFFFF"/>
                </a:solidFill>
                <a:latin typeface="Calibri"/>
              </a:rPr>
              <a:t>Q2  position: relative offsets the element relative to …</a:t>
            </a:r>
          </a:p>
        </p:txBody>
      </p:sp>
      <p:sp>
        <p:nvSpPr>
          <p:cNvPr id="15" name="TextBox 14"/>
          <p:cNvSpPr txBox="1"/>
          <p:nvPr/>
        </p:nvSpPr>
        <p:spPr>
          <a:xfrm>
            <a:off x="6355080" y="2011680"/>
            <a:ext cx="5394960" cy="217170"/>
          </a:xfrm>
          <a:prstGeom prst="rect">
            <a:avLst/>
          </a:prstGeom>
          <a:noFill/>
        </p:spPr>
        <p:txBody>
          <a:bodyPr wrap="square">
            <a:spAutoFit/>
          </a:bodyPr>
          <a:lstStyle/>
          <a:p>
            <a:pPr algn="l"/>
            <a:r>
              <a:rPr sz="1150" b="0" i="0">
                <a:solidFill>
                  <a:srgbClr val="64748B"/>
                </a:solidFill>
                <a:latin typeface="Calibri"/>
              </a:rPr>
              <a:t>     its nearest positioned ancestor</a:t>
            </a:r>
          </a:p>
        </p:txBody>
      </p:sp>
      <p:sp>
        <p:nvSpPr>
          <p:cNvPr id="16" name="TextBox 15"/>
          <p:cNvSpPr txBox="1"/>
          <p:nvPr/>
        </p:nvSpPr>
        <p:spPr>
          <a:xfrm>
            <a:off x="6355080" y="2228850"/>
            <a:ext cx="5394960" cy="217170"/>
          </a:xfrm>
          <a:prstGeom prst="rect">
            <a:avLst/>
          </a:prstGeom>
          <a:noFill/>
        </p:spPr>
        <p:txBody>
          <a:bodyPr wrap="square">
            <a:spAutoFit/>
          </a:bodyPr>
          <a:lstStyle/>
          <a:p>
            <a:pPr algn="l"/>
            <a:r>
              <a:rPr sz="1150" b="0" i="0">
                <a:solidFill>
                  <a:srgbClr val="64748B"/>
                </a:solidFill>
                <a:latin typeface="Calibri"/>
              </a:rPr>
              <a:t>     the viewport</a:t>
            </a:r>
          </a:p>
        </p:txBody>
      </p:sp>
      <p:sp>
        <p:nvSpPr>
          <p:cNvPr id="17" name="TextBox 16"/>
          <p:cNvSpPr txBox="1"/>
          <p:nvPr/>
        </p:nvSpPr>
        <p:spPr>
          <a:xfrm>
            <a:off x="6355080" y="2446020"/>
            <a:ext cx="5394960" cy="217170"/>
          </a:xfrm>
          <a:prstGeom prst="rect">
            <a:avLst/>
          </a:prstGeom>
          <a:noFill/>
        </p:spPr>
        <p:txBody>
          <a:bodyPr wrap="square">
            <a:spAutoFit/>
          </a:bodyPr>
          <a:lstStyle/>
          <a:p>
            <a:pPr algn="l"/>
            <a:r>
              <a:rPr sz="1150" b="1" i="0">
                <a:solidFill>
                  <a:srgbClr val="22C55E"/>
                </a:solidFill>
                <a:latin typeface="Calibri"/>
              </a:rPr>
              <a:t>✘ its own original position</a:t>
            </a:r>
          </a:p>
        </p:txBody>
      </p:sp>
      <p:sp>
        <p:nvSpPr>
          <p:cNvPr id="18" name="TextBox 17"/>
          <p:cNvSpPr txBox="1"/>
          <p:nvPr/>
        </p:nvSpPr>
        <p:spPr>
          <a:xfrm>
            <a:off x="6355080" y="2663190"/>
            <a:ext cx="5394960" cy="217170"/>
          </a:xfrm>
          <a:prstGeom prst="rect">
            <a:avLst/>
          </a:prstGeom>
          <a:noFill/>
        </p:spPr>
        <p:txBody>
          <a:bodyPr wrap="square">
            <a:spAutoFit/>
          </a:bodyPr>
          <a:lstStyle/>
          <a:p>
            <a:pPr algn="l"/>
            <a:r>
              <a:rPr sz="1150" b="0" i="0">
                <a:solidFill>
                  <a:srgbClr val="64748B"/>
                </a:solidFill>
                <a:latin typeface="Calibri"/>
              </a:rPr>
              <a:t>     the document &lt;body&gt;</a:t>
            </a:r>
          </a:p>
        </p:txBody>
      </p:sp>
      <p:sp>
        <p:nvSpPr>
          <p:cNvPr id="19" name="Rectangle 18"/>
          <p:cNvSpPr/>
          <p:nvPr/>
        </p:nvSpPr>
        <p:spPr>
          <a:xfrm>
            <a:off x="274320" y="3063240"/>
            <a:ext cx="5669280" cy="1645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11480" y="3154680"/>
            <a:ext cx="5394960" cy="640080"/>
          </a:xfrm>
          <a:prstGeom prst="rect">
            <a:avLst/>
          </a:prstGeom>
          <a:noFill/>
        </p:spPr>
        <p:txBody>
          <a:bodyPr wrap="square">
            <a:spAutoFit/>
          </a:bodyPr>
          <a:lstStyle/>
          <a:p>
            <a:pPr algn="l"/>
            <a:r>
              <a:rPr sz="1350" b="1" i="0">
                <a:solidFill>
                  <a:srgbClr val="FFFFFF"/>
                </a:solidFill>
                <a:latin typeface="Calibri"/>
              </a:rPr>
              <a:t>Q3  position: absolute anchors the element relative to …</a:t>
            </a:r>
          </a:p>
        </p:txBody>
      </p:sp>
      <p:sp>
        <p:nvSpPr>
          <p:cNvPr id="21" name="TextBox 20"/>
          <p:cNvSpPr txBox="1"/>
          <p:nvPr/>
        </p:nvSpPr>
        <p:spPr>
          <a:xfrm>
            <a:off x="411480" y="3794760"/>
            <a:ext cx="5394960" cy="217170"/>
          </a:xfrm>
          <a:prstGeom prst="rect">
            <a:avLst/>
          </a:prstGeom>
          <a:noFill/>
        </p:spPr>
        <p:txBody>
          <a:bodyPr wrap="square">
            <a:spAutoFit/>
          </a:bodyPr>
          <a:lstStyle/>
          <a:p>
            <a:pPr algn="l"/>
            <a:r>
              <a:rPr sz="1150" b="0" i="0">
                <a:solidFill>
                  <a:srgbClr val="64748B"/>
                </a:solidFill>
                <a:latin typeface="Calibri"/>
              </a:rPr>
              <a:t>     the viewport</a:t>
            </a:r>
          </a:p>
        </p:txBody>
      </p:sp>
      <p:sp>
        <p:nvSpPr>
          <p:cNvPr id="22" name="TextBox 21"/>
          <p:cNvSpPr txBox="1"/>
          <p:nvPr/>
        </p:nvSpPr>
        <p:spPr>
          <a:xfrm>
            <a:off x="411480" y="4011930"/>
            <a:ext cx="5394960" cy="217170"/>
          </a:xfrm>
          <a:prstGeom prst="rect">
            <a:avLst/>
          </a:prstGeom>
          <a:noFill/>
        </p:spPr>
        <p:txBody>
          <a:bodyPr wrap="square">
            <a:spAutoFit/>
          </a:bodyPr>
          <a:lstStyle/>
          <a:p>
            <a:pPr algn="l"/>
            <a:r>
              <a:rPr sz="1150" b="1" i="0">
                <a:solidFill>
                  <a:srgbClr val="22C55E"/>
                </a:solidFill>
                <a:latin typeface="Calibri"/>
              </a:rPr>
              <a:t>✘ its nearest POSITIONED ancestor (or &lt;body&gt;)</a:t>
            </a:r>
          </a:p>
        </p:txBody>
      </p:sp>
      <p:sp>
        <p:nvSpPr>
          <p:cNvPr id="23" name="TextBox 22"/>
          <p:cNvSpPr txBox="1"/>
          <p:nvPr/>
        </p:nvSpPr>
        <p:spPr>
          <a:xfrm>
            <a:off x="411480" y="4229100"/>
            <a:ext cx="5394960" cy="217170"/>
          </a:xfrm>
          <a:prstGeom prst="rect">
            <a:avLst/>
          </a:prstGeom>
          <a:noFill/>
        </p:spPr>
        <p:txBody>
          <a:bodyPr wrap="square">
            <a:spAutoFit/>
          </a:bodyPr>
          <a:lstStyle/>
          <a:p>
            <a:pPr algn="l"/>
            <a:r>
              <a:rPr sz="1150" b="0" i="0">
                <a:solidFill>
                  <a:srgbClr val="64748B"/>
                </a:solidFill>
                <a:latin typeface="Calibri"/>
              </a:rPr>
              <a:t>     the document root</a:t>
            </a:r>
          </a:p>
        </p:txBody>
      </p:sp>
      <p:sp>
        <p:nvSpPr>
          <p:cNvPr id="24" name="TextBox 23"/>
          <p:cNvSpPr txBox="1"/>
          <p:nvPr/>
        </p:nvSpPr>
        <p:spPr>
          <a:xfrm>
            <a:off x="411480" y="4446270"/>
            <a:ext cx="5394960" cy="217170"/>
          </a:xfrm>
          <a:prstGeom prst="rect">
            <a:avLst/>
          </a:prstGeom>
          <a:noFill/>
        </p:spPr>
        <p:txBody>
          <a:bodyPr wrap="square">
            <a:spAutoFit/>
          </a:bodyPr>
          <a:lstStyle/>
          <a:p>
            <a:pPr algn="l"/>
            <a:r>
              <a:rPr sz="1150" b="0" i="0">
                <a:solidFill>
                  <a:srgbClr val="64748B"/>
                </a:solidFill>
                <a:latin typeface="Calibri"/>
              </a:rPr>
              <a:t>     the screen</a:t>
            </a:r>
          </a:p>
        </p:txBody>
      </p:sp>
      <p:sp>
        <p:nvSpPr>
          <p:cNvPr id="25" name="Rectangle 24"/>
          <p:cNvSpPr/>
          <p:nvPr/>
        </p:nvSpPr>
        <p:spPr>
          <a:xfrm>
            <a:off x="6217920" y="3063240"/>
            <a:ext cx="5669280" cy="1645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55080" y="3154680"/>
            <a:ext cx="5394960" cy="640080"/>
          </a:xfrm>
          <a:prstGeom prst="rect">
            <a:avLst/>
          </a:prstGeom>
          <a:noFill/>
        </p:spPr>
        <p:txBody>
          <a:bodyPr wrap="square">
            <a:spAutoFit/>
          </a:bodyPr>
          <a:lstStyle/>
          <a:p>
            <a:pPr algn="l"/>
            <a:r>
              <a:rPr sz="1350" b="1" i="0">
                <a:solidFill>
                  <a:srgbClr val="FFFFFF"/>
                </a:solidFill>
                <a:latin typeface="Calibri"/>
              </a:rPr>
              <a:t>Q4  Which position value stays fixed to the viewport while scrolling?</a:t>
            </a:r>
          </a:p>
        </p:txBody>
      </p:sp>
      <p:sp>
        <p:nvSpPr>
          <p:cNvPr id="27" name="TextBox 26"/>
          <p:cNvSpPr txBox="1"/>
          <p:nvPr/>
        </p:nvSpPr>
        <p:spPr>
          <a:xfrm>
            <a:off x="6355080" y="3794760"/>
            <a:ext cx="5394960" cy="217170"/>
          </a:xfrm>
          <a:prstGeom prst="rect">
            <a:avLst/>
          </a:prstGeom>
          <a:noFill/>
        </p:spPr>
        <p:txBody>
          <a:bodyPr wrap="square">
            <a:spAutoFit/>
          </a:bodyPr>
          <a:lstStyle/>
          <a:p>
            <a:pPr algn="l"/>
            <a:r>
              <a:rPr sz="1150" b="0" i="0">
                <a:solidFill>
                  <a:srgbClr val="64748B"/>
                </a:solidFill>
                <a:latin typeface="Calibri"/>
              </a:rPr>
              <a:t>     absolute</a:t>
            </a:r>
          </a:p>
        </p:txBody>
      </p:sp>
      <p:sp>
        <p:nvSpPr>
          <p:cNvPr id="28" name="TextBox 27"/>
          <p:cNvSpPr txBox="1"/>
          <p:nvPr/>
        </p:nvSpPr>
        <p:spPr>
          <a:xfrm>
            <a:off x="6355080" y="4011930"/>
            <a:ext cx="5394960" cy="217170"/>
          </a:xfrm>
          <a:prstGeom prst="rect">
            <a:avLst/>
          </a:prstGeom>
          <a:noFill/>
        </p:spPr>
        <p:txBody>
          <a:bodyPr wrap="square">
            <a:spAutoFit/>
          </a:bodyPr>
          <a:lstStyle/>
          <a:p>
            <a:pPr algn="l"/>
            <a:r>
              <a:rPr sz="1150" b="0" i="0">
                <a:solidFill>
                  <a:srgbClr val="64748B"/>
                </a:solidFill>
                <a:latin typeface="Calibri"/>
              </a:rPr>
              <a:t>     relative</a:t>
            </a:r>
          </a:p>
        </p:txBody>
      </p:sp>
      <p:sp>
        <p:nvSpPr>
          <p:cNvPr id="29" name="TextBox 28"/>
          <p:cNvSpPr txBox="1"/>
          <p:nvPr/>
        </p:nvSpPr>
        <p:spPr>
          <a:xfrm>
            <a:off x="6355080" y="4229100"/>
            <a:ext cx="5394960" cy="217170"/>
          </a:xfrm>
          <a:prstGeom prst="rect">
            <a:avLst/>
          </a:prstGeom>
          <a:noFill/>
        </p:spPr>
        <p:txBody>
          <a:bodyPr wrap="square">
            <a:spAutoFit/>
          </a:bodyPr>
          <a:lstStyle/>
          <a:p>
            <a:pPr algn="l"/>
            <a:r>
              <a:rPr sz="1150" b="1" i="0">
                <a:solidFill>
                  <a:srgbClr val="22C55E"/>
                </a:solidFill>
                <a:latin typeface="Calibri"/>
              </a:rPr>
              <a:t>✘ fixed</a:t>
            </a:r>
          </a:p>
        </p:txBody>
      </p:sp>
      <p:sp>
        <p:nvSpPr>
          <p:cNvPr id="30" name="TextBox 29"/>
          <p:cNvSpPr txBox="1"/>
          <p:nvPr/>
        </p:nvSpPr>
        <p:spPr>
          <a:xfrm>
            <a:off x="6355080" y="4446270"/>
            <a:ext cx="5394960" cy="217170"/>
          </a:xfrm>
          <a:prstGeom prst="rect">
            <a:avLst/>
          </a:prstGeom>
          <a:noFill/>
        </p:spPr>
        <p:txBody>
          <a:bodyPr wrap="square">
            <a:spAutoFit/>
          </a:bodyPr>
          <a:lstStyle/>
          <a:p>
            <a:pPr algn="l"/>
            <a:r>
              <a:rPr sz="1150" b="0" i="0">
                <a:solidFill>
                  <a:srgbClr val="64748B"/>
                </a:solidFill>
                <a:latin typeface="Calibri"/>
              </a:rPr>
              <a:t>     sticky</a:t>
            </a:r>
          </a:p>
        </p:txBody>
      </p:sp>
      <p:sp>
        <p:nvSpPr>
          <p:cNvPr id="31" name="Rectangle 30"/>
          <p:cNvSpPr/>
          <p:nvPr/>
        </p:nvSpPr>
        <p:spPr>
          <a:xfrm>
            <a:off x="3246120" y="4846320"/>
            <a:ext cx="5669280" cy="1645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383280" y="4937760"/>
            <a:ext cx="5394960" cy="640080"/>
          </a:xfrm>
          <a:prstGeom prst="rect">
            <a:avLst/>
          </a:prstGeom>
          <a:noFill/>
        </p:spPr>
        <p:txBody>
          <a:bodyPr wrap="square">
            <a:spAutoFit/>
          </a:bodyPr>
          <a:lstStyle/>
          <a:p>
            <a:pPr algn="l"/>
            <a:r>
              <a:rPr sz="1350" b="1" i="0">
                <a:solidFill>
                  <a:srgbClr val="FFFFFF"/>
                </a:solidFill>
                <a:latin typeface="Calibri"/>
              </a:rPr>
              <a:t>Q5  position: sticky switches from relative to fixed when …</a:t>
            </a:r>
          </a:p>
        </p:txBody>
      </p:sp>
      <p:sp>
        <p:nvSpPr>
          <p:cNvPr id="33" name="TextBox 32"/>
          <p:cNvSpPr txBox="1"/>
          <p:nvPr/>
        </p:nvSpPr>
        <p:spPr>
          <a:xfrm>
            <a:off x="3383280" y="5577840"/>
            <a:ext cx="5394960" cy="217170"/>
          </a:xfrm>
          <a:prstGeom prst="rect">
            <a:avLst/>
          </a:prstGeom>
          <a:noFill/>
        </p:spPr>
        <p:txBody>
          <a:bodyPr wrap="square">
            <a:spAutoFit/>
          </a:bodyPr>
          <a:lstStyle/>
          <a:p>
            <a:pPr algn="l"/>
            <a:r>
              <a:rPr sz="1150" b="0" i="0">
                <a:solidFill>
                  <a:srgbClr val="64748B"/>
                </a:solidFill>
                <a:latin typeface="Calibri"/>
              </a:rPr>
              <a:t>     the element is clicked</a:t>
            </a:r>
          </a:p>
        </p:txBody>
      </p:sp>
      <p:sp>
        <p:nvSpPr>
          <p:cNvPr id="34" name="TextBox 33"/>
          <p:cNvSpPr txBox="1"/>
          <p:nvPr/>
        </p:nvSpPr>
        <p:spPr>
          <a:xfrm>
            <a:off x="3383280" y="5795010"/>
            <a:ext cx="5394960" cy="217170"/>
          </a:xfrm>
          <a:prstGeom prst="rect">
            <a:avLst/>
          </a:prstGeom>
          <a:noFill/>
        </p:spPr>
        <p:txBody>
          <a:bodyPr wrap="square">
            <a:spAutoFit/>
          </a:bodyPr>
          <a:lstStyle/>
          <a:p>
            <a:pPr algn="l"/>
            <a:r>
              <a:rPr sz="1150" b="0" i="0">
                <a:solidFill>
                  <a:srgbClr val="64748B"/>
                </a:solidFill>
                <a:latin typeface="Calibri"/>
              </a:rPr>
              <a:t>     z-index becomes positive</a:t>
            </a:r>
          </a:p>
        </p:txBody>
      </p:sp>
      <p:sp>
        <p:nvSpPr>
          <p:cNvPr id="35" name="TextBox 34"/>
          <p:cNvSpPr txBox="1"/>
          <p:nvPr/>
        </p:nvSpPr>
        <p:spPr>
          <a:xfrm>
            <a:off x="3383280" y="6012180"/>
            <a:ext cx="5394960" cy="217170"/>
          </a:xfrm>
          <a:prstGeom prst="rect">
            <a:avLst/>
          </a:prstGeom>
          <a:noFill/>
        </p:spPr>
        <p:txBody>
          <a:bodyPr wrap="square">
            <a:spAutoFit/>
          </a:bodyPr>
          <a:lstStyle/>
          <a:p>
            <a:pPr algn="l"/>
            <a:r>
              <a:rPr sz="1150" b="1" i="0">
                <a:solidFill>
                  <a:srgbClr val="22C55E"/>
                </a:solidFill>
                <a:latin typeface="Calibri"/>
              </a:rPr>
              <a:t>✘ the scroll reaches the element's threshold</a:t>
            </a:r>
          </a:p>
        </p:txBody>
      </p:sp>
      <p:sp>
        <p:nvSpPr>
          <p:cNvPr id="36" name="TextBox 35"/>
          <p:cNvSpPr txBox="1"/>
          <p:nvPr/>
        </p:nvSpPr>
        <p:spPr>
          <a:xfrm>
            <a:off x="3383280" y="6229350"/>
            <a:ext cx="5394960" cy="217170"/>
          </a:xfrm>
          <a:prstGeom prst="rect">
            <a:avLst/>
          </a:prstGeom>
          <a:noFill/>
        </p:spPr>
        <p:txBody>
          <a:bodyPr wrap="square">
            <a:spAutoFit/>
          </a:bodyPr>
          <a:lstStyle/>
          <a:p>
            <a:pPr algn="l"/>
            <a:r>
              <a:rPr sz="1150" b="0" i="0">
                <a:solidFill>
                  <a:srgbClr val="64748B"/>
                </a:solidFill>
                <a:latin typeface="Calibri"/>
              </a:rPr>
              <a:t>     JavaScript sets it</a:t>
            </a:r>
          </a:p>
        </p:txBody>
      </p:sp>
    </p:spTree>
    <p:extLst>
      <p:ext uri="{BB962C8B-B14F-4D97-AF65-F5344CB8AC3E}">
        <p14:creationId xmlns:p14="http://schemas.microsoft.com/office/powerpoint/2010/main" val="2440190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9628632" cy="685800"/>
          </a:xfrm>
          <a:prstGeom prst="rect">
            <a:avLst/>
          </a:prstGeom>
          <a:noFill/>
        </p:spPr>
        <p:txBody>
          <a:bodyPr wrap="square">
            <a:spAutoFit/>
          </a:bodyPr>
          <a:lstStyle/>
          <a:p>
            <a:pPr algn="l"/>
            <a:r>
              <a:rPr sz="3200" b="1" i="0">
                <a:solidFill>
                  <a:srgbClr val="FFFFFF"/>
                </a:solidFill>
                <a:latin typeface="Calibri"/>
              </a:rPr>
              <a:t>CSS Pseudo-classes</a:t>
            </a:r>
          </a:p>
        </p:txBody>
      </p:sp>
      <p:sp>
        <p:nvSpPr>
          <p:cNvPr id="4" name="TextBox 3"/>
          <p:cNvSpPr txBox="1"/>
          <p:nvPr/>
        </p:nvSpPr>
        <p:spPr>
          <a:xfrm>
            <a:off x="365760" y="685800"/>
            <a:ext cx="9628632" cy="347472"/>
          </a:xfrm>
          <a:prstGeom prst="rect">
            <a:avLst/>
          </a:prstGeom>
          <a:noFill/>
        </p:spPr>
        <p:txBody>
          <a:bodyPr wrap="square">
            <a:spAutoFit/>
          </a:bodyPr>
          <a:lstStyle/>
          <a:p>
            <a:pPr algn="l"/>
            <a:r>
              <a:rPr sz="1500" b="0" i="0">
                <a:solidFill>
                  <a:srgbClr val="F0FDFA"/>
                </a:solidFill>
                <a:latin typeface="Calibri"/>
              </a:rPr>
              <a:t>Style an element based on its STATE — no JavaScript needed</a:t>
            </a:r>
          </a:p>
        </p:txBody>
      </p:sp>
      <p:sp>
        <p:nvSpPr>
          <p:cNvPr id="5" name="Rectangle 4"/>
          <p:cNvSpPr/>
          <p:nvPr/>
        </p:nvSpPr>
        <p:spPr>
          <a:xfrm>
            <a:off x="10085832" y="45720"/>
            <a:ext cx="2011680" cy="475488"/>
          </a:xfrm>
          <a:prstGeom prst="rect">
            <a:avLst/>
          </a:prstGeom>
          <a:solidFill>
            <a:srgbClr val="064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85832" y="109728"/>
            <a:ext cx="2011680" cy="365760"/>
          </a:xfrm>
          <a:prstGeom prst="rect">
            <a:avLst/>
          </a:prstGeom>
          <a:noFill/>
        </p:spPr>
        <p:txBody>
          <a:bodyPr wrap="square">
            <a:spAutoFit/>
          </a:bodyPr>
          <a:lstStyle/>
          <a:p>
            <a:pPr algn="ctr"/>
            <a:r>
              <a:rPr sz="1000" b="1" i="0">
                <a:solidFill>
                  <a:srgbClr val="14B8A6"/>
                </a:solidFill>
                <a:latin typeface="Calibri"/>
              </a:rPr>
              <a:t>WEEK 3 · FRIDAY</a:t>
            </a:r>
          </a:p>
        </p:txBody>
      </p:sp>
      <p:sp>
        <p:nvSpPr>
          <p:cNvPr id="7" name="Rectangle 6"/>
          <p:cNvSpPr/>
          <p:nvPr/>
        </p:nvSpPr>
        <p:spPr>
          <a:xfrm>
            <a:off x="274320" y="1234440"/>
            <a:ext cx="3657600" cy="15087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234440"/>
            <a:ext cx="91440" cy="150876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75488" y="1325880"/>
            <a:ext cx="3657600" cy="384048"/>
          </a:xfrm>
          <a:prstGeom prst="rect">
            <a:avLst/>
          </a:prstGeom>
          <a:noFill/>
        </p:spPr>
        <p:txBody>
          <a:bodyPr wrap="square">
            <a:spAutoFit/>
          </a:bodyPr>
          <a:lstStyle/>
          <a:p>
            <a:pPr algn="l"/>
            <a:r>
              <a:rPr sz="1600" b="1" i="0">
                <a:solidFill>
                  <a:srgbClr val="22C55E"/>
                </a:solidFill>
                <a:latin typeface="Consolas"/>
              </a:rPr>
              <a:t>:hover</a:t>
            </a:r>
          </a:p>
        </p:txBody>
      </p:sp>
      <p:sp>
        <p:nvSpPr>
          <p:cNvPr id="10" name="TextBox 9"/>
          <p:cNvSpPr txBox="1"/>
          <p:nvPr/>
        </p:nvSpPr>
        <p:spPr>
          <a:xfrm>
            <a:off x="475488" y="1737360"/>
            <a:ext cx="3337560" cy="475488"/>
          </a:xfrm>
          <a:prstGeom prst="rect">
            <a:avLst/>
          </a:prstGeom>
          <a:noFill/>
        </p:spPr>
        <p:txBody>
          <a:bodyPr wrap="square">
            <a:spAutoFit/>
          </a:bodyPr>
          <a:lstStyle/>
          <a:p>
            <a:pPr algn="l"/>
            <a:r>
              <a:rPr sz="1250" b="0" i="0">
                <a:solidFill>
                  <a:srgbClr val="FFFFFF"/>
                </a:solidFill>
                <a:latin typeface="Calibri"/>
              </a:rPr>
              <a:t>User hovers the mouse over the element</a:t>
            </a:r>
          </a:p>
        </p:txBody>
      </p:sp>
      <p:sp>
        <p:nvSpPr>
          <p:cNvPr id="11" name="TextBox 10"/>
          <p:cNvSpPr txBox="1"/>
          <p:nvPr/>
        </p:nvSpPr>
        <p:spPr>
          <a:xfrm>
            <a:off x="475488" y="2240280"/>
            <a:ext cx="3337560" cy="411480"/>
          </a:xfrm>
          <a:prstGeom prst="rect">
            <a:avLst/>
          </a:prstGeom>
          <a:noFill/>
        </p:spPr>
        <p:txBody>
          <a:bodyPr wrap="square">
            <a:spAutoFit/>
          </a:bodyPr>
          <a:lstStyle/>
          <a:p>
            <a:pPr algn="l"/>
            <a:r>
              <a:rPr sz="1100" b="0" i="0">
                <a:solidFill>
                  <a:srgbClr val="14B8A6"/>
                </a:solidFill>
                <a:latin typeface="Consolas"/>
              </a:rPr>
              <a:t>a:hover { color: teal; }</a:t>
            </a:r>
          </a:p>
        </p:txBody>
      </p:sp>
      <p:sp>
        <p:nvSpPr>
          <p:cNvPr id="12" name="Rectangle 11"/>
          <p:cNvSpPr/>
          <p:nvPr/>
        </p:nvSpPr>
        <p:spPr>
          <a:xfrm>
            <a:off x="4069080" y="1234440"/>
            <a:ext cx="3657600" cy="15087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069080" y="1234440"/>
            <a:ext cx="91440" cy="15087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270248" y="1325880"/>
            <a:ext cx="3657600" cy="384048"/>
          </a:xfrm>
          <a:prstGeom prst="rect">
            <a:avLst/>
          </a:prstGeom>
          <a:noFill/>
        </p:spPr>
        <p:txBody>
          <a:bodyPr wrap="square">
            <a:spAutoFit/>
          </a:bodyPr>
          <a:lstStyle/>
          <a:p>
            <a:pPr algn="l"/>
            <a:r>
              <a:rPr sz="1600" b="1" i="0">
                <a:solidFill>
                  <a:srgbClr val="F59E0B"/>
                </a:solidFill>
                <a:latin typeface="Consolas"/>
              </a:rPr>
              <a:t>:focus</a:t>
            </a:r>
          </a:p>
        </p:txBody>
      </p:sp>
      <p:sp>
        <p:nvSpPr>
          <p:cNvPr id="15" name="TextBox 14"/>
          <p:cNvSpPr txBox="1"/>
          <p:nvPr/>
        </p:nvSpPr>
        <p:spPr>
          <a:xfrm>
            <a:off x="4270248" y="1737360"/>
            <a:ext cx="3337560" cy="475488"/>
          </a:xfrm>
          <a:prstGeom prst="rect">
            <a:avLst/>
          </a:prstGeom>
          <a:noFill/>
        </p:spPr>
        <p:txBody>
          <a:bodyPr wrap="square">
            <a:spAutoFit/>
          </a:bodyPr>
          <a:lstStyle/>
          <a:p>
            <a:pPr algn="l"/>
            <a:r>
              <a:rPr sz="1250" b="0" i="0">
                <a:solidFill>
                  <a:srgbClr val="FFFFFF"/>
                </a:solidFill>
                <a:latin typeface="Calibri"/>
              </a:rPr>
              <a:t>Element receives keyboard/click focus</a:t>
            </a:r>
          </a:p>
        </p:txBody>
      </p:sp>
      <p:sp>
        <p:nvSpPr>
          <p:cNvPr id="16" name="TextBox 15"/>
          <p:cNvSpPr txBox="1"/>
          <p:nvPr/>
        </p:nvSpPr>
        <p:spPr>
          <a:xfrm>
            <a:off x="4270248" y="2240280"/>
            <a:ext cx="3337560" cy="411480"/>
          </a:xfrm>
          <a:prstGeom prst="rect">
            <a:avLst/>
          </a:prstGeom>
          <a:noFill/>
        </p:spPr>
        <p:txBody>
          <a:bodyPr wrap="square">
            <a:spAutoFit/>
          </a:bodyPr>
          <a:lstStyle/>
          <a:p>
            <a:pPr algn="l"/>
            <a:r>
              <a:rPr sz="1100" b="0" i="0">
                <a:solidFill>
                  <a:srgbClr val="14B8A6"/>
                </a:solidFill>
                <a:latin typeface="Consolas"/>
              </a:rPr>
              <a:t>input:focus { outline: 2px solid teal; }</a:t>
            </a:r>
          </a:p>
        </p:txBody>
      </p:sp>
      <p:sp>
        <p:nvSpPr>
          <p:cNvPr id="17" name="Rectangle 16"/>
          <p:cNvSpPr/>
          <p:nvPr/>
        </p:nvSpPr>
        <p:spPr>
          <a:xfrm>
            <a:off x="7863840" y="2880360"/>
            <a:ext cx="3657600" cy="15087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863840" y="2880360"/>
            <a:ext cx="91440" cy="150876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065008" y="2971800"/>
            <a:ext cx="3657600" cy="384048"/>
          </a:xfrm>
          <a:prstGeom prst="rect">
            <a:avLst/>
          </a:prstGeom>
          <a:noFill/>
        </p:spPr>
        <p:txBody>
          <a:bodyPr wrap="square">
            <a:spAutoFit/>
          </a:bodyPr>
          <a:lstStyle/>
          <a:p>
            <a:pPr algn="l"/>
            <a:r>
              <a:rPr sz="1600" b="1" i="0">
                <a:solidFill>
                  <a:srgbClr val="38BDF8"/>
                </a:solidFill>
                <a:latin typeface="Consolas"/>
              </a:rPr>
              <a:t>:active</a:t>
            </a:r>
          </a:p>
        </p:txBody>
      </p:sp>
      <p:sp>
        <p:nvSpPr>
          <p:cNvPr id="20" name="TextBox 19"/>
          <p:cNvSpPr txBox="1"/>
          <p:nvPr/>
        </p:nvSpPr>
        <p:spPr>
          <a:xfrm>
            <a:off x="8065008" y="3383280"/>
            <a:ext cx="3337560" cy="475488"/>
          </a:xfrm>
          <a:prstGeom prst="rect">
            <a:avLst/>
          </a:prstGeom>
          <a:noFill/>
        </p:spPr>
        <p:txBody>
          <a:bodyPr wrap="square">
            <a:spAutoFit/>
          </a:bodyPr>
          <a:lstStyle/>
          <a:p>
            <a:pPr algn="l"/>
            <a:r>
              <a:rPr sz="1250" b="0" i="0">
                <a:solidFill>
                  <a:srgbClr val="FFFFFF"/>
                </a:solidFill>
                <a:latin typeface="Calibri"/>
              </a:rPr>
              <a:t>Element is being clicked RIGHT NOW</a:t>
            </a:r>
          </a:p>
        </p:txBody>
      </p:sp>
      <p:sp>
        <p:nvSpPr>
          <p:cNvPr id="21" name="TextBox 20"/>
          <p:cNvSpPr txBox="1"/>
          <p:nvPr/>
        </p:nvSpPr>
        <p:spPr>
          <a:xfrm>
            <a:off x="8065008" y="3886200"/>
            <a:ext cx="3337560" cy="411480"/>
          </a:xfrm>
          <a:prstGeom prst="rect">
            <a:avLst/>
          </a:prstGeom>
          <a:noFill/>
        </p:spPr>
        <p:txBody>
          <a:bodyPr wrap="square">
            <a:spAutoFit/>
          </a:bodyPr>
          <a:lstStyle/>
          <a:p>
            <a:pPr algn="l"/>
            <a:r>
              <a:rPr sz="1100" b="0" i="0">
                <a:solidFill>
                  <a:srgbClr val="14B8A6"/>
                </a:solidFill>
                <a:latin typeface="Consolas"/>
              </a:rPr>
              <a:t>button:active { transform: scale(0.97); }</a:t>
            </a:r>
          </a:p>
        </p:txBody>
      </p:sp>
      <p:sp>
        <p:nvSpPr>
          <p:cNvPr id="22" name="Rectangle 21"/>
          <p:cNvSpPr/>
          <p:nvPr/>
        </p:nvSpPr>
        <p:spPr>
          <a:xfrm>
            <a:off x="274320" y="2880360"/>
            <a:ext cx="3657600" cy="15087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274320" y="2880360"/>
            <a:ext cx="91440" cy="150876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75488" y="2971800"/>
            <a:ext cx="3657600" cy="384048"/>
          </a:xfrm>
          <a:prstGeom prst="rect">
            <a:avLst/>
          </a:prstGeom>
          <a:noFill/>
        </p:spPr>
        <p:txBody>
          <a:bodyPr wrap="square">
            <a:spAutoFit/>
          </a:bodyPr>
          <a:lstStyle/>
          <a:p>
            <a:pPr algn="l"/>
            <a:r>
              <a:rPr sz="1600" b="1" i="0">
                <a:solidFill>
                  <a:srgbClr val="F43F5E"/>
                </a:solidFill>
                <a:latin typeface="Consolas"/>
              </a:rPr>
              <a:t>:visited</a:t>
            </a:r>
          </a:p>
        </p:txBody>
      </p:sp>
      <p:sp>
        <p:nvSpPr>
          <p:cNvPr id="25" name="TextBox 24"/>
          <p:cNvSpPr txBox="1"/>
          <p:nvPr/>
        </p:nvSpPr>
        <p:spPr>
          <a:xfrm>
            <a:off x="475488" y="3383280"/>
            <a:ext cx="3337560" cy="475488"/>
          </a:xfrm>
          <a:prstGeom prst="rect">
            <a:avLst/>
          </a:prstGeom>
          <a:noFill/>
        </p:spPr>
        <p:txBody>
          <a:bodyPr wrap="square">
            <a:spAutoFit/>
          </a:bodyPr>
          <a:lstStyle/>
          <a:p>
            <a:pPr algn="l"/>
            <a:r>
              <a:rPr sz="1250" b="0" i="0">
                <a:solidFill>
                  <a:srgbClr val="FFFFFF"/>
                </a:solidFill>
                <a:latin typeface="Calibri"/>
              </a:rPr>
              <a:t>Link has already been visited</a:t>
            </a:r>
          </a:p>
        </p:txBody>
      </p:sp>
      <p:sp>
        <p:nvSpPr>
          <p:cNvPr id="26" name="TextBox 25"/>
          <p:cNvSpPr txBox="1"/>
          <p:nvPr/>
        </p:nvSpPr>
        <p:spPr>
          <a:xfrm>
            <a:off x="475488" y="3886200"/>
            <a:ext cx="3337560" cy="411480"/>
          </a:xfrm>
          <a:prstGeom prst="rect">
            <a:avLst/>
          </a:prstGeom>
          <a:noFill/>
        </p:spPr>
        <p:txBody>
          <a:bodyPr wrap="square">
            <a:spAutoFit/>
          </a:bodyPr>
          <a:lstStyle/>
          <a:p>
            <a:pPr algn="l"/>
            <a:r>
              <a:rPr sz="1100" b="0" i="0">
                <a:solidFill>
                  <a:srgbClr val="14B8A6"/>
                </a:solidFill>
                <a:latin typeface="Consolas"/>
              </a:rPr>
              <a:t>a:visited { color: purple; }</a:t>
            </a:r>
          </a:p>
        </p:txBody>
      </p:sp>
      <p:sp>
        <p:nvSpPr>
          <p:cNvPr id="27" name="Rectangle 26"/>
          <p:cNvSpPr/>
          <p:nvPr/>
        </p:nvSpPr>
        <p:spPr>
          <a:xfrm>
            <a:off x="4069080" y="4526280"/>
            <a:ext cx="3657600" cy="15087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069080" y="4526280"/>
            <a:ext cx="91440" cy="150876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270248" y="4617720"/>
            <a:ext cx="3657600" cy="384048"/>
          </a:xfrm>
          <a:prstGeom prst="rect">
            <a:avLst/>
          </a:prstGeom>
          <a:noFill/>
        </p:spPr>
        <p:txBody>
          <a:bodyPr wrap="square">
            <a:spAutoFit/>
          </a:bodyPr>
          <a:lstStyle/>
          <a:p>
            <a:pPr algn="l"/>
            <a:r>
              <a:rPr sz="1600" b="1" i="0">
                <a:solidFill>
                  <a:srgbClr val="8B5CF6"/>
                </a:solidFill>
                <a:latin typeface="Consolas"/>
              </a:rPr>
              <a:t>:first-child</a:t>
            </a:r>
          </a:p>
        </p:txBody>
      </p:sp>
      <p:sp>
        <p:nvSpPr>
          <p:cNvPr id="30" name="TextBox 29"/>
          <p:cNvSpPr txBox="1"/>
          <p:nvPr/>
        </p:nvSpPr>
        <p:spPr>
          <a:xfrm>
            <a:off x="4270248" y="5029200"/>
            <a:ext cx="3337560" cy="475488"/>
          </a:xfrm>
          <a:prstGeom prst="rect">
            <a:avLst/>
          </a:prstGeom>
          <a:noFill/>
        </p:spPr>
        <p:txBody>
          <a:bodyPr wrap="square">
            <a:spAutoFit/>
          </a:bodyPr>
          <a:lstStyle/>
          <a:p>
            <a:pPr algn="l"/>
            <a:r>
              <a:rPr sz="1250" b="0" i="0">
                <a:solidFill>
                  <a:srgbClr val="FFFFFF"/>
                </a:solidFill>
                <a:latin typeface="Calibri"/>
              </a:rPr>
              <a:t>First child of its parent</a:t>
            </a:r>
          </a:p>
        </p:txBody>
      </p:sp>
      <p:sp>
        <p:nvSpPr>
          <p:cNvPr id="31" name="TextBox 30"/>
          <p:cNvSpPr txBox="1"/>
          <p:nvPr/>
        </p:nvSpPr>
        <p:spPr>
          <a:xfrm>
            <a:off x="4270248" y="5532120"/>
            <a:ext cx="3337560" cy="411480"/>
          </a:xfrm>
          <a:prstGeom prst="rect">
            <a:avLst/>
          </a:prstGeom>
          <a:noFill/>
        </p:spPr>
        <p:txBody>
          <a:bodyPr wrap="square">
            <a:spAutoFit/>
          </a:bodyPr>
          <a:lstStyle/>
          <a:p>
            <a:pPr algn="l"/>
            <a:r>
              <a:rPr sz="1100" b="0" i="0">
                <a:solidFill>
                  <a:srgbClr val="14B8A6"/>
                </a:solidFill>
                <a:latin typeface="Consolas"/>
              </a:rPr>
              <a:t>li:first-child { font-weight: bold; }</a:t>
            </a:r>
          </a:p>
        </p:txBody>
      </p:sp>
      <p:sp>
        <p:nvSpPr>
          <p:cNvPr id="32" name="Rectangle 31"/>
          <p:cNvSpPr/>
          <p:nvPr/>
        </p:nvSpPr>
        <p:spPr>
          <a:xfrm>
            <a:off x="7863840" y="4526280"/>
            <a:ext cx="3657600" cy="15087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7863840" y="4526280"/>
            <a:ext cx="91440" cy="150876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065008" y="4617720"/>
            <a:ext cx="3657600" cy="384048"/>
          </a:xfrm>
          <a:prstGeom prst="rect">
            <a:avLst/>
          </a:prstGeom>
          <a:noFill/>
        </p:spPr>
        <p:txBody>
          <a:bodyPr wrap="square">
            <a:spAutoFit/>
          </a:bodyPr>
          <a:lstStyle/>
          <a:p>
            <a:pPr algn="l"/>
            <a:r>
              <a:rPr sz="1600" b="1" i="0">
                <a:solidFill>
                  <a:srgbClr val="14B8A6"/>
                </a:solidFill>
                <a:latin typeface="Consolas"/>
              </a:rPr>
              <a:t>:nth-child(n)</a:t>
            </a:r>
          </a:p>
        </p:txBody>
      </p:sp>
      <p:sp>
        <p:nvSpPr>
          <p:cNvPr id="35" name="TextBox 34"/>
          <p:cNvSpPr txBox="1"/>
          <p:nvPr/>
        </p:nvSpPr>
        <p:spPr>
          <a:xfrm>
            <a:off x="8065008" y="5029200"/>
            <a:ext cx="3337560" cy="475488"/>
          </a:xfrm>
          <a:prstGeom prst="rect">
            <a:avLst/>
          </a:prstGeom>
          <a:noFill/>
        </p:spPr>
        <p:txBody>
          <a:bodyPr wrap="square">
            <a:spAutoFit/>
          </a:bodyPr>
          <a:lstStyle/>
          <a:p>
            <a:pPr algn="l"/>
            <a:r>
              <a:rPr sz="1250" b="0" i="0">
                <a:solidFill>
                  <a:srgbClr val="FFFFFF"/>
                </a:solidFill>
                <a:latin typeface="Calibri"/>
              </a:rPr>
              <a:t>Every nth child (2n = even, 2n+1 = odd)</a:t>
            </a:r>
          </a:p>
        </p:txBody>
      </p:sp>
      <p:sp>
        <p:nvSpPr>
          <p:cNvPr id="36" name="TextBox 35"/>
          <p:cNvSpPr txBox="1"/>
          <p:nvPr/>
        </p:nvSpPr>
        <p:spPr>
          <a:xfrm>
            <a:off x="8065008" y="5532120"/>
            <a:ext cx="3337560" cy="411480"/>
          </a:xfrm>
          <a:prstGeom prst="rect">
            <a:avLst/>
          </a:prstGeom>
          <a:noFill/>
        </p:spPr>
        <p:txBody>
          <a:bodyPr wrap="square">
            <a:spAutoFit/>
          </a:bodyPr>
          <a:lstStyle/>
          <a:p>
            <a:pPr algn="l"/>
            <a:r>
              <a:rPr sz="1100" b="0" i="0">
                <a:solidFill>
                  <a:srgbClr val="14B8A6"/>
                </a:solidFill>
                <a:latin typeface="Consolas"/>
              </a:rPr>
              <a:t>tr:nth-child(even) { background: #f0fdfa;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9628632" cy="685800"/>
          </a:xfrm>
          <a:prstGeom prst="rect">
            <a:avLst/>
          </a:prstGeom>
          <a:noFill/>
        </p:spPr>
        <p:txBody>
          <a:bodyPr wrap="square">
            <a:spAutoFit/>
          </a:bodyPr>
          <a:lstStyle/>
          <a:p>
            <a:pPr algn="l"/>
            <a:r>
              <a:rPr sz="3200" b="1" i="0">
                <a:solidFill>
                  <a:srgbClr val="FFFFFF"/>
                </a:solidFill>
                <a:latin typeface="Calibri"/>
              </a:rPr>
              <a:t>CSS Pseudo-elements</a:t>
            </a:r>
          </a:p>
        </p:txBody>
      </p:sp>
      <p:sp>
        <p:nvSpPr>
          <p:cNvPr id="4" name="TextBox 3"/>
          <p:cNvSpPr txBox="1"/>
          <p:nvPr/>
        </p:nvSpPr>
        <p:spPr>
          <a:xfrm>
            <a:off x="365760" y="685800"/>
            <a:ext cx="9628632" cy="347472"/>
          </a:xfrm>
          <a:prstGeom prst="rect">
            <a:avLst/>
          </a:prstGeom>
          <a:noFill/>
        </p:spPr>
        <p:txBody>
          <a:bodyPr wrap="square">
            <a:spAutoFit/>
          </a:bodyPr>
          <a:lstStyle/>
          <a:p>
            <a:pPr algn="l"/>
            <a:r>
              <a:rPr sz="1500" b="0" i="0">
                <a:solidFill>
                  <a:srgbClr val="F0FDFA"/>
                </a:solidFill>
                <a:latin typeface="Calibri"/>
              </a:rPr>
              <a:t>::before &amp; ::after — insert virtual elements with CSS alone</a:t>
            </a:r>
          </a:p>
        </p:txBody>
      </p:sp>
      <p:sp>
        <p:nvSpPr>
          <p:cNvPr id="5" name="Rectangle 4"/>
          <p:cNvSpPr/>
          <p:nvPr/>
        </p:nvSpPr>
        <p:spPr>
          <a:xfrm>
            <a:off x="10085832" y="45720"/>
            <a:ext cx="2011680" cy="475488"/>
          </a:xfrm>
          <a:prstGeom prst="rect">
            <a:avLst/>
          </a:prstGeom>
          <a:solidFill>
            <a:srgbClr val="064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85832" y="109728"/>
            <a:ext cx="2011680" cy="365760"/>
          </a:xfrm>
          <a:prstGeom prst="rect">
            <a:avLst/>
          </a:prstGeom>
          <a:noFill/>
        </p:spPr>
        <p:txBody>
          <a:bodyPr wrap="square">
            <a:spAutoFit/>
          </a:bodyPr>
          <a:lstStyle/>
          <a:p>
            <a:pPr algn="ctr"/>
            <a:r>
              <a:rPr sz="1000" b="1" i="0">
                <a:solidFill>
                  <a:srgbClr val="14B8A6"/>
                </a:solidFill>
                <a:latin typeface="Calibri"/>
              </a:rPr>
              <a:t>WEEK 3 · FRIDAY</a:t>
            </a:r>
          </a:p>
        </p:txBody>
      </p:sp>
      <p:sp>
        <p:nvSpPr>
          <p:cNvPr id="7" name="Rectangle 6"/>
          <p:cNvSpPr/>
          <p:nvPr/>
        </p:nvSpPr>
        <p:spPr>
          <a:xfrm>
            <a:off x="274320" y="1188720"/>
            <a:ext cx="5760720" cy="53949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188720"/>
            <a:ext cx="91440" cy="53949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75488" y="1298448"/>
            <a:ext cx="5760720" cy="457200"/>
          </a:xfrm>
          <a:prstGeom prst="rect">
            <a:avLst/>
          </a:prstGeom>
          <a:noFill/>
        </p:spPr>
        <p:txBody>
          <a:bodyPr wrap="square">
            <a:spAutoFit/>
          </a:bodyPr>
          <a:lstStyle/>
          <a:p>
            <a:pPr algn="l"/>
            <a:r>
              <a:rPr sz="1500" b="1" i="0">
                <a:solidFill>
                  <a:srgbClr val="F59E0B"/>
                </a:solidFill>
                <a:latin typeface="Consolas"/>
              </a:rPr>
              <a:t>::before  — content BEFORE the element's text</a:t>
            </a:r>
          </a:p>
        </p:txBody>
      </p:sp>
      <p:sp>
        <p:nvSpPr>
          <p:cNvPr id="10" name="TextBox 9"/>
          <p:cNvSpPr txBox="1"/>
          <p:nvPr/>
        </p:nvSpPr>
        <p:spPr>
          <a:xfrm>
            <a:off x="475488" y="1874519"/>
            <a:ext cx="5394960" cy="457200"/>
          </a:xfrm>
          <a:prstGeom prst="rect">
            <a:avLst/>
          </a:prstGeom>
          <a:noFill/>
        </p:spPr>
        <p:txBody>
          <a:bodyPr wrap="square">
            <a:spAutoFit/>
          </a:bodyPr>
          <a:lstStyle/>
          <a:p>
            <a:pPr algn="l"/>
            <a:r>
              <a:rPr sz="1350" b="0" i="0">
                <a:solidFill>
                  <a:srgbClr val="FFFFFF"/>
                </a:solidFill>
                <a:latin typeface="Calibri"/>
              </a:rPr>
              <a:t>• Inserts a virtual element BEFORE the content</a:t>
            </a:r>
          </a:p>
        </p:txBody>
      </p:sp>
      <p:sp>
        <p:nvSpPr>
          <p:cNvPr id="11" name="TextBox 10"/>
          <p:cNvSpPr txBox="1"/>
          <p:nvPr/>
        </p:nvSpPr>
        <p:spPr>
          <a:xfrm>
            <a:off x="475488" y="2377439"/>
            <a:ext cx="5394960" cy="457200"/>
          </a:xfrm>
          <a:prstGeom prst="rect">
            <a:avLst/>
          </a:prstGeom>
          <a:noFill/>
        </p:spPr>
        <p:txBody>
          <a:bodyPr wrap="square">
            <a:spAutoFit/>
          </a:bodyPr>
          <a:lstStyle/>
          <a:p>
            <a:pPr algn="l"/>
            <a:r>
              <a:rPr sz="1350" b="0" i="0">
                <a:solidFill>
                  <a:srgbClr val="FFFFFF"/>
                </a:solidFill>
                <a:latin typeface="Calibri"/>
              </a:rPr>
              <a:t>• Must have content: property to render</a:t>
            </a:r>
          </a:p>
        </p:txBody>
      </p:sp>
      <p:sp>
        <p:nvSpPr>
          <p:cNvPr id="12" name="TextBox 11"/>
          <p:cNvSpPr txBox="1"/>
          <p:nvPr/>
        </p:nvSpPr>
        <p:spPr>
          <a:xfrm>
            <a:off x="475488" y="2880359"/>
            <a:ext cx="5394960" cy="457200"/>
          </a:xfrm>
          <a:prstGeom prst="rect">
            <a:avLst/>
          </a:prstGeom>
          <a:noFill/>
        </p:spPr>
        <p:txBody>
          <a:bodyPr wrap="square">
            <a:spAutoFit/>
          </a:bodyPr>
          <a:lstStyle/>
          <a:p>
            <a:pPr algn="l"/>
            <a:r>
              <a:rPr sz="1350" b="0" i="0">
                <a:solidFill>
                  <a:srgbClr val="FFFFFF"/>
                </a:solidFill>
                <a:latin typeface="Calibri"/>
              </a:rPr>
              <a:t>• Can be styled just like a real element</a:t>
            </a:r>
          </a:p>
        </p:txBody>
      </p:sp>
      <p:sp>
        <p:nvSpPr>
          <p:cNvPr id="13" name="TextBox 12"/>
          <p:cNvSpPr txBox="1"/>
          <p:nvPr/>
        </p:nvSpPr>
        <p:spPr>
          <a:xfrm>
            <a:off x="475488" y="3383279"/>
            <a:ext cx="5394960" cy="457200"/>
          </a:xfrm>
          <a:prstGeom prst="rect">
            <a:avLst/>
          </a:prstGeom>
          <a:noFill/>
        </p:spPr>
        <p:txBody>
          <a:bodyPr wrap="square">
            <a:spAutoFit/>
          </a:bodyPr>
          <a:lstStyle/>
          <a:p>
            <a:pPr algn="l"/>
            <a:r>
              <a:rPr sz="1350" b="0" i="0">
                <a:solidFill>
                  <a:srgbClr val="FFFFFF"/>
                </a:solidFill>
                <a:latin typeface="Calibri"/>
              </a:rPr>
              <a:t>• No extra HTML needed</a:t>
            </a:r>
          </a:p>
        </p:txBody>
      </p:sp>
      <p:sp>
        <p:nvSpPr>
          <p:cNvPr id="14" name="Rectangle 13"/>
          <p:cNvSpPr/>
          <p:nvPr/>
        </p:nvSpPr>
        <p:spPr>
          <a:xfrm>
            <a:off x="365760" y="4023360"/>
            <a:ext cx="5577840" cy="23774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65760" y="4023360"/>
            <a:ext cx="64008" cy="23774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93776" y="4078224"/>
            <a:ext cx="5577840" cy="292608"/>
          </a:xfrm>
          <a:prstGeom prst="rect">
            <a:avLst/>
          </a:prstGeom>
          <a:noFill/>
        </p:spPr>
        <p:txBody>
          <a:bodyPr wrap="square">
            <a:spAutoFit/>
          </a:bodyPr>
          <a:lstStyle/>
          <a:p>
            <a:pPr algn="l"/>
            <a:r>
              <a:rPr sz="900" b="0" i="0">
                <a:solidFill>
                  <a:srgbClr val="64748B"/>
                </a:solidFill>
                <a:latin typeface="Consolas"/>
              </a:rPr>
              <a:t>CSS</a:t>
            </a:r>
          </a:p>
        </p:txBody>
      </p:sp>
      <p:sp>
        <p:nvSpPr>
          <p:cNvPr id="17" name="TextBox 16"/>
          <p:cNvSpPr txBox="1"/>
          <p:nvPr/>
        </p:nvSpPr>
        <p:spPr>
          <a:xfrm>
            <a:off x="493776" y="4315968"/>
            <a:ext cx="5321808" cy="2011680"/>
          </a:xfrm>
          <a:prstGeom prst="rect">
            <a:avLst/>
          </a:prstGeom>
          <a:noFill/>
        </p:spPr>
        <p:txBody>
          <a:bodyPr wrap="none">
            <a:spAutoFit/>
          </a:bodyPr>
          <a:lstStyle/>
          <a:p>
            <a:pPr algn="l"/>
            <a:r>
              <a:rPr sz="1300" b="0">
                <a:solidFill>
                  <a:srgbClr val="14B8A6"/>
                </a:solidFill>
                <a:latin typeface="Consolas"/>
              </a:rPr>
              <a:t>h2::before {</a:t>
            </a:r>
          </a:p>
          <a:p>
            <a:pPr algn="l"/>
            <a:r>
              <a:rPr sz="1300" b="0">
                <a:solidFill>
                  <a:srgbClr val="14B8A6"/>
                </a:solidFill>
                <a:latin typeface="Consolas"/>
              </a:rPr>
              <a:t>  content: '🌿 ';</a:t>
            </a:r>
          </a:p>
          <a:p>
            <a:pPr algn="l"/>
            <a:r>
              <a:rPr sz="1300" b="0">
                <a:solidFill>
                  <a:srgbClr val="14B8A6"/>
                </a:solidFill>
                <a:latin typeface="Consolas"/>
              </a:rPr>
              <a:t>  color: #14b8a6;</a:t>
            </a:r>
          </a:p>
          <a:p>
            <a:pPr algn="l"/>
            <a:r>
              <a:rPr sz="1300" b="0">
                <a:solidFill>
                  <a:srgbClr val="14B8A6"/>
                </a:solidFill>
                <a:latin typeface="Consolas"/>
              </a:rPr>
              <a:t>}</a:t>
            </a:r>
          </a:p>
          <a:p>
            <a:pPr algn="l"/>
            <a:r>
              <a:rPr sz="1300" b="0">
                <a:solidFill>
                  <a:srgbClr val="14B8A6"/>
                </a:solidFill>
                <a:latin typeface="Consolas"/>
              </a:rPr>
              <a:t>/* Renders: 🌿 My Heading */</a:t>
            </a:r>
          </a:p>
        </p:txBody>
      </p:sp>
      <p:sp>
        <p:nvSpPr>
          <p:cNvPr id="18" name="Rectangle 17"/>
          <p:cNvSpPr/>
          <p:nvPr/>
        </p:nvSpPr>
        <p:spPr>
          <a:xfrm>
            <a:off x="6126480" y="1188720"/>
            <a:ext cx="5760720" cy="53949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126480" y="1188720"/>
            <a:ext cx="91440" cy="539496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27648" y="1298448"/>
            <a:ext cx="5760720" cy="457200"/>
          </a:xfrm>
          <a:prstGeom prst="rect">
            <a:avLst/>
          </a:prstGeom>
          <a:noFill/>
        </p:spPr>
        <p:txBody>
          <a:bodyPr wrap="square">
            <a:spAutoFit/>
          </a:bodyPr>
          <a:lstStyle/>
          <a:p>
            <a:pPr algn="l"/>
            <a:r>
              <a:rPr sz="1500" b="1" i="0">
                <a:solidFill>
                  <a:srgbClr val="8B5CF6"/>
                </a:solidFill>
                <a:latin typeface="Consolas"/>
              </a:rPr>
              <a:t>::after  — content AFTER the element's text</a:t>
            </a:r>
          </a:p>
        </p:txBody>
      </p:sp>
      <p:sp>
        <p:nvSpPr>
          <p:cNvPr id="21" name="TextBox 20"/>
          <p:cNvSpPr txBox="1"/>
          <p:nvPr/>
        </p:nvSpPr>
        <p:spPr>
          <a:xfrm>
            <a:off x="6327648" y="1874519"/>
            <a:ext cx="5394960" cy="457200"/>
          </a:xfrm>
          <a:prstGeom prst="rect">
            <a:avLst/>
          </a:prstGeom>
          <a:noFill/>
        </p:spPr>
        <p:txBody>
          <a:bodyPr wrap="square">
            <a:spAutoFit/>
          </a:bodyPr>
          <a:lstStyle/>
          <a:p>
            <a:pPr algn="l"/>
            <a:r>
              <a:rPr sz="1350" b="0" i="0">
                <a:solidFill>
                  <a:srgbClr val="FFFFFF"/>
                </a:solidFill>
                <a:latin typeface="Calibri"/>
              </a:rPr>
              <a:t>• Inserts a virtual element AFTER the content</a:t>
            </a:r>
          </a:p>
        </p:txBody>
      </p:sp>
      <p:sp>
        <p:nvSpPr>
          <p:cNvPr id="22" name="TextBox 21"/>
          <p:cNvSpPr txBox="1"/>
          <p:nvPr/>
        </p:nvSpPr>
        <p:spPr>
          <a:xfrm>
            <a:off x="6327648" y="2377439"/>
            <a:ext cx="5394960" cy="457200"/>
          </a:xfrm>
          <a:prstGeom prst="rect">
            <a:avLst/>
          </a:prstGeom>
          <a:noFill/>
        </p:spPr>
        <p:txBody>
          <a:bodyPr wrap="square">
            <a:spAutoFit/>
          </a:bodyPr>
          <a:lstStyle/>
          <a:p>
            <a:pPr algn="l"/>
            <a:r>
              <a:rPr sz="1350" b="0" i="0">
                <a:solidFill>
                  <a:srgbClr val="FFFFFF"/>
                </a:solidFill>
                <a:latin typeface="Calibri"/>
              </a:rPr>
              <a:t>• Same rules: must have content: property</a:t>
            </a:r>
          </a:p>
        </p:txBody>
      </p:sp>
      <p:sp>
        <p:nvSpPr>
          <p:cNvPr id="23" name="TextBox 22"/>
          <p:cNvSpPr txBox="1"/>
          <p:nvPr/>
        </p:nvSpPr>
        <p:spPr>
          <a:xfrm>
            <a:off x="6327648" y="2880359"/>
            <a:ext cx="5394960" cy="457200"/>
          </a:xfrm>
          <a:prstGeom prst="rect">
            <a:avLst/>
          </a:prstGeom>
          <a:noFill/>
        </p:spPr>
        <p:txBody>
          <a:bodyPr wrap="square">
            <a:spAutoFit/>
          </a:bodyPr>
          <a:lstStyle/>
          <a:p>
            <a:pPr algn="l"/>
            <a:r>
              <a:rPr sz="1350" b="0" i="0">
                <a:solidFill>
                  <a:srgbClr val="FFFFFF"/>
                </a:solidFill>
                <a:latin typeface="Calibri"/>
              </a:rPr>
              <a:t>• Popular for decorative lines, badges, icons</a:t>
            </a:r>
          </a:p>
        </p:txBody>
      </p:sp>
      <p:sp>
        <p:nvSpPr>
          <p:cNvPr id="24" name="TextBox 23"/>
          <p:cNvSpPr txBox="1"/>
          <p:nvPr/>
        </p:nvSpPr>
        <p:spPr>
          <a:xfrm>
            <a:off x="6327648" y="3383279"/>
            <a:ext cx="5394960" cy="457200"/>
          </a:xfrm>
          <a:prstGeom prst="rect">
            <a:avLst/>
          </a:prstGeom>
          <a:noFill/>
        </p:spPr>
        <p:txBody>
          <a:bodyPr wrap="square">
            <a:spAutoFit/>
          </a:bodyPr>
          <a:lstStyle/>
          <a:p>
            <a:pPr algn="l"/>
            <a:r>
              <a:rPr sz="1350" b="0" i="0">
                <a:solidFill>
                  <a:srgbClr val="FFFFFF"/>
                </a:solidFill>
                <a:latin typeface="Calibri"/>
              </a:rPr>
              <a:t>• Used in CSS-only tooltip patterns</a:t>
            </a:r>
          </a:p>
        </p:txBody>
      </p:sp>
      <p:sp>
        <p:nvSpPr>
          <p:cNvPr id="25" name="Rectangle 24"/>
          <p:cNvSpPr/>
          <p:nvPr/>
        </p:nvSpPr>
        <p:spPr>
          <a:xfrm>
            <a:off x="6217920" y="4023360"/>
            <a:ext cx="5577840" cy="23774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217920" y="4023360"/>
            <a:ext cx="64008" cy="237744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345936" y="4078224"/>
            <a:ext cx="5577840" cy="292608"/>
          </a:xfrm>
          <a:prstGeom prst="rect">
            <a:avLst/>
          </a:prstGeom>
          <a:noFill/>
        </p:spPr>
        <p:txBody>
          <a:bodyPr wrap="square">
            <a:spAutoFit/>
          </a:bodyPr>
          <a:lstStyle/>
          <a:p>
            <a:pPr algn="l"/>
            <a:r>
              <a:rPr sz="900" b="0" i="0">
                <a:solidFill>
                  <a:srgbClr val="64748B"/>
                </a:solidFill>
                <a:latin typeface="Consolas"/>
              </a:rPr>
              <a:t>CSS</a:t>
            </a:r>
          </a:p>
        </p:txBody>
      </p:sp>
      <p:sp>
        <p:nvSpPr>
          <p:cNvPr id="28" name="TextBox 27"/>
          <p:cNvSpPr txBox="1"/>
          <p:nvPr/>
        </p:nvSpPr>
        <p:spPr>
          <a:xfrm>
            <a:off x="6345936" y="4315968"/>
            <a:ext cx="5321808" cy="2011680"/>
          </a:xfrm>
          <a:prstGeom prst="rect">
            <a:avLst/>
          </a:prstGeom>
          <a:noFill/>
        </p:spPr>
        <p:txBody>
          <a:bodyPr wrap="none">
            <a:spAutoFit/>
          </a:bodyPr>
          <a:lstStyle/>
          <a:p>
            <a:pPr algn="l"/>
            <a:r>
              <a:rPr sz="1300" b="0">
                <a:solidFill>
                  <a:srgbClr val="14B8A6"/>
                </a:solidFill>
                <a:latin typeface="Consolas"/>
              </a:rPr>
              <a:t>.required::after {</a:t>
            </a:r>
          </a:p>
          <a:p>
            <a:pPr algn="l"/>
            <a:r>
              <a:rPr sz="1300" b="0">
                <a:solidFill>
                  <a:srgbClr val="14B8A6"/>
                </a:solidFill>
                <a:latin typeface="Consolas"/>
              </a:rPr>
              <a:t>  content: ' *';</a:t>
            </a:r>
          </a:p>
          <a:p>
            <a:pPr algn="l"/>
            <a:r>
              <a:rPr sz="1300" b="0">
                <a:solidFill>
                  <a:srgbClr val="14B8A6"/>
                </a:solidFill>
                <a:latin typeface="Consolas"/>
              </a:rPr>
              <a:t>  color: red;</a:t>
            </a:r>
          </a:p>
          <a:p>
            <a:pPr algn="l"/>
            <a:r>
              <a:rPr sz="1300" b="0">
                <a:solidFill>
                  <a:srgbClr val="14B8A6"/>
                </a:solidFill>
                <a:latin typeface="Consolas"/>
              </a:rPr>
              <a:t>  font-size: 0.9em;</a:t>
            </a:r>
          </a:p>
          <a:p>
            <a:pPr algn="l"/>
            <a:r>
              <a:rPr sz="1300" b="0">
                <a:solidFill>
                  <a:srgbClr val="14B8A6"/>
                </a:solidFill>
                <a:latin typeface="Consolas"/>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9628632" cy="685800"/>
          </a:xfrm>
          <a:prstGeom prst="rect">
            <a:avLst/>
          </a:prstGeom>
          <a:noFill/>
        </p:spPr>
        <p:txBody>
          <a:bodyPr wrap="square">
            <a:spAutoFit/>
          </a:bodyPr>
          <a:lstStyle/>
          <a:p>
            <a:pPr algn="l"/>
            <a:r>
              <a:rPr sz="3200" b="1" i="0">
                <a:solidFill>
                  <a:srgbClr val="FFFFFF"/>
                </a:solidFill>
                <a:latin typeface="Calibri"/>
              </a:rPr>
              <a:t>Check-In · Pseudo-classes, z-index, overflow</a:t>
            </a:r>
          </a:p>
        </p:txBody>
      </p:sp>
      <p:sp>
        <p:nvSpPr>
          <p:cNvPr id="4" name="TextBox 3"/>
          <p:cNvSpPr txBox="1"/>
          <p:nvPr/>
        </p:nvSpPr>
        <p:spPr>
          <a:xfrm>
            <a:off x="365760" y="685800"/>
            <a:ext cx="9628632" cy="347472"/>
          </a:xfrm>
          <a:prstGeom prst="rect">
            <a:avLst/>
          </a:prstGeom>
          <a:noFill/>
        </p:spPr>
        <p:txBody>
          <a:bodyPr wrap="square">
            <a:spAutoFit/>
          </a:bodyPr>
          <a:lstStyle/>
          <a:p>
            <a:pPr algn="l"/>
            <a:r>
              <a:rPr sz="1500" b="0" i="0">
                <a:solidFill>
                  <a:srgbClr val="F0FDFA"/>
                </a:solidFill>
                <a:latin typeface="Calibri"/>
              </a:rPr>
              <a:t>Q6–Q12</a:t>
            </a:r>
          </a:p>
        </p:txBody>
      </p:sp>
      <p:sp>
        <p:nvSpPr>
          <p:cNvPr id="5" name="Rectangle 4"/>
          <p:cNvSpPr/>
          <p:nvPr/>
        </p:nvSpPr>
        <p:spPr>
          <a:xfrm>
            <a:off x="10085832" y="45720"/>
            <a:ext cx="2011680" cy="475488"/>
          </a:xfrm>
          <a:prstGeom prst="rect">
            <a:avLst/>
          </a:prstGeom>
          <a:solidFill>
            <a:srgbClr val="064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85832" y="109728"/>
            <a:ext cx="2011680" cy="365760"/>
          </a:xfrm>
          <a:prstGeom prst="rect">
            <a:avLst/>
          </a:prstGeom>
          <a:noFill/>
        </p:spPr>
        <p:txBody>
          <a:bodyPr wrap="square">
            <a:spAutoFit/>
          </a:bodyPr>
          <a:lstStyle/>
          <a:p>
            <a:pPr algn="ctr"/>
            <a:r>
              <a:rPr sz="1000" b="1" i="0">
                <a:solidFill>
                  <a:srgbClr val="14B8A6"/>
                </a:solidFill>
                <a:latin typeface="Calibri"/>
              </a:rPr>
              <a:t>WEEK 3 · FRIDAY</a:t>
            </a:r>
          </a:p>
        </p:txBody>
      </p:sp>
      <p:sp>
        <p:nvSpPr>
          <p:cNvPr id="7" name="Rectangle 6"/>
          <p:cNvSpPr/>
          <p:nvPr/>
        </p:nvSpPr>
        <p:spPr>
          <a:xfrm>
            <a:off x="274320" y="1234440"/>
            <a:ext cx="5669280" cy="126187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80" y="1325880"/>
            <a:ext cx="5394960" cy="640080"/>
          </a:xfrm>
          <a:prstGeom prst="rect">
            <a:avLst/>
          </a:prstGeom>
          <a:noFill/>
        </p:spPr>
        <p:txBody>
          <a:bodyPr wrap="square">
            <a:spAutoFit/>
          </a:bodyPr>
          <a:lstStyle/>
          <a:p>
            <a:pPr algn="l"/>
            <a:r>
              <a:rPr sz="1350" b="1" i="0">
                <a:solidFill>
                  <a:srgbClr val="FFFFFF"/>
                </a:solidFill>
                <a:latin typeface="Calibri"/>
              </a:rPr>
              <a:t>Q6  z-index controls …</a:t>
            </a:r>
          </a:p>
        </p:txBody>
      </p:sp>
      <p:sp>
        <p:nvSpPr>
          <p:cNvPr id="9" name="TextBox 8"/>
          <p:cNvSpPr txBox="1"/>
          <p:nvPr/>
        </p:nvSpPr>
        <p:spPr>
          <a:xfrm>
            <a:off x="411480" y="1965960"/>
            <a:ext cx="5394960" cy="121158"/>
          </a:xfrm>
          <a:prstGeom prst="rect">
            <a:avLst/>
          </a:prstGeom>
          <a:noFill/>
        </p:spPr>
        <p:txBody>
          <a:bodyPr wrap="square">
            <a:spAutoFit/>
          </a:bodyPr>
          <a:lstStyle>
            <a:defPPr>
              <a:defRPr lang="en-US"/>
            </a:defPPr>
            <a:lvl1pPr>
              <a:defRPr sz="1150" b="0" i="0">
                <a:solidFill>
                  <a:srgbClr val="64748B"/>
                </a:solidFill>
                <a:latin typeface="Calibri"/>
              </a:defRPr>
            </a:lvl1pPr>
          </a:lstStyle>
          <a:p>
            <a:r>
              <a:rPr lang="ko-KR" altLang="en-US" dirty="0"/>
              <a:t>　</a:t>
            </a:r>
            <a:r>
              <a:rPr dirty="0"/>
              <a:t> stacking order (which element is on top)</a:t>
            </a:r>
          </a:p>
        </p:txBody>
      </p:sp>
      <p:sp>
        <p:nvSpPr>
          <p:cNvPr id="10" name="TextBox 9"/>
          <p:cNvSpPr txBox="1"/>
          <p:nvPr/>
        </p:nvSpPr>
        <p:spPr>
          <a:xfrm>
            <a:off x="411480" y="2087118"/>
            <a:ext cx="5394960" cy="121158"/>
          </a:xfrm>
          <a:prstGeom prst="rect">
            <a:avLst/>
          </a:prstGeom>
          <a:noFill/>
        </p:spPr>
        <p:txBody>
          <a:bodyPr wrap="square">
            <a:spAutoFit/>
          </a:bodyPr>
          <a:lstStyle/>
          <a:p>
            <a:pPr algn="l"/>
            <a:r>
              <a:rPr sz="1150" b="0" i="0">
                <a:solidFill>
                  <a:srgbClr val="64748B"/>
                </a:solidFill>
                <a:latin typeface="Calibri"/>
              </a:rPr>
              <a:t>     element zoom</a:t>
            </a:r>
          </a:p>
        </p:txBody>
      </p:sp>
      <p:sp>
        <p:nvSpPr>
          <p:cNvPr id="11" name="TextBox 10"/>
          <p:cNvSpPr txBox="1"/>
          <p:nvPr/>
        </p:nvSpPr>
        <p:spPr>
          <a:xfrm>
            <a:off x="411480" y="2208276"/>
            <a:ext cx="5394960" cy="121158"/>
          </a:xfrm>
          <a:prstGeom prst="rect">
            <a:avLst/>
          </a:prstGeom>
          <a:noFill/>
        </p:spPr>
        <p:txBody>
          <a:bodyPr wrap="square">
            <a:spAutoFit/>
          </a:bodyPr>
          <a:lstStyle/>
          <a:p>
            <a:pPr algn="l"/>
            <a:r>
              <a:rPr sz="1150" b="0" i="0">
                <a:solidFill>
                  <a:srgbClr val="64748B"/>
                </a:solidFill>
                <a:latin typeface="Calibri"/>
              </a:rPr>
              <a:t>     opacity</a:t>
            </a:r>
          </a:p>
        </p:txBody>
      </p:sp>
      <p:sp>
        <p:nvSpPr>
          <p:cNvPr id="12" name="TextBox 11"/>
          <p:cNvSpPr txBox="1"/>
          <p:nvPr/>
        </p:nvSpPr>
        <p:spPr>
          <a:xfrm>
            <a:off x="411480" y="2329434"/>
            <a:ext cx="5394960" cy="121158"/>
          </a:xfrm>
          <a:prstGeom prst="rect">
            <a:avLst/>
          </a:prstGeom>
          <a:noFill/>
        </p:spPr>
        <p:txBody>
          <a:bodyPr wrap="square">
            <a:spAutoFit/>
          </a:bodyPr>
          <a:lstStyle/>
          <a:p>
            <a:pPr algn="l"/>
            <a:r>
              <a:rPr sz="1150" b="0" i="0" dirty="0">
                <a:solidFill>
                  <a:srgbClr val="64748B"/>
                </a:solidFill>
                <a:latin typeface="Calibri"/>
              </a:rPr>
              <a:t>     3D depth in perspective</a:t>
            </a:r>
          </a:p>
        </p:txBody>
      </p:sp>
      <p:sp>
        <p:nvSpPr>
          <p:cNvPr id="13" name="Rectangle 12"/>
          <p:cNvSpPr/>
          <p:nvPr/>
        </p:nvSpPr>
        <p:spPr>
          <a:xfrm>
            <a:off x="6217920" y="1234440"/>
            <a:ext cx="5669280" cy="126187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55080" y="1325880"/>
            <a:ext cx="5394960" cy="640080"/>
          </a:xfrm>
          <a:prstGeom prst="rect">
            <a:avLst/>
          </a:prstGeom>
          <a:noFill/>
        </p:spPr>
        <p:txBody>
          <a:bodyPr wrap="square">
            <a:spAutoFit/>
          </a:bodyPr>
          <a:lstStyle/>
          <a:p>
            <a:pPr algn="l"/>
            <a:r>
              <a:rPr sz="1350" b="1" i="0">
                <a:solidFill>
                  <a:srgbClr val="FFFFFF"/>
                </a:solidFill>
                <a:latin typeface="Calibri"/>
              </a:rPr>
              <a:t>Q7  overflow: hidden on a container …</a:t>
            </a:r>
          </a:p>
        </p:txBody>
      </p:sp>
      <p:sp>
        <p:nvSpPr>
          <p:cNvPr id="15" name="TextBox 14"/>
          <p:cNvSpPr txBox="1"/>
          <p:nvPr/>
        </p:nvSpPr>
        <p:spPr>
          <a:xfrm>
            <a:off x="6355080" y="1965960"/>
            <a:ext cx="5394960" cy="269304"/>
          </a:xfrm>
          <a:prstGeom prst="rect">
            <a:avLst/>
          </a:prstGeom>
          <a:noFill/>
        </p:spPr>
        <p:txBody>
          <a:bodyPr wrap="square">
            <a:spAutoFit/>
          </a:bodyPr>
          <a:lstStyle/>
          <a:p>
            <a:pPr algn="l"/>
            <a:r>
              <a:rPr lang="ko-KR" altLang="en-US" sz="1150" dirty="0">
                <a:solidFill>
                  <a:srgbClr val="64748B"/>
                </a:solidFill>
                <a:latin typeface="Calibri"/>
              </a:rPr>
              <a:t>　</a:t>
            </a:r>
            <a:r>
              <a:rPr sz="1150" dirty="0">
                <a:solidFill>
                  <a:srgbClr val="64748B"/>
                </a:solidFill>
                <a:latin typeface="Calibri"/>
              </a:rPr>
              <a:t>clips content beyond the container bounds</a:t>
            </a:r>
          </a:p>
        </p:txBody>
      </p:sp>
      <p:sp>
        <p:nvSpPr>
          <p:cNvPr id="16" name="TextBox 15"/>
          <p:cNvSpPr txBox="1"/>
          <p:nvPr/>
        </p:nvSpPr>
        <p:spPr>
          <a:xfrm>
            <a:off x="6355080" y="2087118"/>
            <a:ext cx="5394960" cy="121158"/>
          </a:xfrm>
          <a:prstGeom prst="rect">
            <a:avLst/>
          </a:prstGeom>
          <a:noFill/>
        </p:spPr>
        <p:txBody>
          <a:bodyPr wrap="square">
            <a:spAutoFit/>
          </a:bodyPr>
          <a:lstStyle/>
          <a:p>
            <a:pPr algn="l"/>
            <a:r>
              <a:rPr sz="1150" b="0" i="0" dirty="0">
                <a:solidFill>
                  <a:srgbClr val="64748B"/>
                </a:solidFill>
                <a:latin typeface="Calibri"/>
              </a:rPr>
              <a:t>     hides the element completely</a:t>
            </a:r>
          </a:p>
        </p:txBody>
      </p:sp>
      <p:sp>
        <p:nvSpPr>
          <p:cNvPr id="17" name="TextBox 16"/>
          <p:cNvSpPr txBox="1"/>
          <p:nvPr/>
        </p:nvSpPr>
        <p:spPr>
          <a:xfrm>
            <a:off x="6355080" y="2208276"/>
            <a:ext cx="5394960" cy="121158"/>
          </a:xfrm>
          <a:prstGeom prst="rect">
            <a:avLst/>
          </a:prstGeom>
          <a:noFill/>
        </p:spPr>
        <p:txBody>
          <a:bodyPr wrap="square">
            <a:spAutoFit/>
          </a:bodyPr>
          <a:lstStyle/>
          <a:p>
            <a:pPr algn="l"/>
            <a:r>
              <a:rPr sz="1150" b="0" i="0">
                <a:solidFill>
                  <a:srgbClr val="64748B"/>
                </a:solidFill>
                <a:latin typeface="Calibri"/>
              </a:rPr>
              <a:t>     makes content scrollable</a:t>
            </a:r>
          </a:p>
        </p:txBody>
      </p:sp>
      <p:sp>
        <p:nvSpPr>
          <p:cNvPr id="18" name="TextBox 17"/>
          <p:cNvSpPr txBox="1"/>
          <p:nvPr/>
        </p:nvSpPr>
        <p:spPr>
          <a:xfrm>
            <a:off x="6355080" y="2329434"/>
            <a:ext cx="5394960" cy="121158"/>
          </a:xfrm>
          <a:prstGeom prst="rect">
            <a:avLst/>
          </a:prstGeom>
          <a:noFill/>
        </p:spPr>
        <p:txBody>
          <a:bodyPr wrap="square">
            <a:spAutoFit/>
          </a:bodyPr>
          <a:lstStyle/>
          <a:p>
            <a:pPr algn="l"/>
            <a:r>
              <a:rPr sz="1150" b="0" i="0">
                <a:solidFill>
                  <a:srgbClr val="64748B"/>
                </a:solidFill>
                <a:latin typeface="Calibri"/>
              </a:rPr>
              <a:t>     collapses the height to zero</a:t>
            </a:r>
          </a:p>
        </p:txBody>
      </p:sp>
      <p:sp>
        <p:nvSpPr>
          <p:cNvPr id="19" name="Rectangle 18"/>
          <p:cNvSpPr/>
          <p:nvPr/>
        </p:nvSpPr>
        <p:spPr>
          <a:xfrm>
            <a:off x="274320" y="2606040"/>
            <a:ext cx="5669280" cy="126187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11480" y="2697480"/>
            <a:ext cx="5394960" cy="640080"/>
          </a:xfrm>
          <a:prstGeom prst="rect">
            <a:avLst/>
          </a:prstGeom>
          <a:noFill/>
        </p:spPr>
        <p:txBody>
          <a:bodyPr wrap="square">
            <a:spAutoFit/>
          </a:bodyPr>
          <a:lstStyle/>
          <a:p>
            <a:pPr algn="l"/>
            <a:r>
              <a:rPr sz="1350" b="1" i="0">
                <a:solidFill>
                  <a:srgbClr val="FFFFFF"/>
                </a:solidFill>
                <a:latin typeface="Calibri"/>
              </a:rPr>
              <a:t>Q8  Which pseudo-class fires when a mouse hovers?</a:t>
            </a:r>
          </a:p>
        </p:txBody>
      </p:sp>
      <p:sp>
        <p:nvSpPr>
          <p:cNvPr id="21" name="TextBox 20"/>
          <p:cNvSpPr txBox="1"/>
          <p:nvPr/>
        </p:nvSpPr>
        <p:spPr>
          <a:xfrm>
            <a:off x="411480" y="3337560"/>
            <a:ext cx="5394960" cy="121158"/>
          </a:xfrm>
          <a:prstGeom prst="rect">
            <a:avLst/>
          </a:prstGeom>
          <a:noFill/>
        </p:spPr>
        <p:txBody>
          <a:bodyPr wrap="square">
            <a:spAutoFit/>
          </a:bodyPr>
          <a:lstStyle>
            <a:defPPr>
              <a:defRPr lang="en-US"/>
            </a:defPPr>
            <a:lvl1pPr>
              <a:defRPr sz="1150" b="0" i="0">
                <a:solidFill>
                  <a:srgbClr val="64748B"/>
                </a:solidFill>
                <a:latin typeface="Calibri"/>
              </a:defRPr>
            </a:lvl1pPr>
          </a:lstStyle>
          <a:p>
            <a:r>
              <a:rPr lang="ko-KR" altLang="en-US" dirty="0"/>
              <a:t>　</a:t>
            </a:r>
            <a:r>
              <a:rPr dirty="0"/>
              <a:t>:hover</a:t>
            </a:r>
          </a:p>
        </p:txBody>
      </p:sp>
      <p:sp>
        <p:nvSpPr>
          <p:cNvPr id="22" name="TextBox 21"/>
          <p:cNvSpPr txBox="1"/>
          <p:nvPr/>
        </p:nvSpPr>
        <p:spPr>
          <a:xfrm>
            <a:off x="411480" y="3458718"/>
            <a:ext cx="5394960" cy="121158"/>
          </a:xfrm>
          <a:prstGeom prst="rect">
            <a:avLst/>
          </a:prstGeom>
          <a:noFill/>
        </p:spPr>
        <p:txBody>
          <a:bodyPr wrap="square">
            <a:spAutoFit/>
          </a:bodyPr>
          <a:lstStyle/>
          <a:p>
            <a:pPr algn="l"/>
            <a:r>
              <a:rPr sz="1150" b="0" i="0" dirty="0">
                <a:solidFill>
                  <a:srgbClr val="64748B"/>
                </a:solidFill>
                <a:latin typeface="Calibri"/>
              </a:rPr>
              <a:t>     :focus</a:t>
            </a:r>
          </a:p>
        </p:txBody>
      </p:sp>
      <p:sp>
        <p:nvSpPr>
          <p:cNvPr id="23" name="TextBox 22"/>
          <p:cNvSpPr txBox="1"/>
          <p:nvPr/>
        </p:nvSpPr>
        <p:spPr>
          <a:xfrm>
            <a:off x="411480" y="3579876"/>
            <a:ext cx="5394960" cy="121158"/>
          </a:xfrm>
          <a:prstGeom prst="rect">
            <a:avLst/>
          </a:prstGeom>
          <a:noFill/>
        </p:spPr>
        <p:txBody>
          <a:bodyPr wrap="square">
            <a:spAutoFit/>
          </a:bodyPr>
          <a:lstStyle/>
          <a:p>
            <a:pPr algn="l"/>
            <a:r>
              <a:rPr sz="1150" b="0" i="0">
                <a:solidFill>
                  <a:srgbClr val="64748B"/>
                </a:solidFill>
                <a:latin typeface="Calibri"/>
              </a:rPr>
              <a:t>     :active</a:t>
            </a:r>
          </a:p>
        </p:txBody>
      </p:sp>
      <p:sp>
        <p:nvSpPr>
          <p:cNvPr id="24" name="TextBox 23"/>
          <p:cNvSpPr txBox="1"/>
          <p:nvPr/>
        </p:nvSpPr>
        <p:spPr>
          <a:xfrm>
            <a:off x="411480" y="3701034"/>
            <a:ext cx="5394960" cy="121158"/>
          </a:xfrm>
          <a:prstGeom prst="rect">
            <a:avLst/>
          </a:prstGeom>
          <a:noFill/>
        </p:spPr>
        <p:txBody>
          <a:bodyPr wrap="square">
            <a:spAutoFit/>
          </a:bodyPr>
          <a:lstStyle/>
          <a:p>
            <a:pPr algn="l"/>
            <a:r>
              <a:rPr sz="1150" b="0" i="0">
                <a:solidFill>
                  <a:srgbClr val="64748B"/>
                </a:solidFill>
                <a:latin typeface="Calibri"/>
              </a:rPr>
              <a:t>     :visited</a:t>
            </a:r>
          </a:p>
        </p:txBody>
      </p:sp>
      <p:sp>
        <p:nvSpPr>
          <p:cNvPr id="25" name="Rectangle 24"/>
          <p:cNvSpPr/>
          <p:nvPr/>
        </p:nvSpPr>
        <p:spPr>
          <a:xfrm>
            <a:off x="6217920" y="2606040"/>
            <a:ext cx="5669280" cy="126187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55080" y="2697480"/>
            <a:ext cx="5394960" cy="640080"/>
          </a:xfrm>
          <a:prstGeom prst="rect">
            <a:avLst/>
          </a:prstGeom>
          <a:noFill/>
        </p:spPr>
        <p:txBody>
          <a:bodyPr wrap="square">
            <a:spAutoFit/>
          </a:bodyPr>
          <a:lstStyle/>
          <a:p>
            <a:pPr algn="l"/>
            <a:r>
              <a:rPr sz="1350" b="1" i="0">
                <a:solidFill>
                  <a:srgbClr val="FFFFFF"/>
                </a:solidFill>
                <a:latin typeface="Calibri"/>
              </a:rPr>
              <a:t>Q9  :focus applies when …</a:t>
            </a:r>
          </a:p>
        </p:txBody>
      </p:sp>
      <p:sp>
        <p:nvSpPr>
          <p:cNvPr id="27" name="TextBox 26"/>
          <p:cNvSpPr txBox="1"/>
          <p:nvPr/>
        </p:nvSpPr>
        <p:spPr>
          <a:xfrm>
            <a:off x="6355080" y="3337560"/>
            <a:ext cx="5394960" cy="269304"/>
          </a:xfrm>
          <a:prstGeom prst="rect">
            <a:avLst/>
          </a:prstGeom>
          <a:noFill/>
        </p:spPr>
        <p:txBody>
          <a:bodyPr wrap="square">
            <a:spAutoFit/>
          </a:bodyPr>
          <a:lstStyle/>
          <a:p>
            <a:pPr algn="l"/>
            <a:r>
              <a:rPr lang="ko-KR" altLang="en-US" sz="1150" dirty="0">
                <a:solidFill>
                  <a:srgbClr val="64748B"/>
                </a:solidFill>
                <a:latin typeface="Calibri"/>
              </a:rPr>
              <a:t>　</a:t>
            </a:r>
            <a:r>
              <a:rPr sz="1150" dirty="0">
                <a:solidFill>
                  <a:srgbClr val="64748B"/>
                </a:solidFill>
                <a:latin typeface="Calibri"/>
              </a:rPr>
              <a:t> the element receives keyboard or click focus</a:t>
            </a:r>
          </a:p>
        </p:txBody>
      </p:sp>
      <p:sp>
        <p:nvSpPr>
          <p:cNvPr id="28" name="TextBox 27"/>
          <p:cNvSpPr txBox="1"/>
          <p:nvPr/>
        </p:nvSpPr>
        <p:spPr>
          <a:xfrm>
            <a:off x="6355080" y="3458718"/>
            <a:ext cx="5394960" cy="121158"/>
          </a:xfrm>
          <a:prstGeom prst="rect">
            <a:avLst/>
          </a:prstGeom>
          <a:noFill/>
        </p:spPr>
        <p:txBody>
          <a:bodyPr wrap="square">
            <a:spAutoFit/>
          </a:bodyPr>
          <a:lstStyle/>
          <a:p>
            <a:pPr algn="l"/>
            <a:r>
              <a:rPr sz="1150" b="0" i="0">
                <a:solidFill>
                  <a:srgbClr val="64748B"/>
                </a:solidFill>
                <a:latin typeface="Calibri"/>
              </a:rPr>
              <a:t>     the mouse hovers</a:t>
            </a:r>
          </a:p>
        </p:txBody>
      </p:sp>
      <p:sp>
        <p:nvSpPr>
          <p:cNvPr id="29" name="TextBox 28"/>
          <p:cNvSpPr txBox="1"/>
          <p:nvPr/>
        </p:nvSpPr>
        <p:spPr>
          <a:xfrm>
            <a:off x="6355080" y="3579876"/>
            <a:ext cx="5394960" cy="121158"/>
          </a:xfrm>
          <a:prstGeom prst="rect">
            <a:avLst/>
          </a:prstGeom>
          <a:noFill/>
        </p:spPr>
        <p:txBody>
          <a:bodyPr wrap="square">
            <a:spAutoFit/>
          </a:bodyPr>
          <a:lstStyle/>
          <a:p>
            <a:pPr algn="l"/>
            <a:r>
              <a:rPr sz="1150" b="0" i="0">
                <a:solidFill>
                  <a:srgbClr val="64748B"/>
                </a:solidFill>
                <a:latin typeface="Calibri"/>
              </a:rPr>
              <a:t>     a link was already visited</a:t>
            </a:r>
          </a:p>
        </p:txBody>
      </p:sp>
      <p:sp>
        <p:nvSpPr>
          <p:cNvPr id="30" name="TextBox 29"/>
          <p:cNvSpPr txBox="1"/>
          <p:nvPr/>
        </p:nvSpPr>
        <p:spPr>
          <a:xfrm>
            <a:off x="6355080" y="3701034"/>
            <a:ext cx="5394960" cy="121158"/>
          </a:xfrm>
          <a:prstGeom prst="rect">
            <a:avLst/>
          </a:prstGeom>
          <a:noFill/>
        </p:spPr>
        <p:txBody>
          <a:bodyPr wrap="square">
            <a:spAutoFit/>
          </a:bodyPr>
          <a:lstStyle/>
          <a:p>
            <a:pPr algn="l"/>
            <a:r>
              <a:rPr sz="1150" b="0" i="0">
                <a:solidFill>
                  <a:srgbClr val="64748B"/>
                </a:solidFill>
                <a:latin typeface="Calibri"/>
              </a:rPr>
              <a:t>     the element is the first child</a:t>
            </a:r>
          </a:p>
        </p:txBody>
      </p:sp>
      <p:sp>
        <p:nvSpPr>
          <p:cNvPr id="31" name="Rectangle 30"/>
          <p:cNvSpPr/>
          <p:nvPr/>
        </p:nvSpPr>
        <p:spPr>
          <a:xfrm>
            <a:off x="274320" y="3977640"/>
            <a:ext cx="5669280" cy="126187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11480" y="4069080"/>
            <a:ext cx="5394960" cy="640080"/>
          </a:xfrm>
          <a:prstGeom prst="rect">
            <a:avLst/>
          </a:prstGeom>
          <a:noFill/>
        </p:spPr>
        <p:txBody>
          <a:bodyPr wrap="square">
            <a:spAutoFit/>
          </a:bodyPr>
          <a:lstStyle/>
          <a:p>
            <a:pPr algn="l"/>
            <a:r>
              <a:rPr sz="1350" b="1" i="0">
                <a:solidFill>
                  <a:srgbClr val="FFFFFF"/>
                </a:solidFill>
                <a:latin typeface="Calibri"/>
              </a:rPr>
              <a:t>Q10  :nth-child(2n) selects …</a:t>
            </a:r>
          </a:p>
        </p:txBody>
      </p:sp>
      <p:sp>
        <p:nvSpPr>
          <p:cNvPr id="33" name="TextBox 32"/>
          <p:cNvSpPr txBox="1"/>
          <p:nvPr/>
        </p:nvSpPr>
        <p:spPr>
          <a:xfrm>
            <a:off x="411480" y="4709160"/>
            <a:ext cx="5394960" cy="121158"/>
          </a:xfrm>
          <a:prstGeom prst="rect">
            <a:avLst/>
          </a:prstGeom>
          <a:noFill/>
        </p:spPr>
        <p:txBody>
          <a:bodyPr wrap="square">
            <a:spAutoFit/>
          </a:bodyPr>
          <a:lstStyle>
            <a:defPPr>
              <a:defRPr lang="en-US"/>
            </a:defPPr>
            <a:lvl1pPr>
              <a:defRPr sz="1150" b="0" i="0">
                <a:solidFill>
                  <a:srgbClr val="64748B"/>
                </a:solidFill>
                <a:latin typeface="Calibri"/>
              </a:defRPr>
            </a:lvl1pPr>
          </a:lstStyle>
          <a:p>
            <a:r>
              <a:rPr lang="ko-KR" altLang="en-US" dirty="0"/>
              <a:t>　</a:t>
            </a:r>
            <a:r>
              <a:rPr dirty="0"/>
              <a:t> every even-numbered child</a:t>
            </a:r>
          </a:p>
        </p:txBody>
      </p:sp>
      <p:sp>
        <p:nvSpPr>
          <p:cNvPr id="34" name="TextBox 33"/>
          <p:cNvSpPr txBox="1"/>
          <p:nvPr/>
        </p:nvSpPr>
        <p:spPr>
          <a:xfrm>
            <a:off x="411480" y="4830318"/>
            <a:ext cx="5394960" cy="121158"/>
          </a:xfrm>
          <a:prstGeom prst="rect">
            <a:avLst/>
          </a:prstGeom>
          <a:noFill/>
        </p:spPr>
        <p:txBody>
          <a:bodyPr wrap="square">
            <a:spAutoFit/>
          </a:bodyPr>
          <a:lstStyle/>
          <a:p>
            <a:pPr algn="l"/>
            <a:r>
              <a:rPr sz="1150" b="0" i="0">
                <a:solidFill>
                  <a:srgbClr val="64748B"/>
                </a:solidFill>
                <a:latin typeface="Calibri"/>
              </a:rPr>
              <a:t>     every 2nd type element</a:t>
            </a:r>
          </a:p>
        </p:txBody>
      </p:sp>
      <p:sp>
        <p:nvSpPr>
          <p:cNvPr id="35" name="TextBox 34"/>
          <p:cNvSpPr txBox="1"/>
          <p:nvPr/>
        </p:nvSpPr>
        <p:spPr>
          <a:xfrm>
            <a:off x="411480" y="4951476"/>
            <a:ext cx="5394960" cy="121158"/>
          </a:xfrm>
          <a:prstGeom prst="rect">
            <a:avLst/>
          </a:prstGeom>
          <a:noFill/>
        </p:spPr>
        <p:txBody>
          <a:bodyPr wrap="square">
            <a:spAutoFit/>
          </a:bodyPr>
          <a:lstStyle/>
          <a:p>
            <a:pPr algn="l"/>
            <a:r>
              <a:rPr sz="1150" b="0" i="0">
                <a:solidFill>
                  <a:srgbClr val="64748B"/>
                </a:solidFill>
                <a:latin typeface="Calibri"/>
              </a:rPr>
              <a:t>     children after the 2nd</a:t>
            </a:r>
          </a:p>
        </p:txBody>
      </p:sp>
      <p:sp>
        <p:nvSpPr>
          <p:cNvPr id="36" name="TextBox 35"/>
          <p:cNvSpPr txBox="1"/>
          <p:nvPr/>
        </p:nvSpPr>
        <p:spPr>
          <a:xfrm>
            <a:off x="411480" y="5072634"/>
            <a:ext cx="5394960" cy="121158"/>
          </a:xfrm>
          <a:prstGeom prst="rect">
            <a:avLst/>
          </a:prstGeom>
          <a:noFill/>
        </p:spPr>
        <p:txBody>
          <a:bodyPr wrap="square">
            <a:spAutoFit/>
          </a:bodyPr>
          <a:lstStyle/>
          <a:p>
            <a:pPr algn="l"/>
            <a:r>
              <a:rPr sz="1150" b="0" i="0">
                <a:solidFill>
                  <a:srgbClr val="64748B"/>
                </a:solidFill>
                <a:latin typeface="Calibri"/>
              </a:rPr>
              <a:t>     only the 2nd child</a:t>
            </a:r>
          </a:p>
        </p:txBody>
      </p:sp>
      <p:sp>
        <p:nvSpPr>
          <p:cNvPr id="37" name="Rectangle 36"/>
          <p:cNvSpPr/>
          <p:nvPr/>
        </p:nvSpPr>
        <p:spPr>
          <a:xfrm>
            <a:off x="6217920" y="3977640"/>
            <a:ext cx="5669280" cy="126187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355080" y="4069080"/>
            <a:ext cx="5394960" cy="640080"/>
          </a:xfrm>
          <a:prstGeom prst="rect">
            <a:avLst/>
          </a:prstGeom>
          <a:noFill/>
        </p:spPr>
        <p:txBody>
          <a:bodyPr wrap="square">
            <a:spAutoFit/>
          </a:bodyPr>
          <a:lstStyle/>
          <a:p>
            <a:pPr algn="l"/>
            <a:r>
              <a:rPr sz="1350" b="1" i="0">
                <a:solidFill>
                  <a:srgbClr val="FFFFFF"/>
                </a:solidFill>
                <a:latin typeface="Calibri"/>
              </a:rPr>
              <a:t>Q11  ::before inserts content …</a:t>
            </a:r>
          </a:p>
        </p:txBody>
      </p:sp>
      <p:sp>
        <p:nvSpPr>
          <p:cNvPr id="39" name="TextBox 38"/>
          <p:cNvSpPr txBox="1"/>
          <p:nvPr/>
        </p:nvSpPr>
        <p:spPr>
          <a:xfrm>
            <a:off x="6355080" y="4709160"/>
            <a:ext cx="5394960" cy="269304"/>
          </a:xfrm>
          <a:prstGeom prst="rect">
            <a:avLst/>
          </a:prstGeom>
          <a:noFill/>
        </p:spPr>
        <p:txBody>
          <a:bodyPr wrap="square">
            <a:spAutoFit/>
          </a:bodyPr>
          <a:lstStyle/>
          <a:p>
            <a:pPr algn="l"/>
            <a:r>
              <a:rPr lang="ko-KR" altLang="en-US" sz="1150" b="1" i="0" dirty="0">
                <a:solidFill>
                  <a:srgbClr val="22C55E"/>
                </a:solidFill>
                <a:latin typeface="Calibri"/>
              </a:rPr>
              <a:t>　</a:t>
            </a:r>
            <a:r>
              <a:rPr sz="1150" dirty="0">
                <a:solidFill>
                  <a:srgbClr val="64748B"/>
                </a:solidFill>
                <a:latin typeface="Calibri"/>
              </a:rPr>
              <a:t>before the element's own text/content</a:t>
            </a:r>
          </a:p>
        </p:txBody>
      </p:sp>
      <p:sp>
        <p:nvSpPr>
          <p:cNvPr id="40" name="TextBox 39"/>
          <p:cNvSpPr txBox="1"/>
          <p:nvPr/>
        </p:nvSpPr>
        <p:spPr>
          <a:xfrm>
            <a:off x="6355080" y="4830318"/>
            <a:ext cx="5394960" cy="121158"/>
          </a:xfrm>
          <a:prstGeom prst="rect">
            <a:avLst/>
          </a:prstGeom>
          <a:noFill/>
        </p:spPr>
        <p:txBody>
          <a:bodyPr wrap="square">
            <a:spAutoFit/>
          </a:bodyPr>
          <a:lstStyle/>
          <a:p>
            <a:pPr algn="l"/>
            <a:r>
              <a:rPr sz="1150" b="0" i="0">
                <a:solidFill>
                  <a:srgbClr val="64748B"/>
                </a:solidFill>
                <a:latin typeface="Calibri"/>
              </a:rPr>
              <a:t>     before the parent element</a:t>
            </a:r>
          </a:p>
        </p:txBody>
      </p:sp>
      <p:sp>
        <p:nvSpPr>
          <p:cNvPr id="41" name="TextBox 40"/>
          <p:cNvSpPr txBox="1"/>
          <p:nvPr/>
        </p:nvSpPr>
        <p:spPr>
          <a:xfrm>
            <a:off x="6355080" y="4951476"/>
            <a:ext cx="5394960" cy="121158"/>
          </a:xfrm>
          <a:prstGeom prst="rect">
            <a:avLst/>
          </a:prstGeom>
          <a:noFill/>
        </p:spPr>
        <p:txBody>
          <a:bodyPr wrap="square">
            <a:spAutoFit/>
          </a:bodyPr>
          <a:lstStyle/>
          <a:p>
            <a:pPr algn="l"/>
            <a:r>
              <a:rPr sz="1150" b="0" i="0">
                <a:solidFill>
                  <a:srgbClr val="64748B"/>
                </a:solidFill>
                <a:latin typeface="Calibri"/>
              </a:rPr>
              <a:t>     as the last child</a:t>
            </a:r>
          </a:p>
        </p:txBody>
      </p:sp>
      <p:sp>
        <p:nvSpPr>
          <p:cNvPr id="42" name="TextBox 41"/>
          <p:cNvSpPr txBox="1"/>
          <p:nvPr/>
        </p:nvSpPr>
        <p:spPr>
          <a:xfrm>
            <a:off x="6355080" y="5072634"/>
            <a:ext cx="5394960" cy="121158"/>
          </a:xfrm>
          <a:prstGeom prst="rect">
            <a:avLst/>
          </a:prstGeom>
          <a:noFill/>
        </p:spPr>
        <p:txBody>
          <a:bodyPr wrap="square">
            <a:spAutoFit/>
          </a:bodyPr>
          <a:lstStyle/>
          <a:p>
            <a:pPr algn="l"/>
            <a:r>
              <a:rPr sz="1150" b="0" i="0">
                <a:solidFill>
                  <a:srgbClr val="64748B"/>
                </a:solidFill>
                <a:latin typeface="Calibri"/>
              </a:rPr>
              <a:t>     as a sibling after the element</a:t>
            </a:r>
          </a:p>
        </p:txBody>
      </p:sp>
      <p:sp>
        <p:nvSpPr>
          <p:cNvPr id="43" name="Rectangle 42"/>
          <p:cNvSpPr/>
          <p:nvPr/>
        </p:nvSpPr>
        <p:spPr>
          <a:xfrm>
            <a:off x="3246120" y="5349240"/>
            <a:ext cx="5669280" cy="126187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383280" y="5440680"/>
            <a:ext cx="5394960" cy="640080"/>
          </a:xfrm>
          <a:prstGeom prst="rect">
            <a:avLst/>
          </a:prstGeom>
          <a:noFill/>
        </p:spPr>
        <p:txBody>
          <a:bodyPr wrap="square">
            <a:spAutoFit/>
          </a:bodyPr>
          <a:lstStyle/>
          <a:p>
            <a:pPr algn="l"/>
            <a:r>
              <a:rPr sz="1350" b="1" i="0">
                <a:solidFill>
                  <a:srgbClr val="FFFFFF"/>
                </a:solidFill>
                <a:latin typeface="Calibri"/>
              </a:rPr>
              <a:t>Q12  ::before and ::after MUST always have which property to be visible?</a:t>
            </a:r>
          </a:p>
        </p:txBody>
      </p:sp>
      <p:sp>
        <p:nvSpPr>
          <p:cNvPr id="45" name="TextBox 44"/>
          <p:cNvSpPr txBox="1"/>
          <p:nvPr/>
        </p:nvSpPr>
        <p:spPr>
          <a:xfrm>
            <a:off x="3383280" y="6080760"/>
            <a:ext cx="5394960" cy="269304"/>
          </a:xfrm>
          <a:prstGeom prst="rect">
            <a:avLst/>
          </a:prstGeom>
          <a:noFill/>
        </p:spPr>
        <p:txBody>
          <a:bodyPr wrap="square">
            <a:spAutoFit/>
          </a:bodyPr>
          <a:lstStyle/>
          <a:p>
            <a:pPr algn="l"/>
            <a:r>
              <a:rPr sz="1150" b="1" i="0" dirty="0">
                <a:solidFill>
                  <a:srgbClr val="22C55E"/>
                </a:solidFill>
                <a:latin typeface="Calibri"/>
              </a:rPr>
              <a:t>✔ </a:t>
            </a:r>
            <a:r>
              <a:rPr sz="1150" dirty="0">
                <a:solidFill>
                  <a:srgbClr val="64748B"/>
                </a:solidFill>
                <a:latin typeface="Calibri"/>
              </a:rPr>
              <a:t>content: (even if empty string '')</a:t>
            </a:r>
          </a:p>
        </p:txBody>
      </p:sp>
      <p:sp>
        <p:nvSpPr>
          <p:cNvPr id="46" name="TextBox 45"/>
          <p:cNvSpPr txBox="1"/>
          <p:nvPr/>
        </p:nvSpPr>
        <p:spPr>
          <a:xfrm>
            <a:off x="3383280" y="6201918"/>
            <a:ext cx="5394960" cy="121158"/>
          </a:xfrm>
          <a:prstGeom prst="rect">
            <a:avLst/>
          </a:prstGeom>
          <a:noFill/>
        </p:spPr>
        <p:txBody>
          <a:bodyPr wrap="square">
            <a:spAutoFit/>
          </a:bodyPr>
          <a:lstStyle/>
          <a:p>
            <a:pPr algn="l"/>
            <a:r>
              <a:rPr sz="1150" b="0" i="0">
                <a:solidFill>
                  <a:srgbClr val="64748B"/>
                </a:solidFill>
                <a:latin typeface="Calibri"/>
              </a:rPr>
              <a:t>     display: block</a:t>
            </a:r>
          </a:p>
        </p:txBody>
      </p:sp>
      <p:sp>
        <p:nvSpPr>
          <p:cNvPr id="47" name="TextBox 46"/>
          <p:cNvSpPr txBox="1"/>
          <p:nvPr/>
        </p:nvSpPr>
        <p:spPr>
          <a:xfrm>
            <a:off x="3383280" y="6323076"/>
            <a:ext cx="5394960" cy="121158"/>
          </a:xfrm>
          <a:prstGeom prst="rect">
            <a:avLst/>
          </a:prstGeom>
          <a:noFill/>
        </p:spPr>
        <p:txBody>
          <a:bodyPr wrap="square">
            <a:spAutoFit/>
          </a:bodyPr>
          <a:lstStyle/>
          <a:p>
            <a:pPr algn="l"/>
            <a:r>
              <a:rPr sz="1150" b="0" i="0">
                <a:solidFill>
                  <a:srgbClr val="64748B"/>
                </a:solidFill>
                <a:latin typeface="Calibri"/>
              </a:rPr>
              <a:t>     position: absolute</a:t>
            </a:r>
          </a:p>
        </p:txBody>
      </p:sp>
      <p:sp>
        <p:nvSpPr>
          <p:cNvPr id="48" name="TextBox 47"/>
          <p:cNvSpPr txBox="1"/>
          <p:nvPr/>
        </p:nvSpPr>
        <p:spPr>
          <a:xfrm>
            <a:off x="3383280" y="6444234"/>
            <a:ext cx="5394960" cy="121158"/>
          </a:xfrm>
          <a:prstGeom prst="rect">
            <a:avLst/>
          </a:prstGeom>
          <a:noFill/>
        </p:spPr>
        <p:txBody>
          <a:bodyPr wrap="square">
            <a:spAutoFit/>
          </a:bodyPr>
          <a:lstStyle/>
          <a:p>
            <a:pPr algn="l"/>
            <a:r>
              <a:rPr sz="1150" b="0" i="0">
                <a:solidFill>
                  <a:srgbClr val="64748B"/>
                </a:solidFill>
                <a:latin typeface="Calibri"/>
              </a:rPr>
              <a:t>     z-index: 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9628632" cy="685800"/>
          </a:xfrm>
          <a:prstGeom prst="rect">
            <a:avLst/>
          </a:prstGeom>
          <a:noFill/>
        </p:spPr>
        <p:txBody>
          <a:bodyPr wrap="square">
            <a:spAutoFit/>
          </a:bodyPr>
          <a:lstStyle/>
          <a:p>
            <a:pPr algn="l"/>
            <a:r>
              <a:rPr sz="3200" b="1" i="0">
                <a:solidFill>
                  <a:srgbClr val="FFFFFF"/>
                </a:solidFill>
                <a:latin typeface="Calibri"/>
              </a:rPr>
              <a:t>Check-In · Pseudo-classes, z-index, overflow</a:t>
            </a:r>
          </a:p>
        </p:txBody>
      </p:sp>
      <p:sp>
        <p:nvSpPr>
          <p:cNvPr id="4" name="TextBox 3"/>
          <p:cNvSpPr txBox="1"/>
          <p:nvPr/>
        </p:nvSpPr>
        <p:spPr>
          <a:xfrm>
            <a:off x="365760" y="685800"/>
            <a:ext cx="9628632" cy="347472"/>
          </a:xfrm>
          <a:prstGeom prst="rect">
            <a:avLst/>
          </a:prstGeom>
          <a:noFill/>
        </p:spPr>
        <p:txBody>
          <a:bodyPr wrap="square">
            <a:spAutoFit/>
          </a:bodyPr>
          <a:lstStyle/>
          <a:p>
            <a:pPr algn="l"/>
            <a:r>
              <a:rPr sz="1500" b="0" i="0">
                <a:solidFill>
                  <a:srgbClr val="F0FDFA"/>
                </a:solidFill>
                <a:latin typeface="Calibri"/>
              </a:rPr>
              <a:t>Q6–Q12</a:t>
            </a:r>
          </a:p>
        </p:txBody>
      </p:sp>
      <p:sp>
        <p:nvSpPr>
          <p:cNvPr id="5" name="Rectangle 4"/>
          <p:cNvSpPr/>
          <p:nvPr/>
        </p:nvSpPr>
        <p:spPr>
          <a:xfrm>
            <a:off x="10085832" y="45720"/>
            <a:ext cx="2011680" cy="475488"/>
          </a:xfrm>
          <a:prstGeom prst="rect">
            <a:avLst/>
          </a:prstGeom>
          <a:solidFill>
            <a:srgbClr val="064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85832" y="109728"/>
            <a:ext cx="2011680" cy="365760"/>
          </a:xfrm>
          <a:prstGeom prst="rect">
            <a:avLst/>
          </a:prstGeom>
          <a:noFill/>
        </p:spPr>
        <p:txBody>
          <a:bodyPr wrap="square">
            <a:spAutoFit/>
          </a:bodyPr>
          <a:lstStyle/>
          <a:p>
            <a:pPr algn="ctr"/>
            <a:r>
              <a:rPr sz="1000" b="1" i="0">
                <a:solidFill>
                  <a:srgbClr val="14B8A6"/>
                </a:solidFill>
                <a:latin typeface="Calibri"/>
              </a:rPr>
              <a:t>WEEK 3 · FRIDAY</a:t>
            </a:r>
          </a:p>
        </p:txBody>
      </p:sp>
      <p:sp>
        <p:nvSpPr>
          <p:cNvPr id="7" name="Rectangle 6"/>
          <p:cNvSpPr/>
          <p:nvPr/>
        </p:nvSpPr>
        <p:spPr>
          <a:xfrm>
            <a:off x="274320" y="1234440"/>
            <a:ext cx="5669280" cy="126187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80" y="1325880"/>
            <a:ext cx="5394960" cy="640080"/>
          </a:xfrm>
          <a:prstGeom prst="rect">
            <a:avLst/>
          </a:prstGeom>
          <a:noFill/>
        </p:spPr>
        <p:txBody>
          <a:bodyPr wrap="square">
            <a:spAutoFit/>
          </a:bodyPr>
          <a:lstStyle/>
          <a:p>
            <a:pPr algn="l"/>
            <a:r>
              <a:rPr sz="1350" b="1" i="0">
                <a:solidFill>
                  <a:srgbClr val="FFFFFF"/>
                </a:solidFill>
                <a:latin typeface="Calibri"/>
              </a:rPr>
              <a:t>Q6  z-index controls …</a:t>
            </a:r>
          </a:p>
        </p:txBody>
      </p:sp>
      <p:sp>
        <p:nvSpPr>
          <p:cNvPr id="9" name="TextBox 8"/>
          <p:cNvSpPr txBox="1"/>
          <p:nvPr/>
        </p:nvSpPr>
        <p:spPr>
          <a:xfrm>
            <a:off x="411480" y="1965960"/>
            <a:ext cx="5394960" cy="121158"/>
          </a:xfrm>
          <a:prstGeom prst="rect">
            <a:avLst/>
          </a:prstGeom>
          <a:noFill/>
        </p:spPr>
        <p:txBody>
          <a:bodyPr wrap="square">
            <a:spAutoFit/>
          </a:bodyPr>
          <a:lstStyle/>
          <a:p>
            <a:pPr algn="l"/>
            <a:r>
              <a:rPr sz="1150" b="1" i="0">
                <a:solidFill>
                  <a:srgbClr val="22C55E"/>
                </a:solidFill>
                <a:latin typeface="Calibri"/>
              </a:rPr>
              <a:t>✔ stacking order (which element is on top)</a:t>
            </a:r>
          </a:p>
        </p:txBody>
      </p:sp>
      <p:sp>
        <p:nvSpPr>
          <p:cNvPr id="10" name="TextBox 9"/>
          <p:cNvSpPr txBox="1"/>
          <p:nvPr/>
        </p:nvSpPr>
        <p:spPr>
          <a:xfrm>
            <a:off x="411480" y="2087118"/>
            <a:ext cx="5394960" cy="121158"/>
          </a:xfrm>
          <a:prstGeom prst="rect">
            <a:avLst/>
          </a:prstGeom>
          <a:noFill/>
        </p:spPr>
        <p:txBody>
          <a:bodyPr wrap="square">
            <a:spAutoFit/>
          </a:bodyPr>
          <a:lstStyle/>
          <a:p>
            <a:pPr algn="l"/>
            <a:r>
              <a:rPr sz="1150" b="0" i="0">
                <a:solidFill>
                  <a:srgbClr val="64748B"/>
                </a:solidFill>
                <a:latin typeface="Calibri"/>
              </a:rPr>
              <a:t>     element zoom</a:t>
            </a:r>
          </a:p>
        </p:txBody>
      </p:sp>
      <p:sp>
        <p:nvSpPr>
          <p:cNvPr id="11" name="TextBox 10"/>
          <p:cNvSpPr txBox="1"/>
          <p:nvPr/>
        </p:nvSpPr>
        <p:spPr>
          <a:xfrm>
            <a:off x="411480" y="2208276"/>
            <a:ext cx="5394960" cy="121158"/>
          </a:xfrm>
          <a:prstGeom prst="rect">
            <a:avLst/>
          </a:prstGeom>
          <a:noFill/>
        </p:spPr>
        <p:txBody>
          <a:bodyPr wrap="square">
            <a:spAutoFit/>
          </a:bodyPr>
          <a:lstStyle/>
          <a:p>
            <a:pPr algn="l"/>
            <a:r>
              <a:rPr sz="1150" b="0" i="0">
                <a:solidFill>
                  <a:srgbClr val="64748B"/>
                </a:solidFill>
                <a:latin typeface="Calibri"/>
              </a:rPr>
              <a:t>     opacity</a:t>
            </a:r>
          </a:p>
        </p:txBody>
      </p:sp>
      <p:sp>
        <p:nvSpPr>
          <p:cNvPr id="12" name="TextBox 11"/>
          <p:cNvSpPr txBox="1"/>
          <p:nvPr/>
        </p:nvSpPr>
        <p:spPr>
          <a:xfrm>
            <a:off x="411480" y="2329434"/>
            <a:ext cx="5394960" cy="121158"/>
          </a:xfrm>
          <a:prstGeom prst="rect">
            <a:avLst/>
          </a:prstGeom>
          <a:noFill/>
        </p:spPr>
        <p:txBody>
          <a:bodyPr wrap="square">
            <a:spAutoFit/>
          </a:bodyPr>
          <a:lstStyle/>
          <a:p>
            <a:pPr algn="l"/>
            <a:r>
              <a:rPr sz="1150" b="0" i="0">
                <a:solidFill>
                  <a:srgbClr val="64748B"/>
                </a:solidFill>
                <a:latin typeface="Calibri"/>
              </a:rPr>
              <a:t>     3D depth in perspective</a:t>
            </a:r>
          </a:p>
        </p:txBody>
      </p:sp>
      <p:sp>
        <p:nvSpPr>
          <p:cNvPr id="13" name="Rectangle 12"/>
          <p:cNvSpPr/>
          <p:nvPr/>
        </p:nvSpPr>
        <p:spPr>
          <a:xfrm>
            <a:off x="6217920" y="1234440"/>
            <a:ext cx="5669280" cy="126187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55080" y="1325880"/>
            <a:ext cx="5394960" cy="640080"/>
          </a:xfrm>
          <a:prstGeom prst="rect">
            <a:avLst/>
          </a:prstGeom>
          <a:noFill/>
        </p:spPr>
        <p:txBody>
          <a:bodyPr wrap="square">
            <a:spAutoFit/>
          </a:bodyPr>
          <a:lstStyle/>
          <a:p>
            <a:pPr algn="l"/>
            <a:r>
              <a:rPr sz="1350" b="1" i="0">
                <a:solidFill>
                  <a:srgbClr val="FFFFFF"/>
                </a:solidFill>
                <a:latin typeface="Calibri"/>
              </a:rPr>
              <a:t>Q7  overflow: hidden on a container …</a:t>
            </a:r>
          </a:p>
        </p:txBody>
      </p:sp>
      <p:sp>
        <p:nvSpPr>
          <p:cNvPr id="15" name="TextBox 14"/>
          <p:cNvSpPr txBox="1"/>
          <p:nvPr/>
        </p:nvSpPr>
        <p:spPr>
          <a:xfrm>
            <a:off x="6355080" y="1965960"/>
            <a:ext cx="5394960" cy="121158"/>
          </a:xfrm>
          <a:prstGeom prst="rect">
            <a:avLst/>
          </a:prstGeom>
          <a:noFill/>
        </p:spPr>
        <p:txBody>
          <a:bodyPr wrap="square">
            <a:spAutoFit/>
          </a:bodyPr>
          <a:lstStyle/>
          <a:p>
            <a:pPr algn="l"/>
            <a:r>
              <a:rPr sz="1150" b="1" i="0">
                <a:solidFill>
                  <a:srgbClr val="22C55E"/>
                </a:solidFill>
                <a:latin typeface="Calibri"/>
              </a:rPr>
              <a:t>✔ clips content beyond the container bounds</a:t>
            </a:r>
          </a:p>
        </p:txBody>
      </p:sp>
      <p:sp>
        <p:nvSpPr>
          <p:cNvPr id="16" name="TextBox 15"/>
          <p:cNvSpPr txBox="1"/>
          <p:nvPr/>
        </p:nvSpPr>
        <p:spPr>
          <a:xfrm>
            <a:off x="6355080" y="2087118"/>
            <a:ext cx="5394960" cy="121158"/>
          </a:xfrm>
          <a:prstGeom prst="rect">
            <a:avLst/>
          </a:prstGeom>
          <a:noFill/>
        </p:spPr>
        <p:txBody>
          <a:bodyPr wrap="square">
            <a:spAutoFit/>
          </a:bodyPr>
          <a:lstStyle/>
          <a:p>
            <a:pPr algn="l"/>
            <a:r>
              <a:rPr sz="1150" b="0" i="0">
                <a:solidFill>
                  <a:srgbClr val="64748B"/>
                </a:solidFill>
                <a:latin typeface="Calibri"/>
              </a:rPr>
              <a:t>     hides the element completely</a:t>
            </a:r>
          </a:p>
        </p:txBody>
      </p:sp>
      <p:sp>
        <p:nvSpPr>
          <p:cNvPr id="17" name="TextBox 16"/>
          <p:cNvSpPr txBox="1"/>
          <p:nvPr/>
        </p:nvSpPr>
        <p:spPr>
          <a:xfrm>
            <a:off x="6355080" y="2208276"/>
            <a:ext cx="5394960" cy="121158"/>
          </a:xfrm>
          <a:prstGeom prst="rect">
            <a:avLst/>
          </a:prstGeom>
          <a:noFill/>
        </p:spPr>
        <p:txBody>
          <a:bodyPr wrap="square">
            <a:spAutoFit/>
          </a:bodyPr>
          <a:lstStyle/>
          <a:p>
            <a:pPr algn="l"/>
            <a:r>
              <a:rPr sz="1150" b="0" i="0">
                <a:solidFill>
                  <a:srgbClr val="64748B"/>
                </a:solidFill>
                <a:latin typeface="Calibri"/>
              </a:rPr>
              <a:t>     makes content scrollable</a:t>
            </a:r>
          </a:p>
        </p:txBody>
      </p:sp>
      <p:sp>
        <p:nvSpPr>
          <p:cNvPr id="18" name="TextBox 17"/>
          <p:cNvSpPr txBox="1"/>
          <p:nvPr/>
        </p:nvSpPr>
        <p:spPr>
          <a:xfrm>
            <a:off x="6355080" y="2329434"/>
            <a:ext cx="5394960" cy="121158"/>
          </a:xfrm>
          <a:prstGeom prst="rect">
            <a:avLst/>
          </a:prstGeom>
          <a:noFill/>
        </p:spPr>
        <p:txBody>
          <a:bodyPr wrap="square">
            <a:spAutoFit/>
          </a:bodyPr>
          <a:lstStyle/>
          <a:p>
            <a:pPr algn="l"/>
            <a:r>
              <a:rPr sz="1150" b="0" i="0">
                <a:solidFill>
                  <a:srgbClr val="64748B"/>
                </a:solidFill>
                <a:latin typeface="Calibri"/>
              </a:rPr>
              <a:t>     collapses the height to zero</a:t>
            </a:r>
          </a:p>
        </p:txBody>
      </p:sp>
      <p:sp>
        <p:nvSpPr>
          <p:cNvPr id="19" name="Rectangle 18"/>
          <p:cNvSpPr/>
          <p:nvPr/>
        </p:nvSpPr>
        <p:spPr>
          <a:xfrm>
            <a:off x="274320" y="2606040"/>
            <a:ext cx="5669280" cy="126187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11480" y="2697480"/>
            <a:ext cx="5394960" cy="640080"/>
          </a:xfrm>
          <a:prstGeom prst="rect">
            <a:avLst/>
          </a:prstGeom>
          <a:noFill/>
        </p:spPr>
        <p:txBody>
          <a:bodyPr wrap="square">
            <a:spAutoFit/>
          </a:bodyPr>
          <a:lstStyle/>
          <a:p>
            <a:pPr algn="l"/>
            <a:r>
              <a:rPr sz="1350" b="1" i="0">
                <a:solidFill>
                  <a:srgbClr val="FFFFFF"/>
                </a:solidFill>
                <a:latin typeface="Calibri"/>
              </a:rPr>
              <a:t>Q8  Which pseudo-class fires when a mouse hovers?</a:t>
            </a:r>
          </a:p>
        </p:txBody>
      </p:sp>
      <p:sp>
        <p:nvSpPr>
          <p:cNvPr id="21" name="TextBox 20"/>
          <p:cNvSpPr txBox="1"/>
          <p:nvPr/>
        </p:nvSpPr>
        <p:spPr>
          <a:xfrm>
            <a:off x="411480" y="3337560"/>
            <a:ext cx="5394960" cy="121158"/>
          </a:xfrm>
          <a:prstGeom prst="rect">
            <a:avLst/>
          </a:prstGeom>
          <a:noFill/>
        </p:spPr>
        <p:txBody>
          <a:bodyPr wrap="square">
            <a:spAutoFit/>
          </a:bodyPr>
          <a:lstStyle/>
          <a:p>
            <a:pPr algn="l"/>
            <a:r>
              <a:rPr sz="1150" b="1" i="0">
                <a:solidFill>
                  <a:srgbClr val="22C55E"/>
                </a:solidFill>
                <a:latin typeface="Calibri"/>
              </a:rPr>
              <a:t>✔ :hover</a:t>
            </a:r>
          </a:p>
        </p:txBody>
      </p:sp>
      <p:sp>
        <p:nvSpPr>
          <p:cNvPr id="22" name="TextBox 21"/>
          <p:cNvSpPr txBox="1"/>
          <p:nvPr/>
        </p:nvSpPr>
        <p:spPr>
          <a:xfrm>
            <a:off x="411480" y="3458718"/>
            <a:ext cx="5394960" cy="121158"/>
          </a:xfrm>
          <a:prstGeom prst="rect">
            <a:avLst/>
          </a:prstGeom>
          <a:noFill/>
        </p:spPr>
        <p:txBody>
          <a:bodyPr wrap="square">
            <a:spAutoFit/>
          </a:bodyPr>
          <a:lstStyle/>
          <a:p>
            <a:pPr algn="l"/>
            <a:r>
              <a:rPr sz="1150" b="0" i="0">
                <a:solidFill>
                  <a:srgbClr val="64748B"/>
                </a:solidFill>
                <a:latin typeface="Calibri"/>
              </a:rPr>
              <a:t>     :focus</a:t>
            </a:r>
          </a:p>
        </p:txBody>
      </p:sp>
      <p:sp>
        <p:nvSpPr>
          <p:cNvPr id="23" name="TextBox 22"/>
          <p:cNvSpPr txBox="1"/>
          <p:nvPr/>
        </p:nvSpPr>
        <p:spPr>
          <a:xfrm>
            <a:off x="411480" y="3579876"/>
            <a:ext cx="5394960" cy="121158"/>
          </a:xfrm>
          <a:prstGeom prst="rect">
            <a:avLst/>
          </a:prstGeom>
          <a:noFill/>
        </p:spPr>
        <p:txBody>
          <a:bodyPr wrap="square">
            <a:spAutoFit/>
          </a:bodyPr>
          <a:lstStyle/>
          <a:p>
            <a:pPr algn="l"/>
            <a:r>
              <a:rPr sz="1150" b="0" i="0">
                <a:solidFill>
                  <a:srgbClr val="64748B"/>
                </a:solidFill>
                <a:latin typeface="Calibri"/>
              </a:rPr>
              <a:t>     :active</a:t>
            </a:r>
          </a:p>
        </p:txBody>
      </p:sp>
      <p:sp>
        <p:nvSpPr>
          <p:cNvPr id="24" name="TextBox 23"/>
          <p:cNvSpPr txBox="1"/>
          <p:nvPr/>
        </p:nvSpPr>
        <p:spPr>
          <a:xfrm>
            <a:off x="411480" y="3701034"/>
            <a:ext cx="5394960" cy="121158"/>
          </a:xfrm>
          <a:prstGeom prst="rect">
            <a:avLst/>
          </a:prstGeom>
          <a:noFill/>
        </p:spPr>
        <p:txBody>
          <a:bodyPr wrap="square">
            <a:spAutoFit/>
          </a:bodyPr>
          <a:lstStyle/>
          <a:p>
            <a:pPr algn="l"/>
            <a:r>
              <a:rPr sz="1150" b="0" i="0">
                <a:solidFill>
                  <a:srgbClr val="64748B"/>
                </a:solidFill>
                <a:latin typeface="Calibri"/>
              </a:rPr>
              <a:t>     :visited</a:t>
            </a:r>
          </a:p>
        </p:txBody>
      </p:sp>
      <p:sp>
        <p:nvSpPr>
          <p:cNvPr id="25" name="Rectangle 24"/>
          <p:cNvSpPr/>
          <p:nvPr/>
        </p:nvSpPr>
        <p:spPr>
          <a:xfrm>
            <a:off x="6217920" y="2606040"/>
            <a:ext cx="5669280" cy="126187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55080" y="2697480"/>
            <a:ext cx="5394960" cy="640080"/>
          </a:xfrm>
          <a:prstGeom prst="rect">
            <a:avLst/>
          </a:prstGeom>
          <a:noFill/>
        </p:spPr>
        <p:txBody>
          <a:bodyPr wrap="square">
            <a:spAutoFit/>
          </a:bodyPr>
          <a:lstStyle/>
          <a:p>
            <a:pPr algn="l"/>
            <a:r>
              <a:rPr sz="1350" b="1" i="0">
                <a:solidFill>
                  <a:srgbClr val="FFFFFF"/>
                </a:solidFill>
                <a:latin typeface="Calibri"/>
              </a:rPr>
              <a:t>Q9  :focus applies when …</a:t>
            </a:r>
          </a:p>
        </p:txBody>
      </p:sp>
      <p:sp>
        <p:nvSpPr>
          <p:cNvPr id="27" name="TextBox 26"/>
          <p:cNvSpPr txBox="1"/>
          <p:nvPr/>
        </p:nvSpPr>
        <p:spPr>
          <a:xfrm>
            <a:off x="6355080" y="3337560"/>
            <a:ext cx="5394960" cy="121158"/>
          </a:xfrm>
          <a:prstGeom prst="rect">
            <a:avLst/>
          </a:prstGeom>
          <a:noFill/>
        </p:spPr>
        <p:txBody>
          <a:bodyPr wrap="square">
            <a:spAutoFit/>
          </a:bodyPr>
          <a:lstStyle/>
          <a:p>
            <a:pPr algn="l"/>
            <a:r>
              <a:rPr sz="1150" b="1" i="0">
                <a:solidFill>
                  <a:srgbClr val="22C55E"/>
                </a:solidFill>
                <a:latin typeface="Calibri"/>
              </a:rPr>
              <a:t>✔ the element receives keyboard or click focus</a:t>
            </a:r>
          </a:p>
        </p:txBody>
      </p:sp>
      <p:sp>
        <p:nvSpPr>
          <p:cNvPr id="28" name="TextBox 27"/>
          <p:cNvSpPr txBox="1"/>
          <p:nvPr/>
        </p:nvSpPr>
        <p:spPr>
          <a:xfrm>
            <a:off x="6355080" y="3458718"/>
            <a:ext cx="5394960" cy="121158"/>
          </a:xfrm>
          <a:prstGeom prst="rect">
            <a:avLst/>
          </a:prstGeom>
          <a:noFill/>
        </p:spPr>
        <p:txBody>
          <a:bodyPr wrap="square">
            <a:spAutoFit/>
          </a:bodyPr>
          <a:lstStyle/>
          <a:p>
            <a:pPr algn="l"/>
            <a:r>
              <a:rPr sz="1150" b="0" i="0">
                <a:solidFill>
                  <a:srgbClr val="64748B"/>
                </a:solidFill>
                <a:latin typeface="Calibri"/>
              </a:rPr>
              <a:t>     the mouse hovers</a:t>
            </a:r>
          </a:p>
        </p:txBody>
      </p:sp>
      <p:sp>
        <p:nvSpPr>
          <p:cNvPr id="29" name="TextBox 28"/>
          <p:cNvSpPr txBox="1"/>
          <p:nvPr/>
        </p:nvSpPr>
        <p:spPr>
          <a:xfrm>
            <a:off x="6355080" y="3579876"/>
            <a:ext cx="5394960" cy="121158"/>
          </a:xfrm>
          <a:prstGeom prst="rect">
            <a:avLst/>
          </a:prstGeom>
          <a:noFill/>
        </p:spPr>
        <p:txBody>
          <a:bodyPr wrap="square">
            <a:spAutoFit/>
          </a:bodyPr>
          <a:lstStyle/>
          <a:p>
            <a:pPr algn="l"/>
            <a:r>
              <a:rPr sz="1150" b="0" i="0">
                <a:solidFill>
                  <a:srgbClr val="64748B"/>
                </a:solidFill>
                <a:latin typeface="Calibri"/>
              </a:rPr>
              <a:t>     a link was already visited</a:t>
            </a:r>
          </a:p>
        </p:txBody>
      </p:sp>
      <p:sp>
        <p:nvSpPr>
          <p:cNvPr id="30" name="TextBox 29"/>
          <p:cNvSpPr txBox="1"/>
          <p:nvPr/>
        </p:nvSpPr>
        <p:spPr>
          <a:xfrm>
            <a:off x="6355080" y="3701034"/>
            <a:ext cx="5394960" cy="121158"/>
          </a:xfrm>
          <a:prstGeom prst="rect">
            <a:avLst/>
          </a:prstGeom>
          <a:noFill/>
        </p:spPr>
        <p:txBody>
          <a:bodyPr wrap="square">
            <a:spAutoFit/>
          </a:bodyPr>
          <a:lstStyle/>
          <a:p>
            <a:pPr algn="l"/>
            <a:r>
              <a:rPr sz="1150" b="0" i="0">
                <a:solidFill>
                  <a:srgbClr val="64748B"/>
                </a:solidFill>
                <a:latin typeface="Calibri"/>
              </a:rPr>
              <a:t>     the element is the first child</a:t>
            </a:r>
          </a:p>
        </p:txBody>
      </p:sp>
      <p:sp>
        <p:nvSpPr>
          <p:cNvPr id="31" name="Rectangle 30"/>
          <p:cNvSpPr/>
          <p:nvPr/>
        </p:nvSpPr>
        <p:spPr>
          <a:xfrm>
            <a:off x="274320" y="3977640"/>
            <a:ext cx="5669280" cy="126187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11480" y="4069080"/>
            <a:ext cx="5394960" cy="640080"/>
          </a:xfrm>
          <a:prstGeom prst="rect">
            <a:avLst/>
          </a:prstGeom>
          <a:noFill/>
        </p:spPr>
        <p:txBody>
          <a:bodyPr wrap="square">
            <a:spAutoFit/>
          </a:bodyPr>
          <a:lstStyle/>
          <a:p>
            <a:pPr algn="l"/>
            <a:r>
              <a:rPr sz="1350" b="1" i="0">
                <a:solidFill>
                  <a:srgbClr val="FFFFFF"/>
                </a:solidFill>
                <a:latin typeface="Calibri"/>
              </a:rPr>
              <a:t>Q10  :nth-child(2n) selects …</a:t>
            </a:r>
          </a:p>
        </p:txBody>
      </p:sp>
      <p:sp>
        <p:nvSpPr>
          <p:cNvPr id="33" name="TextBox 32"/>
          <p:cNvSpPr txBox="1"/>
          <p:nvPr/>
        </p:nvSpPr>
        <p:spPr>
          <a:xfrm>
            <a:off x="411480" y="4709160"/>
            <a:ext cx="5394960" cy="121158"/>
          </a:xfrm>
          <a:prstGeom prst="rect">
            <a:avLst/>
          </a:prstGeom>
          <a:noFill/>
        </p:spPr>
        <p:txBody>
          <a:bodyPr wrap="square">
            <a:spAutoFit/>
          </a:bodyPr>
          <a:lstStyle/>
          <a:p>
            <a:pPr algn="l"/>
            <a:r>
              <a:rPr sz="1150" b="1" i="0">
                <a:solidFill>
                  <a:srgbClr val="22C55E"/>
                </a:solidFill>
                <a:latin typeface="Calibri"/>
              </a:rPr>
              <a:t>✔ every even-numbered child</a:t>
            </a:r>
          </a:p>
        </p:txBody>
      </p:sp>
      <p:sp>
        <p:nvSpPr>
          <p:cNvPr id="34" name="TextBox 33"/>
          <p:cNvSpPr txBox="1"/>
          <p:nvPr/>
        </p:nvSpPr>
        <p:spPr>
          <a:xfrm>
            <a:off x="411480" y="4830318"/>
            <a:ext cx="5394960" cy="121158"/>
          </a:xfrm>
          <a:prstGeom prst="rect">
            <a:avLst/>
          </a:prstGeom>
          <a:noFill/>
        </p:spPr>
        <p:txBody>
          <a:bodyPr wrap="square">
            <a:spAutoFit/>
          </a:bodyPr>
          <a:lstStyle/>
          <a:p>
            <a:pPr algn="l"/>
            <a:r>
              <a:rPr sz="1150" b="0" i="0">
                <a:solidFill>
                  <a:srgbClr val="64748B"/>
                </a:solidFill>
                <a:latin typeface="Calibri"/>
              </a:rPr>
              <a:t>     every 2nd type element</a:t>
            </a:r>
          </a:p>
        </p:txBody>
      </p:sp>
      <p:sp>
        <p:nvSpPr>
          <p:cNvPr id="35" name="TextBox 34"/>
          <p:cNvSpPr txBox="1"/>
          <p:nvPr/>
        </p:nvSpPr>
        <p:spPr>
          <a:xfrm>
            <a:off x="411480" y="4951476"/>
            <a:ext cx="5394960" cy="121158"/>
          </a:xfrm>
          <a:prstGeom prst="rect">
            <a:avLst/>
          </a:prstGeom>
          <a:noFill/>
        </p:spPr>
        <p:txBody>
          <a:bodyPr wrap="square">
            <a:spAutoFit/>
          </a:bodyPr>
          <a:lstStyle/>
          <a:p>
            <a:pPr algn="l"/>
            <a:r>
              <a:rPr sz="1150" b="0" i="0">
                <a:solidFill>
                  <a:srgbClr val="64748B"/>
                </a:solidFill>
                <a:latin typeface="Calibri"/>
              </a:rPr>
              <a:t>     children after the 2nd</a:t>
            </a:r>
          </a:p>
        </p:txBody>
      </p:sp>
      <p:sp>
        <p:nvSpPr>
          <p:cNvPr id="36" name="TextBox 35"/>
          <p:cNvSpPr txBox="1"/>
          <p:nvPr/>
        </p:nvSpPr>
        <p:spPr>
          <a:xfrm>
            <a:off x="411480" y="5072634"/>
            <a:ext cx="5394960" cy="121158"/>
          </a:xfrm>
          <a:prstGeom prst="rect">
            <a:avLst/>
          </a:prstGeom>
          <a:noFill/>
        </p:spPr>
        <p:txBody>
          <a:bodyPr wrap="square">
            <a:spAutoFit/>
          </a:bodyPr>
          <a:lstStyle/>
          <a:p>
            <a:pPr algn="l"/>
            <a:r>
              <a:rPr sz="1150" b="0" i="0">
                <a:solidFill>
                  <a:srgbClr val="64748B"/>
                </a:solidFill>
                <a:latin typeface="Calibri"/>
              </a:rPr>
              <a:t>     only the 2nd child</a:t>
            </a:r>
          </a:p>
        </p:txBody>
      </p:sp>
      <p:sp>
        <p:nvSpPr>
          <p:cNvPr id="37" name="Rectangle 36"/>
          <p:cNvSpPr/>
          <p:nvPr/>
        </p:nvSpPr>
        <p:spPr>
          <a:xfrm>
            <a:off x="6217920" y="3977640"/>
            <a:ext cx="5669280" cy="126187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355080" y="4069080"/>
            <a:ext cx="5394960" cy="640080"/>
          </a:xfrm>
          <a:prstGeom prst="rect">
            <a:avLst/>
          </a:prstGeom>
          <a:noFill/>
        </p:spPr>
        <p:txBody>
          <a:bodyPr wrap="square">
            <a:spAutoFit/>
          </a:bodyPr>
          <a:lstStyle/>
          <a:p>
            <a:pPr algn="l"/>
            <a:r>
              <a:rPr sz="1350" b="1" i="0">
                <a:solidFill>
                  <a:srgbClr val="FFFFFF"/>
                </a:solidFill>
                <a:latin typeface="Calibri"/>
              </a:rPr>
              <a:t>Q11  ::before inserts content …</a:t>
            </a:r>
          </a:p>
        </p:txBody>
      </p:sp>
      <p:sp>
        <p:nvSpPr>
          <p:cNvPr id="39" name="TextBox 38"/>
          <p:cNvSpPr txBox="1"/>
          <p:nvPr/>
        </p:nvSpPr>
        <p:spPr>
          <a:xfrm>
            <a:off x="6355080" y="4709160"/>
            <a:ext cx="5394960" cy="121158"/>
          </a:xfrm>
          <a:prstGeom prst="rect">
            <a:avLst/>
          </a:prstGeom>
          <a:noFill/>
        </p:spPr>
        <p:txBody>
          <a:bodyPr wrap="square">
            <a:spAutoFit/>
          </a:bodyPr>
          <a:lstStyle/>
          <a:p>
            <a:pPr algn="l"/>
            <a:r>
              <a:rPr sz="1150" b="1" i="0">
                <a:solidFill>
                  <a:srgbClr val="22C55E"/>
                </a:solidFill>
                <a:latin typeface="Calibri"/>
              </a:rPr>
              <a:t>✔ before the element's own text/content</a:t>
            </a:r>
          </a:p>
        </p:txBody>
      </p:sp>
      <p:sp>
        <p:nvSpPr>
          <p:cNvPr id="40" name="TextBox 39"/>
          <p:cNvSpPr txBox="1"/>
          <p:nvPr/>
        </p:nvSpPr>
        <p:spPr>
          <a:xfrm>
            <a:off x="6355080" y="4830318"/>
            <a:ext cx="5394960" cy="121158"/>
          </a:xfrm>
          <a:prstGeom prst="rect">
            <a:avLst/>
          </a:prstGeom>
          <a:noFill/>
        </p:spPr>
        <p:txBody>
          <a:bodyPr wrap="square">
            <a:spAutoFit/>
          </a:bodyPr>
          <a:lstStyle/>
          <a:p>
            <a:pPr algn="l"/>
            <a:r>
              <a:rPr sz="1150" b="0" i="0">
                <a:solidFill>
                  <a:srgbClr val="64748B"/>
                </a:solidFill>
                <a:latin typeface="Calibri"/>
              </a:rPr>
              <a:t>     before the parent element</a:t>
            </a:r>
          </a:p>
        </p:txBody>
      </p:sp>
      <p:sp>
        <p:nvSpPr>
          <p:cNvPr id="41" name="TextBox 40"/>
          <p:cNvSpPr txBox="1"/>
          <p:nvPr/>
        </p:nvSpPr>
        <p:spPr>
          <a:xfrm>
            <a:off x="6355080" y="4951476"/>
            <a:ext cx="5394960" cy="121158"/>
          </a:xfrm>
          <a:prstGeom prst="rect">
            <a:avLst/>
          </a:prstGeom>
          <a:noFill/>
        </p:spPr>
        <p:txBody>
          <a:bodyPr wrap="square">
            <a:spAutoFit/>
          </a:bodyPr>
          <a:lstStyle/>
          <a:p>
            <a:pPr algn="l"/>
            <a:r>
              <a:rPr sz="1150" b="0" i="0">
                <a:solidFill>
                  <a:srgbClr val="64748B"/>
                </a:solidFill>
                <a:latin typeface="Calibri"/>
              </a:rPr>
              <a:t>     as the last child</a:t>
            </a:r>
          </a:p>
        </p:txBody>
      </p:sp>
      <p:sp>
        <p:nvSpPr>
          <p:cNvPr id="42" name="TextBox 41"/>
          <p:cNvSpPr txBox="1"/>
          <p:nvPr/>
        </p:nvSpPr>
        <p:spPr>
          <a:xfrm>
            <a:off x="6355080" y="5072634"/>
            <a:ext cx="5394960" cy="121158"/>
          </a:xfrm>
          <a:prstGeom prst="rect">
            <a:avLst/>
          </a:prstGeom>
          <a:noFill/>
        </p:spPr>
        <p:txBody>
          <a:bodyPr wrap="square">
            <a:spAutoFit/>
          </a:bodyPr>
          <a:lstStyle/>
          <a:p>
            <a:pPr algn="l"/>
            <a:r>
              <a:rPr sz="1150" b="0" i="0">
                <a:solidFill>
                  <a:srgbClr val="64748B"/>
                </a:solidFill>
                <a:latin typeface="Calibri"/>
              </a:rPr>
              <a:t>     as a sibling after the element</a:t>
            </a:r>
          </a:p>
        </p:txBody>
      </p:sp>
      <p:sp>
        <p:nvSpPr>
          <p:cNvPr id="43" name="Rectangle 42"/>
          <p:cNvSpPr/>
          <p:nvPr/>
        </p:nvSpPr>
        <p:spPr>
          <a:xfrm>
            <a:off x="3246120" y="5349240"/>
            <a:ext cx="5669280" cy="126187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383280" y="5440680"/>
            <a:ext cx="5394960" cy="640080"/>
          </a:xfrm>
          <a:prstGeom prst="rect">
            <a:avLst/>
          </a:prstGeom>
          <a:noFill/>
        </p:spPr>
        <p:txBody>
          <a:bodyPr wrap="square">
            <a:spAutoFit/>
          </a:bodyPr>
          <a:lstStyle/>
          <a:p>
            <a:pPr algn="l"/>
            <a:r>
              <a:rPr sz="1350" b="1" i="0">
                <a:solidFill>
                  <a:srgbClr val="FFFFFF"/>
                </a:solidFill>
                <a:latin typeface="Calibri"/>
              </a:rPr>
              <a:t>Q12  ::before and ::after MUST always have which property to be visible?</a:t>
            </a:r>
          </a:p>
        </p:txBody>
      </p:sp>
      <p:sp>
        <p:nvSpPr>
          <p:cNvPr id="45" name="TextBox 44"/>
          <p:cNvSpPr txBox="1"/>
          <p:nvPr/>
        </p:nvSpPr>
        <p:spPr>
          <a:xfrm>
            <a:off x="3383280" y="6080760"/>
            <a:ext cx="5394960" cy="121158"/>
          </a:xfrm>
          <a:prstGeom prst="rect">
            <a:avLst/>
          </a:prstGeom>
          <a:noFill/>
        </p:spPr>
        <p:txBody>
          <a:bodyPr wrap="square">
            <a:spAutoFit/>
          </a:bodyPr>
          <a:lstStyle/>
          <a:p>
            <a:pPr algn="l"/>
            <a:r>
              <a:rPr sz="1150" b="1" i="0">
                <a:solidFill>
                  <a:srgbClr val="22C55E"/>
                </a:solidFill>
                <a:latin typeface="Calibri"/>
              </a:rPr>
              <a:t>✔ content: (even if empty string '')</a:t>
            </a:r>
          </a:p>
        </p:txBody>
      </p:sp>
      <p:sp>
        <p:nvSpPr>
          <p:cNvPr id="46" name="TextBox 45"/>
          <p:cNvSpPr txBox="1"/>
          <p:nvPr/>
        </p:nvSpPr>
        <p:spPr>
          <a:xfrm>
            <a:off x="3383280" y="6201918"/>
            <a:ext cx="5394960" cy="121158"/>
          </a:xfrm>
          <a:prstGeom prst="rect">
            <a:avLst/>
          </a:prstGeom>
          <a:noFill/>
        </p:spPr>
        <p:txBody>
          <a:bodyPr wrap="square">
            <a:spAutoFit/>
          </a:bodyPr>
          <a:lstStyle/>
          <a:p>
            <a:pPr algn="l"/>
            <a:r>
              <a:rPr sz="1150" b="0" i="0">
                <a:solidFill>
                  <a:srgbClr val="64748B"/>
                </a:solidFill>
                <a:latin typeface="Calibri"/>
              </a:rPr>
              <a:t>     display: block</a:t>
            </a:r>
          </a:p>
        </p:txBody>
      </p:sp>
      <p:sp>
        <p:nvSpPr>
          <p:cNvPr id="47" name="TextBox 46"/>
          <p:cNvSpPr txBox="1"/>
          <p:nvPr/>
        </p:nvSpPr>
        <p:spPr>
          <a:xfrm>
            <a:off x="3383280" y="6323076"/>
            <a:ext cx="5394960" cy="121158"/>
          </a:xfrm>
          <a:prstGeom prst="rect">
            <a:avLst/>
          </a:prstGeom>
          <a:noFill/>
        </p:spPr>
        <p:txBody>
          <a:bodyPr wrap="square">
            <a:spAutoFit/>
          </a:bodyPr>
          <a:lstStyle/>
          <a:p>
            <a:pPr algn="l"/>
            <a:r>
              <a:rPr sz="1150" b="0" i="0">
                <a:solidFill>
                  <a:srgbClr val="64748B"/>
                </a:solidFill>
                <a:latin typeface="Calibri"/>
              </a:rPr>
              <a:t>     position: absolute</a:t>
            </a:r>
          </a:p>
        </p:txBody>
      </p:sp>
      <p:sp>
        <p:nvSpPr>
          <p:cNvPr id="48" name="TextBox 47"/>
          <p:cNvSpPr txBox="1"/>
          <p:nvPr/>
        </p:nvSpPr>
        <p:spPr>
          <a:xfrm>
            <a:off x="3383280" y="6444234"/>
            <a:ext cx="5394960" cy="121158"/>
          </a:xfrm>
          <a:prstGeom prst="rect">
            <a:avLst/>
          </a:prstGeom>
          <a:noFill/>
        </p:spPr>
        <p:txBody>
          <a:bodyPr wrap="square">
            <a:spAutoFit/>
          </a:bodyPr>
          <a:lstStyle/>
          <a:p>
            <a:pPr algn="l"/>
            <a:r>
              <a:rPr sz="1150" b="0" i="0">
                <a:solidFill>
                  <a:srgbClr val="64748B"/>
                </a:solidFill>
                <a:latin typeface="Calibri"/>
              </a:rPr>
              <a:t>     z-index: 1</a:t>
            </a:r>
          </a:p>
        </p:txBody>
      </p:sp>
    </p:spTree>
    <p:extLst>
      <p:ext uri="{BB962C8B-B14F-4D97-AF65-F5344CB8AC3E}">
        <p14:creationId xmlns:p14="http://schemas.microsoft.com/office/powerpoint/2010/main" val="27287818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9628632" cy="685800"/>
          </a:xfrm>
          <a:prstGeom prst="rect">
            <a:avLst/>
          </a:prstGeom>
          <a:noFill/>
        </p:spPr>
        <p:txBody>
          <a:bodyPr wrap="square">
            <a:spAutoFit/>
          </a:bodyPr>
          <a:lstStyle/>
          <a:p>
            <a:pPr algn="l"/>
            <a:r>
              <a:rPr sz="3200" b="1" i="0">
                <a:solidFill>
                  <a:srgbClr val="FFFFFF"/>
                </a:solidFill>
                <a:latin typeface="Calibri"/>
              </a:rPr>
              <a:t>CSS Transitions</a:t>
            </a:r>
          </a:p>
        </p:txBody>
      </p:sp>
      <p:sp>
        <p:nvSpPr>
          <p:cNvPr id="4" name="TextBox 3"/>
          <p:cNvSpPr txBox="1"/>
          <p:nvPr/>
        </p:nvSpPr>
        <p:spPr>
          <a:xfrm>
            <a:off x="365760" y="685800"/>
            <a:ext cx="9628632" cy="347472"/>
          </a:xfrm>
          <a:prstGeom prst="rect">
            <a:avLst/>
          </a:prstGeom>
          <a:noFill/>
        </p:spPr>
        <p:txBody>
          <a:bodyPr wrap="square">
            <a:spAutoFit/>
          </a:bodyPr>
          <a:lstStyle/>
          <a:p>
            <a:pPr algn="l"/>
            <a:r>
              <a:rPr sz="1500" b="0" i="0">
                <a:solidFill>
                  <a:srgbClr val="F0FDFA"/>
                </a:solidFill>
                <a:latin typeface="Calibri"/>
              </a:rPr>
              <a:t>Smoothly animate a CSS property change over time</a:t>
            </a:r>
          </a:p>
        </p:txBody>
      </p:sp>
      <p:sp>
        <p:nvSpPr>
          <p:cNvPr id="5" name="Rectangle 4"/>
          <p:cNvSpPr/>
          <p:nvPr/>
        </p:nvSpPr>
        <p:spPr>
          <a:xfrm>
            <a:off x="10085832" y="45720"/>
            <a:ext cx="2011680" cy="475488"/>
          </a:xfrm>
          <a:prstGeom prst="rect">
            <a:avLst/>
          </a:prstGeom>
          <a:solidFill>
            <a:srgbClr val="064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85832" y="109728"/>
            <a:ext cx="2011680" cy="365760"/>
          </a:xfrm>
          <a:prstGeom prst="rect">
            <a:avLst/>
          </a:prstGeom>
          <a:noFill/>
        </p:spPr>
        <p:txBody>
          <a:bodyPr wrap="square">
            <a:spAutoFit/>
          </a:bodyPr>
          <a:lstStyle/>
          <a:p>
            <a:pPr algn="ctr"/>
            <a:r>
              <a:rPr sz="1000" b="1" i="0">
                <a:solidFill>
                  <a:srgbClr val="14B8A6"/>
                </a:solidFill>
                <a:latin typeface="Calibri"/>
              </a:rPr>
              <a:t>WEEK 3 · FRIDAY</a:t>
            </a:r>
          </a:p>
        </p:txBody>
      </p:sp>
      <p:sp>
        <p:nvSpPr>
          <p:cNvPr id="7" name="Rectangle 6"/>
          <p:cNvSpPr/>
          <p:nvPr/>
        </p:nvSpPr>
        <p:spPr>
          <a:xfrm>
            <a:off x="274320" y="1188720"/>
            <a:ext cx="11640312" cy="20116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188720"/>
            <a:ext cx="109728" cy="201168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61872"/>
            <a:ext cx="11365992" cy="475488"/>
          </a:xfrm>
          <a:prstGeom prst="rect">
            <a:avLst/>
          </a:prstGeom>
          <a:noFill/>
        </p:spPr>
        <p:txBody>
          <a:bodyPr wrap="square">
            <a:spAutoFit/>
          </a:bodyPr>
          <a:lstStyle/>
          <a:p>
            <a:pPr algn="l"/>
            <a:r>
              <a:rPr sz="1550" b="1" i="0">
                <a:solidFill>
                  <a:srgbClr val="14B8A6"/>
                </a:solidFill>
                <a:latin typeface="Consolas"/>
              </a:rPr>
              <a:t>transition:  property  duration  timing-function  delay;</a:t>
            </a:r>
          </a:p>
        </p:txBody>
      </p:sp>
      <p:sp>
        <p:nvSpPr>
          <p:cNvPr id="10" name="Rectangle 9"/>
          <p:cNvSpPr/>
          <p:nvPr/>
        </p:nvSpPr>
        <p:spPr>
          <a:xfrm>
            <a:off x="502920" y="1783080"/>
            <a:ext cx="2606040" cy="1234440"/>
          </a:xfrm>
          <a:prstGeom prst="rect">
            <a:avLst/>
          </a:prstGeom>
          <a:solidFill>
            <a:srgbClr val="064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4360" y="1828800"/>
            <a:ext cx="2468880" cy="365760"/>
          </a:xfrm>
          <a:prstGeom prst="rect">
            <a:avLst/>
          </a:prstGeom>
          <a:noFill/>
        </p:spPr>
        <p:txBody>
          <a:bodyPr wrap="square">
            <a:spAutoFit/>
          </a:bodyPr>
          <a:lstStyle/>
          <a:p>
            <a:pPr algn="l"/>
            <a:r>
              <a:rPr sz="1300" b="1" i="0">
                <a:solidFill>
                  <a:srgbClr val="14B8A6"/>
                </a:solidFill>
                <a:latin typeface="Consolas"/>
              </a:rPr>
              <a:t>property</a:t>
            </a:r>
          </a:p>
        </p:txBody>
      </p:sp>
      <p:sp>
        <p:nvSpPr>
          <p:cNvPr id="12" name="TextBox 11"/>
          <p:cNvSpPr txBox="1"/>
          <p:nvPr/>
        </p:nvSpPr>
        <p:spPr>
          <a:xfrm>
            <a:off x="594360" y="2194560"/>
            <a:ext cx="2468880" cy="713232"/>
          </a:xfrm>
          <a:prstGeom prst="rect">
            <a:avLst/>
          </a:prstGeom>
          <a:noFill/>
        </p:spPr>
        <p:txBody>
          <a:bodyPr wrap="square">
            <a:spAutoFit/>
          </a:bodyPr>
          <a:lstStyle/>
          <a:p>
            <a:pPr algn="l"/>
            <a:r>
              <a:rPr sz="1200" b="0" i="0">
                <a:solidFill>
                  <a:srgbClr val="FFFFFF"/>
                </a:solidFill>
                <a:latin typeface="Calibri"/>
              </a:rPr>
              <a:t>WHAT to animate
(background-color, transform, opacity …)</a:t>
            </a:r>
          </a:p>
        </p:txBody>
      </p:sp>
      <p:sp>
        <p:nvSpPr>
          <p:cNvPr id="13" name="Rectangle 12"/>
          <p:cNvSpPr/>
          <p:nvPr/>
        </p:nvSpPr>
        <p:spPr>
          <a:xfrm>
            <a:off x="3383280" y="1783080"/>
            <a:ext cx="2606040" cy="1234440"/>
          </a:xfrm>
          <a:prstGeom prst="rect">
            <a:avLst/>
          </a:prstGeom>
          <a:solidFill>
            <a:srgbClr val="064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0" y="1828800"/>
            <a:ext cx="2468880" cy="365760"/>
          </a:xfrm>
          <a:prstGeom prst="rect">
            <a:avLst/>
          </a:prstGeom>
          <a:noFill/>
        </p:spPr>
        <p:txBody>
          <a:bodyPr wrap="square">
            <a:spAutoFit/>
          </a:bodyPr>
          <a:lstStyle/>
          <a:p>
            <a:pPr algn="l"/>
            <a:r>
              <a:rPr sz="1300" b="1" i="0">
                <a:solidFill>
                  <a:srgbClr val="14B8A6"/>
                </a:solidFill>
                <a:latin typeface="Consolas"/>
              </a:rPr>
              <a:t>duration</a:t>
            </a:r>
          </a:p>
        </p:txBody>
      </p:sp>
      <p:sp>
        <p:nvSpPr>
          <p:cNvPr id="15" name="TextBox 14"/>
          <p:cNvSpPr txBox="1"/>
          <p:nvPr/>
        </p:nvSpPr>
        <p:spPr>
          <a:xfrm>
            <a:off x="3474720" y="2194560"/>
            <a:ext cx="2468880" cy="713232"/>
          </a:xfrm>
          <a:prstGeom prst="rect">
            <a:avLst/>
          </a:prstGeom>
          <a:noFill/>
        </p:spPr>
        <p:txBody>
          <a:bodyPr wrap="square">
            <a:spAutoFit/>
          </a:bodyPr>
          <a:lstStyle/>
          <a:p>
            <a:pPr algn="l"/>
            <a:r>
              <a:rPr sz="1200" b="0" i="0">
                <a:solidFill>
                  <a:srgbClr val="FFFFFF"/>
                </a:solidFill>
                <a:latin typeface="Calibri"/>
              </a:rPr>
              <a:t>HOW LONG (0.3s, 500ms …)</a:t>
            </a:r>
          </a:p>
        </p:txBody>
      </p:sp>
      <p:sp>
        <p:nvSpPr>
          <p:cNvPr id="16" name="Rectangle 15"/>
          <p:cNvSpPr/>
          <p:nvPr/>
        </p:nvSpPr>
        <p:spPr>
          <a:xfrm>
            <a:off x="6263640" y="1783080"/>
            <a:ext cx="2606040" cy="1234440"/>
          </a:xfrm>
          <a:prstGeom prst="rect">
            <a:avLst/>
          </a:prstGeom>
          <a:solidFill>
            <a:srgbClr val="064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55080" y="1828800"/>
            <a:ext cx="2468880" cy="365760"/>
          </a:xfrm>
          <a:prstGeom prst="rect">
            <a:avLst/>
          </a:prstGeom>
          <a:noFill/>
        </p:spPr>
        <p:txBody>
          <a:bodyPr wrap="square">
            <a:spAutoFit/>
          </a:bodyPr>
          <a:lstStyle/>
          <a:p>
            <a:pPr algn="l"/>
            <a:r>
              <a:rPr sz="1300" b="1" i="0">
                <a:solidFill>
                  <a:srgbClr val="14B8A6"/>
                </a:solidFill>
                <a:latin typeface="Consolas"/>
              </a:rPr>
              <a:t>timing</a:t>
            </a:r>
          </a:p>
        </p:txBody>
      </p:sp>
      <p:sp>
        <p:nvSpPr>
          <p:cNvPr id="18" name="TextBox 17"/>
          <p:cNvSpPr txBox="1"/>
          <p:nvPr/>
        </p:nvSpPr>
        <p:spPr>
          <a:xfrm>
            <a:off x="6355080" y="2194560"/>
            <a:ext cx="2468880" cy="713232"/>
          </a:xfrm>
          <a:prstGeom prst="rect">
            <a:avLst/>
          </a:prstGeom>
          <a:noFill/>
        </p:spPr>
        <p:txBody>
          <a:bodyPr wrap="square">
            <a:spAutoFit/>
          </a:bodyPr>
          <a:lstStyle/>
          <a:p>
            <a:pPr algn="l"/>
            <a:r>
              <a:rPr sz="1200" b="0" i="0">
                <a:solidFill>
                  <a:srgbClr val="FFFFFF"/>
                </a:solidFill>
                <a:latin typeface="Calibri"/>
              </a:rPr>
              <a:t>EASING CURVE
(ease · linear · ease-in · ease-out)</a:t>
            </a:r>
          </a:p>
        </p:txBody>
      </p:sp>
      <p:sp>
        <p:nvSpPr>
          <p:cNvPr id="19" name="Rectangle 18"/>
          <p:cNvSpPr/>
          <p:nvPr/>
        </p:nvSpPr>
        <p:spPr>
          <a:xfrm>
            <a:off x="9144000" y="1783080"/>
            <a:ext cx="2606040" cy="1234440"/>
          </a:xfrm>
          <a:prstGeom prst="rect">
            <a:avLst/>
          </a:prstGeom>
          <a:solidFill>
            <a:srgbClr val="064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235440" y="1828800"/>
            <a:ext cx="2468880" cy="365760"/>
          </a:xfrm>
          <a:prstGeom prst="rect">
            <a:avLst/>
          </a:prstGeom>
          <a:noFill/>
        </p:spPr>
        <p:txBody>
          <a:bodyPr wrap="square">
            <a:spAutoFit/>
          </a:bodyPr>
          <a:lstStyle/>
          <a:p>
            <a:pPr algn="l"/>
            <a:r>
              <a:rPr sz="1300" b="1" i="0">
                <a:solidFill>
                  <a:srgbClr val="14B8A6"/>
                </a:solidFill>
                <a:latin typeface="Consolas"/>
              </a:rPr>
              <a:t>delay</a:t>
            </a:r>
          </a:p>
        </p:txBody>
      </p:sp>
      <p:sp>
        <p:nvSpPr>
          <p:cNvPr id="21" name="TextBox 20"/>
          <p:cNvSpPr txBox="1"/>
          <p:nvPr/>
        </p:nvSpPr>
        <p:spPr>
          <a:xfrm>
            <a:off x="9235440" y="2194560"/>
            <a:ext cx="2468880" cy="713232"/>
          </a:xfrm>
          <a:prstGeom prst="rect">
            <a:avLst/>
          </a:prstGeom>
          <a:noFill/>
        </p:spPr>
        <p:txBody>
          <a:bodyPr wrap="square">
            <a:spAutoFit/>
          </a:bodyPr>
          <a:lstStyle/>
          <a:p>
            <a:pPr algn="l"/>
            <a:r>
              <a:rPr sz="1200" b="0" i="0">
                <a:solidFill>
                  <a:srgbClr val="FFFFFF"/>
                </a:solidFill>
                <a:latin typeface="Calibri"/>
              </a:rPr>
              <a:t>WAIT before starting
(0s, 200ms …)</a:t>
            </a:r>
          </a:p>
        </p:txBody>
      </p:sp>
      <p:sp>
        <p:nvSpPr>
          <p:cNvPr id="22" name="Rectangle 21"/>
          <p:cNvSpPr/>
          <p:nvPr/>
        </p:nvSpPr>
        <p:spPr>
          <a:xfrm>
            <a:off x="274320" y="3383280"/>
            <a:ext cx="7069592" cy="32461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274320" y="3383280"/>
            <a:ext cx="64008" cy="324612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02336" y="3438144"/>
            <a:ext cx="7069592" cy="292608"/>
          </a:xfrm>
          <a:prstGeom prst="rect">
            <a:avLst/>
          </a:prstGeom>
          <a:noFill/>
        </p:spPr>
        <p:txBody>
          <a:bodyPr wrap="square">
            <a:spAutoFit/>
          </a:bodyPr>
          <a:lstStyle/>
          <a:p>
            <a:pPr algn="l"/>
            <a:r>
              <a:rPr sz="900" b="0" i="0">
                <a:solidFill>
                  <a:srgbClr val="64748B"/>
                </a:solidFill>
                <a:latin typeface="Consolas"/>
              </a:rPr>
              <a:t>CSS</a:t>
            </a:r>
          </a:p>
        </p:txBody>
      </p:sp>
      <p:sp>
        <p:nvSpPr>
          <p:cNvPr id="25" name="TextBox 24"/>
          <p:cNvSpPr txBox="1"/>
          <p:nvPr/>
        </p:nvSpPr>
        <p:spPr>
          <a:xfrm>
            <a:off x="402336" y="3675888"/>
            <a:ext cx="6813560" cy="2880360"/>
          </a:xfrm>
          <a:prstGeom prst="rect">
            <a:avLst/>
          </a:prstGeom>
          <a:noFill/>
        </p:spPr>
        <p:txBody>
          <a:bodyPr wrap="none">
            <a:spAutoFit/>
          </a:bodyPr>
          <a:lstStyle/>
          <a:p>
            <a:pPr algn="l"/>
            <a:r>
              <a:rPr sz="1300" b="0">
                <a:solidFill>
                  <a:srgbClr val="14B8A6"/>
                </a:solidFill>
                <a:latin typeface="Consolas"/>
              </a:rPr>
              <a:t>/* Smooth hover button — the classic use */</a:t>
            </a:r>
          </a:p>
          <a:p>
            <a:pPr algn="l"/>
            <a:r>
              <a:rPr sz="1300" b="0">
                <a:solidFill>
                  <a:srgbClr val="14B8A6"/>
                </a:solidFill>
                <a:latin typeface="Consolas"/>
              </a:rPr>
              <a:t>.btn {</a:t>
            </a:r>
          </a:p>
          <a:p>
            <a:pPr algn="l"/>
            <a:r>
              <a:rPr sz="1300" b="0">
                <a:solidFill>
                  <a:srgbClr val="14B8A6"/>
                </a:solidFill>
                <a:latin typeface="Consolas"/>
              </a:rPr>
              <a:t>  background: #0f766e;</a:t>
            </a:r>
          </a:p>
          <a:p>
            <a:pPr algn="l"/>
            <a:r>
              <a:rPr sz="1300" b="0">
                <a:solidFill>
                  <a:srgbClr val="14B8A6"/>
                </a:solidFill>
                <a:latin typeface="Consolas"/>
              </a:rPr>
              <a:t>  color: white;</a:t>
            </a:r>
          </a:p>
          <a:p>
            <a:pPr algn="l"/>
            <a:r>
              <a:rPr sz="1300" b="0">
                <a:solidFill>
                  <a:srgbClr val="14B8A6"/>
                </a:solidFill>
                <a:latin typeface="Consolas"/>
              </a:rPr>
              <a:t>  transition: background 0.25s ease, transform 0.15s ease;</a:t>
            </a:r>
          </a:p>
          <a:p>
            <a:pPr algn="l"/>
            <a:r>
              <a:rPr sz="1300" b="0">
                <a:solidFill>
                  <a:srgbClr val="14B8A6"/>
                </a:solidFill>
                <a:latin typeface="Consolas"/>
              </a:rPr>
              <a:t>}</a:t>
            </a:r>
          </a:p>
          <a:p>
            <a:pPr algn="l"/>
            <a:r>
              <a:rPr sz="1300" b="0">
                <a:solidFill>
                  <a:srgbClr val="14B8A6"/>
                </a:solidFill>
                <a:latin typeface="Consolas"/>
              </a:rPr>
              <a:t>.btn:hover {</a:t>
            </a:r>
          </a:p>
          <a:p>
            <a:pPr algn="l"/>
            <a:r>
              <a:rPr sz="1300" b="0">
                <a:solidFill>
                  <a:srgbClr val="14B8A6"/>
                </a:solidFill>
                <a:latin typeface="Consolas"/>
              </a:rPr>
              <a:t>  background: #14b8a6;   /* transition animates this change */</a:t>
            </a:r>
          </a:p>
          <a:p>
            <a:pPr algn="l"/>
            <a:r>
              <a:rPr sz="1300" b="0">
                <a:solidFill>
                  <a:srgbClr val="14B8A6"/>
                </a:solidFill>
                <a:latin typeface="Consolas"/>
              </a:rPr>
              <a:t>  transform: translateY(-2px);</a:t>
            </a:r>
          </a:p>
          <a:p>
            <a:pPr algn="l"/>
            <a:r>
              <a:rPr sz="1300" b="0">
                <a:solidFill>
                  <a:srgbClr val="14B8A6"/>
                </a:solidFill>
                <a:latin typeface="Consolas"/>
              </a:rPr>
              <a:t>}</a:t>
            </a:r>
          </a:p>
        </p:txBody>
      </p:sp>
      <p:sp>
        <p:nvSpPr>
          <p:cNvPr id="26" name="Rectangle 25"/>
          <p:cNvSpPr/>
          <p:nvPr/>
        </p:nvSpPr>
        <p:spPr>
          <a:xfrm>
            <a:off x="7435260" y="3383280"/>
            <a:ext cx="4509912" cy="3246120"/>
          </a:xfrm>
          <a:prstGeom prst="rect">
            <a:avLst/>
          </a:prstGeom>
          <a:solidFill>
            <a:srgbClr val="064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557150" y="3493008"/>
            <a:ext cx="4266133" cy="365760"/>
          </a:xfrm>
          <a:prstGeom prst="rect">
            <a:avLst/>
          </a:prstGeom>
          <a:noFill/>
        </p:spPr>
        <p:txBody>
          <a:bodyPr wrap="square">
            <a:spAutoFit/>
          </a:bodyPr>
          <a:lstStyle/>
          <a:p>
            <a:pPr algn="l"/>
            <a:r>
              <a:rPr sz="1400" b="1" i="0">
                <a:solidFill>
                  <a:srgbClr val="14B8A6"/>
                </a:solidFill>
                <a:latin typeface="Calibri"/>
              </a:rPr>
              <a:t>Best practice</a:t>
            </a:r>
          </a:p>
        </p:txBody>
      </p:sp>
      <p:sp>
        <p:nvSpPr>
          <p:cNvPr id="28" name="TextBox 27"/>
          <p:cNvSpPr txBox="1"/>
          <p:nvPr/>
        </p:nvSpPr>
        <p:spPr>
          <a:xfrm>
            <a:off x="7557150" y="3931920"/>
            <a:ext cx="4266133" cy="777240"/>
          </a:xfrm>
          <a:prstGeom prst="rect">
            <a:avLst/>
          </a:prstGeom>
          <a:noFill/>
        </p:spPr>
        <p:txBody>
          <a:bodyPr wrap="square">
            <a:spAutoFit/>
          </a:bodyPr>
          <a:lstStyle/>
          <a:p>
            <a:pPr algn="l"/>
            <a:r>
              <a:rPr sz="1250" b="0" i="0">
                <a:solidFill>
                  <a:srgbClr val="F0FDFA"/>
                </a:solidFill>
                <a:latin typeface="Calibri"/>
              </a:rPr>
              <a:t>→  Use 0.2s–0.4s for UI transitions
(fast enough to feel instant, slow enough to see)</a:t>
            </a:r>
          </a:p>
        </p:txBody>
      </p:sp>
      <p:sp>
        <p:nvSpPr>
          <p:cNvPr id="29" name="TextBox 28"/>
          <p:cNvSpPr txBox="1"/>
          <p:nvPr/>
        </p:nvSpPr>
        <p:spPr>
          <a:xfrm>
            <a:off x="7557150" y="4800600"/>
            <a:ext cx="4266133" cy="777240"/>
          </a:xfrm>
          <a:prstGeom prst="rect">
            <a:avLst/>
          </a:prstGeom>
          <a:noFill/>
        </p:spPr>
        <p:txBody>
          <a:bodyPr wrap="square">
            <a:spAutoFit/>
          </a:bodyPr>
          <a:lstStyle/>
          <a:p>
            <a:pPr algn="l"/>
            <a:r>
              <a:rPr sz="1250" b="0" i="0">
                <a:solidFill>
                  <a:srgbClr val="F0FDFA"/>
                </a:solidFill>
                <a:latin typeface="Calibri"/>
              </a:rPr>
              <a:t>→  transition: all  works but is slow
— name the specific property</a:t>
            </a:r>
          </a:p>
        </p:txBody>
      </p:sp>
      <p:sp>
        <p:nvSpPr>
          <p:cNvPr id="30" name="TextBox 29"/>
          <p:cNvSpPr txBox="1"/>
          <p:nvPr/>
        </p:nvSpPr>
        <p:spPr>
          <a:xfrm>
            <a:off x="7557150" y="5669280"/>
            <a:ext cx="4266133" cy="777240"/>
          </a:xfrm>
          <a:prstGeom prst="rect">
            <a:avLst/>
          </a:prstGeom>
          <a:noFill/>
        </p:spPr>
        <p:txBody>
          <a:bodyPr wrap="square">
            <a:spAutoFit/>
          </a:bodyPr>
          <a:lstStyle/>
          <a:p>
            <a:pPr algn="l"/>
            <a:r>
              <a:rPr sz="1250" b="0" i="0">
                <a:solidFill>
                  <a:srgbClr val="F0FDFA"/>
                </a:solidFill>
                <a:latin typeface="Calibri"/>
              </a:rPr>
              <a:t>→  You can list multiple transitions
separated by commas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9628632" cy="685800"/>
          </a:xfrm>
          <a:prstGeom prst="rect">
            <a:avLst/>
          </a:prstGeom>
          <a:noFill/>
        </p:spPr>
        <p:txBody>
          <a:bodyPr wrap="square">
            <a:spAutoFit/>
          </a:bodyPr>
          <a:lstStyle/>
          <a:p>
            <a:pPr algn="l"/>
            <a:r>
              <a:rPr sz="3200" b="1" i="0">
                <a:solidFill>
                  <a:srgbClr val="FFFFFF"/>
                </a:solidFill>
                <a:latin typeface="Calibri"/>
              </a:rPr>
              <a:t>CSS Animations — @keyframes</a:t>
            </a:r>
          </a:p>
        </p:txBody>
      </p:sp>
      <p:sp>
        <p:nvSpPr>
          <p:cNvPr id="4" name="TextBox 3"/>
          <p:cNvSpPr txBox="1"/>
          <p:nvPr/>
        </p:nvSpPr>
        <p:spPr>
          <a:xfrm>
            <a:off x="365760" y="685800"/>
            <a:ext cx="9628632" cy="347472"/>
          </a:xfrm>
          <a:prstGeom prst="rect">
            <a:avLst/>
          </a:prstGeom>
          <a:noFill/>
        </p:spPr>
        <p:txBody>
          <a:bodyPr wrap="square">
            <a:spAutoFit/>
          </a:bodyPr>
          <a:lstStyle/>
          <a:p>
            <a:pPr algn="l"/>
            <a:r>
              <a:rPr sz="1500" b="0" i="0">
                <a:solidFill>
                  <a:srgbClr val="F0FDFA"/>
                </a:solidFill>
                <a:latin typeface="Calibri"/>
              </a:rPr>
              <a:t>Multi-step animations that run automatically, no JavaScript needed</a:t>
            </a:r>
          </a:p>
        </p:txBody>
      </p:sp>
      <p:sp>
        <p:nvSpPr>
          <p:cNvPr id="5" name="Rectangle 4"/>
          <p:cNvSpPr/>
          <p:nvPr/>
        </p:nvSpPr>
        <p:spPr>
          <a:xfrm>
            <a:off x="10085832" y="45720"/>
            <a:ext cx="2011680" cy="475488"/>
          </a:xfrm>
          <a:prstGeom prst="rect">
            <a:avLst/>
          </a:prstGeom>
          <a:solidFill>
            <a:srgbClr val="064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85832" y="109728"/>
            <a:ext cx="2011680" cy="365760"/>
          </a:xfrm>
          <a:prstGeom prst="rect">
            <a:avLst/>
          </a:prstGeom>
          <a:noFill/>
        </p:spPr>
        <p:txBody>
          <a:bodyPr wrap="square">
            <a:spAutoFit/>
          </a:bodyPr>
          <a:lstStyle/>
          <a:p>
            <a:pPr algn="ctr"/>
            <a:r>
              <a:rPr sz="1000" b="1" i="0">
                <a:solidFill>
                  <a:srgbClr val="14B8A6"/>
                </a:solidFill>
                <a:latin typeface="Calibri"/>
              </a:rPr>
              <a:t>WEEK 3 · FRIDAY</a:t>
            </a:r>
          </a:p>
        </p:txBody>
      </p:sp>
      <p:sp>
        <p:nvSpPr>
          <p:cNvPr id="7" name="Rectangle 6"/>
          <p:cNvSpPr/>
          <p:nvPr/>
        </p:nvSpPr>
        <p:spPr>
          <a:xfrm>
            <a:off x="274320" y="1188720"/>
            <a:ext cx="11640312" cy="502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234440"/>
            <a:ext cx="11548872" cy="411480"/>
          </a:xfrm>
          <a:prstGeom prst="rect">
            <a:avLst/>
          </a:prstGeom>
          <a:noFill/>
        </p:spPr>
        <p:txBody>
          <a:bodyPr wrap="square">
            <a:spAutoFit/>
          </a:bodyPr>
          <a:lstStyle/>
          <a:p>
            <a:pPr algn="l"/>
            <a:r>
              <a:rPr sz="1350" b="1" i="0">
                <a:solidFill>
                  <a:srgbClr val="F0FDFA"/>
                </a:solidFill>
                <a:latin typeface="Calibri"/>
              </a:rPr>
              <a:t>transition = A → B  (triggered by state change)       animation = A → B → C → … (runs on its own)</a:t>
            </a:r>
          </a:p>
        </p:txBody>
      </p:sp>
      <p:sp>
        <p:nvSpPr>
          <p:cNvPr id="9" name="Rectangle 8"/>
          <p:cNvSpPr/>
          <p:nvPr/>
        </p:nvSpPr>
        <p:spPr>
          <a:xfrm>
            <a:off x="274320" y="1828800"/>
            <a:ext cx="6947702" cy="477316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74320" y="1828800"/>
            <a:ext cx="64008" cy="477316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02336" y="1883664"/>
            <a:ext cx="6947702" cy="292608"/>
          </a:xfrm>
          <a:prstGeom prst="rect">
            <a:avLst/>
          </a:prstGeom>
          <a:noFill/>
        </p:spPr>
        <p:txBody>
          <a:bodyPr wrap="square">
            <a:spAutoFit/>
          </a:bodyPr>
          <a:lstStyle/>
          <a:p>
            <a:pPr algn="l"/>
            <a:r>
              <a:rPr sz="900" b="0" i="0">
                <a:solidFill>
                  <a:srgbClr val="64748B"/>
                </a:solidFill>
                <a:latin typeface="Consolas"/>
              </a:rPr>
              <a:t>CSS</a:t>
            </a:r>
          </a:p>
        </p:txBody>
      </p:sp>
      <p:sp>
        <p:nvSpPr>
          <p:cNvPr id="12" name="TextBox 11"/>
          <p:cNvSpPr txBox="1"/>
          <p:nvPr/>
        </p:nvSpPr>
        <p:spPr>
          <a:xfrm>
            <a:off x="402336" y="2121408"/>
            <a:ext cx="6691670" cy="4407408"/>
          </a:xfrm>
          <a:prstGeom prst="rect">
            <a:avLst/>
          </a:prstGeom>
          <a:noFill/>
        </p:spPr>
        <p:txBody>
          <a:bodyPr wrap="none">
            <a:spAutoFit/>
          </a:bodyPr>
          <a:lstStyle/>
          <a:p>
            <a:pPr algn="l"/>
            <a:r>
              <a:rPr sz="1300" b="0">
                <a:solidFill>
                  <a:srgbClr val="14B8A6"/>
                </a:solidFill>
                <a:latin typeface="Consolas"/>
              </a:rPr>
              <a:t>/* STEP 1: define the keyframe sequence */</a:t>
            </a:r>
          </a:p>
          <a:p>
            <a:pPr algn="l"/>
            <a:r>
              <a:rPr sz="1300" b="0">
                <a:solidFill>
                  <a:srgbClr val="14B8A6"/>
                </a:solidFill>
                <a:latin typeface="Consolas"/>
              </a:rPr>
              <a:t>@keyframes fadeIn {</a:t>
            </a:r>
          </a:p>
          <a:p>
            <a:pPr algn="l"/>
            <a:r>
              <a:rPr sz="1300" b="0">
                <a:solidFill>
                  <a:srgbClr val="14B8A6"/>
                </a:solidFill>
                <a:latin typeface="Consolas"/>
              </a:rPr>
              <a:t>  from { opacity: 0; transform: translateY(20px); }</a:t>
            </a:r>
          </a:p>
          <a:p>
            <a:pPr algn="l"/>
            <a:r>
              <a:rPr sz="1300" b="0">
                <a:solidFill>
                  <a:srgbClr val="14B8A6"/>
                </a:solidFill>
                <a:latin typeface="Consolas"/>
              </a:rPr>
              <a:t>  to   { opacity: 1; transform: translateY(0); }</a:t>
            </a:r>
          </a:p>
          <a:p>
            <a:pPr algn="l"/>
            <a:r>
              <a:rPr sz="1300" b="0">
                <a:solidFill>
                  <a:srgbClr val="14B8A6"/>
                </a:solidFill>
                <a:latin typeface="Consolas"/>
              </a:rPr>
              <a:t>}</a:t>
            </a:r>
          </a:p>
          <a:p>
            <a:pPr algn="l"/>
            <a:endParaRPr sz="1300" b="0">
              <a:solidFill>
                <a:srgbClr val="14B8A6"/>
              </a:solidFill>
              <a:latin typeface="Consolas"/>
            </a:endParaRPr>
          </a:p>
          <a:p>
            <a:pPr algn="l"/>
            <a:r>
              <a:rPr sz="1300" b="0">
                <a:solidFill>
                  <a:srgbClr val="14B8A6"/>
                </a:solidFill>
                <a:latin typeface="Consolas"/>
              </a:rPr>
              <a:t>/* STEP 2: attach to the element */</a:t>
            </a:r>
          </a:p>
          <a:p>
            <a:pPr algn="l"/>
            <a:r>
              <a:rPr sz="1300" b="0">
                <a:solidFill>
                  <a:srgbClr val="14B8A6"/>
                </a:solidFill>
                <a:latin typeface="Consolas"/>
              </a:rPr>
              <a:t>.hero {</a:t>
            </a:r>
          </a:p>
          <a:p>
            <a:pPr algn="l"/>
            <a:r>
              <a:rPr sz="1300" b="0">
                <a:solidFill>
                  <a:srgbClr val="14B8A6"/>
                </a:solidFill>
                <a:latin typeface="Consolas"/>
              </a:rPr>
              <a:t>  animation: fadeIn 0.6s ease-out forwards;</a:t>
            </a:r>
          </a:p>
          <a:p>
            <a:pPr algn="l"/>
            <a:r>
              <a:rPr sz="1300" b="0">
                <a:solidFill>
                  <a:srgbClr val="14B8A6"/>
                </a:solidFill>
                <a:latin typeface="Consolas"/>
              </a:rPr>
              <a:t>}</a:t>
            </a:r>
          </a:p>
          <a:p>
            <a:pPr algn="l"/>
            <a:endParaRPr sz="1300" b="0">
              <a:solidFill>
                <a:srgbClr val="14B8A6"/>
              </a:solidFill>
              <a:latin typeface="Consolas"/>
            </a:endParaRPr>
          </a:p>
          <a:p>
            <a:pPr algn="l"/>
            <a:r>
              <a:rPr sz="1300" b="0">
                <a:solidFill>
                  <a:srgbClr val="14B8A6"/>
                </a:solidFill>
                <a:latin typeface="Consolas"/>
              </a:rPr>
              <a:t>/* Multiple stops: 0%  33%  66%  100% */</a:t>
            </a:r>
          </a:p>
          <a:p>
            <a:pPr algn="l"/>
            <a:r>
              <a:rPr sz="1300" b="0">
                <a:solidFill>
                  <a:srgbClr val="14B8A6"/>
                </a:solidFill>
                <a:latin typeface="Consolas"/>
              </a:rPr>
              <a:t>@keyframes pulse {</a:t>
            </a:r>
          </a:p>
          <a:p>
            <a:pPr algn="l"/>
            <a:r>
              <a:rPr sz="1300" b="0">
                <a:solidFill>
                  <a:srgbClr val="14B8A6"/>
                </a:solidFill>
                <a:latin typeface="Consolas"/>
              </a:rPr>
              <a:t>  0%, 100% { transform: scale(1);    }</a:t>
            </a:r>
          </a:p>
          <a:p>
            <a:pPr algn="l"/>
            <a:r>
              <a:rPr sz="1300" b="0">
                <a:solidFill>
                  <a:srgbClr val="14B8A6"/>
                </a:solidFill>
                <a:latin typeface="Consolas"/>
              </a:rPr>
              <a:t>  50%      { transform: scale(1.05); }</a:t>
            </a:r>
          </a:p>
          <a:p>
            <a:pPr algn="l"/>
            <a:r>
              <a:rPr sz="1300" b="0">
                <a:solidFill>
                  <a:srgbClr val="14B8A6"/>
                </a:solidFill>
                <a:latin typeface="Consolas"/>
              </a:rPr>
              <a:t>}</a:t>
            </a:r>
          </a:p>
        </p:txBody>
      </p:sp>
      <p:sp>
        <p:nvSpPr>
          <p:cNvPr id="13" name="Rectangle 12"/>
          <p:cNvSpPr/>
          <p:nvPr/>
        </p:nvSpPr>
        <p:spPr>
          <a:xfrm>
            <a:off x="7313371" y="1828800"/>
            <a:ext cx="4631801" cy="477316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35260" y="1920240"/>
            <a:ext cx="4388022" cy="411480"/>
          </a:xfrm>
          <a:prstGeom prst="rect">
            <a:avLst/>
          </a:prstGeom>
          <a:noFill/>
        </p:spPr>
        <p:txBody>
          <a:bodyPr wrap="square">
            <a:spAutoFit/>
          </a:bodyPr>
          <a:lstStyle/>
          <a:p>
            <a:pPr algn="l"/>
            <a:r>
              <a:rPr sz="1300" b="1" i="0">
                <a:solidFill>
                  <a:srgbClr val="14B8A6"/>
                </a:solidFill>
                <a:latin typeface="Calibri"/>
              </a:rPr>
              <a:t>animation shorthand parts</a:t>
            </a:r>
          </a:p>
        </p:txBody>
      </p:sp>
      <p:sp>
        <p:nvSpPr>
          <p:cNvPr id="15" name="TextBox 14"/>
          <p:cNvSpPr txBox="1"/>
          <p:nvPr/>
        </p:nvSpPr>
        <p:spPr>
          <a:xfrm>
            <a:off x="7435260" y="2423160"/>
            <a:ext cx="1097280" cy="365760"/>
          </a:xfrm>
          <a:prstGeom prst="rect">
            <a:avLst/>
          </a:prstGeom>
          <a:noFill/>
        </p:spPr>
        <p:txBody>
          <a:bodyPr wrap="square">
            <a:spAutoFit/>
          </a:bodyPr>
          <a:lstStyle/>
          <a:p>
            <a:pPr algn="l"/>
            <a:r>
              <a:rPr sz="1200" b="1" i="0">
                <a:solidFill>
                  <a:srgbClr val="F59E0B"/>
                </a:solidFill>
                <a:latin typeface="Consolas"/>
              </a:rPr>
              <a:t>name</a:t>
            </a:r>
          </a:p>
        </p:txBody>
      </p:sp>
      <p:sp>
        <p:nvSpPr>
          <p:cNvPr id="16" name="TextBox 15"/>
          <p:cNvSpPr txBox="1"/>
          <p:nvPr/>
        </p:nvSpPr>
        <p:spPr>
          <a:xfrm>
            <a:off x="8578260" y="2423160"/>
            <a:ext cx="3199302" cy="502920"/>
          </a:xfrm>
          <a:prstGeom prst="rect">
            <a:avLst/>
          </a:prstGeom>
          <a:noFill/>
        </p:spPr>
        <p:txBody>
          <a:bodyPr wrap="square">
            <a:spAutoFit/>
          </a:bodyPr>
          <a:lstStyle/>
          <a:p>
            <a:pPr algn="l"/>
            <a:r>
              <a:rPr sz="1150" b="0" i="0">
                <a:solidFill>
                  <a:srgbClr val="FFFFFF"/>
                </a:solidFill>
                <a:latin typeface="Calibri"/>
              </a:rPr>
              <a:t>fadeIn — must match @keyframes name</a:t>
            </a:r>
          </a:p>
        </p:txBody>
      </p:sp>
      <p:sp>
        <p:nvSpPr>
          <p:cNvPr id="17" name="TextBox 16"/>
          <p:cNvSpPr txBox="1"/>
          <p:nvPr/>
        </p:nvSpPr>
        <p:spPr>
          <a:xfrm>
            <a:off x="7435260" y="3044952"/>
            <a:ext cx="1097280" cy="365760"/>
          </a:xfrm>
          <a:prstGeom prst="rect">
            <a:avLst/>
          </a:prstGeom>
          <a:noFill/>
        </p:spPr>
        <p:txBody>
          <a:bodyPr wrap="square">
            <a:spAutoFit/>
          </a:bodyPr>
          <a:lstStyle/>
          <a:p>
            <a:pPr algn="l"/>
            <a:r>
              <a:rPr sz="1200" b="1" i="0">
                <a:solidFill>
                  <a:srgbClr val="F59E0B"/>
                </a:solidFill>
                <a:latin typeface="Consolas"/>
              </a:rPr>
              <a:t>duration</a:t>
            </a:r>
          </a:p>
        </p:txBody>
      </p:sp>
      <p:sp>
        <p:nvSpPr>
          <p:cNvPr id="18" name="TextBox 17"/>
          <p:cNvSpPr txBox="1"/>
          <p:nvPr/>
        </p:nvSpPr>
        <p:spPr>
          <a:xfrm>
            <a:off x="8578260" y="3044952"/>
            <a:ext cx="3199302" cy="502920"/>
          </a:xfrm>
          <a:prstGeom prst="rect">
            <a:avLst/>
          </a:prstGeom>
          <a:noFill/>
        </p:spPr>
        <p:txBody>
          <a:bodyPr wrap="square">
            <a:spAutoFit/>
          </a:bodyPr>
          <a:lstStyle/>
          <a:p>
            <a:pPr algn="l"/>
            <a:r>
              <a:rPr sz="1150" b="0" i="0">
                <a:solidFill>
                  <a:srgbClr val="FFFFFF"/>
                </a:solidFill>
                <a:latin typeface="Calibri"/>
              </a:rPr>
              <a:t>0.6s — how long one cycle takes</a:t>
            </a:r>
          </a:p>
        </p:txBody>
      </p:sp>
      <p:sp>
        <p:nvSpPr>
          <p:cNvPr id="19" name="TextBox 18"/>
          <p:cNvSpPr txBox="1"/>
          <p:nvPr/>
        </p:nvSpPr>
        <p:spPr>
          <a:xfrm>
            <a:off x="7435260" y="3666744"/>
            <a:ext cx="1097280" cy="365760"/>
          </a:xfrm>
          <a:prstGeom prst="rect">
            <a:avLst/>
          </a:prstGeom>
          <a:noFill/>
        </p:spPr>
        <p:txBody>
          <a:bodyPr wrap="square">
            <a:spAutoFit/>
          </a:bodyPr>
          <a:lstStyle/>
          <a:p>
            <a:pPr algn="l"/>
            <a:r>
              <a:rPr sz="1200" b="1" i="0">
                <a:solidFill>
                  <a:srgbClr val="F59E0B"/>
                </a:solidFill>
                <a:latin typeface="Consolas"/>
              </a:rPr>
              <a:t>timing</a:t>
            </a:r>
          </a:p>
        </p:txBody>
      </p:sp>
      <p:sp>
        <p:nvSpPr>
          <p:cNvPr id="20" name="TextBox 19"/>
          <p:cNvSpPr txBox="1"/>
          <p:nvPr/>
        </p:nvSpPr>
        <p:spPr>
          <a:xfrm>
            <a:off x="8578260" y="3666744"/>
            <a:ext cx="3199302" cy="502920"/>
          </a:xfrm>
          <a:prstGeom prst="rect">
            <a:avLst/>
          </a:prstGeom>
          <a:noFill/>
        </p:spPr>
        <p:txBody>
          <a:bodyPr wrap="square">
            <a:spAutoFit/>
          </a:bodyPr>
          <a:lstStyle/>
          <a:p>
            <a:pPr algn="l"/>
            <a:r>
              <a:rPr sz="1150" b="0" i="0">
                <a:solidFill>
                  <a:srgbClr val="FFFFFF"/>
                </a:solidFill>
                <a:latin typeface="Calibri"/>
              </a:rPr>
              <a:t>ease-out · linear · cubic-bezier(…)</a:t>
            </a:r>
          </a:p>
        </p:txBody>
      </p:sp>
      <p:sp>
        <p:nvSpPr>
          <p:cNvPr id="21" name="TextBox 20"/>
          <p:cNvSpPr txBox="1"/>
          <p:nvPr/>
        </p:nvSpPr>
        <p:spPr>
          <a:xfrm>
            <a:off x="7435260" y="4288536"/>
            <a:ext cx="1097280" cy="365760"/>
          </a:xfrm>
          <a:prstGeom prst="rect">
            <a:avLst/>
          </a:prstGeom>
          <a:noFill/>
        </p:spPr>
        <p:txBody>
          <a:bodyPr wrap="square">
            <a:spAutoFit/>
          </a:bodyPr>
          <a:lstStyle/>
          <a:p>
            <a:pPr algn="l"/>
            <a:r>
              <a:rPr sz="1200" b="1" i="0">
                <a:solidFill>
                  <a:srgbClr val="F59E0B"/>
                </a:solidFill>
                <a:latin typeface="Consolas"/>
              </a:rPr>
              <a:t>delay</a:t>
            </a:r>
          </a:p>
        </p:txBody>
      </p:sp>
      <p:sp>
        <p:nvSpPr>
          <p:cNvPr id="22" name="TextBox 21"/>
          <p:cNvSpPr txBox="1"/>
          <p:nvPr/>
        </p:nvSpPr>
        <p:spPr>
          <a:xfrm>
            <a:off x="8578260" y="4288536"/>
            <a:ext cx="3199302" cy="502920"/>
          </a:xfrm>
          <a:prstGeom prst="rect">
            <a:avLst/>
          </a:prstGeom>
          <a:noFill/>
        </p:spPr>
        <p:txBody>
          <a:bodyPr wrap="square">
            <a:spAutoFit/>
          </a:bodyPr>
          <a:lstStyle/>
          <a:p>
            <a:pPr algn="l"/>
            <a:r>
              <a:rPr sz="1150" b="0" i="0">
                <a:solidFill>
                  <a:srgbClr val="FFFFFF"/>
                </a:solidFill>
                <a:latin typeface="Calibri"/>
              </a:rPr>
              <a:t>0s — wait before starting</a:t>
            </a:r>
          </a:p>
        </p:txBody>
      </p:sp>
      <p:sp>
        <p:nvSpPr>
          <p:cNvPr id="23" name="TextBox 22"/>
          <p:cNvSpPr txBox="1"/>
          <p:nvPr/>
        </p:nvSpPr>
        <p:spPr>
          <a:xfrm>
            <a:off x="7435260" y="4910328"/>
            <a:ext cx="1097280" cy="365760"/>
          </a:xfrm>
          <a:prstGeom prst="rect">
            <a:avLst/>
          </a:prstGeom>
          <a:noFill/>
        </p:spPr>
        <p:txBody>
          <a:bodyPr wrap="square">
            <a:spAutoFit/>
          </a:bodyPr>
          <a:lstStyle/>
          <a:p>
            <a:pPr algn="l"/>
            <a:r>
              <a:rPr sz="1200" b="1" i="0">
                <a:solidFill>
                  <a:srgbClr val="F59E0B"/>
                </a:solidFill>
                <a:latin typeface="Consolas"/>
              </a:rPr>
              <a:t>iteration</a:t>
            </a:r>
          </a:p>
        </p:txBody>
      </p:sp>
      <p:sp>
        <p:nvSpPr>
          <p:cNvPr id="24" name="TextBox 23"/>
          <p:cNvSpPr txBox="1"/>
          <p:nvPr/>
        </p:nvSpPr>
        <p:spPr>
          <a:xfrm>
            <a:off x="8578260" y="4910328"/>
            <a:ext cx="3199302" cy="502920"/>
          </a:xfrm>
          <a:prstGeom prst="rect">
            <a:avLst/>
          </a:prstGeom>
          <a:noFill/>
        </p:spPr>
        <p:txBody>
          <a:bodyPr wrap="square">
            <a:spAutoFit/>
          </a:bodyPr>
          <a:lstStyle/>
          <a:p>
            <a:pPr algn="l"/>
            <a:r>
              <a:rPr sz="1150" b="0" i="0">
                <a:solidFill>
                  <a:srgbClr val="FFFFFF"/>
                </a:solidFill>
                <a:latin typeface="Calibri"/>
              </a:rPr>
              <a:t>1 · infinite · 3</a:t>
            </a:r>
          </a:p>
        </p:txBody>
      </p:sp>
      <p:sp>
        <p:nvSpPr>
          <p:cNvPr id="25" name="TextBox 24"/>
          <p:cNvSpPr txBox="1"/>
          <p:nvPr/>
        </p:nvSpPr>
        <p:spPr>
          <a:xfrm>
            <a:off x="7435260" y="5532120"/>
            <a:ext cx="1097280" cy="365760"/>
          </a:xfrm>
          <a:prstGeom prst="rect">
            <a:avLst/>
          </a:prstGeom>
          <a:noFill/>
        </p:spPr>
        <p:txBody>
          <a:bodyPr wrap="square">
            <a:spAutoFit/>
          </a:bodyPr>
          <a:lstStyle/>
          <a:p>
            <a:pPr algn="l"/>
            <a:r>
              <a:rPr sz="1200" b="1" i="0">
                <a:solidFill>
                  <a:srgbClr val="F59E0B"/>
                </a:solidFill>
                <a:latin typeface="Consolas"/>
              </a:rPr>
              <a:t>direction</a:t>
            </a:r>
          </a:p>
        </p:txBody>
      </p:sp>
      <p:sp>
        <p:nvSpPr>
          <p:cNvPr id="26" name="TextBox 25"/>
          <p:cNvSpPr txBox="1"/>
          <p:nvPr/>
        </p:nvSpPr>
        <p:spPr>
          <a:xfrm>
            <a:off x="8578260" y="5532120"/>
            <a:ext cx="3199302" cy="502920"/>
          </a:xfrm>
          <a:prstGeom prst="rect">
            <a:avLst/>
          </a:prstGeom>
          <a:noFill/>
        </p:spPr>
        <p:txBody>
          <a:bodyPr wrap="square">
            <a:spAutoFit/>
          </a:bodyPr>
          <a:lstStyle/>
          <a:p>
            <a:pPr algn="l"/>
            <a:r>
              <a:rPr sz="1150" b="0" i="0">
                <a:solidFill>
                  <a:srgbClr val="FFFFFF"/>
                </a:solidFill>
                <a:latin typeface="Calibri"/>
              </a:rPr>
              <a:t>normal · reverse · alternate</a:t>
            </a:r>
          </a:p>
        </p:txBody>
      </p:sp>
      <p:sp>
        <p:nvSpPr>
          <p:cNvPr id="27" name="TextBox 26"/>
          <p:cNvSpPr txBox="1"/>
          <p:nvPr/>
        </p:nvSpPr>
        <p:spPr>
          <a:xfrm>
            <a:off x="7435260" y="6153912"/>
            <a:ext cx="1097280" cy="365760"/>
          </a:xfrm>
          <a:prstGeom prst="rect">
            <a:avLst/>
          </a:prstGeom>
          <a:noFill/>
        </p:spPr>
        <p:txBody>
          <a:bodyPr wrap="square">
            <a:spAutoFit/>
          </a:bodyPr>
          <a:lstStyle/>
          <a:p>
            <a:pPr algn="l"/>
            <a:r>
              <a:rPr sz="1200" b="1" i="0">
                <a:solidFill>
                  <a:srgbClr val="F59E0B"/>
                </a:solidFill>
                <a:latin typeface="Consolas"/>
              </a:rPr>
              <a:t>fill-mode</a:t>
            </a:r>
          </a:p>
        </p:txBody>
      </p:sp>
      <p:sp>
        <p:nvSpPr>
          <p:cNvPr id="28" name="TextBox 27"/>
          <p:cNvSpPr txBox="1"/>
          <p:nvPr/>
        </p:nvSpPr>
        <p:spPr>
          <a:xfrm>
            <a:off x="8578260" y="6153912"/>
            <a:ext cx="3199302" cy="502920"/>
          </a:xfrm>
          <a:prstGeom prst="rect">
            <a:avLst/>
          </a:prstGeom>
          <a:noFill/>
        </p:spPr>
        <p:txBody>
          <a:bodyPr wrap="square">
            <a:spAutoFit/>
          </a:bodyPr>
          <a:lstStyle/>
          <a:p>
            <a:pPr algn="l"/>
            <a:r>
              <a:rPr sz="1150" b="0" i="0">
                <a:solidFill>
                  <a:srgbClr val="FFFFFF"/>
                </a:solidFill>
                <a:latin typeface="Calibri"/>
              </a:rPr>
              <a:t>forwards (keep final state)
none · backwards · both</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9628632" cy="685800"/>
          </a:xfrm>
          <a:prstGeom prst="rect">
            <a:avLst/>
          </a:prstGeom>
          <a:noFill/>
        </p:spPr>
        <p:txBody>
          <a:bodyPr wrap="square">
            <a:spAutoFit/>
          </a:bodyPr>
          <a:lstStyle/>
          <a:p>
            <a:pPr algn="l"/>
            <a:r>
              <a:rPr sz="3200" b="1" i="0">
                <a:solidFill>
                  <a:srgbClr val="FFFFFF"/>
                </a:solidFill>
                <a:latin typeface="Calibri"/>
              </a:rPr>
              <a:t>Check-In · Transitions, Animations, Variables</a:t>
            </a:r>
          </a:p>
        </p:txBody>
      </p:sp>
      <p:sp>
        <p:nvSpPr>
          <p:cNvPr id="4" name="TextBox 3"/>
          <p:cNvSpPr txBox="1"/>
          <p:nvPr/>
        </p:nvSpPr>
        <p:spPr>
          <a:xfrm>
            <a:off x="365760" y="685800"/>
            <a:ext cx="9628632" cy="347472"/>
          </a:xfrm>
          <a:prstGeom prst="rect">
            <a:avLst/>
          </a:prstGeom>
          <a:noFill/>
        </p:spPr>
        <p:txBody>
          <a:bodyPr wrap="square">
            <a:spAutoFit/>
          </a:bodyPr>
          <a:lstStyle/>
          <a:p>
            <a:pPr algn="l"/>
            <a:r>
              <a:rPr sz="1500" b="0" i="0">
                <a:solidFill>
                  <a:srgbClr val="F0FDFA"/>
                </a:solidFill>
                <a:latin typeface="Calibri"/>
              </a:rPr>
              <a:t>Q13–Q17</a:t>
            </a:r>
          </a:p>
        </p:txBody>
      </p:sp>
      <p:sp>
        <p:nvSpPr>
          <p:cNvPr id="5" name="Rectangle 4"/>
          <p:cNvSpPr/>
          <p:nvPr/>
        </p:nvSpPr>
        <p:spPr>
          <a:xfrm>
            <a:off x="10085832" y="45720"/>
            <a:ext cx="2011680" cy="475488"/>
          </a:xfrm>
          <a:prstGeom prst="rect">
            <a:avLst/>
          </a:prstGeom>
          <a:solidFill>
            <a:srgbClr val="064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85832" y="109728"/>
            <a:ext cx="2011680" cy="365760"/>
          </a:xfrm>
          <a:prstGeom prst="rect">
            <a:avLst/>
          </a:prstGeom>
          <a:noFill/>
        </p:spPr>
        <p:txBody>
          <a:bodyPr wrap="square">
            <a:spAutoFit/>
          </a:bodyPr>
          <a:lstStyle/>
          <a:p>
            <a:pPr algn="ctr"/>
            <a:r>
              <a:rPr sz="1000" b="1" i="0">
                <a:solidFill>
                  <a:srgbClr val="14B8A6"/>
                </a:solidFill>
                <a:latin typeface="Calibri"/>
              </a:rPr>
              <a:t>WEEK 3 · FRIDAY</a:t>
            </a:r>
          </a:p>
        </p:txBody>
      </p:sp>
      <p:sp>
        <p:nvSpPr>
          <p:cNvPr id="7" name="Rectangle 6"/>
          <p:cNvSpPr/>
          <p:nvPr/>
        </p:nvSpPr>
        <p:spPr>
          <a:xfrm>
            <a:off x="274320" y="1234440"/>
            <a:ext cx="5669280" cy="1600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80" y="1325880"/>
            <a:ext cx="5394960" cy="640080"/>
          </a:xfrm>
          <a:prstGeom prst="rect">
            <a:avLst/>
          </a:prstGeom>
          <a:noFill/>
        </p:spPr>
        <p:txBody>
          <a:bodyPr wrap="square">
            <a:spAutoFit/>
          </a:bodyPr>
          <a:lstStyle/>
          <a:p>
            <a:pPr algn="l"/>
            <a:r>
              <a:rPr sz="1350" b="1" i="0">
                <a:solidFill>
                  <a:srgbClr val="FFFFFF"/>
                </a:solidFill>
                <a:latin typeface="Calibri"/>
              </a:rPr>
              <a:t>Q13  The CSS transition property animates changes in …</a:t>
            </a:r>
          </a:p>
        </p:txBody>
      </p:sp>
      <p:sp>
        <p:nvSpPr>
          <p:cNvPr id="9" name="TextBox 8"/>
          <p:cNvSpPr txBox="1"/>
          <p:nvPr/>
        </p:nvSpPr>
        <p:spPr>
          <a:xfrm>
            <a:off x="411480" y="1965960"/>
            <a:ext cx="5394960" cy="205740"/>
          </a:xfrm>
          <a:prstGeom prst="rect">
            <a:avLst/>
          </a:prstGeom>
          <a:noFill/>
        </p:spPr>
        <p:txBody>
          <a:bodyPr wrap="square">
            <a:spAutoFit/>
          </a:bodyPr>
          <a:lstStyle>
            <a:defPPr>
              <a:defRPr lang="en-US"/>
            </a:defPPr>
            <a:lvl1pPr>
              <a:defRPr sz="1150" b="0" i="0">
                <a:solidFill>
                  <a:srgbClr val="64748B"/>
                </a:solidFill>
                <a:latin typeface="Calibri"/>
              </a:defRPr>
            </a:lvl1pPr>
          </a:lstStyle>
          <a:p>
            <a:r>
              <a:rPr lang="ko-KR" altLang="en-US" dirty="0"/>
              <a:t>　</a:t>
            </a:r>
            <a:r>
              <a:rPr dirty="0"/>
              <a:t> CSS property values when they change</a:t>
            </a:r>
          </a:p>
        </p:txBody>
      </p:sp>
      <p:sp>
        <p:nvSpPr>
          <p:cNvPr id="10" name="TextBox 9"/>
          <p:cNvSpPr txBox="1"/>
          <p:nvPr/>
        </p:nvSpPr>
        <p:spPr>
          <a:xfrm>
            <a:off x="411480" y="2171700"/>
            <a:ext cx="5394960" cy="205740"/>
          </a:xfrm>
          <a:prstGeom prst="rect">
            <a:avLst/>
          </a:prstGeom>
          <a:noFill/>
        </p:spPr>
        <p:txBody>
          <a:bodyPr wrap="square">
            <a:spAutoFit/>
          </a:bodyPr>
          <a:lstStyle/>
          <a:p>
            <a:pPr algn="l"/>
            <a:r>
              <a:rPr sz="1150" b="0" i="0">
                <a:solidFill>
                  <a:srgbClr val="64748B"/>
                </a:solidFill>
                <a:latin typeface="Calibri"/>
              </a:rPr>
              <a:t>     HTML element positions</a:t>
            </a:r>
          </a:p>
        </p:txBody>
      </p:sp>
      <p:sp>
        <p:nvSpPr>
          <p:cNvPr id="11" name="TextBox 10"/>
          <p:cNvSpPr txBox="1"/>
          <p:nvPr/>
        </p:nvSpPr>
        <p:spPr>
          <a:xfrm>
            <a:off x="411480" y="2377440"/>
            <a:ext cx="5394960" cy="205740"/>
          </a:xfrm>
          <a:prstGeom prst="rect">
            <a:avLst/>
          </a:prstGeom>
          <a:noFill/>
        </p:spPr>
        <p:txBody>
          <a:bodyPr wrap="square">
            <a:spAutoFit/>
          </a:bodyPr>
          <a:lstStyle/>
          <a:p>
            <a:pPr algn="l"/>
            <a:r>
              <a:rPr sz="1150" b="0" i="0">
                <a:solidFill>
                  <a:srgbClr val="64748B"/>
                </a:solidFill>
                <a:latin typeface="Calibri"/>
              </a:rPr>
              <a:t>     JavaScript variable values</a:t>
            </a:r>
          </a:p>
        </p:txBody>
      </p:sp>
      <p:sp>
        <p:nvSpPr>
          <p:cNvPr id="12" name="TextBox 11"/>
          <p:cNvSpPr txBox="1"/>
          <p:nvPr/>
        </p:nvSpPr>
        <p:spPr>
          <a:xfrm>
            <a:off x="411480" y="2583180"/>
            <a:ext cx="5394960" cy="205740"/>
          </a:xfrm>
          <a:prstGeom prst="rect">
            <a:avLst/>
          </a:prstGeom>
          <a:noFill/>
        </p:spPr>
        <p:txBody>
          <a:bodyPr wrap="square">
            <a:spAutoFit/>
          </a:bodyPr>
          <a:lstStyle/>
          <a:p>
            <a:pPr algn="l"/>
            <a:r>
              <a:rPr sz="1150" b="0" i="0">
                <a:solidFill>
                  <a:srgbClr val="64748B"/>
                </a:solidFill>
                <a:latin typeface="Calibri"/>
              </a:rPr>
              <a:t>     DOM structure</a:t>
            </a:r>
          </a:p>
        </p:txBody>
      </p:sp>
      <p:sp>
        <p:nvSpPr>
          <p:cNvPr id="13" name="Rectangle 12"/>
          <p:cNvSpPr/>
          <p:nvPr/>
        </p:nvSpPr>
        <p:spPr>
          <a:xfrm>
            <a:off x="6217920" y="1234440"/>
            <a:ext cx="5669280" cy="1600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55080" y="1325880"/>
            <a:ext cx="5394960" cy="640080"/>
          </a:xfrm>
          <a:prstGeom prst="rect">
            <a:avLst/>
          </a:prstGeom>
          <a:noFill/>
        </p:spPr>
        <p:txBody>
          <a:bodyPr wrap="square">
            <a:spAutoFit/>
          </a:bodyPr>
          <a:lstStyle/>
          <a:p>
            <a:pPr algn="l"/>
            <a:r>
              <a:rPr sz="1350" b="1" i="0">
                <a:solidFill>
                  <a:srgbClr val="FFFFFF"/>
                </a:solidFill>
                <a:latin typeface="Calibri"/>
              </a:rPr>
              <a:t>Q14  Which at-rule defines a CSS animation's keyframe sequence?</a:t>
            </a:r>
          </a:p>
        </p:txBody>
      </p:sp>
      <p:sp>
        <p:nvSpPr>
          <p:cNvPr id="15" name="TextBox 14"/>
          <p:cNvSpPr txBox="1"/>
          <p:nvPr/>
        </p:nvSpPr>
        <p:spPr>
          <a:xfrm>
            <a:off x="6355080" y="1965960"/>
            <a:ext cx="5394960" cy="269304"/>
          </a:xfrm>
          <a:prstGeom prst="rect">
            <a:avLst/>
          </a:prstGeom>
          <a:noFill/>
        </p:spPr>
        <p:txBody>
          <a:bodyPr wrap="square">
            <a:spAutoFit/>
          </a:bodyPr>
          <a:lstStyle/>
          <a:p>
            <a:pPr algn="l"/>
            <a:r>
              <a:rPr lang="ko-KR" altLang="en-US" sz="1150" b="1" dirty="0">
                <a:solidFill>
                  <a:srgbClr val="22C55E"/>
                </a:solidFill>
                <a:latin typeface="Calibri"/>
              </a:rPr>
              <a:t>　</a:t>
            </a:r>
            <a:r>
              <a:rPr sz="1150" dirty="0">
                <a:solidFill>
                  <a:srgbClr val="64748B"/>
                </a:solidFill>
                <a:latin typeface="Calibri"/>
              </a:rPr>
              <a:t>@keyframes</a:t>
            </a:r>
          </a:p>
        </p:txBody>
      </p:sp>
      <p:sp>
        <p:nvSpPr>
          <p:cNvPr id="16" name="TextBox 15"/>
          <p:cNvSpPr txBox="1"/>
          <p:nvPr/>
        </p:nvSpPr>
        <p:spPr>
          <a:xfrm>
            <a:off x="6355080" y="2171700"/>
            <a:ext cx="5394960" cy="205740"/>
          </a:xfrm>
          <a:prstGeom prst="rect">
            <a:avLst/>
          </a:prstGeom>
          <a:noFill/>
        </p:spPr>
        <p:txBody>
          <a:bodyPr wrap="square">
            <a:spAutoFit/>
          </a:bodyPr>
          <a:lstStyle/>
          <a:p>
            <a:pPr algn="l"/>
            <a:r>
              <a:rPr sz="1150" b="0" i="0">
                <a:solidFill>
                  <a:srgbClr val="64748B"/>
                </a:solidFill>
                <a:latin typeface="Calibri"/>
              </a:rPr>
              <a:t>     @media</a:t>
            </a:r>
          </a:p>
        </p:txBody>
      </p:sp>
      <p:sp>
        <p:nvSpPr>
          <p:cNvPr id="17" name="TextBox 16"/>
          <p:cNvSpPr txBox="1"/>
          <p:nvPr/>
        </p:nvSpPr>
        <p:spPr>
          <a:xfrm>
            <a:off x="6355080" y="2377440"/>
            <a:ext cx="5394960" cy="205740"/>
          </a:xfrm>
          <a:prstGeom prst="rect">
            <a:avLst/>
          </a:prstGeom>
          <a:noFill/>
        </p:spPr>
        <p:txBody>
          <a:bodyPr wrap="square">
            <a:spAutoFit/>
          </a:bodyPr>
          <a:lstStyle/>
          <a:p>
            <a:pPr algn="l"/>
            <a:r>
              <a:rPr sz="1150" b="0" i="0">
                <a:solidFill>
                  <a:srgbClr val="64748B"/>
                </a:solidFill>
                <a:latin typeface="Calibri"/>
              </a:rPr>
              <a:t>     @font-face</a:t>
            </a:r>
          </a:p>
        </p:txBody>
      </p:sp>
      <p:sp>
        <p:nvSpPr>
          <p:cNvPr id="18" name="TextBox 17"/>
          <p:cNvSpPr txBox="1"/>
          <p:nvPr/>
        </p:nvSpPr>
        <p:spPr>
          <a:xfrm>
            <a:off x="6355080" y="2583180"/>
            <a:ext cx="5394960" cy="205740"/>
          </a:xfrm>
          <a:prstGeom prst="rect">
            <a:avLst/>
          </a:prstGeom>
          <a:noFill/>
        </p:spPr>
        <p:txBody>
          <a:bodyPr wrap="square">
            <a:spAutoFit/>
          </a:bodyPr>
          <a:lstStyle/>
          <a:p>
            <a:pPr algn="l"/>
            <a:r>
              <a:rPr sz="1150" b="0" i="0" dirty="0">
                <a:solidFill>
                  <a:srgbClr val="64748B"/>
                </a:solidFill>
                <a:latin typeface="Calibri"/>
              </a:rPr>
              <a:t>     @animate</a:t>
            </a:r>
          </a:p>
        </p:txBody>
      </p:sp>
      <p:sp>
        <p:nvSpPr>
          <p:cNvPr id="19" name="Rectangle 18"/>
          <p:cNvSpPr/>
          <p:nvPr/>
        </p:nvSpPr>
        <p:spPr>
          <a:xfrm>
            <a:off x="274320" y="2971800"/>
            <a:ext cx="5669280" cy="1600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11480" y="3063240"/>
            <a:ext cx="5394960" cy="640080"/>
          </a:xfrm>
          <a:prstGeom prst="rect">
            <a:avLst/>
          </a:prstGeom>
          <a:noFill/>
        </p:spPr>
        <p:txBody>
          <a:bodyPr wrap="square">
            <a:spAutoFit/>
          </a:bodyPr>
          <a:lstStyle/>
          <a:p>
            <a:pPr algn="l"/>
            <a:r>
              <a:rPr sz="1350" b="1" i="0" dirty="0">
                <a:solidFill>
                  <a:srgbClr val="FFFFFF"/>
                </a:solidFill>
                <a:latin typeface="Calibri"/>
              </a:rPr>
              <a:t>Q15  CSS custom properties (variables) are declared with the syntax …</a:t>
            </a:r>
          </a:p>
        </p:txBody>
      </p:sp>
      <p:sp>
        <p:nvSpPr>
          <p:cNvPr id="21" name="TextBox 20"/>
          <p:cNvSpPr txBox="1"/>
          <p:nvPr/>
        </p:nvSpPr>
        <p:spPr>
          <a:xfrm>
            <a:off x="411480" y="3703320"/>
            <a:ext cx="5394960" cy="269304"/>
          </a:xfrm>
          <a:prstGeom prst="rect">
            <a:avLst/>
          </a:prstGeom>
          <a:noFill/>
        </p:spPr>
        <p:txBody>
          <a:bodyPr wrap="square">
            <a:spAutoFit/>
          </a:bodyPr>
          <a:lstStyle/>
          <a:p>
            <a:pPr algn="l"/>
            <a:r>
              <a:rPr lang="ko-KR" altLang="en-US" sz="1150" dirty="0">
                <a:solidFill>
                  <a:srgbClr val="64748B"/>
                </a:solidFill>
                <a:latin typeface="Calibri"/>
              </a:rPr>
              <a:t>　</a:t>
            </a:r>
            <a:r>
              <a:rPr sz="1150" dirty="0">
                <a:solidFill>
                  <a:srgbClr val="64748B"/>
                </a:solidFill>
                <a:latin typeface="Calibri"/>
              </a:rPr>
              <a:t>--name: value;</a:t>
            </a:r>
          </a:p>
        </p:txBody>
      </p:sp>
      <p:sp>
        <p:nvSpPr>
          <p:cNvPr id="22" name="TextBox 21"/>
          <p:cNvSpPr txBox="1"/>
          <p:nvPr/>
        </p:nvSpPr>
        <p:spPr>
          <a:xfrm>
            <a:off x="411480" y="3909060"/>
            <a:ext cx="5394960" cy="205740"/>
          </a:xfrm>
          <a:prstGeom prst="rect">
            <a:avLst/>
          </a:prstGeom>
          <a:noFill/>
        </p:spPr>
        <p:txBody>
          <a:bodyPr wrap="square">
            <a:spAutoFit/>
          </a:bodyPr>
          <a:lstStyle/>
          <a:p>
            <a:pPr algn="l"/>
            <a:r>
              <a:rPr sz="1150" b="0" i="0" dirty="0">
                <a:solidFill>
                  <a:srgbClr val="64748B"/>
                </a:solidFill>
                <a:latin typeface="Calibri"/>
              </a:rPr>
              <a:t>     $name: value;</a:t>
            </a:r>
          </a:p>
        </p:txBody>
      </p:sp>
      <p:sp>
        <p:nvSpPr>
          <p:cNvPr id="23" name="TextBox 22"/>
          <p:cNvSpPr txBox="1"/>
          <p:nvPr/>
        </p:nvSpPr>
        <p:spPr>
          <a:xfrm>
            <a:off x="411480" y="4114800"/>
            <a:ext cx="5394960" cy="205740"/>
          </a:xfrm>
          <a:prstGeom prst="rect">
            <a:avLst/>
          </a:prstGeom>
          <a:noFill/>
        </p:spPr>
        <p:txBody>
          <a:bodyPr wrap="square">
            <a:spAutoFit/>
          </a:bodyPr>
          <a:lstStyle/>
          <a:p>
            <a:pPr algn="l"/>
            <a:r>
              <a:rPr sz="1150" b="0" i="0">
                <a:solidFill>
                  <a:srgbClr val="64748B"/>
                </a:solidFill>
                <a:latin typeface="Calibri"/>
              </a:rPr>
              <a:t>     var(name): value;</a:t>
            </a:r>
          </a:p>
        </p:txBody>
      </p:sp>
      <p:sp>
        <p:nvSpPr>
          <p:cNvPr id="24" name="TextBox 23"/>
          <p:cNvSpPr txBox="1"/>
          <p:nvPr/>
        </p:nvSpPr>
        <p:spPr>
          <a:xfrm>
            <a:off x="411480" y="4320540"/>
            <a:ext cx="5394960" cy="205740"/>
          </a:xfrm>
          <a:prstGeom prst="rect">
            <a:avLst/>
          </a:prstGeom>
          <a:noFill/>
        </p:spPr>
        <p:txBody>
          <a:bodyPr wrap="square">
            <a:spAutoFit/>
          </a:bodyPr>
          <a:lstStyle/>
          <a:p>
            <a:pPr algn="l"/>
            <a:r>
              <a:rPr sz="1150" b="0" i="0" dirty="0">
                <a:solidFill>
                  <a:srgbClr val="64748B"/>
                </a:solidFill>
                <a:latin typeface="Calibri"/>
              </a:rPr>
              <a:t>     name = value;</a:t>
            </a:r>
          </a:p>
        </p:txBody>
      </p:sp>
      <p:sp>
        <p:nvSpPr>
          <p:cNvPr id="25" name="Rectangle 24"/>
          <p:cNvSpPr/>
          <p:nvPr/>
        </p:nvSpPr>
        <p:spPr>
          <a:xfrm>
            <a:off x="6217920" y="2971800"/>
            <a:ext cx="5669280" cy="1600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55080" y="3063240"/>
            <a:ext cx="5394960" cy="640080"/>
          </a:xfrm>
          <a:prstGeom prst="rect">
            <a:avLst/>
          </a:prstGeom>
          <a:noFill/>
        </p:spPr>
        <p:txBody>
          <a:bodyPr wrap="square">
            <a:spAutoFit/>
          </a:bodyPr>
          <a:lstStyle/>
          <a:p>
            <a:pPr algn="l"/>
            <a:r>
              <a:rPr sz="1350" b="1" i="0">
                <a:solidFill>
                  <a:srgbClr val="FFFFFF"/>
                </a:solidFill>
                <a:latin typeface="Calibri"/>
              </a:rPr>
              <a:t>Q16  To USE a CSS variable called --primary, the syntax is …</a:t>
            </a:r>
          </a:p>
        </p:txBody>
      </p:sp>
      <p:sp>
        <p:nvSpPr>
          <p:cNvPr id="27" name="TextBox 26"/>
          <p:cNvSpPr txBox="1"/>
          <p:nvPr/>
        </p:nvSpPr>
        <p:spPr>
          <a:xfrm>
            <a:off x="6355080" y="3703320"/>
            <a:ext cx="5394960" cy="269304"/>
          </a:xfrm>
          <a:prstGeom prst="rect">
            <a:avLst/>
          </a:prstGeom>
          <a:noFill/>
        </p:spPr>
        <p:txBody>
          <a:bodyPr wrap="square">
            <a:spAutoFit/>
          </a:bodyPr>
          <a:lstStyle/>
          <a:p>
            <a:pPr algn="l"/>
            <a:r>
              <a:rPr lang="ko-KR" altLang="en-US" sz="1150" b="1" dirty="0">
                <a:solidFill>
                  <a:srgbClr val="22C55E"/>
                </a:solidFill>
                <a:latin typeface="Calibri"/>
              </a:rPr>
              <a:t>　</a:t>
            </a:r>
            <a:r>
              <a:rPr sz="1150" dirty="0">
                <a:solidFill>
                  <a:srgbClr val="64748B"/>
                </a:solidFill>
                <a:latin typeface="Calibri"/>
              </a:rPr>
              <a:t>var(--primary)</a:t>
            </a:r>
          </a:p>
        </p:txBody>
      </p:sp>
      <p:sp>
        <p:nvSpPr>
          <p:cNvPr id="28" name="TextBox 27"/>
          <p:cNvSpPr txBox="1"/>
          <p:nvPr/>
        </p:nvSpPr>
        <p:spPr>
          <a:xfrm>
            <a:off x="6355080" y="3909060"/>
            <a:ext cx="5394960" cy="205740"/>
          </a:xfrm>
          <a:prstGeom prst="rect">
            <a:avLst/>
          </a:prstGeom>
          <a:noFill/>
        </p:spPr>
        <p:txBody>
          <a:bodyPr wrap="square">
            <a:spAutoFit/>
          </a:bodyPr>
          <a:lstStyle/>
          <a:p>
            <a:pPr algn="l"/>
            <a:r>
              <a:rPr sz="1150" b="0" i="0">
                <a:solidFill>
                  <a:srgbClr val="64748B"/>
                </a:solidFill>
                <a:latin typeface="Calibri"/>
              </a:rPr>
              <a:t>     $(--primary)</a:t>
            </a:r>
          </a:p>
        </p:txBody>
      </p:sp>
      <p:sp>
        <p:nvSpPr>
          <p:cNvPr id="29" name="TextBox 28"/>
          <p:cNvSpPr txBox="1"/>
          <p:nvPr/>
        </p:nvSpPr>
        <p:spPr>
          <a:xfrm>
            <a:off x="6355080" y="4114800"/>
            <a:ext cx="5394960" cy="205740"/>
          </a:xfrm>
          <a:prstGeom prst="rect">
            <a:avLst/>
          </a:prstGeom>
          <a:noFill/>
        </p:spPr>
        <p:txBody>
          <a:bodyPr wrap="square">
            <a:spAutoFit/>
          </a:bodyPr>
          <a:lstStyle/>
          <a:p>
            <a:pPr algn="l"/>
            <a:r>
              <a:rPr sz="1150" b="0" i="0" dirty="0">
                <a:solidFill>
                  <a:srgbClr val="64748B"/>
                </a:solidFill>
                <a:latin typeface="Calibri"/>
              </a:rPr>
              <a:t>     #primary</a:t>
            </a:r>
          </a:p>
        </p:txBody>
      </p:sp>
      <p:sp>
        <p:nvSpPr>
          <p:cNvPr id="30" name="TextBox 29"/>
          <p:cNvSpPr txBox="1"/>
          <p:nvPr/>
        </p:nvSpPr>
        <p:spPr>
          <a:xfrm>
            <a:off x="6355080" y="4320540"/>
            <a:ext cx="5394960" cy="205740"/>
          </a:xfrm>
          <a:prstGeom prst="rect">
            <a:avLst/>
          </a:prstGeom>
          <a:noFill/>
        </p:spPr>
        <p:txBody>
          <a:bodyPr wrap="square">
            <a:spAutoFit/>
          </a:bodyPr>
          <a:lstStyle/>
          <a:p>
            <a:pPr algn="l"/>
            <a:r>
              <a:rPr sz="1150" b="0" i="0">
                <a:solidFill>
                  <a:srgbClr val="64748B"/>
                </a:solidFill>
                <a:latin typeface="Calibri"/>
              </a:rPr>
              <a:t>     %(primary)</a:t>
            </a:r>
          </a:p>
        </p:txBody>
      </p:sp>
      <p:sp>
        <p:nvSpPr>
          <p:cNvPr id="31" name="Rectangle 30"/>
          <p:cNvSpPr/>
          <p:nvPr/>
        </p:nvSpPr>
        <p:spPr>
          <a:xfrm>
            <a:off x="3246120" y="4709160"/>
            <a:ext cx="5669280" cy="1600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383280" y="4800600"/>
            <a:ext cx="5394960" cy="640080"/>
          </a:xfrm>
          <a:prstGeom prst="rect">
            <a:avLst/>
          </a:prstGeom>
          <a:noFill/>
        </p:spPr>
        <p:txBody>
          <a:bodyPr wrap="square">
            <a:spAutoFit/>
          </a:bodyPr>
          <a:lstStyle/>
          <a:p>
            <a:pPr algn="l"/>
            <a:r>
              <a:rPr sz="1350" b="1" i="0">
                <a:solidFill>
                  <a:srgbClr val="FFFFFF"/>
                </a:solidFill>
                <a:latin typeface="Calibri"/>
              </a:rPr>
              <a:t>Q17  @media (max-width: 768px) { } applies styles when …</a:t>
            </a:r>
          </a:p>
        </p:txBody>
      </p:sp>
      <p:sp>
        <p:nvSpPr>
          <p:cNvPr id="33" name="TextBox 32"/>
          <p:cNvSpPr txBox="1"/>
          <p:nvPr/>
        </p:nvSpPr>
        <p:spPr>
          <a:xfrm>
            <a:off x="3383280" y="5440680"/>
            <a:ext cx="5394960" cy="269304"/>
          </a:xfrm>
          <a:prstGeom prst="rect">
            <a:avLst/>
          </a:prstGeom>
          <a:noFill/>
        </p:spPr>
        <p:txBody>
          <a:bodyPr wrap="square">
            <a:spAutoFit/>
          </a:bodyPr>
          <a:lstStyle/>
          <a:p>
            <a:pPr algn="l"/>
            <a:r>
              <a:rPr lang="ko-KR" altLang="en-US" sz="1150" b="1" dirty="0">
                <a:solidFill>
                  <a:srgbClr val="22C55E"/>
                </a:solidFill>
                <a:latin typeface="Calibri"/>
              </a:rPr>
              <a:t>　</a:t>
            </a:r>
            <a:r>
              <a:rPr sz="1150" dirty="0">
                <a:solidFill>
                  <a:srgbClr val="64748B"/>
                </a:solidFill>
                <a:latin typeface="Calibri"/>
              </a:rPr>
              <a:t>the viewport is 768px wide or NARROWER</a:t>
            </a:r>
          </a:p>
        </p:txBody>
      </p:sp>
      <p:sp>
        <p:nvSpPr>
          <p:cNvPr id="34" name="TextBox 33"/>
          <p:cNvSpPr txBox="1"/>
          <p:nvPr/>
        </p:nvSpPr>
        <p:spPr>
          <a:xfrm>
            <a:off x="3383280" y="5646420"/>
            <a:ext cx="5394960" cy="205740"/>
          </a:xfrm>
          <a:prstGeom prst="rect">
            <a:avLst/>
          </a:prstGeom>
          <a:noFill/>
        </p:spPr>
        <p:txBody>
          <a:bodyPr wrap="square">
            <a:spAutoFit/>
          </a:bodyPr>
          <a:lstStyle/>
          <a:p>
            <a:pPr algn="l"/>
            <a:r>
              <a:rPr sz="1150" b="0" i="0" dirty="0">
                <a:solidFill>
                  <a:srgbClr val="64748B"/>
                </a:solidFill>
                <a:latin typeface="Calibri"/>
              </a:rPr>
              <a:t>     the viewport is exactly 768px</a:t>
            </a:r>
          </a:p>
        </p:txBody>
      </p:sp>
      <p:sp>
        <p:nvSpPr>
          <p:cNvPr id="35" name="TextBox 34"/>
          <p:cNvSpPr txBox="1"/>
          <p:nvPr/>
        </p:nvSpPr>
        <p:spPr>
          <a:xfrm>
            <a:off x="3383280" y="5852160"/>
            <a:ext cx="5394960" cy="205740"/>
          </a:xfrm>
          <a:prstGeom prst="rect">
            <a:avLst/>
          </a:prstGeom>
          <a:noFill/>
        </p:spPr>
        <p:txBody>
          <a:bodyPr wrap="square">
            <a:spAutoFit/>
          </a:bodyPr>
          <a:lstStyle/>
          <a:p>
            <a:pPr algn="l"/>
            <a:r>
              <a:rPr sz="1150" b="0" i="0">
                <a:solidFill>
                  <a:srgbClr val="64748B"/>
                </a:solidFill>
                <a:latin typeface="Calibri"/>
              </a:rPr>
              <a:t>     the font is 768px</a:t>
            </a:r>
          </a:p>
        </p:txBody>
      </p:sp>
      <p:sp>
        <p:nvSpPr>
          <p:cNvPr id="36" name="TextBox 35"/>
          <p:cNvSpPr txBox="1"/>
          <p:nvPr/>
        </p:nvSpPr>
        <p:spPr>
          <a:xfrm>
            <a:off x="3383280" y="6057900"/>
            <a:ext cx="5394960" cy="205740"/>
          </a:xfrm>
          <a:prstGeom prst="rect">
            <a:avLst/>
          </a:prstGeom>
          <a:noFill/>
        </p:spPr>
        <p:txBody>
          <a:bodyPr wrap="square">
            <a:spAutoFit/>
          </a:bodyPr>
          <a:lstStyle/>
          <a:p>
            <a:pPr algn="l"/>
            <a:r>
              <a:rPr sz="1150" b="0" i="0">
                <a:solidFill>
                  <a:srgbClr val="64748B"/>
                </a:solidFill>
                <a:latin typeface="Calibri"/>
              </a:rPr>
              <a:t>     the device is mobile-only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9628632" cy="685800"/>
          </a:xfrm>
          <a:prstGeom prst="rect">
            <a:avLst/>
          </a:prstGeom>
          <a:noFill/>
        </p:spPr>
        <p:txBody>
          <a:bodyPr wrap="square">
            <a:spAutoFit/>
          </a:bodyPr>
          <a:lstStyle/>
          <a:p>
            <a:pPr algn="l"/>
            <a:r>
              <a:rPr sz="3200" b="1" i="0">
                <a:solidFill>
                  <a:srgbClr val="FFFFFF"/>
                </a:solidFill>
                <a:latin typeface="Calibri"/>
              </a:rPr>
              <a:t>Check-In · Transitions, Animations, Variables</a:t>
            </a:r>
          </a:p>
        </p:txBody>
      </p:sp>
      <p:sp>
        <p:nvSpPr>
          <p:cNvPr id="4" name="TextBox 3"/>
          <p:cNvSpPr txBox="1"/>
          <p:nvPr/>
        </p:nvSpPr>
        <p:spPr>
          <a:xfrm>
            <a:off x="365760" y="685800"/>
            <a:ext cx="9628632" cy="347472"/>
          </a:xfrm>
          <a:prstGeom prst="rect">
            <a:avLst/>
          </a:prstGeom>
          <a:noFill/>
        </p:spPr>
        <p:txBody>
          <a:bodyPr wrap="square">
            <a:spAutoFit/>
          </a:bodyPr>
          <a:lstStyle/>
          <a:p>
            <a:pPr algn="l"/>
            <a:r>
              <a:rPr sz="1500" b="0" i="0">
                <a:solidFill>
                  <a:srgbClr val="F0FDFA"/>
                </a:solidFill>
                <a:latin typeface="Calibri"/>
              </a:rPr>
              <a:t>Q13–Q17</a:t>
            </a:r>
          </a:p>
        </p:txBody>
      </p:sp>
      <p:sp>
        <p:nvSpPr>
          <p:cNvPr id="5" name="Rectangle 4"/>
          <p:cNvSpPr/>
          <p:nvPr/>
        </p:nvSpPr>
        <p:spPr>
          <a:xfrm>
            <a:off x="10085832" y="45720"/>
            <a:ext cx="2011680" cy="475488"/>
          </a:xfrm>
          <a:prstGeom prst="rect">
            <a:avLst/>
          </a:prstGeom>
          <a:solidFill>
            <a:srgbClr val="064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85832" y="109728"/>
            <a:ext cx="2011680" cy="365760"/>
          </a:xfrm>
          <a:prstGeom prst="rect">
            <a:avLst/>
          </a:prstGeom>
          <a:noFill/>
        </p:spPr>
        <p:txBody>
          <a:bodyPr wrap="square">
            <a:spAutoFit/>
          </a:bodyPr>
          <a:lstStyle/>
          <a:p>
            <a:pPr algn="ctr"/>
            <a:r>
              <a:rPr sz="1000" b="1" i="0">
                <a:solidFill>
                  <a:srgbClr val="14B8A6"/>
                </a:solidFill>
                <a:latin typeface="Calibri"/>
              </a:rPr>
              <a:t>WEEK 3 · FRIDAY</a:t>
            </a:r>
          </a:p>
        </p:txBody>
      </p:sp>
      <p:sp>
        <p:nvSpPr>
          <p:cNvPr id="7" name="Rectangle 6"/>
          <p:cNvSpPr/>
          <p:nvPr/>
        </p:nvSpPr>
        <p:spPr>
          <a:xfrm>
            <a:off x="274320" y="1234440"/>
            <a:ext cx="5669280" cy="1600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80" y="1325880"/>
            <a:ext cx="5394960" cy="640080"/>
          </a:xfrm>
          <a:prstGeom prst="rect">
            <a:avLst/>
          </a:prstGeom>
          <a:noFill/>
        </p:spPr>
        <p:txBody>
          <a:bodyPr wrap="square">
            <a:spAutoFit/>
          </a:bodyPr>
          <a:lstStyle/>
          <a:p>
            <a:pPr algn="l"/>
            <a:r>
              <a:rPr sz="1350" b="1" i="0">
                <a:solidFill>
                  <a:srgbClr val="FFFFFF"/>
                </a:solidFill>
                <a:latin typeface="Calibri"/>
              </a:rPr>
              <a:t>Q13  The CSS transition property animates changes in …</a:t>
            </a:r>
          </a:p>
        </p:txBody>
      </p:sp>
      <p:sp>
        <p:nvSpPr>
          <p:cNvPr id="9" name="TextBox 8"/>
          <p:cNvSpPr txBox="1"/>
          <p:nvPr/>
        </p:nvSpPr>
        <p:spPr>
          <a:xfrm>
            <a:off x="411480" y="1965960"/>
            <a:ext cx="5394960" cy="205740"/>
          </a:xfrm>
          <a:prstGeom prst="rect">
            <a:avLst/>
          </a:prstGeom>
          <a:noFill/>
        </p:spPr>
        <p:txBody>
          <a:bodyPr wrap="square">
            <a:spAutoFit/>
          </a:bodyPr>
          <a:lstStyle/>
          <a:p>
            <a:pPr algn="l"/>
            <a:r>
              <a:rPr sz="1150" b="1" i="0">
                <a:solidFill>
                  <a:srgbClr val="22C55E"/>
                </a:solidFill>
                <a:latin typeface="Calibri"/>
              </a:rPr>
              <a:t>✔ CSS property values when they change</a:t>
            </a:r>
          </a:p>
        </p:txBody>
      </p:sp>
      <p:sp>
        <p:nvSpPr>
          <p:cNvPr id="10" name="TextBox 9"/>
          <p:cNvSpPr txBox="1"/>
          <p:nvPr/>
        </p:nvSpPr>
        <p:spPr>
          <a:xfrm>
            <a:off x="411480" y="2171700"/>
            <a:ext cx="5394960" cy="205740"/>
          </a:xfrm>
          <a:prstGeom prst="rect">
            <a:avLst/>
          </a:prstGeom>
          <a:noFill/>
        </p:spPr>
        <p:txBody>
          <a:bodyPr wrap="square">
            <a:spAutoFit/>
          </a:bodyPr>
          <a:lstStyle/>
          <a:p>
            <a:pPr algn="l"/>
            <a:r>
              <a:rPr sz="1150" b="0" i="0">
                <a:solidFill>
                  <a:srgbClr val="64748B"/>
                </a:solidFill>
                <a:latin typeface="Calibri"/>
              </a:rPr>
              <a:t>     HTML element positions</a:t>
            </a:r>
          </a:p>
        </p:txBody>
      </p:sp>
      <p:sp>
        <p:nvSpPr>
          <p:cNvPr id="11" name="TextBox 10"/>
          <p:cNvSpPr txBox="1"/>
          <p:nvPr/>
        </p:nvSpPr>
        <p:spPr>
          <a:xfrm>
            <a:off x="411480" y="2377440"/>
            <a:ext cx="5394960" cy="205740"/>
          </a:xfrm>
          <a:prstGeom prst="rect">
            <a:avLst/>
          </a:prstGeom>
          <a:noFill/>
        </p:spPr>
        <p:txBody>
          <a:bodyPr wrap="square">
            <a:spAutoFit/>
          </a:bodyPr>
          <a:lstStyle/>
          <a:p>
            <a:pPr algn="l"/>
            <a:r>
              <a:rPr sz="1150" b="0" i="0">
                <a:solidFill>
                  <a:srgbClr val="64748B"/>
                </a:solidFill>
                <a:latin typeface="Calibri"/>
              </a:rPr>
              <a:t>     JavaScript variable values</a:t>
            </a:r>
          </a:p>
        </p:txBody>
      </p:sp>
      <p:sp>
        <p:nvSpPr>
          <p:cNvPr id="12" name="TextBox 11"/>
          <p:cNvSpPr txBox="1"/>
          <p:nvPr/>
        </p:nvSpPr>
        <p:spPr>
          <a:xfrm>
            <a:off x="411480" y="2583180"/>
            <a:ext cx="5394960" cy="205740"/>
          </a:xfrm>
          <a:prstGeom prst="rect">
            <a:avLst/>
          </a:prstGeom>
          <a:noFill/>
        </p:spPr>
        <p:txBody>
          <a:bodyPr wrap="square">
            <a:spAutoFit/>
          </a:bodyPr>
          <a:lstStyle/>
          <a:p>
            <a:pPr algn="l"/>
            <a:r>
              <a:rPr sz="1150" b="0" i="0">
                <a:solidFill>
                  <a:srgbClr val="64748B"/>
                </a:solidFill>
                <a:latin typeface="Calibri"/>
              </a:rPr>
              <a:t>     DOM structure</a:t>
            </a:r>
          </a:p>
        </p:txBody>
      </p:sp>
      <p:sp>
        <p:nvSpPr>
          <p:cNvPr id="13" name="Rectangle 12"/>
          <p:cNvSpPr/>
          <p:nvPr/>
        </p:nvSpPr>
        <p:spPr>
          <a:xfrm>
            <a:off x="6217920" y="1234440"/>
            <a:ext cx="5669280" cy="1600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55080" y="1325880"/>
            <a:ext cx="5394960" cy="640080"/>
          </a:xfrm>
          <a:prstGeom prst="rect">
            <a:avLst/>
          </a:prstGeom>
          <a:noFill/>
        </p:spPr>
        <p:txBody>
          <a:bodyPr wrap="square">
            <a:spAutoFit/>
          </a:bodyPr>
          <a:lstStyle/>
          <a:p>
            <a:pPr algn="l"/>
            <a:r>
              <a:rPr sz="1350" b="1" i="0">
                <a:solidFill>
                  <a:srgbClr val="FFFFFF"/>
                </a:solidFill>
                <a:latin typeface="Calibri"/>
              </a:rPr>
              <a:t>Q14  Which at-rule defines a CSS animation's keyframe sequence?</a:t>
            </a:r>
          </a:p>
        </p:txBody>
      </p:sp>
      <p:sp>
        <p:nvSpPr>
          <p:cNvPr id="15" name="TextBox 14"/>
          <p:cNvSpPr txBox="1"/>
          <p:nvPr/>
        </p:nvSpPr>
        <p:spPr>
          <a:xfrm>
            <a:off x="6355080" y="1965960"/>
            <a:ext cx="5394960" cy="205740"/>
          </a:xfrm>
          <a:prstGeom prst="rect">
            <a:avLst/>
          </a:prstGeom>
          <a:noFill/>
        </p:spPr>
        <p:txBody>
          <a:bodyPr wrap="square">
            <a:spAutoFit/>
          </a:bodyPr>
          <a:lstStyle/>
          <a:p>
            <a:pPr algn="l"/>
            <a:r>
              <a:rPr sz="1150" b="1" i="0">
                <a:solidFill>
                  <a:srgbClr val="22C55E"/>
                </a:solidFill>
                <a:latin typeface="Calibri"/>
              </a:rPr>
              <a:t>✔ @keyframes</a:t>
            </a:r>
          </a:p>
        </p:txBody>
      </p:sp>
      <p:sp>
        <p:nvSpPr>
          <p:cNvPr id="16" name="TextBox 15"/>
          <p:cNvSpPr txBox="1"/>
          <p:nvPr/>
        </p:nvSpPr>
        <p:spPr>
          <a:xfrm>
            <a:off x="6355080" y="2171700"/>
            <a:ext cx="5394960" cy="205740"/>
          </a:xfrm>
          <a:prstGeom prst="rect">
            <a:avLst/>
          </a:prstGeom>
          <a:noFill/>
        </p:spPr>
        <p:txBody>
          <a:bodyPr wrap="square">
            <a:spAutoFit/>
          </a:bodyPr>
          <a:lstStyle/>
          <a:p>
            <a:pPr algn="l"/>
            <a:r>
              <a:rPr sz="1150" b="0" i="0">
                <a:solidFill>
                  <a:srgbClr val="64748B"/>
                </a:solidFill>
                <a:latin typeface="Calibri"/>
              </a:rPr>
              <a:t>     @media</a:t>
            </a:r>
          </a:p>
        </p:txBody>
      </p:sp>
      <p:sp>
        <p:nvSpPr>
          <p:cNvPr id="17" name="TextBox 16"/>
          <p:cNvSpPr txBox="1"/>
          <p:nvPr/>
        </p:nvSpPr>
        <p:spPr>
          <a:xfrm>
            <a:off x="6355080" y="2377440"/>
            <a:ext cx="5394960" cy="205740"/>
          </a:xfrm>
          <a:prstGeom prst="rect">
            <a:avLst/>
          </a:prstGeom>
          <a:noFill/>
        </p:spPr>
        <p:txBody>
          <a:bodyPr wrap="square">
            <a:spAutoFit/>
          </a:bodyPr>
          <a:lstStyle/>
          <a:p>
            <a:pPr algn="l"/>
            <a:r>
              <a:rPr sz="1150" b="0" i="0">
                <a:solidFill>
                  <a:srgbClr val="64748B"/>
                </a:solidFill>
                <a:latin typeface="Calibri"/>
              </a:rPr>
              <a:t>     @font-face</a:t>
            </a:r>
          </a:p>
        </p:txBody>
      </p:sp>
      <p:sp>
        <p:nvSpPr>
          <p:cNvPr id="18" name="TextBox 17"/>
          <p:cNvSpPr txBox="1"/>
          <p:nvPr/>
        </p:nvSpPr>
        <p:spPr>
          <a:xfrm>
            <a:off x="6355080" y="2583180"/>
            <a:ext cx="5394960" cy="205740"/>
          </a:xfrm>
          <a:prstGeom prst="rect">
            <a:avLst/>
          </a:prstGeom>
          <a:noFill/>
        </p:spPr>
        <p:txBody>
          <a:bodyPr wrap="square">
            <a:spAutoFit/>
          </a:bodyPr>
          <a:lstStyle/>
          <a:p>
            <a:pPr algn="l"/>
            <a:r>
              <a:rPr sz="1150" b="0" i="0">
                <a:solidFill>
                  <a:srgbClr val="64748B"/>
                </a:solidFill>
                <a:latin typeface="Calibri"/>
              </a:rPr>
              <a:t>     @animate</a:t>
            </a:r>
          </a:p>
        </p:txBody>
      </p:sp>
      <p:sp>
        <p:nvSpPr>
          <p:cNvPr id="19" name="Rectangle 18"/>
          <p:cNvSpPr/>
          <p:nvPr/>
        </p:nvSpPr>
        <p:spPr>
          <a:xfrm>
            <a:off x="274320" y="2971800"/>
            <a:ext cx="5669280" cy="1600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11480" y="3063240"/>
            <a:ext cx="5394960" cy="640080"/>
          </a:xfrm>
          <a:prstGeom prst="rect">
            <a:avLst/>
          </a:prstGeom>
          <a:noFill/>
        </p:spPr>
        <p:txBody>
          <a:bodyPr wrap="square">
            <a:spAutoFit/>
          </a:bodyPr>
          <a:lstStyle/>
          <a:p>
            <a:pPr algn="l"/>
            <a:r>
              <a:rPr sz="1350" b="1" i="0">
                <a:solidFill>
                  <a:srgbClr val="FFFFFF"/>
                </a:solidFill>
                <a:latin typeface="Calibri"/>
              </a:rPr>
              <a:t>Q15  CSS custom properties (variables) are declared with the syntax …</a:t>
            </a:r>
          </a:p>
        </p:txBody>
      </p:sp>
      <p:sp>
        <p:nvSpPr>
          <p:cNvPr id="21" name="TextBox 20"/>
          <p:cNvSpPr txBox="1"/>
          <p:nvPr/>
        </p:nvSpPr>
        <p:spPr>
          <a:xfrm>
            <a:off x="411480" y="3703320"/>
            <a:ext cx="5394960" cy="205740"/>
          </a:xfrm>
          <a:prstGeom prst="rect">
            <a:avLst/>
          </a:prstGeom>
          <a:noFill/>
        </p:spPr>
        <p:txBody>
          <a:bodyPr wrap="square">
            <a:spAutoFit/>
          </a:bodyPr>
          <a:lstStyle/>
          <a:p>
            <a:pPr algn="l"/>
            <a:r>
              <a:rPr sz="1150" b="1" i="0">
                <a:solidFill>
                  <a:srgbClr val="22C55E"/>
                </a:solidFill>
                <a:latin typeface="Calibri"/>
              </a:rPr>
              <a:t>✔ --name: value;</a:t>
            </a:r>
          </a:p>
        </p:txBody>
      </p:sp>
      <p:sp>
        <p:nvSpPr>
          <p:cNvPr id="22" name="TextBox 21"/>
          <p:cNvSpPr txBox="1"/>
          <p:nvPr/>
        </p:nvSpPr>
        <p:spPr>
          <a:xfrm>
            <a:off x="411480" y="3909060"/>
            <a:ext cx="5394960" cy="205740"/>
          </a:xfrm>
          <a:prstGeom prst="rect">
            <a:avLst/>
          </a:prstGeom>
          <a:noFill/>
        </p:spPr>
        <p:txBody>
          <a:bodyPr wrap="square">
            <a:spAutoFit/>
          </a:bodyPr>
          <a:lstStyle/>
          <a:p>
            <a:pPr algn="l"/>
            <a:r>
              <a:rPr sz="1150" b="0" i="0">
                <a:solidFill>
                  <a:srgbClr val="64748B"/>
                </a:solidFill>
                <a:latin typeface="Calibri"/>
              </a:rPr>
              <a:t>     $name: value;</a:t>
            </a:r>
          </a:p>
        </p:txBody>
      </p:sp>
      <p:sp>
        <p:nvSpPr>
          <p:cNvPr id="23" name="TextBox 22"/>
          <p:cNvSpPr txBox="1"/>
          <p:nvPr/>
        </p:nvSpPr>
        <p:spPr>
          <a:xfrm>
            <a:off x="411480" y="4114800"/>
            <a:ext cx="5394960" cy="205740"/>
          </a:xfrm>
          <a:prstGeom prst="rect">
            <a:avLst/>
          </a:prstGeom>
          <a:noFill/>
        </p:spPr>
        <p:txBody>
          <a:bodyPr wrap="square">
            <a:spAutoFit/>
          </a:bodyPr>
          <a:lstStyle/>
          <a:p>
            <a:pPr algn="l"/>
            <a:r>
              <a:rPr sz="1150" b="0" i="0">
                <a:solidFill>
                  <a:srgbClr val="64748B"/>
                </a:solidFill>
                <a:latin typeface="Calibri"/>
              </a:rPr>
              <a:t>     var(name): value;</a:t>
            </a:r>
          </a:p>
        </p:txBody>
      </p:sp>
      <p:sp>
        <p:nvSpPr>
          <p:cNvPr id="24" name="TextBox 23"/>
          <p:cNvSpPr txBox="1"/>
          <p:nvPr/>
        </p:nvSpPr>
        <p:spPr>
          <a:xfrm>
            <a:off x="411480" y="4320540"/>
            <a:ext cx="5394960" cy="205740"/>
          </a:xfrm>
          <a:prstGeom prst="rect">
            <a:avLst/>
          </a:prstGeom>
          <a:noFill/>
        </p:spPr>
        <p:txBody>
          <a:bodyPr wrap="square">
            <a:spAutoFit/>
          </a:bodyPr>
          <a:lstStyle/>
          <a:p>
            <a:pPr algn="l"/>
            <a:r>
              <a:rPr sz="1150" b="0" i="0">
                <a:solidFill>
                  <a:srgbClr val="64748B"/>
                </a:solidFill>
                <a:latin typeface="Calibri"/>
              </a:rPr>
              <a:t>     name = value;</a:t>
            </a:r>
          </a:p>
        </p:txBody>
      </p:sp>
      <p:sp>
        <p:nvSpPr>
          <p:cNvPr id="25" name="Rectangle 24"/>
          <p:cNvSpPr/>
          <p:nvPr/>
        </p:nvSpPr>
        <p:spPr>
          <a:xfrm>
            <a:off x="6217920" y="2971800"/>
            <a:ext cx="5669280" cy="1600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55080" y="3063240"/>
            <a:ext cx="5394960" cy="640080"/>
          </a:xfrm>
          <a:prstGeom prst="rect">
            <a:avLst/>
          </a:prstGeom>
          <a:noFill/>
        </p:spPr>
        <p:txBody>
          <a:bodyPr wrap="square">
            <a:spAutoFit/>
          </a:bodyPr>
          <a:lstStyle/>
          <a:p>
            <a:pPr algn="l"/>
            <a:r>
              <a:rPr sz="1350" b="1" i="0">
                <a:solidFill>
                  <a:srgbClr val="FFFFFF"/>
                </a:solidFill>
                <a:latin typeface="Calibri"/>
              </a:rPr>
              <a:t>Q16  To USE a CSS variable called --primary, the syntax is …</a:t>
            </a:r>
          </a:p>
        </p:txBody>
      </p:sp>
      <p:sp>
        <p:nvSpPr>
          <p:cNvPr id="27" name="TextBox 26"/>
          <p:cNvSpPr txBox="1"/>
          <p:nvPr/>
        </p:nvSpPr>
        <p:spPr>
          <a:xfrm>
            <a:off x="6355080" y="3703320"/>
            <a:ext cx="5394960" cy="205740"/>
          </a:xfrm>
          <a:prstGeom prst="rect">
            <a:avLst/>
          </a:prstGeom>
          <a:noFill/>
        </p:spPr>
        <p:txBody>
          <a:bodyPr wrap="square">
            <a:spAutoFit/>
          </a:bodyPr>
          <a:lstStyle/>
          <a:p>
            <a:pPr algn="l"/>
            <a:r>
              <a:rPr sz="1150" b="1" i="0">
                <a:solidFill>
                  <a:srgbClr val="22C55E"/>
                </a:solidFill>
                <a:latin typeface="Calibri"/>
              </a:rPr>
              <a:t>✔ var(--primary)</a:t>
            </a:r>
          </a:p>
        </p:txBody>
      </p:sp>
      <p:sp>
        <p:nvSpPr>
          <p:cNvPr id="28" name="TextBox 27"/>
          <p:cNvSpPr txBox="1"/>
          <p:nvPr/>
        </p:nvSpPr>
        <p:spPr>
          <a:xfrm>
            <a:off x="6355080" y="3909060"/>
            <a:ext cx="5394960" cy="205740"/>
          </a:xfrm>
          <a:prstGeom prst="rect">
            <a:avLst/>
          </a:prstGeom>
          <a:noFill/>
        </p:spPr>
        <p:txBody>
          <a:bodyPr wrap="square">
            <a:spAutoFit/>
          </a:bodyPr>
          <a:lstStyle/>
          <a:p>
            <a:pPr algn="l"/>
            <a:r>
              <a:rPr sz="1150" b="0" i="0">
                <a:solidFill>
                  <a:srgbClr val="64748B"/>
                </a:solidFill>
                <a:latin typeface="Calibri"/>
              </a:rPr>
              <a:t>     $(--primary)</a:t>
            </a:r>
          </a:p>
        </p:txBody>
      </p:sp>
      <p:sp>
        <p:nvSpPr>
          <p:cNvPr id="29" name="TextBox 28"/>
          <p:cNvSpPr txBox="1"/>
          <p:nvPr/>
        </p:nvSpPr>
        <p:spPr>
          <a:xfrm>
            <a:off x="6355080" y="4114800"/>
            <a:ext cx="5394960" cy="205740"/>
          </a:xfrm>
          <a:prstGeom prst="rect">
            <a:avLst/>
          </a:prstGeom>
          <a:noFill/>
        </p:spPr>
        <p:txBody>
          <a:bodyPr wrap="square">
            <a:spAutoFit/>
          </a:bodyPr>
          <a:lstStyle/>
          <a:p>
            <a:pPr algn="l"/>
            <a:r>
              <a:rPr sz="1150" b="0" i="0">
                <a:solidFill>
                  <a:srgbClr val="64748B"/>
                </a:solidFill>
                <a:latin typeface="Calibri"/>
              </a:rPr>
              <a:t>     #primary</a:t>
            </a:r>
          </a:p>
        </p:txBody>
      </p:sp>
      <p:sp>
        <p:nvSpPr>
          <p:cNvPr id="30" name="TextBox 29"/>
          <p:cNvSpPr txBox="1"/>
          <p:nvPr/>
        </p:nvSpPr>
        <p:spPr>
          <a:xfrm>
            <a:off x="6355080" y="4320540"/>
            <a:ext cx="5394960" cy="205740"/>
          </a:xfrm>
          <a:prstGeom prst="rect">
            <a:avLst/>
          </a:prstGeom>
          <a:noFill/>
        </p:spPr>
        <p:txBody>
          <a:bodyPr wrap="square">
            <a:spAutoFit/>
          </a:bodyPr>
          <a:lstStyle/>
          <a:p>
            <a:pPr algn="l"/>
            <a:r>
              <a:rPr sz="1150" b="0" i="0">
                <a:solidFill>
                  <a:srgbClr val="64748B"/>
                </a:solidFill>
                <a:latin typeface="Calibri"/>
              </a:rPr>
              <a:t>     %(primary)</a:t>
            </a:r>
          </a:p>
        </p:txBody>
      </p:sp>
      <p:sp>
        <p:nvSpPr>
          <p:cNvPr id="31" name="Rectangle 30"/>
          <p:cNvSpPr/>
          <p:nvPr/>
        </p:nvSpPr>
        <p:spPr>
          <a:xfrm>
            <a:off x="3246120" y="4709160"/>
            <a:ext cx="5669280" cy="1600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383280" y="4800600"/>
            <a:ext cx="5394960" cy="640080"/>
          </a:xfrm>
          <a:prstGeom prst="rect">
            <a:avLst/>
          </a:prstGeom>
          <a:noFill/>
        </p:spPr>
        <p:txBody>
          <a:bodyPr wrap="square">
            <a:spAutoFit/>
          </a:bodyPr>
          <a:lstStyle/>
          <a:p>
            <a:pPr algn="l"/>
            <a:r>
              <a:rPr sz="1350" b="1" i="0">
                <a:solidFill>
                  <a:srgbClr val="FFFFFF"/>
                </a:solidFill>
                <a:latin typeface="Calibri"/>
              </a:rPr>
              <a:t>Q17  @media (max-width: 768px) { } applies styles when …</a:t>
            </a:r>
          </a:p>
        </p:txBody>
      </p:sp>
      <p:sp>
        <p:nvSpPr>
          <p:cNvPr id="33" name="TextBox 32"/>
          <p:cNvSpPr txBox="1"/>
          <p:nvPr/>
        </p:nvSpPr>
        <p:spPr>
          <a:xfrm>
            <a:off x="3383280" y="5440680"/>
            <a:ext cx="5394960" cy="205740"/>
          </a:xfrm>
          <a:prstGeom prst="rect">
            <a:avLst/>
          </a:prstGeom>
          <a:noFill/>
        </p:spPr>
        <p:txBody>
          <a:bodyPr wrap="square">
            <a:spAutoFit/>
          </a:bodyPr>
          <a:lstStyle/>
          <a:p>
            <a:pPr algn="l"/>
            <a:r>
              <a:rPr sz="1150" b="1" i="0">
                <a:solidFill>
                  <a:srgbClr val="22C55E"/>
                </a:solidFill>
                <a:latin typeface="Calibri"/>
              </a:rPr>
              <a:t>✔ the viewport is 768px wide or NARROWER</a:t>
            </a:r>
          </a:p>
        </p:txBody>
      </p:sp>
      <p:sp>
        <p:nvSpPr>
          <p:cNvPr id="34" name="TextBox 33"/>
          <p:cNvSpPr txBox="1"/>
          <p:nvPr/>
        </p:nvSpPr>
        <p:spPr>
          <a:xfrm>
            <a:off x="3383280" y="5646420"/>
            <a:ext cx="5394960" cy="205740"/>
          </a:xfrm>
          <a:prstGeom prst="rect">
            <a:avLst/>
          </a:prstGeom>
          <a:noFill/>
        </p:spPr>
        <p:txBody>
          <a:bodyPr wrap="square">
            <a:spAutoFit/>
          </a:bodyPr>
          <a:lstStyle/>
          <a:p>
            <a:pPr algn="l"/>
            <a:r>
              <a:rPr sz="1150" b="0" i="0">
                <a:solidFill>
                  <a:srgbClr val="64748B"/>
                </a:solidFill>
                <a:latin typeface="Calibri"/>
              </a:rPr>
              <a:t>     the viewport is exactly 768px</a:t>
            </a:r>
          </a:p>
        </p:txBody>
      </p:sp>
      <p:sp>
        <p:nvSpPr>
          <p:cNvPr id="35" name="TextBox 34"/>
          <p:cNvSpPr txBox="1"/>
          <p:nvPr/>
        </p:nvSpPr>
        <p:spPr>
          <a:xfrm>
            <a:off x="3383280" y="5852160"/>
            <a:ext cx="5394960" cy="205740"/>
          </a:xfrm>
          <a:prstGeom prst="rect">
            <a:avLst/>
          </a:prstGeom>
          <a:noFill/>
        </p:spPr>
        <p:txBody>
          <a:bodyPr wrap="square">
            <a:spAutoFit/>
          </a:bodyPr>
          <a:lstStyle/>
          <a:p>
            <a:pPr algn="l"/>
            <a:r>
              <a:rPr sz="1150" b="0" i="0">
                <a:solidFill>
                  <a:srgbClr val="64748B"/>
                </a:solidFill>
                <a:latin typeface="Calibri"/>
              </a:rPr>
              <a:t>     the font is 768px</a:t>
            </a:r>
          </a:p>
        </p:txBody>
      </p:sp>
      <p:sp>
        <p:nvSpPr>
          <p:cNvPr id="36" name="TextBox 35"/>
          <p:cNvSpPr txBox="1"/>
          <p:nvPr/>
        </p:nvSpPr>
        <p:spPr>
          <a:xfrm>
            <a:off x="3383280" y="6057900"/>
            <a:ext cx="5394960" cy="205740"/>
          </a:xfrm>
          <a:prstGeom prst="rect">
            <a:avLst/>
          </a:prstGeom>
          <a:noFill/>
        </p:spPr>
        <p:txBody>
          <a:bodyPr wrap="square">
            <a:spAutoFit/>
          </a:bodyPr>
          <a:lstStyle/>
          <a:p>
            <a:pPr algn="l"/>
            <a:r>
              <a:rPr sz="1150" b="0" i="0">
                <a:solidFill>
                  <a:srgbClr val="64748B"/>
                </a:solidFill>
                <a:latin typeface="Calibri"/>
              </a:rPr>
              <a:t>     the device is mobile-only</a:t>
            </a:r>
          </a:p>
        </p:txBody>
      </p:sp>
    </p:spTree>
    <p:extLst>
      <p:ext uri="{BB962C8B-B14F-4D97-AF65-F5344CB8AC3E}">
        <p14:creationId xmlns:p14="http://schemas.microsoft.com/office/powerpoint/2010/main" val="4613380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9628632" cy="685800"/>
          </a:xfrm>
          <a:prstGeom prst="rect">
            <a:avLst/>
          </a:prstGeom>
          <a:noFill/>
        </p:spPr>
        <p:txBody>
          <a:bodyPr wrap="square">
            <a:spAutoFit/>
          </a:bodyPr>
          <a:lstStyle/>
          <a:p>
            <a:pPr algn="l"/>
            <a:r>
              <a:rPr sz="3200" b="1" i="0">
                <a:solidFill>
                  <a:srgbClr val="FFFFFF"/>
                </a:solidFill>
                <a:latin typeface="Calibri"/>
              </a:rPr>
              <a:t>CSS Custom Properties (Variables)</a:t>
            </a:r>
          </a:p>
        </p:txBody>
      </p:sp>
      <p:sp>
        <p:nvSpPr>
          <p:cNvPr id="4" name="TextBox 3"/>
          <p:cNvSpPr txBox="1"/>
          <p:nvPr/>
        </p:nvSpPr>
        <p:spPr>
          <a:xfrm>
            <a:off x="365760" y="685800"/>
            <a:ext cx="9628632" cy="347472"/>
          </a:xfrm>
          <a:prstGeom prst="rect">
            <a:avLst/>
          </a:prstGeom>
          <a:noFill/>
        </p:spPr>
        <p:txBody>
          <a:bodyPr wrap="square">
            <a:spAutoFit/>
          </a:bodyPr>
          <a:lstStyle/>
          <a:p>
            <a:pPr algn="l"/>
            <a:r>
              <a:rPr sz="1500" b="0" i="0">
                <a:solidFill>
                  <a:srgbClr val="F0FDFA"/>
                </a:solidFill>
                <a:latin typeface="Calibri"/>
              </a:rPr>
              <a:t>Define once in :root, use everywhere with var()</a:t>
            </a:r>
          </a:p>
        </p:txBody>
      </p:sp>
      <p:sp>
        <p:nvSpPr>
          <p:cNvPr id="5" name="Rectangle 4"/>
          <p:cNvSpPr/>
          <p:nvPr/>
        </p:nvSpPr>
        <p:spPr>
          <a:xfrm>
            <a:off x="10085832" y="45720"/>
            <a:ext cx="2011680" cy="475488"/>
          </a:xfrm>
          <a:prstGeom prst="rect">
            <a:avLst/>
          </a:prstGeom>
          <a:solidFill>
            <a:srgbClr val="064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85832" y="109728"/>
            <a:ext cx="2011680" cy="365760"/>
          </a:xfrm>
          <a:prstGeom prst="rect">
            <a:avLst/>
          </a:prstGeom>
          <a:noFill/>
        </p:spPr>
        <p:txBody>
          <a:bodyPr wrap="square">
            <a:spAutoFit/>
          </a:bodyPr>
          <a:lstStyle/>
          <a:p>
            <a:pPr algn="ctr"/>
            <a:r>
              <a:rPr sz="1000" b="1" i="0">
                <a:solidFill>
                  <a:srgbClr val="14B8A6"/>
                </a:solidFill>
                <a:latin typeface="Calibri"/>
              </a:rPr>
              <a:t>WEEK 3 · FRIDAY</a:t>
            </a:r>
          </a:p>
        </p:txBody>
      </p:sp>
      <p:sp>
        <p:nvSpPr>
          <p:cNvPr id="7" name="Rectangle 6"/>
          <p:cNvSpPr/>
          <p:nvPr/>
        </p:nvSpPr>
        <p:spPr>
          <a:xfrm>
            <a:off x="274320" y="1234440"/>
            <a:ext cx="7069592" cy="53492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234440"/>
            <a:ext cx="64008" cy="534924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02336" y="1289304"/>
            <a:ext cx="7069592" cy="292608"/>
          </a:xfrm>
          <a:prstGeom prst="rect">
            <a:avLst/>
          </a:prstGeom>
          <a:noFill/>
        </p:spPr>
        <p:txBody>
          <a:bodyPr wrap="square">
            <a:spAutoFit/>
          </a:bodyPr>
          <a:lstStyle/>
          <a:p>
            <a:pPr algn="l"/>
            <a:r>
              <a:rPr sz="900" b="0" i="0">
                <a:solidFill>
                  <a:srgbClr val="64748B"/>
                </a:solidFill>
                <a:latin typeface="Consolas"/>
              </a:rPr>
              <a:t>CSS</a:t>
            </a:r>
          </a:p>
        </p:txBody>
      </p:sp>
      <p:sp>
        <p:nvSpPr>
          <p:cNvPr id="10" name="TextBox 9"/>
          <p:cNvSpPr txBox="1"/>
          <p:nvPr/>
        </p:nvSpPr>
        <p:spPr>
          <a:xfrm>
            <a:off x="402336" y="1527048"/>
            <a:ext cx="6813560" cy="4983480"/>
          </a:xfrm>
          <a:prstGeom prst="rect">
            <a:avLst/>
          </a:prstGeom>
          <a:noFill/>
        </p:spPr>
        <p:txBody>
          <a:bodyPr wrap="none">
            <a:spAutoFit/>
          </a:bodyPr>
          <a:lstStyle/>
          <a:p>
            <a:pPr algn="l"/>
            <a:r>
              <a:rPr sz="1300" b="0">
                <a:solidFill>
                  <a:srgbClr val="14B8A6"/>
                </a:solidFill>
                <a:latin typeface="Consolas"/>
              </a:rPr>
              <a:t>/* 1. DECLARE variables on :root so they're globally available */</a:t>
            </a:r>
          </a:p>
          <a:p>
            <a:pPr algn="l"/>
            <a:r>
              <a:rPr sz="1300" b="0">
                <a:solidFill>
                  <a:srgbClr val="14B8A6"/>
                </a:solidFill>
                <a:latin typeface="Consolas"/>
              </a:rPr>
              <a:t>:root {</a:t>
            </a:r>
          </a:p>
          <a:p>
            <a:pPr algn="l"/>
            <a:r>
              <a:rPr sz="1300" b="0">
                <a:solidFill>
                  <a:srgbClr val="14B8A6"/>
                </a:solidFill>
                <a:latin typeface="Consolas"/>
              </a:rPr>
              <a:t>  --primary:    #0f766e;   /* teal */</a:t>
            </a:r>
          </a:p>
          <a:p>
            <a:pPr algn="l"/>
            <a:r>
              <a:rPr sz="1300" b="0">
                <a:solidFill>
                  <a:srgbClr val="14B8A6"/>
                </a:solidFill>
                <a:latin typeface="Consolas"/>
              </a:rPr>
              <a:t>  --accent:     #14b8a6;</a:t>
            </a:r>
          </a:p>
          <a:p>
            <a:pPr algn="l"/>
            <a:r>
              <a:rPr sz="1300" b="0">
                <a:solidFill>
                  <a:srgbClr val="14B8A6"/>
                </a:solidFill>
                <a:latin typeface="Consolas"/>
              </a:rPr>
              <a:t>  --bg:         #f0fdfa;</a:t>
            </a:r>
          </a:p>
          <a:p>
            <a:pPr algn="l"/>
            <a:r>
              <a:rPr sz="1300" b="0">
                <a:solidFill>
                  <a:srgbClr val="14B8A6"/>
                </a:solidFill>
                <a:latin typeface="Consolas"/>
              </a:rPr>
              <a:t>  --text:       #1e293b;</a:t>
            </a:r>
          </a:p>
          <a:p>
            <a:pPr algn="l"/>
            <a:r>
              <a:rPr sz="1300" b="0">
                <a:solidFill>
                  <a:srgbClr val="14B8A6"/>
                </a:solidFill>
                <a:latin typeface="Consolas"/>
              </a:rPr>
              <a:t>  --radius:     8px;</a:t>
            </a:r>
          </a:p>
          <a:p>
            <a:pPr algn="l"/>
            <a:r>
              <a:rPr sz="1300" b="0">
                <a:solidFill>
                  <a:srgbClr val="14B8A6"/>
                </a:solidFill>
                <a:latin typeface="Consolas"/>
              </a:rPr>
              <a:t>  --shadow:     0 4px 16px rgba(0,0,0,0.12);</a:t>
            </a:r>
          </a:p>
          <a:p>
            <a:pPr algn="l"/>
            <a:r>
              <a:rPr sz="1300" b="0">
                <a:solidFill>
                  <a:srgbClr val="14B8A6"/>
                </a:solidFill>
                <a:latin typeface="Consolas"/>
              </a:rPr>
              <a:t>}</a:t>
            </a:r>
          </a:p>
          <a:p>
            <a:pPr algn="l"/>
            <a:endParaRPr sz="1300" b="0">
              <a:solidFill>
                <a:srgbClr val="14B8A6"/>
              </a:solidFill>
              <a:latin typeface="Consolas"/>
            </a:endParaRPr>
          </a:p>
          <a:p>
            <a:pPr algn="l"/>
            <a:r>
              <a:rPr sz="1300" b="0">
                <a:solidFill>
                  <a:srgbClr val="14B8A6"/>
                </a:solidFill>
                <a:latin typeface="Consolas"/>
              </a:rPr>
              <a:t>/* 2. USE with var() */</a:t>
            </a:r>
          </a:p>
          <a:p>
            <a:pPr algn="l"/>
            <a:r>
              <a:rPr sz="1300" b="0">
                <a:solidFill>
                  <a:srgbClr val="14B8A6"/>
                </a:solidFill>
                <a:latin typeface="Consolas"/>
              </a:rPr>
              <a:t>.btn  { background: var(--primary);  border-radius: var(--radius); }</a:t>
            </a:r>
          </a:p>
          <a:p>
            <a:pPr algn="l"/>
            <a:r>
              <a:rPr sz="1300" b="0">
                <a:solidFill>
                  <a:srgbClr val="14B8A6"/>
                </a:solidFill>
                <a:latin typeface="Consolas"/>
              </a:rPr>
              <a:t>.card { background: var(--bg);       box-shadow:    var(--shadow); }</a:t>
            </a:r>
          </a:p>
          <a:p>
            <a:pPr algn="l"/>
            <a:r>
              <a:rPr sz="1300" b="0">
                <a:solidFill>
                  <a:srgbClr val="14B8A6"/>
                </a:solidFill>
                <a:latin typeface="Consolas"/>
              </a:rPr>
              <a:t>h1    { color:      var(--primary); }</a:t>
            </a:r>
          </a:p>
          <a:p>
            <a:pPr algn="l"/>
            <a:endParaRPr sz="1300" b="0">
              <a:solidFill>
                <a:srgbClr val="14B8A6"/>
              </a:solidFill>
              <a:latin typeface="Consolas"/>
            </a:endParaRPr>
          </a:p>
          <a:p>
            <a:pPr algn="l"/>
            <a:r>
              <a:rPr sz="1300" b="0">
                <a:solidFill>
                  <a:srgbClr val="14B8A6"/>
                </a:solidFill>
                <a:latin typeface="Consolas"/>
              </a:rPr>
              <a:t>/* 3. DARK MODE: just redefine the same variables */</a:t>
            </a:r>
          </a:p>
          <a:p>
            <a:pPr algn="l"/>
            <a:r>
              <a:rPr sz="1300" b="0">
                <a:solidFill>
                  <a:srgbClr val="14B8A6"/>
                </a:solidFill>
                <a:latin typeface="Consolas"/>
              </a:rPr>
              <a:t>@media (prefers-color-scheme: dark) {</a:t>
            </a:r>
          </a:p>
          <a:p>
            <a:pPr algn="l"/>
            <a:r>
              <a:rPr sz="1300" b="0">
                <a:solidFill>
                  <a:srgbClr val="14B8A6"/>
                </a:solidFill>
                <a:latin typeface="Consolas"/>
              </a:rPr>
              <a:t>  :root {</a:t>
            </a:r>
          </a:p>
          <a:p>
            <a:pPr algn="l"/>
            <a:r>
              <a:rPr sz="1300" b="0">
                <a:solidFill>
                  <a:srgbClr val="14B8A6"/>
                </a:solidFill>
                <a:latin typeface="Consolas"/>
              </a:rPr>
              <a:t>    --bg:   #051a0a;</a:t>
            </a:r>
          </a:p>
          <a:p>
            <a:pPr algn="l"/>
            <a:r>
              <a:rPr sz="1300" b="0">
                <a:solidFill>
                  <a:srgbClr val="14B8A6"/>
                </a:solidFill>
                <a:latin typeface="Consolas"/>
              </a:rPr>
              <a:t>    --text: #d4edda;</a:t>
            </a:r>
          </a:p>
          <a:p>
            <a:pPr algn="l"/>
            <a:r>
              <a:rPr sz="1300" b="0">
                <a:solidFill>
                  <a:srgbClr val="14B8A6"/>
                </a:solidFill>
                <a:latin typeface="Consolas"/>
              </a:rPr>
              <a:t>  }</a:t>
            </a:r>
          </a:p>
          <a:p>
            <a:pPr algn="l"/>
            <a:r>
              <a:rPr sz="1300" b="0">
                <a:solidFill>
                  <a:srgbClr val="14B8A6"/>
                </a:solidFill>
                <a:latin typeface="Consolas"/>
              </a:rPr>
              <a:t>}</a:t>
            </a:r>
          </a:p>
        </p:txBody>
      </p:sp>
      <p:sp>
        <p:nvSpPr>
          <p:cNvPr id="11" name="Rectangle 10"/>
          <p:cNvSpPr/>
          <p:nvPr/>
        </p:nvSpPr>
        <p:spPr>
          <a:xfrm>
            <a:off x="7435260" y="1234440"/>
            <a:ext cx="4509912" cy="53492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557150" y="1325880"/>
            <a:ext cx="4266133" cy="411480"/>
          </a:xfrm>
          <a:prstGeom prst="rect">
            <a:avLst/>
          </a:prstGeom>
          <a:noFill/>
        </p:spPr>
        <p:txBody>
          <a:bodyPr wrap="square">
            <a:spAutoFit/>
          </a:bodyPr>
          <a:lstStyle/>
          <a:p>
            <a:pPr algn="l"/>
            <a:r>
              <a:rPr sz="1400" b="1" i="0">
                <a:solidFill>
                  <a:srgbClr val="14B8A6"/>
                </a:solidFill>
                <a:latin typeface="Calibri"/>
              </a:rPr>
              <a:t>Why variables?</a:t>
            </a:r>
          </a:p>
        </p:txBody>
      </p:sp>
      <p:sp>
        <p:nvSpPr>
          <p:cNvPr id="13" name="TextBox 12"/>
          <p:cNvSpPr txBox="1"/>
          <p:nvPr/>
        </p:nvSpPr>
        <p:spPr>
          <a:xfrm>
            <a:off x="7557150" y="1874519"/>
            <a:ext cx="4266133" cy="384048"/>
          </a:xfrm>
          <a:prstGeom prst="rect">
            <a:avLst/>
          </a:prstGeom>
          <a:noFill/>
        </p:spPr>
        <p:txBody>
          <a:bodyPr wrap="square">
            <a:spAutoFit/>
          </a:bodyPr>
          <a:lstStyle/>
          <a:p>
            <a:pPr algn="l"/>
            <a:r>
              <a:rPr sz="1300" b="1" i="0">
                <a:solidFill>
                  <a:srgbClr val="F59E0B"/>
                </a:solidFill>
                <a:latin typeface="Calibri"/>
              </a:rPr>
              <a:t>One change updates everywhere</a:t>
            </a:r>
          </a:p>
        </p:txBody>
      </p:sp>
      <p:sp>
        <p:nvSpPr>
          <p:cNvPr id="14" name="TextBox 13"/>
          <p:cNvSpPr txBox="1"/>
          <p:nvPr/>
        </p:nvSpPr>
        <p:spPr>
          <a:xfrm>
            <a:off x="7557150" y="2258567"/>
            <a:ext cx="4266133" cy="713232"/>
          </a:xfrm>
          <a:prstGeom prst="rect">
            <a:avLst/>
          </a:prstGeom>
          <a:noFill/>
        </p:spPr>
        <p:txBody>
          <a:bodyPr wrap="square">
            <a:spAutoFit/>
          </a:bodyPr>
          <a:lstStyle/>
          <a:p>
            <a:pPr algn="l"/>
            <a:r>
              <a:rPr sz="1200" b="0" i="0">
                <a:solidFill>
                  <a:srgbClr val="FFFFFF"/>
                </a:solidFill>
                <a:latin typeface="Calibri"/>
              </a:rPr>
              <a:t>Change --primary once and every button,
link, and card updates instantly.</a:t>
            </a:r>
          </a:p>
        </p:txBody>
      </p:sp>
      <p:sp>
        <p:nvSpPr>
          <p:cNvPr id="15" name="TextBox 14"/>
          <p:cNvSpPr txBox="1"/>
          <p:nvPr/>
        </p:nvSpPr>
        <p:spPr>
          <a:xfrm>
            <a:off x="7557150" y="3044951"/>
            <a:ext cx="4266133" cy="384048"/>
          </a:xfrm>
          <a:prstGeom prst="rect">
            <a:avLst/>
          </a:prstGeom>
          <a:noFill/>
        </p:spPr>
        <p:txBody>
          <a:bodyPr wrap="square">
            <a:spAutoFit/>
          </a:bodyPr>
          <a:lstStyle/>
          <a:p>
            <a:pPr algn="l"/>
            <a:r>
              <a:rPr sz="1300" b="1" i="0">
                <a:solidFill>
                  <a:srgbClr val="F59E0B"/>
                </a:solidFill>
                <a:latin typeface="Calibri"/>
              </a:rPr>
              <a:t>Easy dark mode</a:t>
            </a:r>
          </a:p>
        </p:txBody>
      </p:sp>
      <p:sp>
        <p:nvSpPr>
          <p:cNvPr id="16" name="TextBox 15"/>
          <p:cNvSpPr txBox="1"/>
          <p:nvPr/>
        </p:nvSpPr>
        <p:spPr>
          <a:xfrm>
            <a:off x="7557150" y="3428999"/>
            <a:ext cx="4266133" cy="713232"/>
          </a:xfrm>
          <a:prstGeom prst="rect">
            <a:avLst/>
          </a:prstGeom>
          <a:noFill/>
        </p:spPr>
        <p:txBody>
          <a:bodyPr wrap="square">
            <a:spAutoFit/>
          </a:bodyPr>
          <a:lstStyle/>
          <a:p>
            <a:pPr algn="l"/>
            <a:r>
              <a:rPr sz="1200" b="0" i="0">
                <a:solidFill>
                  <a:srgbClr val="FFFFFF"/>
                </a:solidFill>
                <a:latin typeface="Calibri"/>
              </a:rPr>
              <a:t>Redefine variables in a @media query:
no class changes, no JavaScript needed.</a:t>
            </a:r>
          </a:p>
        </p:txBody>
      </p:sp>
      <p:sp>
        <p:nvSpPr>
          <p:cNvPr id="17" name="TextBox 16"/>
          <p:cNvSpPr txBox="1"/>
          <p:nvPr/>
        </p:nvSpPr>
        <p:spPr>
          <a:xfrm>
            <a:off x="7557150" y="4215383"/>
            <a:ext cx="4266133" cy="384048"/>
          </a:xfrm>
          <a:prstGeom prst="rect">
            <a:avLst/>
          </a:prstGeom>
          <a:noFill/>
        </p:spPr>
        <p:txBody>
          <a:bodyPr wrap="square">
            <a:spAutoFit/>
          </a:bodyPr>
          <a:lstStyle/>
          <a:p>
            <a:pPr algn="l"/>
            <a:r>
              <a:rPr sz="1300" b="1" i="0">
                <a:solidFill>
                  <a:srgbClr val="F59E0B"/>
                </a:solidFill>
                <a:latin typeface="Calibri"/>
              </a:rPr>
              <a:t>Component theming</a:t>
            </a:r>
          </a:p>
        </p:txBody>
      </p:sp>
      <p:sp>
        <p:nvSpPr>
          <p:cNvPr id="18" name="TextBox 17"/>
          <p:cNvSpPr txBox="1"/>
          <p:nvPr/>
        </p:nvSpPr>
        <p:spPr>
          <a:xfrm>
            <a:off x="7557150" y="4599431"/>
            <a:ext cx="4266133" cy="713232"/>
          </a:xfrm>
          <a:prstGeom prst="rect">
            <a:avLst/>
          </a:prstGeom>
          <a:noFill/>
        </p:spPr>
        <p:txBody>
          <a:bodyPr wrap="square">
            <a:spAutoFit/>
          </a:bodyPr>
          <a:lstStyle/>
          <a:p>
            <a:pPr algn="l"/>
            <a:r>
              <a:rPr sz="1200" b="0" i="0">
                <a:solidFill>
                  <a:srgbClr val="FFFFFF"/>
                </a:solidFill>
                <a:latin typeface="Calibri"/>
              </a:rPr>
              <a:t>Pass a different value per component:
.card { --accent: red; }</a:t>
            </a:r>
          </a:p>
        </p:txBody>
      </p:sp>
      <p:sp>
        <p:nvSpPr>
          <p:cNvPr id="19" name="TextBox 18"/>
          <p:cNvSpPr txBox="1"/>
          <p:nvPr/>
        </p:nvSpPr>
        <p:spPr>
          <a:xfrm>
            <a:off x="7557150" y="5385815"/>
            <a:ext cx="4266133" cy="384048"/>
          </a:xfrm>
          <a:prstGeom prst="rect">
            <a:avLst/>
          </a:prstGeom>
          <a:noFill/>
        </p:spPr>
        <p:txBody>
          <a:bodyPr wrap="square">
            <a:spAutoFit/>
          </a:bodyPr>
          <a:lstStyle/>
          <a:p>
            <a:pPr algn="l"/>
            <a:r>
              <a:rPr sz="1300" b="1" i="0">
                <a:solidFill>
                  <a:srgbClr val="F59E0B"/>
                </a:solidFill>
                <a:latin typeface="Calibri"/>
              </a:rPr>
              <a:t>Runtime access via JS</a:t>
            </a:r>
          </a:p>
        </p:txBody>
      </p:sp>
      <p:sp>
        <p:nvSpPr>
          <p:cNvPr id="20" name="TextBox 19"/>
          <p:cNvSpPr txBox="1"/>
          <p:nvPr/>
        </p:nvSpPr>
        <p:spPr>
          <a:xfrm>
            <a:off x="7557150" y="5769863"/>
            <a:ext cx="4266133" cy="713232"/>
          </a:xfrm>
          <a:prstGeom prst="rect">
            <a:avLst/>
          </a:prstGeom>
          <a:noFill/>
        </p:spPr>
        <p:txBody>
          <a:bodyPr wrap="square">
            <a:spAutoFit/>
          </a:bodyPr>
          <a:lstStyle/>
          <a:p>
            <a:pPr algn="l"/>
            <a:r>
              <a:rPr sz="1200" b="0" i="0">
                <a:solidFill>
                  <a:srgbClr val="FFFFFF"/>
                </a:solidFill>
                <a:latin typeface="Calibri"/>
              </a:rPr>
              <a:t>document.documentElement.style
.setProperty('--primary','blue')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9628632" cy="685800"/>
          </a:xfrm>
          <a:prstGeom prst="rect">
            <a:avLst/>
          </a:prstGeom>
          <a:noFill/>
        </p:spPr>
        <p:txBody>
          <a:bodyPr wrap="square">
            <a:spAutoFit/>
          </a:bodyPr>
          <a:lstStyle/>
          <a:p>
            <a:pPr algn="l"/>
            <a:r>
              <a:rPr sz="3200" b="1" i="0">
                <a:solidFill>
                  <a:srgbClr val="FFFFFF"/>
                </a:solidFill>
                <a:latin typeface="Calibri"/>
              </a:rPr>
              <a:t>CSS Media Queries</a:t>
            </a:r>
          </a:p>
        </p:txBody>
      </p:sp>
      <p:sp>
        <p:nvSpPr>
          <p:cNvPr id="4" name="TextBox 3"/>
          <p:cNvSpPr txBox="1"/>
          <p:nvPr/>
        </p:nvSpPr>
        <p:spPr>
          <a:xfrm>
            <a:off x="365760" y="685800"/>
            <a:ext cx="9628632" cy="347472"/>
          </a:xfrm>
          <a:prstGeom prst="rect">
            <a:avLst/>
          </a:prstGeom>
          <a:noFill/>
        </p:spPr>
        <p:txBody>
          <a:bodyPr wrap="square">
            <a:spAutoFit/>
          </a:bodyPr>
          <a:lstStyle/>
          <a:p>
            <a:pPr algn="l"/>
            <a:r>
              <a:rPr sz="1500" b="0" i="0">
                <a:solidFill>
                  <a:srgbClr val="F0FDFA"/>
                </a:solidFill>
                <a:latin typeface="Calibri"/>
              </a:rPr>
              <a:t>Apply styles only when certain conditions are met (responsive design)</a:t>
            </a:r>
          </a:p>
        </p:txBody>
      </p:sp>
      <p:sp>
        <p:nvSpPr>
          <p:cNvPr id="5" name="Rectangle 4"/>
          <p:cNvSpPr/>
          <p:nvPr/>
        </p:nvSpPr>
        <p:spPr>
          <a:xfrm>
            <a:off x="10085832" y="45720"/>
            <a:ext cx="2011680" cy="475488"/>
          </a:xfrm>
          <a:prstGeom prst="rect">
            <a:avLst/>
          </a:prstGeom>
          <a:solidFill>
            <a:srgbClr val="064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85832" y="109728"/>
            <a:ext cx="2011680" cy="365760"/>
          </a:xfrm>
          <a:prstGeom prst="rect">
            <a:avLst/>
          </a:prstGeom>
          <a:noFill/>
        </p:spPr>
        <p:txBody>
          <a:bodyPr wrap="square">
            <a:spAutoFit/>
          </a:bodyPr>
          <a:lstStyle/>
          <a:p>
            <a:pPr algn="ctr"/>
            <a:r>
              <a:rPr sz="1000" b="1" i="0">
                <a:solidFill>
                  <a:srgbClr val="14B8A6"/>
                </a:solidFill>
                <a:latin typeface="Calibri"/>
              </a:rPr>
              <a:t>WEEK 3 · FRIDAY</a:t>
            </a:r>
          </a:p>
        </p:txBody>
      </p:sp>
      <p:sp>
        <p:nvSpPr>
          <p:cNvPr id="7" name="Rectangle 6"/>
          <p:cNvSpPr/>
          <p:nvPr/>
        </p:nvSpPr>
        <p:spPr>
          <a:xfrm>
            <a:off x="274320" y="1188720"/>
            <a:ext cx="11640312" cy="4754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234440"/>
            <a:ext cx="11365992" cy="402336"/>
          </a:xfrm>
          <a:prstGeom prst="rect">
            <a:avLst/>
          </a:prstGeom>
          <a:noFill/>
        </p:spPr>
        <p:txBody>
          <a:bodyPr wrap="square">
            <a:spAutoFit/>
          </a:bodyPr>
          <a:lstStyle/>
          <a:p>
            <a:pPr algn="l"/>
            <a:r>
              <a:rPr sz="1400" b="1" i="0">
                <a:solidFill>
                  <a:srgbClr val="14B8A6"/>
                </a:solidFill>
                <a:latin typeface="Consolas"/>
              </a:rPr>
              <a:t>@media  ( condition )  { /* CSS rules that only apply when condition is true */ }</a:t>
            </a:r>
          </a:p>
        </p:txBody>
      </p:sp>
      <p:sp>
        <p:nvSpPr>
          <p:cNvPr id="9" name="Rectangle 8"/>
          <p:cNvSpPr/>
          <p:nvPr/>
        </p:nvSpPr>
        <p:spPr>
          <a:xfrm>
            <a:off x="274320" y="1828800"/>
            <a:ext cx="2697480" cy="36576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84048" y="1847088"/>
            <a:ext cx="2697480" cy="329184"/>
          </a:xfrm>
          <a:prstGeom prst="rect">
            <a:avLst/>
          </a:prstGeom>
          <a:noFill/>
        </p:spPr>
        <p:txBody>
          <a:bodyPr wrap="square">
            <a:spAutoFit/>
          </a:bodyPr>
          <a:lstStyle/>
          <a:p>
            <a:pPr algn="l"/>
            <a:r>
              <a:rPr sz="1400" b="1" i="0">
                <a:solidFill>
                  <a:srgbClr val="0F172A"/>
                </a:solidFill>
                <a:latin typeface="Calibri"/>
              </a:rPr>
              <a:t>Mobile</a:t>
            </a:r>
          </a:p>
        </p:txBody>
      </p:sp>
      <p:sp>
        <p:nvSpPr>
          <p:cNvPr id="11" name="Rectangle 10"/>
          <p:cNvSpPr/>
          <p:nvPr/>
        </p:nvSpPr>
        <p:spPr>
          <a:xfrm>
            <a:off x="274320" y="2212848"/>
            <a:ext cx="2697480" cy="9144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 y="2286000"/>
            <a:ext cx="2697480" cy="457200"/>
          </a:xfrm>
          <a:prstGeom prst="rect">
            <a:avLst/>
          </a:prstGeom>
          <a:noFill/>
        </p:spPr>
        <p:txBody>
          <a:bodyPr wrap="square">
            <a:spAutoFit/>
          </a:bodyPr>
          <a:lstStyle/>
          <a:p>
            <a:pPr algn="l"/>
            <a:r>
              <a:rPr sz="1150" b="0" i="0">
                <a:solidFill>
                  <a:srgbClr val="F43F5E"/>
                </a:solidFill>
                <a:latin typeface="Consolas"/>
              </a:rPr>
              <a:t>@media (max-width: 480px)</a:t>
            </a:r>
          </a:p>
        </p:txBody>
      </p:sp>
      <p:sp>
        <p:nvSpPr>
          <p:cNvPr id="13" name="TextBox 12"/>
          <p:cNvSpPr txBox="1"/>
          <p:nvPr/>
        </p:nvSpPr>
        <p:spPr>
          <a:xfrm>
            <a:off x="365760" y="2697480"/>
            <a:ext cx="2697480" cy="365760"/>
          </a:xfrm>
          <a:prstGeom prst="rect">
            <a:avLst/>
          </a:prstGeom>
          <a:noFill/>
        </p:spPr>
        <p:txBody>
          <a:bodyPr wrap="square">
            <a:spAutoFit/>
          </a:bodyPr>
          <a:lstStyle/>
          <a:p>
            <a:pPr algn="l"/>
            <a:r>
              <a:rPr sz="1200" b="0" i="0">
                <a:solidFill>
                  <a:srgbClr val="64748B"/>
                </a:solidFill>
                <a:latin typeface="Calibri"/>
              </a:rPr>
              <a:t>≤ 480px</a:t>
            </a:r>
          </a:p>
        </p:txBody>
      </p:sp>
      <p:sp>
        <p:nvSpPr>
          <p:cNvPr id="14" name="Rectangle 13"/>
          <p:cNvSpPr/>
          <p:nvPr/>
        </p:nvSpPr>
        <p:spPr>
          <a:xfrm>
            <a:off x="3108960" y="1828800"/>
            <a:ext cx="2697480" cy="3657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218688" y="1847088"/>
            <a:ext cx="2697480" cy="329184"/>
          </a:xfrm>
          <a:prstGeom prst="rect">
            <a:avLst/>
          </a:prstGeom>
          <a:noFill/>
        </p:spPr>
        <p:txBody>
          <a:bodyPr wrap="square">
            <a:spAutoFit/>
          </a:bodyPr>
          <a:lstStyle/>
          <a:p>
            <a:pPr algn="l"/>
            <a:r>
              <a:rPr sz="1400" b="1" i="0">
                <a:solidFill>
                  <a:srgbClr val="0F172A"/>
                </a:solidFill>
                <a:latin typeface="Calibri"/>
              </a:rPr>
              <a:t>Tablet</a:t>
            </a:r>
          </a:p>
        </p:txBody>
      </p:sp>
      <p:sp>
        <p:nvSpPr>
          <p:cNvPr id="16" name="Rectangle 15"/>
          <p:cNvSpPr/>
          <p:nvPr/>
        </p:nvSpPr>
        <p:spPr>
          <a:xfrm>
            <a:off x="3108960" y="2212848"/>
            <a:ext cx="2697480" cy="9144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200400" y="2286000"/>
            <a:ext cx="2697480" cy="457200"/>
          </a:xfrm>
          <a:prstGeom prst="rect">
            <a:avLst/>
          </a:prstGeom>
          <a:noFill/>
        </p:spPr>
        <p:txBody>
          <a:bodyPr wrap="square">
            <a:spAutoFit/>
          </a:bodyPr>
          <a:lstStyle/>
          <a:p>
            <a:pPr algn="l"/>
            <a:r>
              <a:rPr sz="1150" b="0" i="0">
                <a:solidFill>
                  <a:srgbClr val="F59E0B"/>
                </a:solidFill>
                <a:latin typeface="Consolas"/>
              </a:rPr>
              <a:t>@media (max-width: 768px)</a:t>
            </a:r>
          </a:p>
        </p:txBody>
      </p:sp>
      <p:sp>
        <p:nvSpPr>
          <p:cNvPr id="18" name="TextBox 17"/>
          <p:cNvSpPr txBox="1"/>
          <p:nvPr/>
        </p:nvSpPr>
        <p:spPr>
          <a:xfrm>
            <a:off x="3200400" y="2697480"/>
            <a:ext cx="2697480" cy="365760"/>
          </a:xfrm>
          <a:prstGeom prst="rect">
            <a:avLst/>
          </a:prstGeom>
          <a:noFill/>
        </p:spPr>
        <p:txBody>
          <a:bodyPr wrap="square">
            <a:spAutoFit/>
          </a:bodyPr>
          <a:lstStyle/>
          <a:p>
            <a:pPr algn="l"/>
            <a:r>
              <a:rPr sz="1200" b="0" i="0">
                <a:solidFill>
                  <a:srgbClr val="64748B"/>
                </a:solidFill>
                <a:latin typeface="Calibri"/>
              </a:rPr>
              <a:t>≤ 768px</a:t>
            </a:r>
          </a:p>
        </p:txBody>
      </p:sp>
      <p:sp>
        <p:nvSpPr>
          <p:cNvPr id="19" name="Rectangle 18"/>
          <p:cNvSpPr/>
          <p:nvPr/>
        </p:nvSpPr>
        <p:spPr>
          <a:xfrm>
            <a:off x="5943600" y="1828800"/>
            <a:ext cx="2697480" cy="36576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053328" y="1847088"/>
            <a:ext cx="2697480" cy="329184"/>
          </a:xfrm>
          <a:prstGeom prst="rect">
            <a:avLst/>
          </a:prstGeom>
          <a:noFill/>
        </p:spPr>
        <p:txBody>
          <a:bodyPr wrap="square">
            <a:spAutoFit/>
          </a:bodyPr>
          <a:lstStyle/>
          <a:p>
            <a:pPr algn="l"/>
            <a:r>
              <a:rPr sz="1400" b="1" i="0">
                <a:solidFill>
                  <a:srgbClr val="0F172A"/>
                </a:solidFill>
                <a:latin typeface="Calibri"/>
              </a:rPr>
              <a:t>Desktop</a:t>
            </a:r>
          </a:p>
        </p:txBody>
      </p:sp>
      <p:sp>
        <p:nvSpPr>
          <p:cNvPr id="21" name="Rectangle 20"/>
          <p:cNvSpPr/>
          <p:nvPr/>
        </p:nvSpPr>
        <p:spPr>
          <a:xfrm>
            <a:off x="5943600" y="2212848"/>
            <a:ext cx="2697480" cy="9144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035040" y="2286000"/>
            <a:ext cx="2697480" cy="457200"/>
          </a:xfrm>
          <a:prstGeom prst="rect">
            <a:avLst/>
          </a:prstGeom>
          <a:noFill/>
        </p:spPr>
        <p:txBody>
          <a:bodyPr wrap="square">
            <a:spAutoFit/>
          </a:bodyPr>
          <a:lstStyle/>
          <a:p>
            <a:pPr algn="l"/>
            <a:r>
              <a:rPr sz="1150" b="0" i="0">
                <a:solidFill>
                  <a:srgbClr val="22C55E"/>
                </a:solidFill>
                <a:latin typeface="Consolas"/>
              </a:rPr>
              <a:t>@media (min-width: 1024px)</a:t>
            </a:r>
          </a:p>
        </p:txBody>
      </p:sp>
      <p:sp>
        <p:nvSpPr>
          <p:cNvPr id="23" name="TextBox 22"/>
          <p:cNvSpPr txBox="1"/>
          <p:nvPr/>
        </p:nvSpPr>
        <p:spPr>
          <a:xfrm>
            <a:off x="6035040" y="2697480"/>
            <a:ext cx="2697480" cy="365760"/>
          </a:xfrm>
          <a:prstGeom prst="rect">
            <a:avLst/>
          </a:prstGeom>
          <a:noFill/>
        </p:spPr>
        <p:txBody>
          <a:bodyPr wrap="square">
            <a:spAutoFit/>
          </a:bodyPr>
          <a:lstStyle/>
          <a:p>
            <a:pPr algn="l"/>
            <a:r>
              <a:rPr sz="1200" b="0" i="0">
                <a:solidFill>
                  <a:srgbClr val="64748B"/>
                </a:solidFill>
                <a:latin typeface="Calibri"/>
              </a:rPr>
              <a:t>≥ 1024px</a:t>
            </a:r>
          </a:p>
        </p:txBody>
      </p:sp>
      <p:sp>
        <p:nvSpPr>
          <p:cNvPr id="24" name="Rectangle 23"/>
          <p:cNvSpPr/>
          <p:nvPr/>
        </p:nvSpPr>
        <p:spPr>
          <a:xfrm>
            <a:off x="8778240" y="1828800"/>
            <a:ext cx="2697480" cy="36576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887968" y="1847088"/>
            <a:ext cx="2697480" cy="329184"/>
          </a:xfrm>
          <a:prstGeom prst="rect">
            <a:avLst/>
          </a:prstGeom>
          <a:noFill/>
        </p:spPr>
        <p:txBody>
          <a:bodyPr wrap="square">
            <a:spAutoFit/>
          </a:bodyPr>
          <a:lstStyle/>
          <a:p>
            <a:pPr algn="l"/>
            <a:r>
              <a:rPr sz="1400" b="1" i="0">
                <a:solidFill>
                  <a:srgbClr val="0F172A"/>
                </a:solidFill>
                <a:latin typeface="Calibri"/>
              </a:rPr>
              <a:t>Wide</a:t>
            </a:r>
          </a:p>
        </p:txBody>
      </p:sp>
      <p:sp>
        <p:nvSpPr>
          <p:cNvPr id="26" name="Rectangle 25"/>
          <p:cNvSpPr/>
          <p:nvPr/>
        </p:nvSpPr>
        <p:spPr>
          <a:xfrm>
            <a:off x="8778240" y="2212848"/>
            <a:ext cx="2697480" cy="9144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869680" y="2286000"/>
            <a:ext cx="2697480" cy="457200"/>
          </a:xfrm>
          <a:prstGeom prst="rect">
            <a:avLst/>
          </a:prstGeom>
          <a:noFill/>
        </p:spPr>
        <p:txBody>
          <a:bodyPr wrap="square">
            <a:spAutoFit/>
          </a:bodyPr>
          <a:lstStyle/>
          <a:p>
            <a:pPr algn="l"/>
            <a:r>
              <a:rPr sz="1150" b="0" i="0">
                <a:solidFill>
                  <a:srgbClr val="38BDF8"/>
                </a:solidFill>
                <a:latin typeface="Consolas"/>
              </a:rPr>
              <a:t>@media (min-width: 1440px)</a:t>
            </a:r>
          </a:p>
        </p:txBody>
      </p:sp>
      <p:sp>
        <p:nvSpPr>
          <p:cNvPr id="28" name="TextBox 27"/>
          <p:cNvSpPr txBox="1"/>
          <p:nvPr/>
        </p:nvSpPr>
        <p:spPr>
          <a:xfrm>
            <a:off x="8869680" y="2697480"/>
            <a:ext cx="2697480" cy="365760"/>
          </a:xfrm>
          <a:prstGeom prst="rect">
            <a:avLst/>
          </a:prstGeom>
          <a:noFill/>
        </p:spPr>
        <p:txBody>
          <a:bodyPr wrap="square">
            <a:spAutoFit/>
          </a:bodyPr>
          <a:lstStyle/>
          <a:p>
            <a:pPr algn="l"/>
            <a:r>
              <a:rPr sz="1200" b="0" i="0">
                <a:solidFill>
                  <a:srgbClr val="64748B"/>
                </a:solidFill>
                <a:latin typeface="Calibri"/>
              </a:rPr>
              <a:t>≥ 1440px</a:t>
            </a:r>
          </a:p>
        </p:txBody>
      </p:sp>
      <p:sp>
        <p:nvSpPr>
          <p:cNvPr id="29" name="Rectangle 28"/>
          <p:cNvSpPr/>
          <p:nvPr/>
        </p:nvSpPr>
        <p:spPr>
          <a:xfrm>
            <a:off x="274320" y="3337560"/>
            <a:ext cx="7557150" cy="32918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274320" y="3337560"/>
            <a:ext cx="64008" cy="329184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02336" y="3392424"/>
            <a:ext cx="7557150" cy="292608"/>
          </a:xfrm>
          <a:prstGeom prst="rect">
            <a:avLst/>
          </a:prstGeom>
          <a:noFill/>
        </p:spPr>
        <p:txBody>
          <a:bodyPr wrap="square">
            <a:spAutoFit/>
          </a:bodyPr>
          <a:lstStyle/>
          <a:p>
            <a:pPr algn="l"/>
            <a:r>
              <a:rPr sz="900" b="0" i="0">
                <a:solidFill>
                  <a:srgbClr val="64748B"/>
                </a:solidFill>
                <a:latin typeface="Consolas"/>
              </a:rPr>
              <a:t>CSS</a:t>
            </a:r>
          </a:p>
        </p:txBody>
      </p:sp>
      <p:sp>
        <p:nvSpPr>
          <p:cNvPr id="32" name="TextBox 31"/>
          <p:cNvSpPr txBox="1"/>
          <p:nvPr/>
        </p:nvSpPr>
        <p:spPr>
          <a:xfrm>
            <a:off x="402336" y="3630168"/>
            <a:ext cx="7301118" cy="2926080"/>
          </a:xfrm>
          <a:prstGeom prst="rect">
            <a:avLst/>
          </a:prstGeom>
          <a:noFill/>
        </p:spPr>
        <p:txBody>
          <a:bodyPr wrap="none">
            <a:spAutoFit/>
          </a:bodyPr>
          <a:lstStyle/>
          <a:p>
            <a:pPr algn="l"/>
            <a:r>
              <a:rPr sz="1300" b="0">
                <a:solidFill>
                  <a:srgbClr val="14B8A6"/>
                </a:solidFill>
                <a:latin typeface="Consolas"/>
              </a:rPr>
              <a:t>/* Mobile-first approach — START with mobile, ADD complexity */</a:t>
            </a:r>
          </a:p>
          <a:p>
            <a:pPr algn="l"/>
            <a:r>
              <a:rPr sz="1300" b="0">
                <a:solidFill>
                  <a:srgbClr val="14B8A6"/>
                </a:solidFill>
                <a:latin typeface="Consolas"/>
              </a:rPr>
              <a:t>/* Base styles target mobile */</a:t>
            </a:r>
          </a:p>
          <a:p>
            <a:pPr algn="l"/>
            <a:r>
              <a:rPr sz="1300" b="0">
                <a:solidFill>
                  <a:srgbClr val="14B8A6"/>
                </a:solidFill>
                <a:latin typeface="Consolas"/>
              </a:rPr>
              <a:t>.grid { display: block; }</a:t>
            </a:r>
          </a:p>
          <a:p>
            <a:pPr algn="l"/>
            <a:endParaRPr sz="1300" b="0">
              <a:solidFill>
                <a:srgbClr val="14B8A6"/>
              </a:solidFill>
              <a:latin typeface="Consolas"/>
            </a:endParaRPr>
          </a:p>
          <a:p>
            <a:pPr algn="l"/>
            <a:r>
              <a:rPr sz="1300" b="0">
                <a:solidFill>
                  <a:srgbClr val="14B8A6"/>
                </a:solidFill>
                <a:latin typeface="Consolas"/>
              </a:rPr>
              <a:t>@media (min-width: 768px) {</a:t>
            </a:r>
          </a:p>
          <a:p>
            <a:pPr algn="l"/>
            <a:r>
              <a:rPr sz="1300" b="0">
                <a:solidFill>
                  <a:srgbClr val="14B8A6"/>
                </a:solidFill>
                <a:latin typeface="Consolas"/>
              </a:rPr>
              <a:t>  .grid { display: flex; gap: 20px; }   /* tablet: row */</a:t>
            </a:r>
          </a:p>
          <a:p>
            <a:pPr algn="l"/>
            <a:r>
              <a:rPr sz="1300" b="0">
                <a:solidFill>
                  <a:srgbClr val="14B8A6"/>
                </a:solidFill>
                <a:latin typeface="Consolas"/>
              </a:rPr>
              <a:t>}</a:t>
            </a:r>
          </a:p>
          <a:p>
            <a:pPr algn="l"/>
            <a:endParaRPr sz="1300" b="0">
              <a:solidFill>
                <a:srgbClr val="14B8A6"/>
              </a:solidFill>
              <a:latin typeface="Consolas"/>
            </a:endParaRPr>
          </a:p>
          <a:p>
            <a:pPr algn="l"/>
            <a:r>
              <a:rPr sz="1300" b="0">
                <a:solidFill>
                  <a:srgbClr val="14B8A6"/>
                </a:solidFill>
                <a:latin typeface="Consolas"/>
              </a:rPr>
              <a:t>@media (min-width: 1024px) {</a:t>
            </a:r>
          </a:p>
          <a:p>
            <a:pPr algn="l"/>
            <a:r>
              <a:rPr sz="1300" b="0">
                <a:solidFill>
                  <a:srgbClr val="14B8A6"/>
                </a:solidFill>
                <a:latin typeface="Consolas"/>
              </a:rPr>
              <a:t>  .grid { display: grid; grid-template-columns: repeat(3, 1fr); }</a:t>
            </a:r>
          </a:p>
          <a:p>
            <a:pPr algn="l"/>
            <a:r>
              <a:rPr sz="1300" b="0">
                <a:solidFill>
                  <a:srgbClr val="14B8A6"/>
                </a:solidFill>
                <a:latin typeface="Consolas"/>
              </a:rPr>
              <a:t>}</a:t>
            </a:r>
          </a:p>
        </p:txBody>
      </p:sp>
      <p:sp>
        <p:nvSpPr>
          <p:cNvPr id="33" name="Rectangle 32"/>
          <p:cNvSpPr/>
          <p:nvPr/>
        </p:nvSpPr>
        <p:spPr>
          <a:xfrm>
            <a:off x="7922818" y="3337560"/>
            <a:ext cx="4022354" cy="3291840"/>
          </a:xfrm>
          <a:prstGeom prst="rect">
            <a:avLst/>
          </a:prstGeom>
          <a:solidFill>
            <a:srgbClr val="064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044708" y="3429000"/>
            <a:ext cx="3778575" cy="365760"/>
          </a:xfrm>
          <a:prstGeom prst="rect">
            <a:avLst/>
          </a:prstGeom>
          <a:noFill/>
        </p:spPr>
        <p:txBody>
          <a:bodyPr wrap="square">
            <a:spAutoFit/>
          </a:bodyPr>
          <a:lstStyle/>
          <a:p>
            <a:pPr algn="l"/>
            <a:r>
              <a:rPr sz="1300" b="1" i="0">
                <a:solidFill>
                  <a:srgbClr val="14B8A6"/>
                </a:solidFill>
                <a:latin typeface="Calibri"/>
              </a:rPr>
              <a:t>Other media features</a:t>
            </a:r>
          </a:p>
        </p:txBody>
      </p:sp>
      <p:sp>
        <p:nvSpPr>
          <p:cNvPr id="35" name="TextBox 34"/>
          <p:cNvSpPr txBox="1"/>
          <p:nvPr/>
        </p:nvSpPr>
        <p:spPr>
          <a:xfrm>
            <a:off x="8044708" y="3886200"/>
            <a:ext cx="3778575" cy="457200"/>
          </a:xfrm>
          <a:prstGeom prst="rect">
            <a:avLst/>
          </a:prstGeom>
          <a:noFill/>
        </p:spPr>
        <p:txBody>
          <a:bodyPr wrap="square">
            <a:spAutoFit/>
          </a:bodyPr>
          <a:lstStyle/>
          <a:p>
            <a:pPr algn="l"/>
            <a:r>
              <a:rPr sz="1200" b="0" i="0">
                <a:solidFill>
                  <a:srgbClr val="F0FDFA"/>
                </a:solidFill>
                <a:latin typeface="Consolas"/>
              </a:rPr>
              <a:t>→  (orientation: landscape)</a:t>
            </a:r>
          </a:p>
        </p:txBody>
      </p:sp>
      <p:sp>
        <p:nvSpPr>
          <p:cNvPr id="36" name="TextBox 35"/>
          <p:cNvSpPr txBox="1"/>
          <p:nvPr/>
        </p:nvSpPr>
        <p:spPr>
          <a:xfrm>
            <a:off x="8044708" y="4407407"/>
            <a:ext cx="3778575" cy="457200"/>
          </a:xfrm>
          <a:prstGeom prst="rect">
            <a:avLst/>
          </a:prstGeom>
          <a:noFill/>
        </p:spPr>
        <p:txBody>
          <a:bodyPr wrap="square">
            <a:spAutoFit/>
          </a:bodyPr>
          <a:lstStyle/>
          <a:p>
            <a:pPr algn="l"/>
            <a:r>
              <a:rPr sz="1200" b="0" i="0">
                <a:solidFill>
                  <a:srgbClr val="F0FDFA"/>
                </a:solidFill>
                <a:latin typeface="Consolas"/>
              </a:rPr>
              <a:t>→  (prefers-color-scheme: dark)</a:t>
            </a:r>
          </a:p>
        </p:txBody>
      </p:sp>
      <p:sp>
        <p:nvSpPr>
          <p:cNvPr id="37" name="TextBox 36"/>
          <p:cNvSpPr txBox="1"/>
          <p:nvPr/>
        </p:nvSpPr>
        <p:spPr>
          <a:xfrm>
            <a:off x="8044708" y="4928614"/>
            <a:ext cx="3778575" cy="457200"/>
          </a:xfrm>
          <a:prstGeom prst="rect">
            <a:avLst/>
          </a:prstGeom>
          <a:noFill/>
        </p:spPr>
        <p:txBody>
          <a:bodyPr wrap="square">
            <a:spAutoFit/>
          </a:bodyPr>
          <a:lstStyle/>
          <a:p>
            <a:pPr algn="l"/>
            <a:r>
              <a:rPr sz="1200" b="0" i="0">
                <a:solidFill>
                  <a:srgbClr val="F0FDFA"/>
                </a:solidFill>
                <a:latin typeface="Consolas"/>
              </a:rPr>
              <a:t>→  (prefers-reduced-motion)</a:t>
            </a:r>
          </a:p>
        </p:txBody>
      </p:sp>
      <p:sp>
        <p:nvSpPr>
          <p:cNvPr id="38" name="TextBox 37"/>
          <p:cNvSpPr txBox="1"/>
          <p:nvPr/>
        </p:nvSpPr>
        <p:spPr>
          <a:xfrm>
            <a:off x="8044708" y="5449821"/>
            <a:ext cx="3778575" cy="457200"/>
          </a:xfrm>
          <a:prstGeom prst="rect">
            <a:avLst/>
          </a:prstGeom>
          <a:noFill/>
        </p:spPr>
        <p:txBody>
          <a:bodyPr wrap="square">
            <a:spAutoFit/>
          </a:bodyPr>
          <a:lstStyle/>
          <a:p>
            <a:pPr algn="l"/>
            <a:r>
              <a:rPr sz="1200" b="0" i="0">
                <a:solidFill>
                  <a:srgbClr val="F0FDFA"/>
                </a:solidFill>
                <a:latin typeface="Consolas"/>
              </a:rPr>
              <a:t>→  print — styles for printing</a:t>
            </a:r>
          </a:p>
        </p:txBody>
      </p:sp>
      <p:sp>
        <p:nvSpPr>
          <p:cNvPr id="39" name="TextBox 38"/>
          <p:cNvSpPr txBox="1"/>
          <p:nvPr/>
        </p:nvSpPr>
        <p:spPr>
          <a:xfrm>
            <a:off x="8044708" y="5971028"/>
            <a:ext cx="3778575" cy="457200"/>
          </a:xfrm>
          <a:prstGeom prst="rect">
            <a:avLst/>
          </a:prstGeom>
          <a:noFill/>
        </p:spPr>
        <p:txBody>
          <a:bodyPr wrap="square">
            <a:spAutoFit/>
          </a:bodyPr>
          <a:lstStyle/>
          <a:p>
            <a:pPr algn="l"/>
            <a:r>
              <a:rPr sz="1200" b="0" i="0">
                <a:solidFill>
                  <a:srgbClr val="F0FDFA"/>
                </a:solidFill>
                <a:latin typeface="Consolas"/>
              </a:rPr>
              <a:t>→  screen — default, any display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9628632" cy="685800"/>
          </a:xfrm>
          <a:prstGeom prst="rect">
            <a:avLst/>
          </a:prstGeom>
          <a:noFill/>
        </p:spPr>
        <p:txBody>
          <a:bodyPr wrap="square">
            <a:spAutoFit/>
          </a:bodyPr>
          <a:lstStyle/>
          <a:p>
            <a:pPr algn="l"/>
            <a:r>
              <a:rPr sz="3200" b="1" i="0">
                <a:solidFill>
                  <a:srgbClr val="FFFFFF"/>
                </a:solidFill>
                <a:latin typeface="Calibri"/>
              </a:rPr>
              <a:t>Flexbox — Deeper Dive</a:t>
            </a:r>
          </a:p>
        </p:txBody>
      </p:sp>
      <p:sp>
        <p:nvSpPr>
          <p:cNvPr id="4" name="TextBox 3"/>
          <p:cNvSpPr txBox="1"/>
          <p:nvPr/>
        </p:nvSpPr>
        <p:spPr>
          <a:xfrm>
            <a:off x="365760" y="685800"/>
            <a:ext cx="9628632" cy="347472"/>
          </a:xfrm>
          <a:prstGeom prst="rect">
            <a:avLst/>
          </a:prstGeom>
          <a:noFill/>
        </p:spPr>
        <p:txBody>
          <a:bodyPr wrap="square">
            <a:spAutoFit/>
          </a:bodyPr>
          <a:lstStyle/>
          <a:p>
            <a:pPr algn="l"/>
            <a:r>
              <a:rPr sz="1500" b="0" i="0">
                <a:solidFill>
                  <a:srgbClr val="F0FDFA"/>
                </a:solidFill>
                <a:latin typeface="Calibri"/>
              </a:rPr>
              <a:t>flex-direction · flex-wrap · order · flex-grow · gap</a:t>
            </a:r>
          </a:p>
        </p:txBody>
      </p:sp>
      <p:sp>
        <p:nvSpPr>
          <p:cNvPr id="5" name="Rectangle 4"/>
          <p:cNvSpPr/>
          <p:nvPr/>
        </p:nvSpPr>
        <p:spPr>
          <a:xfrm>
            <a:off x="10085832" y="45720"/>
            <a:ext cx="2011680" cy="475488"/>
          </a:xfrm>
          <a:prstGeom prst="rect">
            <a:avLst/>
          </a:prstGeom>
          <a:solidFill>
            <a:srgbClr val="064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85832" y="109728"/>
            <a:ext cx="2011680" cy="365760"/>
          </a:xfrm>
          <a:prstGeom prst="rect">
            <a:avLst/>
          </a:prstGeom>
          <a:noFill/>
        </p:spPr>
        <p:txBody>
          <a:bodyPr wrap="square">
            <a:spAutoFit/>
          </a:bodyPr>
          <a:lstStyle/>
          <a:p>
            <a:pPr algn="ctr"/>
            <a:r>
              <a:rPr sz="1000" b="1" i="0">
                <a:solidFill>
                  <a:srgbClr val="14B8A6"/>
                </a:solidFill>
                <a:latin typeface="Calibri"/>
              </a:rPr>
              <a:t>WEEK 3 · FRIDAY</a:t>
            </a:r>
          </a:p>
        </p:txBody>
      </p:sp>
      <p:sp>
        <p:nvSpPr>
          <p:cNvPr id="7" name="Rectangle 6"/>
          <p:cNvSpPr/>
          <p:nvPr/>
        </p:nvSpPr>
        <p:spPr>
          <a:xfrm>
            <a:off x="274320" y="1234440"/>
            <a:ext cx="3657600" cy="153619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234440"/>
            <a:ext cx="91440" cy="1536192"/>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75488" y="1325880"/>
            <a:ext cx="3657600" cy="384048"/>
          </a:xfrm>
          <a:prstGeom prst="rect">
            <a:avLst/>
          </a:prstGeom>
          <a:noFill/>
        </p:spPr>
        <p:txBody>
          <a:bodyPr wrap="square">
            <a:spAutoFit/>
          </a:bodyPr>
          <a:lstStyle/>
          <a:p>
            <a:pPr algn="l"/>
            <a:r>
              <a:rPr sz="1500" b="1" i="0">
                <a:solidFill>
                  <a:srgbClr val="14B8A6"/>
                </a:solidFill>
                <a:latin typeface="Consolas"/>
              </a:rPr>
              <a:t>flex-direction</a:t>
            </a:r>
          </a:p>
        </p:txBody>
      </p:sp>
      <p:sp>
        <p:nvSpPr>
          <p:cNvPr id="10" name="TextBox 9"/>
          <p:cNvSpPr txBox="1"/>
          <p:nvPr/>
        </p:nvSpPr>
        <p:spPr>
          <a:xfrm>
            <a:off x="475488" y="1746504"/>
            <a:ext cx="3337560" cy="914400"/>
          </a:xfrm>
          <a:prstGeom prst="rect">
            <a:avLst/>
          </a:prstGeom>
          <a:noFill/>
        </p:spPr>
        <p:txBody>
          <a:bodyPr wrap="square">
            <a:spAutoFit/>
          </a:bodyPr>
          <a:lstStyle/>
          <a:p>
            <a:pPr algn="l"/>
            <a:r>
              <a:rPr sz="1300" b="0" i="0">
                <a:solidFill>
                  <a:srgbClr val="FFFFFF"/>
                </a:solidFill>
                <a:latin typeface="Calibri"/>
              </a:rPr>
              <a:t>row (default) / column
row-reverse / column-reverse</a:t>
            </a:r>
          </a:p>
        </p:txBody>
      </p:sp>
      <p:sp>
        <p:nvSpPr>
          <p:cNvPr id="11" name="Rectangle 10"/>
          <p:cNvSpPr/>
          <p:nvPr/>
        </p:nvSpPr>
        <p:spPr>
          <a:xfrm>
            <a:off x="4114800" y="1234440"/>
            <a:ext cx="3657600" cy="153619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114800" y="1234440"/>
            <a:ext cx="91440" cy="15361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15968" y="1325880"/>
            <a:ext cx="3657600" cy="384048"/>
          </a:xfrm>
          <a:prstGeom prst="rect">
            <a:avLst/>
          </a:prstGeom>
          <a:noFill/>
        </p:spPr>
        <p:txBody>
          <a:bodyPr wrap="square">
            <a:spAutoFit/>
          </a:bodyPr>
          <a:lstStyle/>
          <a:p>
            <a:pPr algn="l"/>
            <a:r>
              <a:rPr sz="1500" b="1" i="0">
                <a:solidFill>
                  <a:srgbClr val="F59E0B"/>
                </a:solidFill>
                <a:latin typeface="Consolas"/>
              </a:rPr>
              <a:t>flex-wrap</a:t>
            </a:r>
          </a:p>
        </p:txBody>
      </p:sp>
      <p:sp>
        <p:nvSpPr>
          <p:cNvPr id="14" name="TextBox 13"/>
          <p:cNvSpPr txBox="1"/>
          <p:nvPr/>
        </p:nvSpPr>
        <p:spPr>
          <a:xfrm>
            <a:off x="4315968" y="1746504"/>
            <a:ext cx="3337560" cy="914400"/>
          </a:xfrm>
          <a:prstGeom prst="rect">
            <a:avLst/>
          </a:prstGeom>
          <a:noFill/>
        </p:spPr>
        <p:txBody>
          <a:bodyPr wrap="square">
            <a:spAutoFit/>
          </a:bodyPr>
          <a:lstStyle/>
          <a:p>
            <a:pPr algn="l"/>
            <a:r>
              <a:rPr sz="1300" b="0" i="0">
                <a:solidFill>
                  <a:srgbClr val="FFFFFF"/>
                </a:solidFill>
                <a:latin typeface="Calibri"/>
              </a:rPr>
              <a:t>nowrap (default) / wrap
wrap-reverse</a:t>
            </a:r>
          </a:p>
        </p:txBody>
      </p:sp>
      <p:sp>
        <p:nvSpPr>
          <p:cNvPr id="15" name="Rectangle 14"/>
          <p:cNvSpPr/>
          <p:nvPr/>
        </p:nvSpPr>
        <p:spPr>
          <a:xfrm>
            <a:off x="7955280" y="1234440"/>
            <a:ext cx="3657600" cy="153619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955280" y="1234440"/>
            <a:ext cx="91440" cy="153619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56448" y="1325880"/>
            <a:ext cx="3657600" cy="384048"/>
          </a:xfrm>
          <a:prstGeom prst="rect">
            <a:avLst/>
          </a:prstGeom>
          <a:noFill/>
        </p:spPr>
        <p:txBody>
          <a:bodyPr wrap="square">
            <a:spAutoFit/>
          </a:bodyPr>
          <a:lstStyle/>
          <a:p>
            <a:pPr algn="l"/>
            <a:r>
              <a:rPr sz="1500" b="1" i="0">
                <a:solidFill>
                  <a:srgbClr val="8B5CF6"/>
                </a:solidFill>
                <a:latin typeface="Consolas"/>
              </a:rPr>
              <a:t>order</a:t>
            </a:r>
          </a:p>
        </p:txBody>
      </p:sp>
      <p:sp>
        <p:nvSpPr>
          <p:cNvPr id="18" name="TextBox 17"/>
          <p:cNvSpPr txBox="1"/>
          <p:nvPr/>
        </p:nvSpPr>
        <p:spPr>
          <a:xfrm>
            <a:off x="8156448" y="1746504"/>
            <a:ext cx="3337560" cy="914400"/>
          </a:xfrm>
          <a:prstGeom prst="rect">
            <a:avLst/>
          </a:prstGeom>
          <a:noFill/>
        </p:spPr>
        <p:txBody>
          <a:bodyPr wrap="square">
            <a:spAutoFit/>
          </a:bodyPr>
          <a:lstStyle/>
          <a:p>
            <a:pPr algn="l"/>
            <a:r>
              <a:rPr sz="1300" b="0" i="0">
                <a:solidFill>
                  <a:srgbClr val="FFFFFF"/>
                </a:solidFill>
                <a:latin typeface="Calibri"/>
              </a:rPr>
              <a:t>Default: 0  ·  lower = earlier
Visual reorder without changing HTML</a:t>
            </a:r>
          </a:p>
        </p:txBody>
      </p:sp>
      <p:sp>
        <p:nvSpPr>
          <p:cNvPr id="19" name="Rectangle 18"/>
          <p:cNvSpPr/>
          <p:nvPr/>
        </p:nvSpPr>
        <p:spPr>
          <a:xfrm>
            <a:off x="274320" y="2926080"/>
            <a:ext cx="3657600" cy="153619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74320" y="2926080"/>
            <a:ext cx="91440" cy="153619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75488" y="3017520"/>
            <a:ext cx="3657600" cy="384048"/>
          </a:xfrm>
          <a:prstGeom prst="rect">
            <a:avLst/>
          </a:prstGeom>
          <a:noFill/>
        </p:spPr>
        <p:txBody>
          <a:bodyPr wrap="square">
            <a:spAutoFit/>
          </a:bodyPr>
          <a:lstStyle/>
          <a:p>
            <a:pPr algn="l"/>
            <a:r>
              <a:rPr sz="1500" b="1" i="0">
                <a:solidFill>
                  <a:srgbClr val="22C55E"/>
                </a:solidFill>
                <a:latin typeface="Consolas"/>
              </a:rPr>
              <a:t>flex-grow</a:t>
            </a:r>
          </a:p>
        </p:txBody>
      </p:sp>
      <p:sp>
        <p:nvSpPr>
          <p:cNvPr id="22" name="TextBox 21"/>
          <p:cNvSpPr txBox="1"/>
          <p:nvPr/>
        </p:nvSpPr>
        <p:spPr>
          <a:xfrm>
            <a:off x="475488" y="3438144"/>
            <a:ext cx="3337560" cy="914400"/>
          </a:xfrm>
          <a:prstGeom prst="rect">
            <a:avLst/>
          </a:prstGeom>
          <a:noFill/>
        </p:spPr>
        <p:txBody>
          <a:bodyPr wrap="square">
            <a:spAutoFit/>
          </a:bodyPr>
          <a:lstStyle/>
          <a:p>
            <a:pPr algn="l"/>
            <a:r>
              <a:rPr sz="1300" b="0" i="0">
                <a:solidFill>
                  <a:srgbClr val="FFFFFF"/>
                </a:solidFill>
                <a:latin typeface="Calibri"/>
              </a:rPr>
              <a:t>0 (don't grow) or 1 (fill space)
flex: 1 = grow:1, shrink:1, basis:0</a:t>
            </a:r>
          </a:p>
        </p:txBody>
      </p:sp>
      <p:sp>
        <p:nvSpPr>
          <p:cNvPr id="23" name="Rectangle 22"/>
          <p:cNvSpPr/>
          <p:nvPr/>
        </p:nvSpPr>
        <p:spPr>
          <a:xfrm>
            <a:off x="4114800" y="2926080"/>
            <a:ext cx="3657600" cy="153619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114800" y="2926080"/>
            <a:ext cx="91440" cy="153619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315968" y="3017520"/>
            <a:ext cx="3657600" cy="384048"/>
          </a:xfrm>
          <a:prstGeom prst="rect">
            <a:avLst/>
          </a:prstGeom>
          <a:noFill/>
        </p:spPr>
        <p:txBody>
          <a:bodyPr wrap="square">
            <a:spAutoFit/>
          </a:bodyPr>
          <a:lstStyle/>
          <a:p>
            <a:pPr algn="l"/>
            <a:r>
              <a:rPr sz="1500" b="1" i="0">
                <a:solidFill>
                  <a:srgbClr val="38BDF8"/>
                </a:solidFill>
                <a:latin typeface="Consolas"/>
              </a:rPr>
              <a:t>align-self</a:t>
            </a:r>
          </a:p>
        </p:txBody>
      </p:sp>
      <p:sp>
        <p:nvSpPr>
          <p:cNvPr id="26" name="TextBox 25"/>
          <p:cNvSpPr txBox="1"/>
          <p:nvPr/>
        </p:nvSpPr>
        <p:spPr>
          <a:xfrm>
            <a:off x="4315968" y="3438144"/>
            <a:ext cx="3337560" cy="914400"/>
          </a:xfrm>
          <a:prstGeom prst="rect">
            <a:avLst/>
          </a:prstGeom>
          <a:noFill/>
        </p:spPr>
        <p:txBody>
          <a:bodyPr wrap="square">
            <a:spAutoFit/>
          </a:bodyPr>
          <a:lstStyle/>
          <a:p>
            <a:pPr algn="l"/>
            <a:r>
              <a:rPr sz="1300" b="0" i="0">
                <a:solidFill>
                  <a:srgbClr val="FFFFFF"/>
                </a:solidFill>
                <a:latin typeface="Calibri"/>
              </a:rPr>
              <a:t>Override align-items for ONE item
auto·flex-start·center·flex-end</a:t>
            </a:r>
          </a:p>
        </p:txBody>
      </p:sp>
      <p:sp>
        <p:nvSpPr>
          <p:cNvPr id="27" name="Rectangle 26"/>
          <p:cNvSpPr/>
          <p:nvPr/>
        </p:nvSpPr>
        <p:spPr>
          <a:xfrm>
            <a:off x="7955280" y="2926080"/>
            <a:ext cx="3657600" cy="153619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955280" y="2926080"/>
            <a:ext cx="91440" cy="153619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156448" y="3017520"/>
            <a:ext cx="3657600" cy="384048"/>
          </a:xfrm>
          <a:prstGeom prst="rect">
            <a:avLst/>
          </a:prstGeom>
          <a:noFill/>
        </p:spPr>
        <p:txBody>
          <a:bodyPr wrap="square">
            <a:spAutoFit/>
          </a:bodyPr>
          <a:lstStyle/>
          <a:p>
            <a:pPr algn="l"/>
            <a:r>
              <a:rPr sz="1500" b="1" i="0">
                <a:solidFill>
                  <a:srgbClr val="F43F5E"/>
                </a:solidFill>
                <a:latin typeface="Consolas"/>
              </a:rPr>
              <a:t>gap</a:t>
            </a:r>
          </a:p>
        </p:txBody>
      </p:sp>
      <p:sp>
        <p:nvSpPr>
          <p:cNvPr id="30" name="TextBox 29"/>
          <p:cNvSpPr txBox="1"/>
          <p:nvPr/>
        </p:nvSpPr>
        <p:spPr>
          <a:xfrm>
            <a:off x="8156448" y="3438144"/>
            <a:ext cx="3337560" cy="914400"/>
          </a:xfrm>
          <a:prstGeom prst="rect">
            <a:avLst/>
          </a:prstGeom>
          <a:noFill/>
        </p:spPr>
        <p:txBody>
          <a:bodyPr wrap="square">
            <a:spAutoFit/>
          </a:bodyPr>
          <a:lstStyle/>
          <a:p>
            <a:pPr algn="l"/>
            <a:r>
              <a:rPr sz="1300" b="0" i="0">
                <a:solidFill>
                  <a:srgbClr val="FFFFFF"/>
                </a:solidFill>
                <a:latin typeface="Calibri"/>
              </a:rPr>
              <a:t>Space between items (row &amp; column)
Replaces margin hacks — cleaner</a:t>
            </a:r>
          </a:p>
        </p:txBody>
      </p:sp>
      <p:sp>
        <p:nvSpPr>
          <p:cNvPr id="31" name="Rectangle 30"/>
          <p:cNvSpPr/>
          <p:nvPr/>
        </p:nvSpPr>
        <p:spPr>
          <a:xfrm>
            <a:off x="274320" y="4663440"/>
            <a:ext cx="11640312" cy="19659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274320" y="4663440"/>
            <a:ext cx="64008" cy="196596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02336" y="4718304"/>
            <a:ext cx="11640312" cy="292608"/>
          </a:xfrm>
          <a:prstGeom prst="rect">
            <a:avLst/>
          </a:prstGeom>
          <a:noFill/>
        </p:spPr>
        <p:txBody>
          <a:bodyPr wrap="square">
            <a:spAutoFit/>
          </a:bodyPr>
          <a:lstStyle/>
          <a:p>
            <a:pPr algn="l"/>
            <a:r>
              <a:rPr sz="900" b="0" i="0">
                <a:solidFill>
                  <a:srgbClr val="64748B"/>
                </a:solidFill>
                <a:latin typeface="Consolas"/>
              </a:rPr>
              <a:t>CSS</a:t>
            </a:r>
          </a:p>
        </p:txBody>
      </p:sp>
      <p:sp>
        <p:nvSpPr>
          <p:cNvPr id="34" name="TextBox 33"/>
          <p:cNvSpPr txBox="1"/>
          <p:nvPr/>
        </p:nvSpPr>
        <p:spPr>
          <a:xfrm>
            <a:off x="402336" y="4956048"/>
            <a:ext cx="11384280" cy="1600200"/>
          </a:xfrm>
          <a:prstGeom prst="rect">
            <a:avLst/>
          </a:prstGeom>
          <a:noFill/>
        </p:spPr>
        <p:txBody>
          <a:bodyPr wrap="none">
            <a:spAutoFit/>
          </a:bodyPr>
          <a:lstStyle/>
          <a:p>
            <a:pPr algn="l"/>
            <a:r>
              <a:rPr sz="1300" b="0">
                <a:solidFill>
                  <a:srgbClr val="14B8A6"/>
                </a:solidFill>
                <a:latin typeface="Consolas"/>
              </a:rPr>
              <a:t>.container { display:flex; flex-wrap:wrap; gap:16px; }</a:t>
            </a:r>
          </a:p>
          <a:p>
            <a:pPr algn="l"/>
            <a:r>
              <a:rPr sz="1300" b="0">
                <a:solidFill>
                  <a:srgbClr val="14B8A6"/>
                </a:solidFill>
                <a:latin typeface="Consolas"/>
              </a:rPr>
              <a:t>.item      { flex: 1; min-width: 200px; }</a:t>
            </a:r>
          </a:p>
          <a:p>
            <a:pPr algn="l"/>
            <a:r>
              <a:rPr sz="1300" b="0">
                <a:solidFill>
                  <a:srgbClr val="14B8A6"/>
                </a:solidFill>
                <a:latin typeface="Consolas"/>
              </a:rPr>
              <a:t>.featured  { order: -1; flex: 2; }   /* appears first, twice as wide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9628632" cy="685800"/>
          </a:xfrm>
          <a:prstGeom prst="rect">
            <a:avLst/>
          </a:prstGeom>
          <a:noFill/>
        </p:spPr>
        <p:txBody>
          <a:bodyPr wrap="square">
            <a:spAutoFit/>
          </a:bodyPr>
          <a:lstStyle/>
          <a:p>
            <a:pPr algn="l"/>
            <a:r>
              <a:rPr sz="3200" b="1" i="0">
                <a:solidFill>
                  <a:srgbClr val="FFFFFF"/>
                </a:solidFill>
                <a:latin typeface="Calibri"/>
              </a:rPr>
              <a:t>CSS Grid — Introduction</a:t>
            </a:r>
          </a:p>
        </p:txBody>
      </p:sp>
      <p:sp>
        <p:nvSpPr>
          <p:cNvPr id="4" name="TextBox 3"/>
          <p:cNvSpPr txBox="1"/>
          <p:nvPr/>
        </p:nvSpPr>
        <p:spPr>
          <a:xfrm>
            <a:off x="365760" y="685800"/>
            <a:ext cx="9628632" cy="347472"/>
          </a:xfrm>
          <a:prstGeom prst="rect">
            <a:avLst/>
          </a:prstGeom>
          <a:noFill/>
        </p:spPr>
        <p:txBody>
          <a:bodyPr wrap="square">
            <a:spAutoFit/>
          </a:bodyPr>
          <a:lstStyle/>
          <a:p>
            <a:pPr algn="l"/>
            <a:r>
              <a:rPr sz="1500" b="0" i="0">
                <a:solidFill>
                  <a:srgbClr val="F0FDFA"/>
                </a:solidFill>
                <a:latin typeface="Calibri"/>
              </a:rPr>
              <a:t>Two-dimensional layout: rows AND columns at the same time</a:t>
            </a:r>
          </a:p>
        </p:txBody>
      </p:sp>
      <p:sp>
        <p:nvSpPr>
          <p:cNvPr id="5" name="Rectangle 4"/>
          <p:cNvSpPr/>
          <p:nvPr/>
        </p:nvSpPr>
        <p:spPr>
          <a:xfrm>
            <a:off x="10085832" y="45720"/>
            <a:ext cx="2011680" cy="475488"/>
          </a:xfrm>
          <a:prstGeom prst="rect">
            <a:avLst/>
          </a:prstGeom>
          <a:solidFill>
            <a:srgbClr val="064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85832" y="109728"/>
            <a:ext cx="2011680" cy="365760"/>
          </a:xfrm>
          <a:prstGeom prst="rect">
            <a:avLst/>
          </a:prstGeom>
          <a:noFill/>
        </p:spPr>
        <p:txBody>
          <a:bodyPr wrap="square">
            <a:spAutoFit/>
          </a:bodyPr>
          <a:lstStyle/>
          <a:p>
            <a:pPr algn="ctr"/>
            <a:r>
              <a:rPr sz="1000" b="1" i="0">
                <a:solidFill>
                  <a:srgbClr val="14B8A6"/>
                </a:solidFill>
                <a:latin typeface="Calibri"/>
              </a:rPr>
              <a:t>WEEK 3 · FRIDAY</a:t>
            </a:r>
          </a:p>
        </p:txBody>
      </p:sp>
      <p:sp>
        <p:nvSpPr>
          <p:cNvPr id="7" name="Rectangle 6"/>
          <p:cNvSpPr/>
          <p:nvPr/>
        </p:nvSpPr>
        <p:spPr>
          <a:xfrm>
            <a:off x="274320" y="1188720"/>
            <a:ext cx="11640312" cy="457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225296"/>
            <a:ext cx="11365992" cy="411480"/>
          </a:xfrm>
          <a:prstGeom prst="rect">
            <a:avLst/>
          </a:prstGeom>
          <a:noFill/>
        </p:spPr>
        <p:txBody>
          <a:bodyPr wrap="square">
            <a:spAutoFit/>
          </a:bodyPr>
          <a:lstStyle/>
          <a:p>
            <a:pPr algn="l"/>
            <a:r>
              <a:rPr sz="1350" b="1" i="0">
                <a:solidFill>
                  <a:srgbClr val="F0FDFA"/>
                </a:solidFill>
                <a:latin typeface="Calibri"/>
              </a:rPr>
              <a:t>Flexbox = 1 axis (row OR column)     Grid = 2 axes (rows AND columns together)</a:t>
            </a:r>
          </a:p>
        </p:txBody>
      </p:sp>
      <p:sp>
        <p:nvSpPr>
          <p:cNvPr id="9" name="Rectangle 8"/>
          <p:cNvSpPr/>
          <p:nvPr/>
        </p:nvSpPr>
        <p:spPr>
          <a:xfrm>
            <a:off x="274320" y="1828800"/>
            <a:ext cx="6947702" cy="48006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74320" y="1828800"/>
            <a:ext cx="64008" cy="48006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02336" y="1883664"/>
            <a:ext cx="6947702" cy="292608"/>
          </a:xfrm>
          <a:prstGeom prst="rect">
            <a:avLst/>
          </a:prstGeom>
          <a:noFill/>
        </p:spPr>
        <p:txBody>
          <a:bodyPr wrap="square">
            <a:spAutoFit/>
          </a:bodyPr>
          <a:lstStyle/>
          <a:p>
            <a:pPr algn="l"/>
            <a:r>
              <a:rPr sz="900" b="0" i="0">
                <a:solidFill>
                  <a:srgbClr val="64748B"/>
                </a:solidFill>
                <a:latin typeface="Consolas"/>
              </a:rPr>
              <a:t>CSS</a:t>
            </a:r>
          </a:p>
        </p:txBody>
      </p:sp>
      <p:sp>
        <p:nvSpPr>
          <p:cNvPr id="12" name="TextBox 11"/>
          <p:cNvSpPr txBox="1"/>
          <p:nvPr/>
        </p:nvSpPr>
        <p:spPr>
          <a:xfrm>
            <a:off x="402336" y="2121408"/>
            <a:ext cx="6691670" cy="4434840"/>
          </a:xfrm>
          <a:prstGeom prst="rect">
            <a:avLst/>
          </a:prstGeom>
          <a:noFill/>
        </p:spPr>
        <p:txBody>
          <a:bodyPr wrap="none">
            <a:spAutoFit/>
          </a:bodyPr>
          <a:lstStyle/>
          <a:p>
            <a:pPr algn="l"/>
            <a:r>
              <a:rPr sz="1300" b="0">
                <a:solidFill>
                  <a:srgbClr val="14B8A6"/>
                </a:solidFill>
                <a:latin typeface="Consolas"/>
              </a:rPr>
              <a:t>.grid {</a:t>
            </a:r>
          </a:p>
          <a:p>
            <a:pPr algn="l"/>
            <a:r>
              <a:rPr sz="1300" b="0">
                <a:solidFill>
                  <a:srgbClr val="14B8A6"/>
                </a:solidFill>
                <a:latin typeface="Consolas"/>
              </a:rPr>
              <a:t>  display: grid;</a:t>
            </a:r>
          </a:p>
          <a:p>
            <a:pPr algn="l"/>
            <a:r>
              <a:rPr sz="1300" b="0">
                <a:solidFill>
                  <a:srgbClr val="14B8A6"/>
                </a:solidFill>
                <a:latin typeface="Consolas"/>
              </a:rPr>
              <a:t>  grid-template-columns: repeat(3, 1fr); /* 3 equal cols */</a:t>
            </a:r>
          </a:p>
          <a:p>
            <a:pPr algn="l"/>
            <a:r>
              <a:rPr sz="1300" b="0">
                <a:solidFill>
                  <a:srgbClr val="14B8A6"/>
                </a:solidFill>
                <a:latin typeface="Consolas"/>
              </a:rPr>
              <a:t>  grid-template-rows: auto auto;          /* rows = content height */</a:t>
            </a:r>
          </a:p>
          <a:p>
            <a:pPr algn="l"/>
            <a:r>
              <a:rPr sz="1300" b="0">
                <a:solidFill>
                  <a:srgbClr val="14B8A6"/>
                </a:solidFill>
                <a:latin typeface="Consolas"/>
              </a:rPr>
              <a:t>  gap: 20px;                              /* both row &amp; col gap */</a:t>
            </a:r>
          </a:p>
          <a:p>
            <a:pPr algn="l"/>
            <a:r>
              <a:rPr sz="1300" b="0">
                <a:solidFill>
                  <a:srgbClr val="14B8A6"/>
                </a:solidFill>
                <a:latin typeface="Consolas"/>
              </a:rPr>
              <a:t>}</a:t>
            </a:r>
          </a:p>
          <a:p>
            <a:pPr algn="l"/>
            <a:endParaRPr sz="1300" b="0">
              <a:solidFill>
                <a:srgbClr val="14B8A6"/>
              </a:solidFill>
              <a:latin typeface="Consolas"/>
            </a:endParaRPr>
          </a:p>
          <a:p>
            <a:pPr algn="l"/>
            <a:r>
              <a:rPr sz="1300" b="0">
                <a:solidFill>
                  <a:srgbClr val="14B8A6"/>
                </a:solidFill>
                <a:latin typeface="Consolas"/>
              </a:rPr>
              <a:t>/* Span multiple cells */</a:t>
            </a:r>
          </a:p>
          <a:p>
            <a:pPr algn="l"/>
            <a:r>
              <a:rPr sz="1300" b="0">
                <a:solidFill>
                  <a:srgbClr val="14B8A6"/>
                </a:solidFill>
                <a:latin typeface="Consolas"/>
              </a:rPr>
              <a:t>.hero   { grid-column: 1 / 3; }  /* spans cols 1 to 3 */</a:t>
            </a:r>
          </a:p>
          <a:p>
            <a:pPr algn="l"/>
            <a:r>
              <a:rPr sz="1300" b="0">
                <a:solidFill>
                  <a:srgbClr val="14B8A6"/>
                </a:solidFill>
                <a:latin typeface="Consolas"/>
              </a:rPr>
              <a:t>.sidebar{ grid-row:    1 / 3; }  /* spans rows 1 to 3 */</a:t>
            </a:r>
          </a:p>
          <a:p>
            <a:pPr algn="l"/>
            <a:endParaRPr sz="1300" b="0">
              <a:solidFill>
                <a:srgbClr val="14B8A6"/>
              </a:solidFill>
              <a:latin typeface="Consolas"/>
            </a:endParaRPr>
          </a:p>
          <a:p>
            <a:pPr algn="l"/>
            <a:r>
              <a:rPr sz="1300" b="0">
                <a:solidFill>
                  <a:srgbClr val="14B8A6"/>
                </a:solidFill>
                <a:latin typeface="Consolas"/>
              </a:rPr>
              <a:t>/* Named areas — even cleaner */</a:t>
            </a:r>
          </a:p>
          <a:p>
            <a:pPr algn="l"/>
            <a:r>
              <a:rPr sz="1300" b="0">
                <a:solidFill>
                  <a:srgbClr val="14B8A6"/>
                </a:solidFill>
                <a:latin typeface="Consolas"/>
              </a:rPr>
              <a:t>.layout {</a:t>
            </a:r>
          </a:p>
          <a:p>
            <a:pPr algn="l"/>
            <a:r>
              <a:rPr sz="1300" b="0">
                <a:solidFill>
                  <a:srgbClr val="14B8A6"/>
                </a:solidFill>
                <a:latin typeface="Consolas"/>
              </a:rPr>
              <a:t>  grid-template-areas:</a:t>
            </a:r>
          </a:p>
          <a:p>
            <a:pPr algn="l"/>
            <a:r>
              <a:rPr sz="1300" b="0">
                <a:solidFill>
                  <a:srgbClr val="14B8A6"/>
                </a:solidFill>
                <a:latin typeface="Consolas"/>
              </a:rPr>
              <a:t>    'header  header  header'</a:t>
            </a:r>
          </a:p>
          <a:p>
            <a:pPr algn="l"/>
            <a:r>
              <a:rPr sz="1300" b="0">
                <a:solidFill>
                  <a:srgbClr val="14B8A6"/>
                </a:solidFill>
                <a:latin typeface="Consolas"/>
              </a:rPr>
              <a:t>    'sidebar main    main'</a:t>
            </a:r>
          </a:p>
          <a:p>
            <a:pPr algn="l"/>
            <a:r>
              <a:rPr sz="1300" b="0">
                <a:solidFill>
                  <a:srgbClr val="14B8A6"/>
                </a:solidFill>
                <a:latin typeface="Consolas"/>
              </a:rPr>
              <a:t>    'footer  footer  footer';</a:t>
            </a:r>
          </a:p>
          <a:p>
            <a:pPr algn="l"/>
            <a:r>
              <a:rPr sz="1300" b="0">
                <a:solidFill>
                  <a:srgbClr val="14B8A6"/>
                </a:solidFill>
                <a:latin typeface="Consolas"/>
              </a:rPr>
              <a:t>}</a:t>
            </a:r>
          </a:p>
          <a:p>
            <a:pPr algn="l"/>
            <a:r>
              <a:rPr sz="1300" b="0">
                <a:solidFill>
                  <a:srgbClr val="14B8A6"/>
                </a:solidFill>
                <a:latin typeface="Consolas"/>
              </a:rPr>
              <a:t>.main-content { grid-area: main; }</a:t>
            </a:r>
          </a:p>
        </p:txBody>
      </p:sp>
      <p:sp>
        <p:nvSpPr>
          <p:cNvPr id="13" name="Rectangle 12"/>
          <p:cNvSpPr/>
          <p:nvPr/>
        </p:nvSpPr>
        <p:spPr>
          <a:xfrm>
            <a:off x="7435260" y="1828800"/>
            <a:ext cx="4509912" cy="48006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557150" y="1920240"/>
            <a:ext cx="4266133" cy="365760"/>
          </a:xfrm>
          <a:prstGeom prst="rect">
            <a:avLst/>
          </a:prstGeom>
          <a:noFill/>
        </p:spPr>
        <p:txBody>
          <a:bodyPr wrap="square">
            <a:spAutoFit/>
          </a:bodyPr>
          <a:lstStyle/>
          <a:p>
            <a:pPr algn="l"/>
            <a:r>
              <a:rPr sz="1300" b="1" i="0">
                <a:solidFill>
                  <a:srgbClr val="14B8A6"/>
                </a:solidFill>
                <a:latin typeface="Calibri"/>
              </a:rPr>
              <a:t>Key properties</a:t>
            </a:r>
          </a:p>
        </p:txBody>
      </p:sp>
      <p:sp>
        <p:nvSpPr>
          <p:cNvPr id="15" name="TextBox 14"/>
          <p:cNvSpPr txBox="1"/>
          <p:nvPr/>
        </p:nvSpPr>
        <p:spPr>
          <a:xfrm>
            <a:off x="7557150" y="2395728"/>
            <a:ext cx="4266133" cy="292608"/>
          </a:xfrm>
          <a:prstGeom prst="rect">
            <a:avLst/>
          </a:prstGeom>
          <a:noFill/>
        </p:spPr>
        <p:txBody>
          <a:bodyPr wrap="square">
            <a:spAutoFit/>
          </a:bodyPr>
          <a:lstStyle/>
          <a:p>
            <a:pPr algn="l"/>
            <a:r>
              <a:rPr sz="1200" b="1" i="0">
                <a:solidFill>
                  <a:srgbClr val="F59E0B"/>
                </a:solidFill>
                <a:latin typeface="Consolas"/>
              </a:rPr>
              <a:t>grid-template-columns</a:t>
            </a:r>
          </a:p>
        </p:txBody>
      </p:sp>
      <p:sp>
        <p:nvSpPr>
          <p:cNvPr id="16" name="TextBox 15"/>
          <p:cNvSpPr txBox="1"/>
          <p:nvPr/>
        </p:nvSpPr>
        <p:spPr>
          <a:xfrm>
            <a:off x="7557150" y="2706624"/>
            <a:ext cx="4266133" cy="347472"/>
          </a:xfrm>
          <a:prstGeom prst="rect">
            <a:avLst/>
          </a:prstGeom>
          <a:noFill/>
        </p:spPr>
        <p:txBody>
          <a:bodyPr wrap="square">
            <a:spAutoFit/>
          </a:bodyPr>
          <a:lstStyle/>
          <a:p>
            <a:pPr algn="l"/>
            <a:r>
              <a:rPr sz="1100" b="0" i="0">
                <a:solidFill>
                  <a:srgbClr val="F0FDFA"/>
                </a:solidFill>
                <a:latin typeface="Calibri"/>
              </a:rPr>
              <a:t>Defines column widths
repeat(3,1fr) · 200px 1fr 200px</a:t>
            </a:r>
          </a:p>
        </p:txBody>
      </p:sp>
      <p:sp>
        <p:nvSpPr>
          <p:cNvPr id="17" name="TextBox 16"/>
          <p:cNvSpPr txBox="1"/>
          <p:nvPr/>
        </p:nvSpPr>
        <p:spPr>
          <a:xfrm>
            <a:off x="7557150" y="3108960"/>
            <a:ext cx="4266133" cy="292608"/>
          </a:xfrm>
          <a:prstGeom prst="rect">
            <a:avLst/>
          </a:prstGeom>
          <a:noFill/>
        </p:spPr>
        <p:txBody>
          <a:bodyPr wrap="square">
            <a:spAutoFit/>
          </a:bodyPr>
          <a:lstStyle/>
          <a:p>
            <a:pPr algn="l"/>
            <a:r>
              <a:rPr sz="1200" b="1" i="0">
                <a:solidFill>
                  <a:srgbClr val="F59E0B"/>
                </a:solidFill>
                <a:latin typeface="Consolas"/>
              </a:rPr>
              <a:t>grid-template-rows</a:t>
            </a:r>
          </a:p>
        </p:txBody>
      </p:sp>
      <p:sp>
        <p:nvSpPr>
          <p:cNvPr id="18" name="TextBox 17"/>
          <p:cNvSpPr txBox="1"/>
          <p:nvPr/>
        </p:nvSpPr>
        <p:spPr>
          <a:xfrm>
            <a:off x="7557150" y="3419856"/>
            <a:ext cx="4266133" cy="347472"/>
          </a:xfrm>
          <a:prstGeom prst="rect">
            <a:avLst/>
          </a:prstGeom>
          <a:noFill/>
        </p:spPr>
        <p:txBody>
          <a:bodyPr wrap="square">
            <a:spAutoFit/>
          </a:bodyPr>
          <a:lstStyle/>
          <a:p>
            <a:pPr algn="l"/>
            <a:r>
              <a:rPr sz="1100" b="0" i="0">
                <a:solidFill>
                  <a:srgbClr val="F0FDFA"/>
                </a:solidFill>
                <a:latin typeface="Calibri"/>
              </a:rPr>
              <a:t>Defines row heights
auto · 100px · minmax(100px,auto)</a:t>
            </a:r>
          </a:p>
        </p:txBody>
      </p:sp>
      <p:sp>
        <p:nvSpPr>
          <p:cNvPr id="19" name="TextBox 18"/>
          <p:cNvSpPr txBox="1"/>
          <p:nvPr/>
        </p:nvSpPr>
        <p:spPr>
          <a:xfrm>
            <a:off x="7557150" y="3822192"/>
            <a:ext cx="4266133" cy="292608"/>
          </a:xfrm>
          <a:prstGeom prst="rect">
            <a:avLst/>
          </a:prstGeom>
          <a:noFill/>
        </p:spPr>
        <p:txBody>
          <a:bodyPr wrap="square">
            <a:spAutoFit/>
          </a:bodyPr>
          <a:lstStyle/>
          <a:p>
            <a:pPr algn="l"/>
            <a:r>
              <a:rPr sz="1200" b="1" i="0">
                <a:solidFill>
                  <a:srgbClr val="F59E0B"/>
                </a:solidFill>
                <a:latin typeface="Consolas"/>
              </a:rPr>
              <a:t>gap (or column-gap)</a:t>
            </a:r>
          </a:p>
        </p:txBody>
      </p:sp>
      <p:sp>
        <p:nvSpPr>
          <p:cNvPr id="20" name="TextBox 19"/>
          <p:cNvSpPr txBox="1"/>
          <p:nvPr/>
        </p:nvSpPr>
        <p:spPr>
          <a:xfrm>
            <a:off x="7557150" y="4133088"/>
            <a:ext cx="4266133" cy="347472"/>
          </a:xfrm>
          <a:prstGeom prst="rect">
            <a:avLst/>
          </a:prstGeom>
          <a:noFill/>
        </p:spPr>
        <p:txBody>
          <a:bodyPr wrap="square">
            <a:spAutoFit/>
          </a:bodyPr>
          <a:lstStyle/>
          <a:p>
            <a:pPr algn="l"/>
            <a:r>
              <a:rPr sz="1100" b="0" i="0">
                <a:solidFill>
                  <a:srgbClr val="F0FDFA"/>
                </a:solidFill>
                <a:latin typeface="Calibri"/>
              </a:rPr>
              <a:t>Space between cells
16px or 12px 20px (row col)</a:t>
            </a:r>
          </a:p>
        </p:txBody>
      </p:sp>
      <p:sp>
        <p:nvSpPr>
          <p:cNvPr id="21" name="TextBox 20"/>
          <p:cNvSpPr txBox="1"/>
          <p:nvPr/>
        </p:nvSpPr>
        <p:spPr>
          <a:xfrm>
            <a:off x="7557150" y="4535424"/>
            <a:ext cx="4266133" cy="292608"/>
          </a:xfrm>
          <a:prstGeom prst="rect">
            <a:avLst/>
          </a:prstGeom>
          <a:noFill/>
        </p:spPr>
        <p:txBody>
          <a:bodyPr wrap="square">
            <a:spAutoFit/>
          </a:bodyPr>
          <a:lstStyle/>
          <a:p>
            <a:pPr algn="l"/>
            <a:r>
              <a:rPr sz="1200" b="1" i="0">
                <a:solidFill>
                  <a:srgbClr val="F59E0B"/>
                </a:solidFill>
                <a:latin typeface="Consolas"/>
              </a:rPr>
              <a:t>grid-column</a:t>
            </a:r>
          </a:p>
        </p:txBody>
      </p:sp>
      <p:sp>
        <p:nvSpPr>
          <p:cNvPr id="22" name="TextBox 21"/>
          <p:cNvSpPr txBox="1"/>
          <p:nvPr/>
        </p:nvSpPr>
        <p:spPr>
          <a:xfrm>
            <a:off x="7557150" y="4846320"/>
            <a:ext cx="4266133" cy="347472"/>
          </a:xfrm>
          <a:prstGeom prst="rect">
            <a:avLst/>
          </a:prstGeom>
          <a:noFill/>
        </p:spPr>
        <p:txBody>
          <a:bodyPr wrap="square">
            <a:spAutoFit/>
          </a:bodyPr>
          <a:lstStyle/>
          <a:p>
            <a:pPr algn="l"/>
            <a:r>
              <a:rPr sz="1100" b="0" i="0">
                <a:solidFill>
                  <a:srgbClr val="F0FDFA"/>
                </a:solidFill>
                <a:latin typeface="Calibri"/>
              </a:rPr>
              <a:t>Which columns item spans
1 / 3 or span 2</a:t>
            </a:r>
          </a:p>
        </p:txBody>
      </p:sp>
      <p:sp>
        <p:nvSpPr>
          <p:cNvPr id="23" name="TextBox 22"/>
          <p:cNvSpPr txBox="1"/>
          <p:nvPr/>
        </p:nvSpPr>
        <p:spPr>
          <a:xfrm>
            <a:off x="7557150" y="5248656"/>
            <a:ext cx="4266133" cy="292608"/>
          </a:xfrm>
          <a:prstGeom prst="rect">
            <a:avLst/>
          </a:prstGeom>
          <a:noFill/>
        </p:spPr>
        <p:txBody>
          <a:bodyPr wrap="square">
            <a:spAutoFit/>
          </a:bodyPr>
          <a:lstStyle/>
          <a:p>
            <a:pPr algn="l"/>
            <a:r>
              <a:rPr sz="1200" b="1" i="0">
                <a:solidFill>
                  <a:srgbClr val="F59E0B"/>
                </a:solidFill>
                <a:latin typeface="Consolas"/>
              </a:rPr>
              <a:t>grid-row</a:t>
            </a:r>
          </a:p>
        </p:txBody>
      </p:sp>
      <p:sp>
        <p:nvSpPr>
          <p:cNvPr id="24" name="TextBox 23"/>
          <p:cNvSpPr txBox="1"/>
          <p:nvPr/>
        </p:nvSpPr>
        <p:spPr>
          <a:xfrm>
            <a:off x="7557150" y="5559552"/>
            <a:ext cx="4266133" cy="347472"/>
          </a:xfrm>
          <a:prstGeom prst="rect">
            <a:avLst/>
          </a:prstGeom>
          <a:noFill/>
        </p:spPr>
        <p:txBody>
          <a:bodyPr wrap="square">
            <a:spAutoFit/>
          </a:bodyPr>
          <a:lstStyle/>
          <a:p>
            <a:pPr algn="l"/>
            <a:r>
              <a:rPr sz="1100" b="0" i="0">
                <a:solidFill>
                  <a:srgbClr val="F0FDFA"/>
                </a:solidFill>
                <a:latin typeface="Calibri"/>
              </a:rPr>
              <a:t>Which rows item spans
1 / 4 or span 2</a:t>
            </a:r>
          </a:p>
        </p:txBody>
      </p:sp>
      <p:sp>
        <p:nvSpPr>
          <p:cNvPr id="25" name="TextBox 24"/>
          <p:cNvSpPr txBox="1"/>
          <p:nvPr/>
        </p:nvSpPr>
        <p:spPr>
          <a:xfrm>
            <a:off x="7557150" y="5961888"/>
            <a:ext cx="4266133" cy="292608"/>
          </a:xfrm>
          <a:prstGeom prst="rect">
            <a:avLst/>
          </a:prstGeom>
          <a:noFill/>
        </p:spPr>
        <p:txBody>
          <a:bodyPr wrap="square">
            <a:spAutoFit/>
          </a:bodyPr>
          <a:lstStyle/>
          <a:p>
            <a:pPr algn="l"/>
            <a:r>
              <a:rPr sz="1200" b="1" i="0">
                <a:solidFill>
                  <a:srgbClr val="F59E0B"/>
                </a:solidFill>
                <a:latin typeface="Consolas"/>
              </a:rPr>
              <a:t>grid-template-areas</a:t>
            </a:r>
          </a:p>
        </p:txBody>
      </p:sp>
      <p:sp>
        <p:nvSpPr>
          <p:cNvPr id="26" name="TextBox 25"/>
          <p:cNvSpPr txBox="1"/>
          <p:nvPr/>
        </p:nvSpPr>
        <p:spPr>
          <a:xfrm>
            <a:off x="7557150" y="6272784"/>
            <a:ext cx="4266133" cy="347472"/>
          </a:xfrm>
          <a:prstGeom prst="rect">
            <a:avLst/>
          </a:prstGeom>
          <a:noFill/>
        </p:spPr>
        <p:txBody>
          <a:bodyPr wrap="square">
            <a:spAutoFit/>
          </a:bodyPr>
          <a:lstStyle/>
          <a:p>
            <a:pPr algn="l"/>
            <a:r>
              <a:rPr sz="1100" b="0" i="0">
                <a:solidFill>
                  <a:srgbClr val="F0FDFA"/>
                </a:solidFill>
                <a:latin typeface="Calibri"/>
              </a:rPr>
              <a:t>Named layout zones — most
readable way to define a page layout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9628632" cy="685800"/>
          </a:xfrm>
          <a:prstGeom prst="rect">
            <a:avLst/>
          </a:prstGeom>
          <a:noFill/>
        </p:spPr>
        <p:txBody>
          <a:bodyPr wrap="square">
            <a:spAutoFit/>
          </a:bodyPr>
          <a:lstStyle/>
          <a:p>
            <a:pPr algn="l"/>
            <a:r>
              <a:rPr sz="3200" b="1" i="0">
                <a:solidFill>
                  <a:srgbClr val="FFFFFF"/>
                </a:solidFill>
                <a:latin typeface="Calibri"/>
              </a:rPr>
              <a:t>Check-In · Grid, Flexbox Advanced, border-radius, box-shadow</a:t>
            </a:r>
          </a:p>
        </p:txBody>
      </p:sp>
      <p:sp>
        <p:nvSpPr>
          <p:cNvPr id="4" name="TextBox 3"/>
          <p:cNvSpPr txBox="1"/>
          <p:nvPr/>
        </p:nvSpPr>
        <p:spPr>
          <a:xfrm>
            <a:off x="365760" y="685800"/>
            <a:ext cx="9628632" cy="347472"/>
          </a:xfrm>
          <a:prstGeom prst="rect">
            <a:avLst/>
          </a:prstGeom>
          <a:noFill/>
        </p:spPr>
        <p:txBody>
          <a:bodyPr wrap="square">
            <a:spAutoFit/>
          </a:bodyPr>
          <a:lstStyle/>
          <a:p>
            <a:pPr algn="l"/>
            <a:r>
              <a:rPr sz="1500" b="0" i="0">
                <a:solidFill>
                  <a:srgbClr val="F0FDFA"/>
                </a:solidFill>
                <a:latin typeface="Calibri"/>
              </a:rPr>
              <a:t>Q18–Q25</a:t>
            </a:r>
          </a:p>
        </p:txBody>
      </p:sp>
      <p:sp>
        <p:nvSpPr>
          <p:cNvPr id="5" name="Rectangle 4"/>
          <p:cNvSpPr/>
          <p:nvPr/>
        </p:nvSpPr>
        <p:spPr>
          <a:xfrm>
            <a:off x="10085832" y="45720"/>
            <a:ext cx="2011680" cy="475488"/>
          </a:xfrm>
          <a:prstGeom prst="rect">
            <a:avLst/>
          </a:prstGeom>
          <a:solidFill>
            <a:srgbClr val="064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85832" y="109728"/>
            <a:ext cx="2011680" cy="365760"/>
          </a:xfrm>
          <a:prstGeom prst="rect">
            <a:avLst/>
          </a:prstGeom>
          <a:noFill/>
        </p:spPr>
        <p:txBody>
          <a:bodyPr wrap="square">
            <a:spAutoFit/>
          </a:bodyPr>
          <a:lstStyle/>
          <a:p>
            <a:pPr algn="ctr"/>
            <a:r>
              <a:rPr sz="1000" b="1" i="0">
                <a:solidFill>
                  <a:srgbClr val="14B8A6"/>
                </a:solidFill>
                <a:latin typeface="Calibri"/>
              </a:rPr>
              <a:t>WEEK 3 · FRIDAY</a:t>
            </a:r>
          </a:p>
        </p:txBody>
      </p:sp>
      <p:sp>
        <p:nvSpPr>
          <p:cNvPr id="7" name="Rectangle 6"/>
          <p:cNvSpPr/>
          <p:nvPr/>
        </p:nvSpPr>
        <p:spPr>
          <a:xfrm>
            <a:off x="274320" y="1234440"/>
            <a:ext cx="5669280" cy="126187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80" y="1325880"/>
            <a:ext cx="5394960" cy="640080"/>
          </a:xfrm>
          <a:prstGeom prst="rect">
            <a:avLst/>
          </a:prstGeom>
          <a:noFill/>
        </p:spPr>
        <p:txBody>
          <a:bodyPr wrap="square">
            <a:spAutoFit/>
          </a:bodyPr>
          <a:lstStyle/>
          <a:p>
            <a:pPr algn="l"/>
            <a:r>
              <a:rPr sz="1350" b="1" i="0">
                <a:solidFill>
                  <a:srgbClr val="FFFFFF"/>
                </a:solidFill>
                <a:latin typeface="Calibri"/>
              </a:rPr>
              <a:t>Q18  flex-direction: column makes flex items …</a:t>
            </a:r>
          </a:p>
        </p:txBody>
      </p:sp>
      <p:sp>
        <p:nvSpPr>
          <p:cNvPr id="9" name="TextBox 8"/>
          <p:cNvSpPr txBox="1"/>
          <p:nvPr/>
        </p:nvSpPr>
        <p:spPr>
          <a:xfrm>
            <a:off x="411480" y="1965960"/>
            <a:ext cx="5394960" cy="121158"/>
          </a:xfrm>
          <a:prstGeom prst="rect">
            <a:avLst/>
          </a:prstGeom>
          <a:noFill/>
        </p:spPr>
        <p:txBody>
          <a:bodyPr wrap="square">
            <a:spAutoFit/>
          </a:bodyPr>
          <a:lstStyle>
            <a:defPPr>
              <a:defRPr lang="en-US"/>
            </a:defPPr>
            <a:lvl1pPr>
              <a:defRPr sz="1150" b="0" i="0">
                <a:solidFill>
                  <a:srgbClr val="64748B"/>
                </a:solidFill>
                <a:latin typeface="Calibri"/>
              </a:defRPr>
            </a:lvl1pPr>
          </a:lstStyle>
          <a:p>
            <a:r>
              <a:rPr lang="ko-KR" altLang="en-US" dirty="0"/>
              <a:t>　</a:t>
            </a:r>
            <a:r>
              <a:rPr dirty="0"/>
              <a:t> stack vertically (a column)</a:t>
            </a:r>
          </a:p>
        </p:txBody>
      </p:sp>
      <p:sp>
        <p:nvSpPr>
          <p:cNvPr id="10" name="TextBox 9"/>
          <p:cNvSpPr txBox="1"/>
          <p:nvPr/>
        </p:nvSpPr>
        <p:spPr>
          <a:xfrm>
            <a:off x="411480" y="2087118"/>
            <a:ext cx="5394960" cy="121158"/>
          </a:xfrm>
          <a:prstGeom prst="rect">
            <a:avLst/>
          </a:prstGeom>
          <a:noFill/>
        </p:spPr>
        <p:txBody>
          <a:bodyPr wrap="square">
            <a:spAutoFit/>
          </a:bodyPr>
          <a:lstStyle/>
          <a:p>
            <a:pPr algn="l"/>
            <a:r>
              <a:rPr sz="1150" b="0" i="0">
                <a:solidFill>
                  <a:srgbClr val="64748B"/>
                </a:solidFill>
                <a:latin typeface="Calibri"/>
              </a:rPr>
              <a:t>     wrap to the next row</a:t>
            </a:r>
          </a:p>
        </p:txBody>
      </p:sp>
      <p:sp>
        <p:nvSpPr>
          <p:cNvPr id="11" name="TextBox 10"/>
          <p:cNvSpPr txBox="1"/>
          <p:nvPr/>
        </p:nvSpPr>
        <p:spPr>
          <a:xfrm>
            <a:off x="411480" y="2208276"/>
            <a:ext cx="5394960" cy="121158"/>
          </a:xfrm>
          <a:prstGeom prst="rect">
            <a:avLst/>
          </a:prstGeom>
          <a:noFill/>
        </p:spPr>
        <p:txBody>
          <a:bodyPr wrap="square">
            <a:spAutoFit/>
          </a:bodyPr>
          <a:lstStyle/>
          <a:p>
            <a:pPr algn="l"/>
            <a:r>
              <a:rPr sz="1150" b="0" i="0">
                <a:solidFill>
                  <a:srgbClr val="64748B"/>
                </a:solidFill>
                <a:latin typeface="Calibri"/>
              </a:rPr>
              <a:t>     reverse their order</a:t>
            </a:r>
          </a:p>
        </p:txBody>
      </p:sp>
      <p:sp>
        <p:nvSpPr>
          <p:cNvPr id="12" name="TextBox 11"/>
          <p:cNvSpPr txBox="1"/>
          <p:nvPr/>
        </p:nvSpPr>
        <p:spPr>
          <a:xfrm>
            <a:off x="411480" y="2329434"/>
            <a:ext cx="5394960" cy="121158"/>
          </a:xfrm>
          <a:prstGeom prst="rect">
            <a:avLst/>
          </a:prstGeom>
          <a:noFill/>
        </p:spPr>
        <p:txBody>
          <a:bodyPr wrap="square">
            <a:spAutoFit/>
          </a:bodyPr>
          <a:lstStyle/>
          <a:p>
            <a:pPr algn="l"/>
            <a:r>
              <a:rPr sz="1150" b="0" i="0">
                <a:solidFill>
                  <a:srgbClr val="64748B"/>
                </a:solidFill>
                <a:latin typeface="Calibri"/>
              </a:rPr>
              <a:t>     shrink to minimum width</a:t>
            </a:r>
          </a:p>
        </p:txBody>
      </p:sp>
      <p:sp>
        <p:nvSpPr>
          <p:cNvPr id="13" name="Rectangle 12"/>
          <p:cNvSpPr/>
          <p:nvPr/>
        </p:nvSpPr>
        <p:spPr>
          <a:xfrm>
            <a:off x="6217920" y="1234440"/>
            <a:ext cx="5669280" cy="126187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55080" y="1325880"/>
            <a:ext cx="5394960" cy="640080"/>
          </a:xfrm>
          <a:prstGeom prst="rect">
            <a:avLst/>
          </a:prstGeom>
          <a:noFill/>
        </p:spPr>
        <p:txBody>
          <a:bodyPr wrap="square">
            <a:spAutoFit/>
          </a:bodyPr>
          <a:lstStyle/>
          <a:p>
            <a:pPr algn="l"/>
            <a:r>
              <a:rPr sz="1350" b="1" i="0">
                <a:solidFill>
                  <a:srgbClr val="FFFFFF"/>
                </a:solidFill>
                <a:latin typeface="Calibri"/>
              </a:rPr>
              <a:t>Q19  flex-wrap: wrap allows flex items to …</a:t>
            </a:r>
          </a:p>
        </p:txBody>
      </p:sp>
      <p:sp>
        <p:nvSpPr>
          <p:cNvPr id="15" name="TextBox 14"/>
          <p:cNvSpPr txBox="1"/>
          <p:nvPr/>
        </p:nvSpPr>
        <p:spPr>
          <a:xfrm>
            <a:off x="6355080" y="1965960"/>
            <a:ext cx="5394960" cy="121158"/>
          </a:xfrm>
          <a:prstGeom prst="rect">
            <a:avLst/>
          </a:prstGeom>
          <a:noFill/>
        </p:spPr>
        <p:txBody>
          <a:bodyPr wrap="square">
            <a:spAutoFit/>
          </a:bodyPr>
          <a:lstStyle>
            <a:defPPr>
              <a:defRPr lang="en-US"/>
            </a:defPPr>
            <a:lvl1pPr>
              <a:defRPr sz="1150" b="0" i="0">
                <a:solidFill>
                  <a:srgbClr val="64748B"/>
                </a:solidFill>
                <a:latin typeface="Calibri"/>
              </a:defRPr>
            </a:lvl1pPr>
          </a:lstStyle>
          <a:p>
            <a:r>
              <a:rPr lang="ko-KR" altLang="en-US" dirty="0"/>
              <a:t>　</a:t>
            </a:r>
            <a:r>
              <a:rPr dirty="0"/>
              <a:t> move to a new row when they overflow</a:t>
            </a:r>
          </a:p>
        </p:txBody>
      </p:sp>
      <p:sp>
        <p:nvSpPr>
          <p:cNvPr id="16" name="TextBox 15"/>
          <p:cNvSpPr txBox="1"/>
          <p:nvPr/>
        </p:nvSpPr>
        <p:spPr>
          <a:xfrm>
            <a:off x="6355080" y="2087118"/>
            <a:ext cx="5394960" cy="121158"/>
          </a:xfrm>
          <a:prstGeom prst="rect">
            <a:avLst/>
          </a:prstGeom>
          <a:noFill/>
        </p:spPr>
        <p:txBody>
          <a:bodyPr wrap="square">
            <a:spAutoFit/>
          </a:bodyPr>
          <a:lstStyle/>
          <a:p>
            <a:pPr algn="l"/>
            <a:r>
              <a:rPr sz="1150" b="0" i="0">
                <a:solidFill>
                  <a:srgbClr val="64748B"/>
                </a:solidFill>
                <a:latin typeface="Calibri"/>
              </a:rPr>
              <a:t>     shrink below minimum size</a:t>
            </a:r>
          </a:p>
        </p:txBody>
      </p:sp>
      <p:sp>
        <p:nvSpPr>
          <p:cNvPr id="17" name="TextBox 16"/>
          <p:cNvSpPr txBox="1"/>
          <p:nvPr/>
        </p:nvSpPr>
        <p:spPr>
          <a:xfrm>
            <a:off x="6355080" y="2208276"/>
            <a:ext cx="5394960" cy="121158"/>
          </a:xfrm>
          <a:prstGeom prst="rect">
            <a:avLst/>
          </a:prstGeom>
          <a:noFill/>
        </p:spPr>
        <p:txBody>
          <a:bodyPr wrap="square">
            <a:spAutoFit/>
          </a:bodyPr>
          <a:lstStyle/>
          <a:p>
            <a:pPr algn="l"/>
            <a:r>
              <a:rPr sz="1150" b="0" i="0" dirty="0">
                <a:solidFill>
                  <a:srgbClr val="64748B"/>
                </a:solidFill>
                <a:latin typeface="Calibri"/>
              </a:rPr>
              <a:t>     overlap each other</a:t>
            </a:r>
          </a:p>
        </p:txBody>
      </p:sp>
      <p:sp>
        <p:nvSpPr>
          <p:cNvPr id="18" name="TextBox 17"/>
          <p:cNvSpPr txBox="1"/>
          <p:nvPr/>
        </p:nvSpPr>
        <p:spPr>
          <a:xfrm>
            <a:off x="6355080" y="2329434"/>
            <a:ext cx="5394960" cy="121158"/>
          </a:xfrm>
          <a:prstGeom prst="rect">
            <a:avLst/>
          </a:prstGeom>
          <a:noFill/>
        </p:spPr>
        <p:txBody>
          <a:bodyPr wrap="square">
            <a:spAutoFit/>
          </a:bodyPr>
          <a:lstStyle/>
          <a:p>
            <a:pPr algn="l"/>
            <a:r>
              <a:rPr sz="1150" b="0" i="0" dirty="0">
                <a:solidFill>
                  <a:srgbClr val="64748B"/>
                </a:solidFill>
                <a:latin typeface="Calibri"/>
              </a:rPr>
              <a:t>     ignore the gap property</a:t>
            </a:r>
          </a:p>
        </p:txBody>
      </p:sp>
      <p:sp>
        <p:nvSpPr>
          <p:cNvPr id="19" name="Rectangle 18"/>
          <p:cNvSpPr/>
          <p:nvPr/>
        </p:nvSpPr>
        <p:spPr>
          <a:xfrm>
            <a:off x="274320" y="2606040"/>
            <a:ext cx="5669280" cy="126187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11480" y="2697480"/>
            <a:ext cx="5394960" cy="640080"/>
          </a:xfrm>
          <a:prstGeom prst="rect">
            <a:avLst/>
          </a:prstGeom>
          <a:noFill/>
        </p:spPr>
        <p:txBody>
          <a:bodyPr wrap="square">
            <a:spAutoFit/>
          </a:bodyPr>
          <a:lstStyle/>
          <a:p>
            <a:pPr algn="l"/>
            <a:r>
              <a:rPr sz="1350" b="1" i="0">
                <a:solidFill>
                  <a:srgbClr val="FFFFFF"/>
                </a:solidFill>
                <a:latin typeface="Calibri"/>
              </a:rPr>
              <a:t>Q20  display: grid on a container …</a:t>
            </a:r>
          </a:p>
        </p:txBody>
      </p:sp>
      <p:sp>
        <p:nvSpPr>
          <p:cNvPr id="21" name="TextBox 20"/>
          <p:cNvSpPr txBox="1"/>
          <p:nvPr/>
        </p:nvSpPr>
        <p:spPr>
          <a:xfrm>
            <a:off x="411480" y="3337560"/>
            <a:ext cx="5394960" cy="269304"/>
          </a:xfrm>
          <a:prstGeom prst="rect">
            <a:avLst/>
          </a:prstGeom>
          <a:noFill/>
        </p:spPr>
        <p:txBody>
          <a:bodyPr wrap="square">
            <a:spAutoFit/>
          </a:bodyPr>
          <a:lstStyle/>
          <a:p>
            <a:pPr algn="l"/>
            <a:r>
              <a:rPr lang="ko-KR" altLang="en-US" sz="1150" dirty="0">
                <a:solidFill>
                  <a:srgbClr val="64748B"/>
                </a:solidFill>
                <a:latin typeface="Calibri"/>
              </a:rPr>
              <a:t>　</a:t>
            </a:r>
            <a:r>
              <a:rPr sz="1150" dirty="0">
                <a:solidFill>
                  <a:srgbClr val="64748B"/>
                </a:solidFill>
                <a:latin typeface="Calibri"/>
              </a:rPr>
              <a:t>activates the 2-dimensional Grid layout</a:t>
            </a:r>
          </a:p>
        </p:txBody>
      </p:sp>
      <p:sp>
        <p:nvSpPr>
          <p:cNvPr id="22" name="TextBox 21"/>
          <p:cNvSpPr txBox="1"/>
          <p:nvPr/>
        </p:nvSpPr>
        <p:spPr>
          <a:xfrm>
            <a:off x="411480" y="3458718"/>
            <a:ext cx="5394960" cy="121158"/>
          </a:xfrm>
          <a:prstGeom prst="rect">
            <a:avLst/>
          </a:prstGeom>
          <a:noFill/>
        </p:spPr>
        <p:txBody>
          <a:bodyPr wrap="square">
            <a:spAutoFit/>
          </a:bodyPr>
          <a:lstStyle/>
          <a:p>
            <a:pPr algn="l"/>
            <a:r>
              <a:rPr sz="1150" b="0" i="0" dirty="0">
                <a:solidFill>
                  <a:srgbClr val="64748B"/>
                </a:solidFill>
                <a:latin typeface="Calibri"/>
              </a:rPr>
              <a:t>     makes children flex items</a:t>
            </a:r>
          </a:p>
        </p:txBody>
      </p:sp>
      <p:sp>
        <p:nvSpPr>
          <p:cNvPr id="23" name="TextBox 22"/>
          <p:cNvSpPr txBox="1"/>
          <p:nvPr/>
        </p:nvSpPr>
        <p:spPr>
          <a:xfrm>
            <a:off x="411480" y="3579876"/>
            <a:ext cx="5394960" cy="121158"/>
          </a:xfrm>
          <a:prstGeom prst="rect">
            <a:avLst/>
          </a:prstGeom>
          <a:noFill/>
        </p:spPr>
        <p:txBody>
          <a:bodyPr wrap="square">
            <a:spAutoFit/>
          </a:bodyPr>
          <a:lstStyle/>
          <a:p>
            <a:pPr algn="l"/>
            <a:r>
              <a:rPr sz="1150" b="0" i="0" dirty="0">
                <a:solidFill>
                  <a:srgbClr val="64748B"/>
                </a:solidFill>
                <a:latin typeface="Calibri"/>
              </a:rPr>
              <a:t>     hides overflowing children</a:t>
            </a:r>
          </a:p>
        </p:txBody>
      </p:sp>
      <p:sp>
        <p:nvSpPr>
          <p:cNvPr id="24" name="TextBox 23"/>
          <p:cNvSpPr txBox="1"/>
          <p:nvPr/>
        </p:nvSpPr>
        <p:spPr>
          <a:xfrm>
            <a:off x="411480" y="3701034"/>
            <a:ext cx="5394960" cy="121158"/>
          </a:xfrm>
          <a:prstGeom prst="rect">
            <a:avLst/>
          </a:prstGeom>
          <a:noFill/>
        </p:spPr>
        <p:txBody>
          <a:bodyPr wrap="square">
            <a:spAutoFit/>
          </a:bodyPr>
          <a:lstStyle/>
          <a:p>
            <a:pPr algn="l"/>
            <a:r>
              <a:rPr sz="1150" b="0" i="0">
                <a:solidFill>
                  <a:srgbClr val="64748B"/>
                </a:solidFill>
                <a:latin typeface="Calibri"/>
              </a:rPr>
              <a:t>     stacks children absolutely</a:t>
            </a:r>
          </a:p>
        </p:txBody>
      </p:sp>
      <p:sp>
        <p:nvSpPr>
          <p:cNvPr id="25" name="Rectangle 24"/>
          <p:cNvSpPr/>
          <p:nvPr/>
        </p:nvSpPr>
        <p:spPr>
          <a:xfrm>
            <a:off x="6217920" y="2606040"/>
            <a:ext cx="5669280" cy="126187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55080" y="2697480"/>
            <a:ext cx="5394960" cy="640080"/>
          </a:xfrm>
          <a:prstGeom prst="rect">
            <a:avLst/>
          </a:prstGeom>
          <a:noFill/>
        </p:spPr>
        <p:txBody>
          <a:bodyPr wrap="square">
            <a:spAutoFit/>
          </a:bodyPr>
          <a:lstStyle/>
          <a:p>
            <a:pPr algn="l"/>
            <a:r>
              <a:rPr sz="1350" b="1" i="0">
                <a:solidFill>
                  <a:srgbClr val="FFFFFF"/>
                </a:solidFill>
                <a:latin typeface="Calibri"/>
              </a:rPr>
              <a:t>Q21  grid-template-columns: repeat(3, 1fr) creates …</a:t>
            </a:r>
          </a:p>
        </p:txBody>
      </p:sp>
      <p:sp>
        <p:nvSpPr>
          <p:cNvPr id="27" name="TextBox 26"/>
          <p:cNvSpPr txBox="1"/>
          <p:nvPr/>
        </p:nvSpPr>
        <p:spPr>
          <a:xfrm>
            <a:off x="6355080" y="3337560"/>
            <a:ext cx="5394960" cy="121158"/>
          </a:xfrm>
          <a:prstGeom prst="rect">
            <a:avLst/>
          </a:prstGeom>
          <a:noFill/>
        </p:spPr>
        <p:txBody>
          <a:bodyPr wrap="square">
            <a:spAutoFit/>
          </a:bodyPr>
          <a:lstStyle>
            <a:defPPr>
              <a:defRPr lang="en-US"/>
            </a:defPPr>
            <a:lvl1pPr>
              <a:defRPr sz="1150" b="0" i="0">
                <a:solidFill>
                  <a:srgbClr val="64748B"/>
                </a:solidFill>
                <a:latin typeface="Calibri"/>
              </a:defRPr>
            </a:lvl1pPr>
          </a:lstStyle>
          <a:p>
            <a:r>
              <a:rPr lang="ko-KR" altLang="en-US" dirty="0"/>
              <a:t>　</a:t>
            </a:r>
            <a:r>
              <a:rPr dirty="0"/>
              <a:t>3 equal-width columns</a:t>
            </a:r>
          </a:p>
        </p:txBody>
      </p:sp>
      <p:sp>
        <p:nvSpPr>
          <p:cNvPr id="28" name="TextBox 27"/>
          <p:cNvSpPr txBox="1"/>
          <p:nvPr/>
        </p:nvSpPr>
        <p:spPr>
          <a:xfrm>
            <a:off x="6355080" y="3458718"/>
            <a:ext cx="5394960" cy="121158"/>
          </a:xfrm>
          <a:prstGeom prst="rect">
            <a:avLst/>
          </a:prstGeom>
          <a:noFill/>
        </p:spPr>
        <p:txBody>
          <a:bodyPr wrap="square">
            <a:spAutoFit/>
          </a:bodyPr>
          <a:lstStyle/>
          <a:p>
            <a:pPr algn="l"/>
            <a:r>
              <a:rPr sz="1150" b="0" i="0">
                <a:solidFill>
                  <a:srgbClr val="64748B"/>
                </a:solidFill>
                <a:latin typeface="Calibri"/>
              </a:rPr>
              <a:t>     1 column of 3fr width</a:t>
            </a:r>
          </a:p>
        </p:txBody>
      </p:sp>
      <p:sp>
        <p:nvSpPr>
          <p:cNvPr id="29" name="TextBox 28"/>
          <p:cNvSpPr txBox="1"/>
          <p:nvPr/>
        </p:nvSpPr>
        <p:spPr>
          <a:xfrm>
            <a:off x="6355080" y="3579876"/>
            <a:ext cx="5394960" cy="121158"/>
          </a:xfrm>
          <a:prstGeom prst="rect">
            <a:avLst/>
          </a:prstGeom>
          <a:noFill/>
        </p:spPr>
        <p:txBody>
          <a:bodyPr wrap="square">
            <a:spAutoFit/>
          </a:bodyPr>
          <a:lstStyle/>
          <a:p>
            <a:pPr algn="l"/>
            <a:r>
              <a:rPr sz="1150" b="0" i="0" dirty="0">
                <a:solidFill>
                  <a:srgbClr val="64748B"/>
                </a:solidFill>
                <a:latin typeface="Calibri"/>
              </a:rPr>
              <a:t>     3 rows</a:t>
            </a:r>
          </a:p>
        </p:txBody>
      </p:sp>
      <p:sp>
        <p:nvSpPr>
          <p:cNvPr id="30" name="TextBox 29"/>
          <p:cNvSpPr txBox="1"/>
          <p:nvPr/>
        </p:nvSpPr>
        <p:spPr>
          <a:xfrm>
            <a:off x="6355080" y="3701034"/>
            <a:ext cx="5394960" cy="121158"/>
          </a:xfrm>
          <a:prstGeom prst="rect">
            <a:avLst/>
          </a:prstGeom>
          <a:noFill/>
        </p:spPr>
        <p:txBody>
          <a:bodyPr wrap="square">
            <a:spAutoFit/>
          </a:bodyPr>
          <a:lstStyle/>
          <a:p>
            <a:pPr algn="l"/>
            <a:r>
              <a:rPr sz="1150" b="0" i="0">
                <a:solidFill>
                  <a:srgbClr val="64748B"/>
                </a:solidFill>
                <a:latin typeface="Calibri"/>
              </a:rPr>
              <a:t>     a fixed 300px grid</a:t>
            </a:r>
          </a:p>
        </p:txBody>
      </p:sp>
      <p:sp>
        <p:nvSpPr>
          <p:cNvPr id="31" name="Rectangle 30"/>
          <p:cNvSpPr/>
          <p:nvPr/>
        </p:nvSpPr>
        <p:spPr>
          <a:xfrm>
            <a:off x="274320" y="3977640"/>
            <a:ext cx="5669280" cy="126187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11480" y="4069080"/>
            <a:ext cx="5394960" cy="640080"/>
          </a:xfrm>
          <a:prstGeom prst="rect">
            <a:avLst/>
          </a:prstGeom>
          <a:noFill/>
        </p:spPr>
        <p:txBody>
          <a:bodyPr wrap="square">
            <a:spAutoFit/>
          </a:bodyPr>
          <a:lstStyle/>
          <a:p>
            <a:pPr algn="l"/>
            <a:r>
              <a:rPr sz="1350" b="1" i="0">
                <a:solidFill>
                  <a:srgbClr val="FFFFFF"/>
                </a:solidFill>
                <a:latin typeface="Calibri"/>
              </a:rPr>
              <a:t>Q22  Which property adds space between grid OR flex items?</a:t>
            </a:r>
          </a:p>
        </p:txBody>
      </p:sp>
      <p:sp>
        <p:nvSpPr>
          <p:cNvPr id="33" name="TextBox 32"/>
          <p:cNvSpPr txBox="1"/>
          <p:nvPr/>
        </p:nvSpPr>
        <p:spPr>
          <a:xfrm>
            <a:off x="411480" y="4709160"/>
            <a:ext cx="5394960" cy="121158"/>
          </a:xfrm>
          <a:prstGeom prst="rect">
            <a:avLst/>
          </a:prstGeom>
          <a:noFill/>
        </p:spPr>
        <p:txBody>
          <a:bodyPr wrap="square">
            <a:spAutoFit/>
          </a:bodyPr>
          <a:lstStyle>
            <a:defPPr>
              <a:defRPr lang="en-US"/>
            </a:defPPr>
            <a:lvl1pPr>
              <a:defRPr sz="1150" b="0" i="0">
                <a:solidFill>
                  <a:srgbClr val="64748B"/>
                </a:solidFill>
                <a:latin typeface="Calibri"/>
              </a:defRPr>
            </a:lvl1pPr>
          </a:lstStyle>
          <a:p>
            <a:r>
              <a:rPr lang="ko-KR" altLang="en-US" dirty="0"/>
              <a:t>　</a:t>
            </a:r>
            <a:r>
              <a:rPr dirty="0"/>
              <a:t> gap</a:t>
            </a:r>
          </a:p>
        </p:txBody>
      </p:sp>
      <p:sp>
        <p:nvSpPr>
          <p:cNvPr id="34" name="TextBox 33"/>
          <p:cNvSpPr txBox="1"/>
          <p:nvPr/>
        </p:nvSpPr>
        <p:spPr>
          <a:xfrm>
            <a:off x="411480" y="4830318"/>
            <a:ext cx="5394960" cy="121158"/>
          </a:xfrm>
          <a:prstGeom prst="rect">
            <a:avLst/>
          </a:prstGeom>
          <a:noFill/>
        </p:spPr>
        <p:txBody>
          <a:bodyPr wrap="square">
            <a:spAutoFit/>
          </a:bodyPr>
          <a:lstStyle/>
          <a:p>
            <a:pPr algn="l"/>
            <a:r>
              <a:rPr sz="1150" b="0" i="0">
                <a:solidFill>
                  <a:srgbClr val="64748B"/>
                </a:solidFill>
                <a:latin typeface="Calibri"/>
              </a:rPr>
              <a:t>     margin</a:t>
            </a:r>
          </a:p>
        </p:txBody>
      </p:sp>
      <p:sp>
        <p:nvSpPr>
          <p:cNvPr id="35" name="TextBox 34"/>
          <p:cNvSpPr txBox="1"/>
          <p:nvPr/>
        </p:nvSpPr>
        <p:spPr>
          <a:xfrm>
            <a:off x="411480" y="4951476"/>
            <a:ext cx="5394960" cy="121158"/>
          </a:xfrm>
          <a:prstGeom prst="rect">
            <a:avLst/>
          </a:prstGeom>
          <a:noFill/>
        </p:spPr>
        <p:txBody>
          <a:bodyPr wrap="square">
            <a:spAutoFit/>
          </a:bodyPr>
          <a:lstStyle/>
          <a:p>
            <a:pPr algn="l"/>
            <a:r>
              <a:rPr sz="1150" b="0" i="0">
                <a:solidFill>
                  <a:srgbClr val="64748B"/>
                </a:solidFill>
                <a:latin typeface="Calibri"/>
              </a:rPr>
              <a:t>     padding</a:t>
            </a:r>
          </a:p>
        </p:txBody>
      </p:sp>
      <p:sp>
        <p:nvSpPr>
          <p:cNvPr id="36" name="TextBox 35"/>
          <p:cNvSpPr txBox="1"/>
          <p:nvPr/>
        </p:nvSpPr>
        <p:spPr>
          <a:xfrm>
            <a:off x="411480" y="5072634"/>
            <a:ext cx="5394960" cy="121158"/>
          </a:xfrm>
          <a:prstGeom prst="rect">
            <a:avLst/>
          </a:prstGeom>
          <a:noFill/>
        </p:spPr>
        <p:txBody>
          <a:bodyPr wrap="square">
            <a:spAutoFit/>
          </a:bodyPr>
          <a:lstStyle/>
          <a:p>
            <a:pPr algn="l"/>
            <a:r>
              <a:rPr sz="1150" b="0" i="0">
                <a:solidFill>
                  <a:srgbClr val="64748B"/>
                </a:solidFill>
                <a:latin typeface="Calibri"/>
              </a:rPr>
              <a:t>     spacing</a:t>
            </a:r>
          </a:p>
        </p:txBody>
      </p:sp>
      <p:sp>
        <p:nvSpPr>
          <p:cNvPr id="37" name="Rectangle 36"/>
          <p:cNvSpPr/>
          <p:nvPr/>
        </p:nvSpPr>
        <p:spPr>
          <a:xfrm>
            <a:off x="6217920" y="3977640"/>
            <a:ext cx="5669280" cy="126187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355080" y="4069080"/>
            <a:ext cx="5394960" cy="640080"/>
          </a:xfrm>
          <a:prstGeom prst="rect">
            <a:avLst/>
          </a:prstGeom>
          <a:noFill/>
        </p:spPr>
        <p:txBody>
          <a:bodyPr wrap="square">
            <a:spAutoFit/>
          </a:bodyPr>
          <a:lstStyle/>
          <a:p>
            <a:pPr algn="l"/>
            <a:r>
              <a:rPr sz="1350" b="1" i="0" dirty="0">
                <a:solidFill>
                  <a:srgbClr val="FFFFFF"/>
                </a:solidFill>
                <a:latin typeface="Calibri"/>
              </a:rPr>
              <a:t>Q23  border-radius: 50% on a square element creates …</a:t>
            </a:r>
          </a:p>
        </p:txBody>
      </p:sp>
      <p:sp>
        <p:nvSpPr>
          <p:cNvPr id="39" name="TextBox 38"/>
          <p:cNvSpPr txBox="1"/>
          <p:nvPr/>
        </p:nvSpPr>
        <p:spPr>
          <a:xfrm>
            <a:off x="6355080" y="4709160"/>
            <a:ext cx="5394960" cy="121158"/>
          </a:xfrm>
          <a:prstGeom prst="rect">
            <a:avLst/>
          </a:prstGeom>
          <a:noFill/>
        </p:spPr>
        <p:txBody>
          <a:bodyPr wrap="square">
            <a:spAutoFit/>
          </a:bodyPr>
          <a:lstStyle>
            <a:defPPr>
              <a:defRPr lang="en-US"/>
            </a:defPPr>
            <a:lvl1pPr>
              <a:defRPr sz="1150" b="0" i="0">
                <a:solidFill>
                  <a:srgbClr val="64748B"/>
                </a:solidFill>
                <a:latin typeface="Calibri"/>
              </a:defRPr>
            </a:lvl1pPr>
          </a:lstStyle>
          <a:p>
            <a:r>
              <a:rPr lang="ko-KR" altLang="en-US" dirty="0"/>
              <a:t>　</a:t>
            </a:r>
            <a:r>
              <a:rPr dirty="0"/>
              <a:t> a perfect circle</a:t>
            </a:r>
          </a:p>
        </p:txBody>
      </p:sp>
      <p:sp>
        <p:nvSpPr>
          <p:cNvPr id="40" name="TextBox 39"/>
          <p:cNvSpPr txBox="1"/>
          <p:nvPr/>
        </p:nvSpPr>
        <p:spPr>
          <a:xfrm>
            <a:off x="6355080" y="4830318"/>
            <a:ext cx="5394960" cy="121158"/>
          </a:xfrm>
          <a:prstGeom prst="rect">
            <a:avLst/>
          </a:prstGeom>
          <a:noFill/>
        </p:spPr>
        <p:txBody>
          <a:bodyPr wrap="square">
            <a:spAutoFit/>
          </a:bodyPr>
          <a:lstStyle/>
          <a:p>
            <a:pPr algn="l"/>
            <a:r>
              <a:rPr sz="1150" b="0" i="0" dirty="0">
                <a:solidFill>
                  <a:srgbClr val="64748B"/>
                </a:solidFill>
                <a:latin typeface="Calibri"/>
              </a:rPr>
              <a:t>     a rounded rectangle</a:t>
            </a:r>
          </a:p>
        </p:txBody>
      </p:sp>
      <p:sp>
        <p:nvSpPr>
          <p:cNvPr id="41" name="TextBox 40"/>
          <p:cNvSpPr txBox="1"/>
          <p:nvPr/>
        </p:nvSpPr>
        <p:spPr>
          <a:xfrm>
            <a:off x="6355080" y="4951476"/>
            <a:ext cx="5394960" cy="121158"/>
          </a:xfrm>
          <a:prstGeom prst="rect">
            <a:avLst/>
          </a:prstGeom>
          <a:noFill/>
        </p:spPr>
        <p:txBody>
          <a:bodyPr wrap="square">
            <a:spAutoFit/>
          </a:bodyPr>
          <a:lstStyle/>
          <a:p>
            <a:pPr algn="l"/>
            <a:r>
              <a:rPr sz="1150" b="0" i="0">
                <a:solidFill>
                  <a:srgbClr val="64748B"/>
                </a:solidFill>
                <a:latin typeface="Calibri"/>
              </a:rPr>
              <a:t>     an oval</a:t>
            </a:r>
          </a:p>
        </p:txBody>
      </p:sp>
      <p:sp>
        <p:nvSpPr>
          <p:cNvPr id="42" name="TextBox 41"/>
          <p:cNvSpPr txBox="1"/>
          <p:nvPr/>
        </p:nvSpPr>
        <p:spPr>
          <a:xfrm>
            <a:off x="6355080" y="5072634"/>
            <a:ext cx="5394960" cy="121158"/>
          </a:xfrm>
          <a:prstGeom prst="rect">
            <a:avLst/>
          </a:prstGeom>
          <a:noFill/>
        </p:spPr>
        <p:txBody>
          <a:bodyPr wrap="square">
            <a:spAutoFit/>
          </a:bodyPr>
          <a:lstStyle/>
          <a:p>
            <a:pPr algn="l"/>
            <a:r>
              <a:rPr sz="1150" b="0" i="0" dirty="0">
                <a:solidFill>
                  <a:srgbClr val="64748B"/>
                </a:solidFill>
                <a:latin typeface="Calibri"/>
              </a:rPr>
              <a:t>     a hexagon</a:t>
            </a:r>
          </a:p>
        </p:txBody>
      </p:sp>
      <p:sp>
        <p:nvSpPr>
          <p:cNvPr id="43" name="Rectangle 42"/>
          <p:cNvSpPr/>
          <p:nvPr/>
        </p:nvSpPr>
        <p:spPr>
          <a:xfrm>
            <a:off x="274320" y="5349240"/>
            <a:ext cx="5669280" cy="126187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11480" y="5440680"/>
            <a:ext cx="5394960" cy="640080"/>
          </a:xfrm>
          <a:prstGeom prst="rect">
            <a:avLst/>
          </a:prstGeom>
          <a:noFill/>
        </p:spPr>
        <p:txBody>
          <a:bodyPr wrap="square">
            <a:spAutoFit/>
          </a:bodyPr>
          <a:lstStyle/>
          <a:p>
            <a:pPr algn="l"/>
            <a:r>
              <a:rPr sz="1350" b="1" i="0">
                <a:solidFill>
                  <a:srgbClr val="FFFFFF"/>
                </a:solidFill>
                <a:latin typeface="Calibri"/>
              </a:rPr>
              <a:t>Q24  In box-shadow: 2px 4px 8px rgba(0,0,0,0.2)  the 3rd value (8px) controls …</a:t>
            </a:r>
          </a:p>
        </p:txBody>
      </p:sp>
      <p:sp>
        <p:nvSpPr>
          <p:cNvPr id="45" name="TextBox 44"/>
          <p:cNvSpPr txBox="1"/>
          <p:nvPr/>
        </p:nvSpPr>
        <p:spPr>
          <a:xfrm>
            <a:off x="411480" y="6080760"/>
            <a:ext cx="5394960" cy="269304"/>
          </a:xfrm>
          <a:prstGeom prst="rect">
            <a:avLst/>
          </a:prstGeom>
          <a:noFill/>
        </p:spPr>
        <p:txBody>
          <a:bodyPr wrap="square">
            <a:spAutoFit/>
          </a:bodyPr>
          <a:lstStyle/>
          <a:p>
            <a:r>
              <a:rPr lang="ko-KR" altLang="en-US" sz="1150" dirty="0">
                <a:solidFill>
                  <a:srgbClr val="64748B"/>
                </a:solidFill>
                <a:latin typeface="Calibri"/>
              </a:rPr>
              <a:t>　</a:t>
            </a:r>
            <a:r>
              <a:rPr sz="1150" dirty="0">
                <a:solidFill>
                  <a:srgbClr val="64748B"/>
                </a:solidFill>
                <a:latin typeface="Calibri"/>
              </a:rPr>
              <a:t>blur radius</a:t>
            </a:r>
          </a:p>
        </p:txBody>
      </p:sp>
      <p:sp>
        <p:nvSpPr>
          <p:cNvPr id="46" name="TextBox 45"/>
          <p:cNvSpPr txBox="1"/>
          <p:nvPr/>
        </p:nvSpPr>
        <p:spPr>
          <a:xfrm>
            <a:off x="411480" y="6201918"/>
            <a:ext cx="5394960" cy="121158"/>
          </a:xfrm>
          <a:prstGeom prst="rect">
            <a:avLst/>
          </a:prstGeom>
          <a:noFill/>
        </p:spPr>
        <p:txBody>
          <a:bodyPr wrap="square">
            <a:spAutoFit/>
          </a:bodyPr>
          <a:lstStyle/>
          <a:p>
            <a:pPr algn="l"/>
            <a:r>
              <a:rPr sz="1150" b="0" i="0">
                <a:solidFill>
                  <a:srgbClr val="64748B"/>
                </a:solidFill>
                <a:latin typeface="Calibri"/>
              </a:rPr>
              <a:t>     horizontal offset</a:t>
            </a:r>
          </a:p>
        </p:txBody>
      </p:sp>
      <p:sp>
        <p:nvSpPr>
          <p:cNvPr id="47" name="TextBox 46"/>
          <p:cNvSpPr txBox="1"/>
          <p:nvPr/>
        </p:nvSpPr>
        <p:spPr>
          <a:xfrm>
            <a:off x="411480" y="6323076"/>
            <a:ext cx="5394960" cy="121158"/>
          </a:xfrm>
          <a:prstGeom prst="rect">
            <a:avLst/>
          </a:prstGeom>
          <a:noFill/>
        </p:spPr>
        <p:txBody>
          <a:bodyPr wrap="square">
            <a:spAutoFit/>
          </a:bodyPr>
          <a:lstStyle/>
          <a:p>
            <a:pPr algn="l"/>
            <a:r>
              <a:rPr sz="1150" b="0" i="0">
                <a:solidFill>
                  <a:srgbClr val="64748B"/>
                </a:solidFill>
                <a:latin typeface="Calibri"/>
              </a:rPr>
              <a:t>     vertical offset</a:t>
            </a:r>
          </a:p>
        </p:txBody>
      </p:sp>
      <p:sp>
        <p:nvSpPr>
          <p:cNvPr id="48" name="TextBox 47"/>
          <p:cNvSpPr txBox="1"/>
          <p:nvPr/>
        </p:nvSpPr>
        <p:spPr>
          <a:xfrm>
            <a:off x="411480" y="6444234"/>
            <a:ext cx="5394960" cy="121158"/>
          </a:xfrm>
          <a:prstGeom prst="rect">
            <a:avLst/>
          </a:prstGeom>
          <a:noFill/>
        </p:spPr>
        <p:txBody>
          <a:bodyPr wrap="square">
            <a:spAutoFit/>
          </a:bodyPr>
          <a:lstStyle/>
          <a:p>
            <a:pPr algn="l"/>
            <a:r>
              <a:rPr sz="1150" b="0" i="0">
                <a:solidFill>
                  <a:srgbClr val="64748B"/>
                </a:solidFill>
                <a:latin typeface="Calibri"/>
              </a:rPr>
              <a:t>     spread radius</a:t>
            </a:r>
          </a:p>
        </p:txBody>
      </p:sp>
      <p:sp>
        <p:nvSpPr>
          <p:cNvPr id="49" name="Rectangle 48"/>
          <p:cNvSpPr/>
          <p:nvPr/>
        </p:nvSpPr>
        <p:spPr>
          <a:xfrm>
            <a:off x="6217920" y="5349240"/>
            <a:ext cx="5669280" cy="126187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355080" y="5440680"/>
            <a:ext cx="5394960" cy="640080"/>
          </a:xfrm>
          <a:prstGeom prst="rect">
            <a:avLst/>
          </a:prstGeom>
          <a:noFill/>
        </p:spPr>
        <p:txBody>
          <a:bodyPr wrap="square">
            <a:spAutoFit/>
          </a:bodyPr>
          <a:lstStyle/>
          <a:p>
            <a:pPr algn="l"/>
            <a:r>
              <a:rPr sz="1350" b="1" i="0">
                <a:solidFill>
                  <a:srgbClr val="FFFFFF"/>
                </a:solidFill>
                <a:latin typeface="Calibri"/>
              </a:rPr>
              <a:t>Q25  The CSS inherit keyword makes a property …</a:t>
            </a:r>
          </a:p>
        </p:txBody>
      </p:sp>
      <p:sp>
        <p:nvSpPr>
          <p:cNvPr id="51" name="TextBox 50"/>
          <p:cNvSpPr txBox="1"/>
          <p:nvPr/>
        </p:nvSpPr>
        <p:spPr>
          <a:xfrm>
            <a:off x="6355080" y="6080760"/>
            <a:ext cx="5394960" cy="269304"/>
          </a:xfrm>
          <a:prstGeom prst="rect">
            <a:avLst/>
          </a:prstGeom>
          <a:noFill/>
        </p:spPr>
        <p:txBody>
          <a:bodyPr wrap="square">
            <a:spAutoFit/>
          </a:bodyPr>
          <a:lstStyle/>
          <a:p>
            <a:r>
              <a:rPr lang="ko-KR" altLang="en-US" sz="1150" dirty="0">
                <a:solidFill>
                  <a:srgbClr val="64748B"/>
                </a:solidFill>
                <a:latin typeface="Calibri"/>
              </a:rPr>
              <a:t>　</a:t>
            </a:r>
            <a:r>
              <a:rPr sz="1150" dirty="0">
                <a:solidFill>
                  <a:srgbClr val="64748B"/>
                </a:solidFill>
                <a:latin typeface="Calibri"/>
              </a:rPr>
              <a:t> take the computed value from the parent element</a:t>
            </a:r>
          </a:p>
        </p:txBody>
      </p:sp>
      <p:sp>
        <p:nvSpPr>
          <p:cNvPr id="52" name="TextBox 51"/>
          <p:cNvSpPr txBox="1"/>
          <p:nvPr/>
        </p:nvSpPr>
        <p:spPr>
          <a:xfrm>
            <a:off x="6355080" y="6201918"/>
            <a:ext cx="5394960" cy="121158"/>
          </a:xfrm>
          <a:prstGeom prst="rect">
            <a:avLst/>
          </a:prstGeom>
          <a:noFill/>
        </p:spPr>
        <p:txBody>
          <a:bodyPr wrap="square">
            <a:spAutoFit/>
          </a:bodyPr>
          <a:lstStyle/>
          <a:p>
            <a:pPr algn="l"/>
            <a:r>
              <a:rPr sz="1150" b="0" i="0">
                <a:solidFill>
                  <a:srgbClr val="64748B"/>
                </a:solidFill>
                <a:latin typeface="Calibri"/>
              </a:rPr>
              <a:t>     reset to browser default</a:t>
            </a:r>
          </a:p>
        </p:txBody>
      </p:sp>
      <p:sp>
        <p:nvSpPr>
          <p:cNvPr id="53" name="TextBox 52"/>
          <p:cNvSpPr txBox="1"/>
          <p:nvPr/>
        </p:nvSpPr>
        <p:spPr>
          <a:xfrm>
            <a:off x="6355080" y="6323076"/>
            <a:ext cx="5394960" cy="121158"/>
          </a:xfrm>
          <a:prstGeom prst="rect">
            <a:avLst/>
          </a:prstGeom>
          <a:noFill/>
        </p:spPr>
        <p:txBody>
          <a:bodyPr wrap="square">
            <a:spAutoFit/>
          </a:bodyPr>
          <a:lstStyle/>
          <a:p>
            <a:pPr algn="l"/>
            <a:r>
              <a:rPr sz="1150" b="0" i="0">
                <a:solidFill>
                  <a:srgbClr val="64748B"/>
                </a:solidFill>
                <a:latin typeface="Calibri"/>
              </a:rPr>
              <a:t>     apply !important override</a:t>
            </a:r>
          </a:p>
        </p:txBody>
      </p:sp>
      <p:sp>
        <p:nvSpPr>
          <p:cNvPr id="54" name="TextBox 53"/>
          <p:cNvSpPr txBox="1"/>
          <p:nvPr/>
        </p:nvSpPr>
        <p:spPr>
          <a:xfrm>
            <a:off x="6355080" y="6444234"/>
            <a:ext cx="5394960" cy="121158"/>
          </a:xfrm>
          <a:prstGeom prst="rect">
            <a:avLst/>
          </a:prstGeom>
          <a:noFill/>
        </p:spPr>
        <p:txBody>
          <a:bodyPr wrap="square">
            <a:spAutoFit/>
          </a:bodyPr>
          <a:lstStyle/>
          <a:p>
            <a:pPr algn="l"/>
            <a:r>
              <a:rPr sz="1150" b="0" i="0">
                <a:solidFill>
                  <a:srgbClr val="64748B"/>
                </a:solidFill>
                <a:latin typeface="Calibri"/>
              </a:rPr>
              <a:t>     copy from the next sibling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9628632" cy="685800"/>
          </a:xfrm>
          <a:prstGeom prst="rect">
            <a:avLst/>
          </a:prstGeom>
          <a:noFill/>
        </p:spPr>
        <p:txBody>
          <a:bodyPr wrap="square">
            <a:spAutoFit/>
          </a:bodyPr>
          <a:lstStyle/>
          <a:p>
            <a:pPr algn="l"/>
            <a:r>
              <a:rPr sz="3200" b="1" i="0">
                <a:solidFill>
                  <a:srgbClr val="FFFFFF"/>
                </a:solidFill>
                <a:latin typeface="Calibri"/>
              </a:rPr>
              <a:t>Check-In · Grid, Flexbox Advanced, border-radius, box-shadow</a:t>
            </a:r>
          </a:p>
        </p:txBody>
      </p:sp>
      <p:sp>
        <p:nvSpPr>
          <p:cNvPr id="4" name="TextBox 3"/>
          <p:cNvSpPr txBox="1"/>
          <p:nvPr/>
        </p:nvSpPr>
        <p:spPr>
          <a:xfrm>
            <a:off x="365760" y="685800"/>
            <a:ext cx="9628632" cy="347472"/>
          </a:xfrm>
          <a:prstGeom prst="rect">
            <a:avLst/>
          </a:prstGeom>
          <a:noFill/>
        </p:spPr>
        <p:txBody>
          <a:bodyPr wrap="square">
            <a:spAutoFit/>
          </a:bodyPr>
          <a:lstStyle/>
          <a:p>
            <a:pPr algn="l"/>
            <a:r>
              <a:rPr sz="1500" b="0" i="0">
                <a:solidFill>
                  <a:srgbClr val="F0FDFA"/>
                </a:solidFill>
                <a:latin typeface="Calibri"/>
              </a:rPr>
              <a:t>Q18–Q25</a:t>
            </a:r>
          </a:p>
        </p:txBody>
      </p:sp>
      <p:sp>
        <p:nvSpPr>
          <p:cNvPr id="5" name="Rectangle 4"/>
          <p:cNvSpPr/>
          <p:nvPr/>
        </p:nvSpPr>
        <p:spPr>
          <a:xfrm>
            <a:off x="10085832" y="45720"/>
            <a:ext cx="2011680" cy="475488"/>
          </a:xfrm>
          <a:prstGeom prst="rect">
            <a:avLst/>
          </a:prstGeom>
          <a:solidFill>
            <a:srgbClr val="064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85832" y="109728"/>
            <a:ext cx="2011680" cy="365760"/>
          </a:xfrm>
          <a:prstGeom prst="rect">
            <a:avLst/>
          </a:prstGeom>
          <a:noFill/>
        </p:spPr>
        <p:txBody>
          <a:bodyPr wrap="square">
            <a:spAutoFit/>
          </a:bodyPr>
          <a:lstStyle/>
          <a:p>
            <a:pPr algn="ctr"/>
            <a:r>
              <a:rPr sz="1000" b="1" i="0">
                <a:solidFill>
                  <a:srgbClr val="14B8A6"/>
                </a:solidFill>
                <a:latin typeface="Calibri"/>
              </a:rPr>
              <a:t>WEEK 3 · FRIDAY</a:t>
            </a:r>
          </a:p>
        </p:txBody>
      </p:sp>
      <p:sp>
        <p:nvSpPr>
          <p:cNvPr id="7" name="Rectangle 6"/>
          <p:cNvSpPr/>
          <p:nvPr/>
        </p:nvSpPr>
        <p:spPr>
          <a:xfrm>
            <a:off x="274320" y="1234440"/>
            <a:ext cx="5669280" cy="126187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80" y="1325880"/>
            <a:ext cx="5394960" cy="640080"/>
          </a:xfrm>
          <a:prstGeom prst="rect">
            <a:avLst/>
          </a:prstGeom>
          <a:noFill/>
        </p:spPr>
        <p:txBody>
          <a:bodyPr wrap="square">
            <a:spAutoFit/>
          </a:bodyPr>
          <a:lstStyle/>
          <a:p>
            <a:pPr algn="l"/>
            <a:r>
              <a:rPr sz="1350" b="1" i="0">
                <a:solidFill>
                  <a:srgbClr val="FFFFFF"/>
                </a:solidFill>
                <a:latin typeface="Calibri"/>
              </a:rPr>
              <a:t>Q18  flex-direction: column makes flex items …</a:t>
            </a:r>
          </a:p>
        </p:txBody>
      </p:sp>
      <p:sp>
        <p:nvSpPr>
          <p:cNvPr id="9" name="TextBox 8"/>
          <p:cNvSpPr txBox="1"/>
          <p:nvPr/>
        </p:nvSpPr>
        <p:spPr>
          <a:xfrm>
            <a:off x="411480" y="1965960"/>
            <a:ext cx="5394960" cy="121158"/>
          </a:xfrm>
          <a:prstGeom prst="rect">
            <a:avLst/>
          </a:prstGeom>
          <a:noFill/>
        </p:spPr>
        <p:txBody>
          <a:bodyPr wrap="square">
            <a:spAutoFit/>
          </a:bodyPr>
          <a:lstStyle/>
          <a:p>
            <a:pPr algn="l"/>
            <a:r>
              <a:rPr sz="1150" b="1" i="0">
                <a:solidFill>
                  <a:srgbClr val="22C55E"/>
                </a:solidFill>
                <a:latin typeface="Calibri"/>
              </a:rPr>
              <a:t>✔ stack vertically (a column)</a:t>
            </a:r>
          </a:p>
        </p:txBody>
      </p:sp>
      <p:sp>
        <p:nvSpPr>
          <p:cNvPr id="10" name="TextBox 9"/>
          <p:cNvSpPr txBox="1"/>
          <p:nvPr/>
        </p:nvSpPr>
        <p:spPr>
          <a:xfrm>
            <a:off x="411480" y="2087118"/>
            <a:ext cx="5394960" cy="121158"/>
          </a:xfrm>
          <a:prstGeom prst="rect">
            <a:avLst/>
          </a:prstGeom>
          <a:noFill/>
        </p:spPr>
        <p:txBody>
          <a:bodyPr wrap="square">
            <a:spAutoFit/>
          </a:bodyPr>
          <a:lstStyle/>
          <a:p>
            <a:pPr algn="l"/>
            <a:r>
              <a:rPr sz="1150" b="0" i="0">
                <a:solidFill>
                  <a:srgbClr val="64748B"/>
                </a:solidFill>
                <a:latin typeface="Calibri"/>
              </a:rPr>
              <a:t>     wrap to the next row</a:t>
            </a:r>
          </a:p>
        </p:txBody>
      </p:sp>
      <p:sp>
        <p:nvSpPr>
          <p:cNvPr id="11" name="TextBox 10"/>
          <p:cNvSpPr txBox="1"/>
          <p:nvPr/>
        </p:nvSpPr>
        <p:spPr>
          <a:xfrm>
            <a:off x="411480" y="2208276"/>
            <a:ext cx="5394960" cy="121158"/>
          </a:xfrm>
          <a:prstGeom prst="rect">
            <a:avLst/>
          </a:prstGeom>
          <a:noFill/>
        </p:spPr>
        <p:txBody>
          <a:bodyPr wrap="square">
            <a:spAutoFit/>
          </a:bodyPr>
          <a:lstStyle/>
          <a:p>
            <a:pPr algn="l"/>
            <a:r>
              <a:rPr sz="1150" b="0" i="0">
                <a:solidFill>
                  <a:srgbClr val="64748B"/>
                </a:solidFill>
                <a:latin typeface="Calibri"/>
              </a:rPr>
              <a:t>     reverse their order</a:t>
            </a:r>
          </a:p>
        </p:txBody>
      </p:sp>
      <p:sp>
        <p:nvSpPr>
          <p:cNvPr id="12" name="TextBox 11"/>
          <p:cNvSpPr txBox="1"/>
          <p:nvPr/>
        </p:nvSpPr>
        <p:spPr>
          <a:xfrm>
            <a:off x="411480" y="2329434"/>
            <a:ext cx="5394960" cy="121158"/>
          </a:xfrm>
          <a:prstGeom prst="rect">
            <a:avLst/>
          </a:prstGeom>
          <a:noFill/>
        </p:spPr>
        <p:txBody>
          <a:bodyPr wrap="square">
            <a:spAutoFit/>
          </a:bodyPr>
          <a:lstStyle/>
          <a:p>
            <a:pPr algn="l"/>
            <a:r>
              <a:rPr sz="1150" b="0" i="0">
                <a:solidFill>
                  <a:srgbClr val="64748B"/>
                </a:solidFill>
                <a:latin typeface="Calibri"/>
              </a:rPr>
              <a:t>     shrink to minimum width</a:t>
            </a:r>
          </a:p>
        </p:txBody>
      </p:sp>
      <p:sp>
        <p:nvSpPr>
          <p:cNvPr id="13" name="Rectangle 12"/>
          <p:cNvSpPr/>
          <p:nvPr/>
        </p:nvSpPr>
        <p:spPr>
          <a:xfrm>
            <a:off x="6217920" y="1234440"/>
            <a:ext cx="5669280" cy="126187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55080" y="1325880"/>
            <a:ext cx="5394960" cy="640080"/>
          </a:xfrm>
          <a:prstGeom prst="rect">
            <a:avLst/>
          </a:prstGeom>
          <a:noFill/>
        </p:spPr>
        <p:txBody>
          <a:bodyPr wrap="square">
            <a:spAutoFit/>
          </a:bodyPr>
          <a:lstStyle/>
          <a:p>
            <a:pPr algn="l"/>
            <a:r>
              <a:rPr sz="1350" b="1" i="0">
                <a:solidFill>
                  <a:srgbClr val="FFFFFF"/>
                </a:solidFill>
                <a:latin typeface="Calibri"/>
              </a:rPr>
              <a:t>Q19  flex-wrap: wrap allows flex items to …</a:t>
            </a:r>
          </a:p>
        </p:txBody>
      </p:sp>
      <p:sp>
        <p:nvSpPr>
          <p:cNvPr id="15" name="TextBox 14"/>
          <p:cNvSpPr txBox="1"/>
          <p:nvPr/>
        </p:nvSpPr>
        <p:spPr>
          <a:xfrm>
            <a:off x="6355080" y="1965960"/>
            <a:ext cx="5394960" cy="121158"/>
          </a:xfrm>
          <a:prstGeom prst="rect">
            <a:avLst/>
          </a:prstGeom>
          <a:noFill/>
        </p:spPr>
        <p:txBody>
          <a:bodyPr wrap="square">
            <a:spAutoFit/>
          </a:bodyPr>
          <a:lstStyle/>
          <a:p>
            <a:pPr algn="l"/>
            <a:r>
              <a:rPr sz="1150" b="1" i="0">
                <a:solidFill>
                  <a:srgbClr val="22C55E"/>
                </a:solidFill>
                <a:latin typeface="Calibri"/>
              </a:rPr>
              <a:t>✔ move to a new row when they overflow</a:t>
            </a:r>
          </a:p>
        </p:txBody>
      </p:sp>
      <p:sp>
        <p:nvSpPr>
          <p:cNvPr id="16" name="TextBox 15"/>
          <p:cNvSpPr txBox="1"/>
          <p:nvPr/>
        </p:nvSpPr>
        <p:spPr>
          <a:xfrm>
            <a:off x="6355080" y="2087118"/>
            <a:ext cx="5394960" cy="121158"/>
          </a:xfrm>
          <a:prstGeom prst="rect">
            <a:avLst/>
          </a:prstGeom>
          <a:noFill/>
        </p:spPr>
        <p:txBody>
          <a:bodyPr wrap="square">
            <a:spAutoFit/>
          </a:bodyPr>
          <a:lstStyle/>
          <a:p>
            <a:pPr algn="l"/>
            <a:r>
              <a:rPr sz="1150" b="0" i="0">
                <a:solidFill>
                  <a:srgbClr val="64748B"/>
                </a:solidFill>
                <a:latin typeface="Calibri"/>
              </a:rPr>
              <a:t>     shrink below minimum size</a:t>
            </a:r>
          </a:p>
        </p:txBody>
      </p:sp>
      <p:sp>
        <p:nvSpPr>
          <p:cNvPr id="17" name="TextBox 16"/>
          <p:cNvSpPr txBox="1"/>
          <p:nvPr/>
        </p:nvSpPr>
        <p:spPr>
          <a:xfrm>
            <a:off x="6355080" y="2208276"/>
            <a:ext cx="5394960" cy="121158"/>
          </a:xfrm>
          <a:prstGeom prst="rect">
            <a:avLst/>
          </a:prstGeom>
          <a:noFill/>
        </p:spPr>
        <p:txBody>
          <a:bodyPr wrap="square">
            <a:spAutoFit/>
          </a:bodyPr>
          <a:lstStyle/>
          <a:p>
            <a:pPr algn="l"/>
            <a:r>
              <a:rPr sz="1150" b="0" i="0">
                <a:solidFill>
                  <a:srgbClr val="64748B"/>
                </a:solidFill>
                <a:latin typeface="Calibri"/>
              </a:rPr>
              <a:t>     overlap each other</a:t>
            </a:r>
          </a:p>
        </p:txBody>
      </p:sp>
      <p:sp>
        <p:nvSpPr>
          <p:cNvPr id="18" name="TextBox 17"/>
          <p:cNvSpPr txBox="1"/>
          <p:nvPr/>
        </p:nvSpPr>
        <p:spPr>
          <a:xfrm>
            <a:off x="6355080" y="2329434"/>
            <a:ext cx="5394960" cy="121158"/>
          </a:xfrm>
          <a:prstGeom prst="rect">
            <a:avLst/>
          </a:prstGeom>
          <a:noFill/>
        </p:spPr>
        <p:txBody>
          <a:bodyPr wrap="square">
            <a:spAutoFit/>
          </a:bodyPr>
          <a:lstStyle/>
          <a:p>
            <a:pPr algn="l"/>
            <a:r>
              <a:rPr sz="1150" b="0" i="0">
                <a:solidFill>
                  <a:srgbClr val="64748B"/>
                </a:solidFill>
                <a:latin typeface="Calibri"/>
              </a:rPr>
              <a:t>     ignore the gap property</a:t>
            </a:r>
          </a:p>
        </p:txBody>
      </p:sp>
      <p:sp>
        <p:nvSpPr>
          <p:cNvPr id="19" name="Rectangle 18"/>
          <p:cNvSpPr/>
          <p:nvPr/>
        </p:nvSpPr>
        <p:spPr>
          <a:xfrm>
            <a:off x="274320" y="2606040"/>
            <a:ext cx="5669280" cy="126187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11480" y="2697480"/>
            <a:ext cx="5394960" cy="640080"/>
          </a:xfrm>
          <a:prstGeom prst="rect">
            <a:avLst/>
          </a:prstGeom>
          <a:noFill/>
        </p:spPr>
        <p:txBody>
          <a:bodyPr wrap="square">
            <a:spAutoFit/>
          </a:bodyPr>
          <a:lstStyle/>
          <a:p>
            <a:pPr algn="l"/>
            <a:r>
              <a:rPr sz="1350" b="1" i="0">
                <a:solidFill>
                  <a:srgbClr val="FFFFFF"/>
                </a:solidFill>
                <a:latin typeface="Calibri"/>
              </a:rPr>
              <a:t>Q20  display: grid on a container …</a:t>
            </a:r>
          </a:p>
        </p:txBody>
      </p:sp>
      <p:sp>
        <p:nvSpPr>
          <p:cNvPr id="21" name="TextBox 20"/>
          <p:cNvSpPr txBox="1"/>
          <p:nvPr/>
        </p:nvSpPr>
        <p:spPr>
          <a:xfrm>
            <a:off x="411480" y="3337560"/>
            <a:ext cx="5394960" cy="121158"/>
          </a:xfrm>
          <a:prstGeom prst="rect">
            <a:avLst/>
          </a:prstGeom>
          <a:noFill/>
        </p:spPr>
        <p:txBody>
          <a:bodyPr wrap="square">
            <a:spAutoFit/>
          </a:bodyPr>
          <a:lstStyle/>
          <a:p>
            <a:pPr algn="l"/>
            <a:r>
              <a:rPr sz="1150" b="1" i="0">
                <a:solidFill>
                  <a:srgbClr val="22C55E"/>
                </a:solidFill>
                <a:latin typeface="Calibri"/>
              </a:rPr>
              <a:t>✔ activates the 2-dimensional Grid layout</a:t>
            </a:r>
          </a:p>
        </p:txBody>
      </p:sp>
      <p:sp>
        <p:nvSpPr>
          <p:cNvPr id="22" name="TextBox 21"/>
          <p:cNvSpPr txBox="1"/>
          <p:nvPr/>
        </p:nvSpPr>
        <p:spPr>
          <a:xfrm>
            <a:off x="411480" y="3458718"/>
            <a:ext cx="5394960" cy="121158"/>
          </a:xfrm>
          <a:prstGeom prst="rect">
            <a:avLst/>
          </a:prstGeom>
          <a:noFill/>
        </p:spPr>
        <p:txBody>
          <a:bodyPr wrap="square">
            <a:spAutoFit/>
          </a:bodyPr>
          <a:lstStyle/>
          <a:p>
            <a:pPr algn="l"/>
            <a:r>
              <a:rPr sz="1150" b="0" i="0">
                <a:solidFill>
                  <a:srgbClr val="64748B"/>
                </a:solidFill>
                <a:latin typeface="Calibri"/>
              </a:rPr>
              <a:t>     makes children flex items</a:t>
            </a:r>
          </a:p>
        </p:txBody>
      </p:sp>
      <p:sp>
        <p:nvSpPr>
          <p:cNvPr id="23" name="TextBox 22"/>
          <p:cNvSpPr txBox="1"/>
          <p:nvPr/>
        </p:nvSpPr>
        <p:spPr>
          <a:xfrm>
            <a:off x="411480" y="3579876"/>
            <a:ext cx="5394960" cy="121158"/>
          </a:xfrm>
          <a:prstGeom prst="rect">
            <a:avLst/>
          </a:prstGeom>
          <a:noFill/>
        </p:spPr>
        <p:txBody>
          <a:bodyPr wrap="square">
            <a:spAutoFit/>
          </a:bodyPr>
          <a:lstStyle/>
          <a:p>
            <a:pPr algn="l"/>
            <a:r>
              <a:rPr sz="1150" b="0" i="0">
                <a:solidFill>
                  <a:srgbClr val="64748B"/>
                </a:solidFill>
                <a:latin typeface="Calibri"/>
              </a:rPr>
              <a:t>     hides overflowing children</a:t>
            </a:r>
          </a:p>
        </p:txBody>
      </p:sp>
      <p:sp>
        <p:nvSpPr>
          <p:cNvPr id="24" name="TextBox 23"/>
          <p:cNvSpPr txBox="1"/>
          <p:nvPr/>
        </p:nvSpPr>
        <p:spPr>
          <a:xfrm>
            <a:off x="411480" y="3701034"/>
            <a:ext cx="5394960" cy="121158"/>
          </a:xfrm>
          <a:prstGeom prst="rect">
            <a:avLst/>
          </a:prstGeom>
          <a:noFill/>
        </p:spPr>
        <p:txBody>
          <a:bodyPr wrap="square">
            <a:spAutoFit/>
          </a:bodyPr>
          <a:lstStyle/>
          <a:p>
            <a:pPr algn="l"/>
            <a:r>
              <a:rPr sz="1150" b="0" i="0">
                <a:solidFill>
                  <a:srgbClr val="64748B"/>
                </a:solidFill>
                <a:latin typeface="Calibri"/>
              </a:rPr>
              <a:t>     stacks children absolutely</a:t>
            </a:r>
          </a:p>
        </p:txBody>
      </p:sp>
      <p:sp>
        <p:nvSpPr>
          <p:cNvPr id="25" name="Rectangle 24"/>
          <p:cNvSpPr/>
          <p:nvPr/>
        </p:nvSpPr>
        <p:spPr>
          <a:xfrm>
            <a:off x="6217920" y="2606040"/>
            <a:ext cx="5669280" cy="126187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55080" y="2697480"/>
            <a:ext cx="5394960" cy="640080"/>
          </a:xfrm>
          <a:prstGeom prst="rect">
            <a:avLst/>
          </a:prstGeom>
          <a:noFill/>
        </p:spPr>
        <p:txBody>
          <a:bodyPr wrap="square">
            <a:spAutoFit/>
          </a:bodyPr>
          <a:lstStyle/>
          <a:p>
            <a:pPr algn="l"/>
            <a:r>
              <a:rPr sz="1350" b="1" i="0">
                <a:solidFill>
                  <a:srgbClr val="FFFFFF"/>
                </a:solidFill>
                <a:latin typeface="Calibri"/>
              </a:rPr>
              <a:t>Q21  grid-template-columns: repeat(3, 1fr) creates …</a:t>
            </a:r>
          </a:p>
        </p:txBody>
      </p:sp>
      <p:sp>
        <p:nvSpPr>
          <p:cNvPr id="27" name="TextBox 26"/>
          <p:cNvSpPr txBox="1"/>
          <p:nvPr/>
        </p:nvSpPr>
        <p:spPr>
          <a:xfrm>
            <a:off x="6355080" y="3337560"/>
            <a:ext cx="5394960" cy="121158"/>
          </a:xfrm>
          <a:prstGeom prst="rect">
            <a:avLst/>
          </a:prstGeom>
          <a:noFill/>
        </p:spPr>
        <p:txBody>
          <a:bodyPr wrap="square">
            <a:spAutoFit/>
          </a:bodyPr>
          <a:lstStyle/>
          <a:p>
            <a:pPr algn="l"/>
            <a:r>
              <a:rPr sz="1150" b="1" i="0">
                <a:solidFill>
                  <a:srgbClr val="22C55E"/>
                </a:solidFill>
                <a:latin typeface="Calibri"/>
              </a:rPr>
              <a:t>✔ 3 equal-width columns</a:t>
            </a:r>
          </a:p>
        </p:txBody>
      </p:sp>
      <p:sp>
        <p:nvSpPr>
          <p:cNvPr id="28" name="TextBox 27"/>
          <p:cNvSpPr txBox="1"/>
          <p:nvPr/>
        </p:nvSpPr>
        <p:spPr>
          <a:xfrm>
            <a:off x="6355080" y="3458718"/>
            <a:ext cx="5394960" cy="121158"/>
          </a:xfrm>
          <a:prstGeom prst="rect">
            <a:avLst/>
          </a:prstGeom>
          <a:noFill/>
        </p:spPr>
        <p:txBody>
          <a:bodyPr wrap="square">
            <a:spAutoFit/>
          </a:bodyPr>
          <a:lstStyle/>
          <a:p>
            <a:pPr algn="l"/>
            <a:r>
              <a:rPr sz="1150" b="0" i="0">
                <a:solidFill>
                  <a:srgbClr val="64748B"/>
                </a:solidFill>
                <a:latin typeface="Calibri"/>
              </a:rPr>
              <a:t>     1 column of 3fr width</a:t>
            </a:r>
          </a:p>
        </p:txBody>
      </p:sp>
      <p:sp>
        <p:nvSpPr>
          <p:cNvPr id="29" name="TextBox 28"/>
          <p:cNvSpPr txBox="1"/>
          <p:nvPr/>
        </p:nvSpPr>
        <p:spPr>
          <a:xfrm>
            <a:off x="6355080" y="3579876"/>
            <a:ext cx="5394960" cy="121158"/>
          </a:xfrm>
          <a:prstGeom prst="rect">
            <a:avLst/>
          </a:prstGeom>
          <a:noFill/>
        </p:spPr>
        <p:txBody>
          <a:bodyPr wrap="square">
            <a:spAutoFit/>
          </a:bodyPr>
          <a:lstStyle/>
          <a:p>
            <a:pPr algn="l"/>
            <a:r>
              <a:rPr sz="1150" b="0" i="0">
                <a:solidFill>
                  <a:srgbClr val="64748B"/>
                </a:solidFill>
                <a:latin typeface="Calibri"/>
              </a:rPr>
              <a:t>     3 rows</a:t>
            </a:r>
          </a:p>
        </p:txBody>
      </p:sp>
      <p:sp>
        <p:nvSpPr>
          <p:cNvPr id="30" name="TextBox 29"/>
          <p:cNvSpPr txBox="1"/>
          <p:nvPr/>
        </p:nvSpPr>
        <p:spPr>
          <a:xfrm>
            <a:off x="6355080" y="3701034"/>
            <a:ext cx="5394960" cy="121158"/>
          </a:xfrm>
          <a:prstGeom prst="rect">
            <a:avLst/>
          </a:prstGeom>
          <a:noFill/>
        </p:spPr>
        <p:txBody>
          <a:bodyPr wrap="square">
            <a:spAutoFit/>
          </a:bodyPr>
          <a:lstStyle/>
          <a:p>
            <a:pPr algn="l"/>
            <a:r>
              <a:rPr sz="1150" b="0" i="0">
                <a:solidFill>
                  <a:srgbClr val="64748B"/>
                </a:solidFill>
                <a:latin typeface="Calibri"/>
              </a:rPr>
              <a:t>     a fixed 300px grid</a:t>
            </a:r>
          </a:p>
        </p:txBody>
      </p:sp>
      <p:sp>
        <p:nvSpPr>
          <p:cNvPr id="31" name="Rectangle 30"/>
          <p:cNvSpPr/>
          <p:nvPr/>
        </p:nvSpPr>
        <p:spPr>
          <a:xfrm>
            <a:off x="274320" y="3977640"/>
            <a:ext cx="5669280" cy="126187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11480" y="4069080"/>
            <a:ext cx="5394960" cy="640080"/>
          </a:xfrm>
          <a:prstGeom prst="rect">
            <a:avLst/>
          </a:prstGeom>
          <a:noFill/>
        </p:spPr>
        <p:txBody>
          <a:bodyPr wrap="square">
            <a:spAutoFit/>
          </a:bodyPr>
          <a:lstStyle/>
          <a:p>
            <a:pPr algn="l"/>
            <a:r>
              <a:rPr sz="1350" b="1" i="0">
                <a:solidFill>
                  <a:srgbClr val="FFFFFF"/>
                </a:solidFill>
                <a:latin typeface="Calibri"/>
              </a:rPr>
              <a:t>Q22  Which property adds space between grid OR flex items?</a:t>
            </a:r>
          </a:p>
        </p:txBody>
      </p:sp>
      <p:sp>
        <p:nvSpPr>
          <p:cNvPr id="33" name="TextBox 32"/>
          <p:cNvSpPr txBox="1"/>
          <p:nvPr/>
        </p:nvSpPr>
        <p:spPr>
          <a:xfrm>
            <a:off x="411480" y="4709160"/>
            <a:ext cx="5394960" cy="121158"/>
          </a:xfrm>
          <a:prstGeom prst="rect">
            <a:avLst/>
          </a:prstGeom>
          <a:noFill/>
        </p:spPr>
        <p:txBody>
          <a:bodyPr wrap="square">
            <a:spAutoFit/>
          </a:bodyPr>
          <a:lstStyle/>
          <a:p>
            <a:pPr algn="l"/>
            <a:r>
              <a:rPr sz="1150" b="1" i="0">
                <a:solidFill>
                  <a:srgbClr val="22C55E"/>
                </a:solidFill>
                <a:latin typeface="Calibri"/>
              </a:rPr>
              <a:t>✔ gap</a:t>
            </a:r>
          </a:p>
        </p:txBody>
      </p:sp>
      <p:sp>
        <p:nvSpPr>
          <p:cNvPr id="34" name="TextBox 33"/>
          <p:cNvSpPr txBox="1"/>
          <p:nvPr/>
        </p:nvSpPr>
        <p:spPr>
          <a:xfrm>
            <a:off x="411480" y="4830318"/>
            <a:ext cx="5394960" cy="121158"/>
          </a:xfrm>
          <a:prstGeom prst="rect">
            <a:avLst/>
          </a:prstGeom>
          <a:noFill/>
        </p:spPr>
        <p:txBody>
          <a:bodyPr wrap="square">
            <a:spAutoFit/>
          </a:bodyPr>
          <a:lstStyle/>
          <a:p>
            <a:pPr algn="l"/>
            <a:r>
              <a:rPr sz="1150" b="0" i="0">
                <a:solidFill>
                  <a:srgbClr val="64748B"/>
                </a:solidFill>
                <a:latin typeface="Calibri"/>
              </a:rPr>
              <a:t>     margin</a:t>
            </a:r>
          </a:p>
        </p:txBody>
      </p:sp>
      <p:sp>
        <p:nvSpPr>
          <p:cNvPr id="35" name="TextBox 34"/>
          <p:cNvSpPr txBox="1"/>
          <p:nvPr/>
        </p:nvSpPr>
        <p:spPr>
          <a:xfrm>
            <a:off x="411480" y="4951476"/>
            <a:ext cx="5394960" cy="121158"/>
          </a:xfrm>
          <a:prstGeom prst="rect">
            <a:avLst/>
          </a:prstGeom>
          <a:noFill/>
        </p:spPr>
        <p:txBody>
          <a:bodyPr wrap="square">
            <a:spAutoFit/>
          </a:bodyPr>
          <a:lstStyle/>
          <a:p>
            <a:pPr algn="l"/>
            <a:r>
              <a:rPr sz="1150" b="0" i="0">
                <a:solidFill>
                  <a:srgbClr val="64748B"/>
                </a:solidFill>
                <a:latin typeface="Calibri"/>
              </a:rPr>
              <a:t>     padding</a:t>
            </a:r>
          </a:p>
        </p:txBody>
      </p:sp>
      <p:sp>
        <p:nvSpPr>
          <p:cNvPr id="36" name="TextBox 35"/>
          <p:cNvSpPr txBox="1"/>
          <p:nvPr/>
        </p:nvSpPr>
        <p:spPr>
          <a:xfrm>
            <a:off x="411480" y="5072634"/>
            <a:ext cx="5394960" cy="121158"/>
          </a:xfrm>
          <a:prstGeom prst="rect">
            <a:avLst/>
          </a:prstGeom>
          <a:noFill/>
        </p:spPr>
        <p:txBody>
          <a:bodyPr wrap="square">
            <a:spAutoFit/>
          </a:bodyPr>
          <a:lstStyle/>
          <a:p>
            <a:pPr algn="l"/>
            <a:r>
              <a:rPr sz="1150" b="0" i="0">
                <a:solidFill>
                  <a:srgbClr val="64748B"/>
                </a:solidFill>
                <a:latin typeface="Calibri"/>
              </a:rPr>
              <a:t>     spacing</a:t>
            </a:r>
          </a:p>
        </p:txBody>
      </p:sp>
      <p:sp>
        <p:nvSpPr>
          <p:cNvPr id="37" name="Rectangle 36"/>
          <p:cNvSpPr/>
          <p:nvPr/>
        </p:nvSpPr>
        <p:spPr>
          <a:xfrm>
            <a:off x="6217920" y="3977640"/>
            <a:ext cx="5669280" cy="126187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355080" y="4069080"/>
            <a:ext cx="5394960" cy="640080"/>
          </a:xfrm>
          <a:prstGeom prst="rect">
            <a:avLst/>
          </a:prstGeom>
          <a:noFill/>
        </p:spPr>
        <p:txBody>
          <a:bodyPr wrap="square">
            <a:spAutoFit/>
          </a:bodyPr>
          <a:lstStyle/>
          <a:p>
            <a:pPr algn="l"/>
            <a:r>
              <a:rPr sz="1350" b="1" i="0" dirty="0">
                <a:solidFill>
                  <a:srgbClr val="FFFFFF"/>
                </a:solidFill>
                <a:latin typeface="Calibri"/>
              </a:rPr>
              <a:t>Q23  border-radius: 50% on a square element creates …</a:t>
            </a:r>
          </a:p>
        </p:txBody>
      </p:sp>
      <p:sp>
        <p:nvSpPr>
          <p:cNvPr id="39" name="TextBox 38"/>
          <p:cNvSpPr txBox="1"/>
          <p:nvPr/>
        </p:nvSpPr>
        <p:spPr>
          <a:xfrm>
            <a:off x="6355080" y="4709160"/>
            <a:ext cx="5394960" cy="121158"/>
          </a:xfrm>
          <a:prstGeom prst="rect">
            <a:avLst/>
          </a:prstGeom>
          <a:noFill/>
        </p:spPr>
        <p:txBody>
          <a:bodyPr wrap="square">
            <a:spAutoFit/>
          </a:bodyPr>
          <a:lstStyle/>
          <a:p>
            <a:pPr algn="l"/>
            <a:r>
              <a:rPr sz="1150" b="1" i="0">
                <a:solidFill>
                  <a:srgbClr val="22C55E"/>
                </a:solidFill>
                <a:latin typeface="Calibri"/>
              </a:rPr>
              <a:t>✔ a perfect circle</a:t>
            </a:r>
          </a:p>
        </p:txBody>
      </p:sp>
      <p:sp>
        <p:nvSpPr>
          <p:cNvPr id="40" name="TextBox 39"/>
          <p:cNvSpPr txBox="1"/>
          <p:nvPr/>
        </p:nvSpPr>
        <p:spPr>
          <a:xfrm>
            <a:off x="6355080" y="4830318"/>
            <a:ext cx="5394960" cy="121158"/>
          </a:xfrm>
          <a:prstGeom prst="rect">
            <a:avLst/>
          </a:prstGeom>
          <a:noFill/>
        </p:spPr>
        <p:txBody>
          <a:bodyPr wrap="square">
            <a:spAutoFit/>
          </a:bodyPr>
          <a:lstStyle/>
          <a:p>
            <a:pPr algn="l"/>
            <a:r>
              <a:rPr sz="1150" b="0" i="0">
                <a:solidFill>
                  <a:srgbClr val="64748B"/>
                </a:solidFill>
                <a:latin typeface="Calibri"/>
              </a:rPr>
              <a:t>     a rounded rectangle</a:t>
            </a:r>
          </a:p>
        </p:txBody>
      </p:sp>
      <p:sp>
        <p:nvSpPr>
          <p:cNvPr id="41" name="TextBox 40"/>
          <p:cNvSpPr txBox="1"/>
          <p:nvPr/>
        </p:nvSpPr>
        <p:spPr>
          <a:xfrm>
            <a:off x="6355080" y="4951476"/>
            <a:ext cx="5394960" cy="121158"/>
          </a:xfrm>
          <a:prstGeom prst="rect">
            <a:avLst/>
          </a:prstGeom>
          <a:noFill/>
        </p:spPr>
        <p:txBody>
          <a:bodyPr wrap="square">
            <a:spAutoFit/>
          </a:bodyPr>
          <a:lstStyle/>
          <a:p>
            <a:pPr algn="l"/>
            <a:r>
              <a:rPr sz="1150" b="0" i="0">
                <a:solidFill>
                  <a:srgbClr val="64748B"/>
                </a:solidFill>
                <a:latin typeface="Calibri"/>
              </a:rPr>
              <a:t>     an oval</a:t>
            </a:r>
          </a:p>
        </p:txBody>
      </p:sp>
      <p:sp>
        <p:nvSpPr>
          <p:cNvPr id="42" name="TextBox 41"/>
          <p:cNvSpPr txBox="1"/>
          <p:nvPr/>
        </p:nvSpPr>
        <p:spPr>
          <a:xfrm>
            <a:off x="6355080" y="5072634"/>
            <a:ext cx="5394960" cy="121158"/>
          </a:xfrm>
          <a:prstGeom prst="rect">
            <a:avLst/>
          </a:prstGeom>
          <a:noFill/>
        </p:spPr>
        <p:txBody>
          <a:bodyPr wrap="square">
            <a:spAutoFit/>
          </a:bodyPr>
          <a:lstStyle/>
          <a:p>
            <a:pPr algn="l"/>
            <a:r>
              <a:rPr sz="1150" b="0" i="0">
                <a:solidFill>
                  <a:srgbClr val="64748B"/>
                </a:solidFill>
                <a:latin typeface="Calibri"/>
              </a:rPr>
              <a:t>     a hexagon</a:t>
            </a:r>
          </a:p>
        </p:txBody>
      </p:sp>
      <p:sp>
        <p:nvSpPr>
          <p:cNvPr id="43" name="Rectangle 42"/>
          <p:cNvSpPr/>
          <p:nvPr/>
        </p:nvSpPr>
        <p:spPr>
          <a:xfrm>
            <a:off x="274320" y="5349240"/>
            <a:ext cx="5669280" cy="126187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11480" y="5440680"/>
            <a:ext cx="5394960" cy="640080"/>
          </a:xfrm>
          <a:prstGeom prst="rect">
            <a:avLst/>
          </a:prstGeom>
          <a:noFill/>
        </p:spPr>
        <p:txBody>
          <a:bodyPr wrap="square">
            <a:spAutoFit/>
          </a:bodyPr>
          <a:lstStyle/>
          <a:p>
            <a:pPr algn="l"/>
            <a:r>
              <a:rPr sz="1350" b="1" i="0">
                <a:solidFill>
                  <a:srgbClr val="FFFFFF"/>
                </a:solidFill>
                <a:latin typeface="Calibri"/>
              </a:rPr>
              <a:t>Q24  In box-shadow: 2px 4px 8px rgba(0,0,0,0.2)  the 3rd value (8px) controls …</a:t>
            </a:r>
          </a:p>
        </p:txBody>
      </p:sp>
      <p:sp>
        <p:nvSpPr>
          <p:cNvPr id="45" name="TextBox 44"/>
          <p:cNvSpPr txBox="1"/>
          <p:nvPr/>
        </p:nvSpPr>
        <p:spPr>
          <a:xfrm>
            <a:off x="411480" y="6080760"/>
            <a:ext cx="5394960" cy="121158"/>
          </a:xfrm>
          <a:prstGeom prst="rect">
            <a:avLst/>
          </a:prstGeom>
          <a:noFill/>
        </p:spPr>
        <p:txBody>
          <a:bodyPr wrap="square">
            <a:spAutoFit/>
          </a:bodyPr>
          <a:lstStyle/>
          <a:p>
            <a:pPr algn="l"/>
            <a:r>
              <a:rPr sz="1150" b="1" i="0">
                <a:solidFill>
                  <a:srgbClr val="22C55E"/>
                </a:solidFill>
                <a:latin typeface="Calibri"/>
              </a:rPr>
              <a:t>✔ blur radius</a:t>
            </a:r>
          </a:p>
        </p:txBody>
      </p:sp>
      <p:sp>
        <p:nvSpPr>
          <p:cNvPr id="46" name="TextBox 45"/>
          <p:cNvSpPr txBox="1"/>
          <p:nvPr/>
        </p:nvSpPr>
        <p:spPr>
          <a:xfrm>
            <a:off x="411480" y="6201918"/>
            <a:ext cx="5394960" cy="121158"/>
          </a:xfrm>
          <a:prstGeom prst="rect">
            <a:avLst/>
          </a:prstGeom>
          <a:noFill/>
        </p:spPr>
        <p:txBody>
          <a:bodyPr wrap="square">
            <a:spAutoFit/>
          </a:bodyPr>
          <a:lstStyle/>
          <a:p>
            <a:pPr algn="l"/>
            <a:r>
              <a:rPr sz="1150" b="0" i="0">
                <a:solidFill>
                  <a:srgbClr val="64748B"/>
                </a:solidFill>
                <a:latin typeface="Calibri"/>
              </a:rPr>
              <a:t>     horizontal offset</a:t>
            </a:r>
          </a:p>
        </p:txBody>
      </p:sp>
      <p:sp>
        <p:nvSpPr>
          <p:cNvPr id="47" name="TextBox 46"/>
          <p:cNvSpPr txBox="1"/>
          <p:nvPr/>
        </p:nvSpPr>
        <p:spPr>
          <a:xfrm>
            <a:off x="411480" y="6323076"/>
            <a:ext cx="5394960" cy="121158"/>
          </a:xfrm>
          <a:prstGeom prst="rect">
            <a:avLst/>
          </a:prstGeom>
          <a:noFill/>
        </p:spPr>
        <p:txBody>
          <a:bodyPr wrap="square">
            <a:spAutoFit/>
          </a:bodyPr>
          <a:lstStyle/>
          <a:p>
            <a:pPr algn="l"/>
            <a:r>
              <a:rPr sz="1150" b="0" i="0">
                <a:solidFill>
                  <a:srgbClr val="64748B"/>
                </a:solidFill>
                <a:latin typeface="Calibri"/>
              </a:rPr>
              <a:t>     vertical offset</a:t>
            </a:r>
          </a:p>
        </p:txBody>
      </p:sp>
      <p:sp>
        <p:nvSpPr>
          <p:cNvPr id="48" name="TextBox 47"/>
          <p:cNvSpPr txBox="1"/>
          <p:nvPr/>
        </p:nvSpPr>
        <p:spPr>
          <a:xfrm>
            <a:off x="411480" y="6444234"/>
            <a:ext cx="5394960" cy="121158"/>
          </a:xfrm>
          <a:prstGeom prst="rect">
            <a:avLst/>
          </a:prstGeom>
          <a:noFill/>
        </p:spPr>
        <p:txBody>
          <a:bodyPr wrap="square">
            <a:spAutoFit/>
          </a:bodyPr>
          <a:lstStyle/>
          <a:p>
            <a:pPr algn="l"/>
            <a:r>
              <a:rPr sz="1150" b="0" i="0">
                <a:solidFill>
                  <a:srgbClr val="64748B"/>
                </a:solidFill>
                <a:latin typeface="Calibri"/>
              </a:rPr>
              <a:t>     spread radius</a:t>
            </a:r>
          </a:p>
        </p:txBody>
      </p:sp>
      <p:sp>
        <p:nvSpPr>
          <p:cNvPr id="49" name="Rectangle 48"/>
          <p:cNvSpPr/>
          <p:nvPr/>
        </p:nvSpPr>
        <p:spPr>
          <a:xfrm>
            <a:off x="6217920" y="5349240"/>
            <a:ext cx="5669280" cy="126187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355080" y="5440680"/>
            <a:ext cx="5394960" cy="640080"/>
          </a:xfrm>
          <a:prstGeom prst="rect">
            <a:avLst/>
          </a:prstGeom>
          <a:noFill/>
        </p:spPr>
        <p:txBody>
          <a:bodyPr wrap="square">
            <a:spAutoFit/>
          </a:bodyPr>
          <a:lstStyle/>
          <a:p>
            <a:pPr algn="l"/>
            <a:r>
              <a:rPr sz="1350" b="1" i="0">
                <a:solidFill>
                  <a:srgbClr val="FFFFFF"/>
                </a:solidFill>
                <a:latin typeface="Calibri"/>
              </a:rPr>
              <a:t>Q25  The CSS inherit keyword makes a property …</a:t>
            </a:r>
          </a:p>
        </p:txBody>
      </p:sp>
      <p:sp>
        <p:nvSpPr>
          <p:cNvPr id="51" name="TextBox 50"/>
          <p:cNvSpPr txBox="1"/>
          <p:nvPr/>
        </p:nvSpPr>
        <p:spPr>
          <a:xfrm>
            <a:off x="6355080" y="6080760"/>
            <a:ext cx="5394960" cy="121158"/>
          </a:xfrm>
          <a:prstGeom prst="rect">
            <a:avLst/>
          </a:prstGeom>
          <a:noFill/>
        </p:spPr>
        <p:txBody>
          <a:bodyPr wrap="square">
            <a:spAutoFit/>
          </a:bodyPr>
          <a:lstStyle/>
          <a:p>
            <a:pPr algn="l"/>
            <a:r>
              <a:rPr sz="1150" b="1" i="0">
                <a:solidFill>
                  <a:srgbClr val="22C55E"/>
                </a:solidFill>
                <a:latin typeface="Calibri"/>
              </a:rPr>
              <a:t>✔ take the computed value from the parent element</a:t>
            </a:r>
          </a:p>
        </p:txBody>
      </p:sp>
      <p:sp>
        <p:nvSpPr>
          <p:cNvPr id="52" name="TextBox 51"/>
          <p:cNvSpPr txBox="1"/>
          <p:nvPr/>
        </p:nvSpPr>
        <p:spPr>
          <a:xfrm>
            <a:off x="6355080" y="6201918"/>
            <a:ext cx="5394960" cy="121158"/>
          </a:xfrm>
          <a:prstGeom prst="rect">
            <a:avLst/>
          </a:prstGeom>
          <a:noFill/>
        </p:spPr>
        <p:txBody>
          <a:bodyPr wrap="square">
            <a:spAutoFit/>
          </a:bodyPr>
          <a:lstStyle/>
          <a:p>
            <a:pPr algn="l"/>
            <a:r>
              <a:rPr sz="1150" b="0" i="0">
                <a:solidFill>
                  <a:srgbClr val="64748B"/>
                </a:solidFill>
                <a:latin typeface="Calibri"/>
              </a:rPr>
              <a:t>     reset to browser default</a:t>
            </a:r>
          </a:p>
        </p:txBody>
      </p:sp>
      <p:sp>
        <p:nvSpPr>
          <p:cNvPr id="53" name="TextBox 52"/>
          <p:cNvSpPr txBox="1"/>
          <p:nvPr/>
        </p:nvSpPr>
        <p:spPr>
          <a:xfrm>
            <a:off x="6355080" y="6323076"/>
            <a:ext cx="5394960" cy="121158"/>
          </a:xfrm>
          <a:prstGeom prst="rect">
            <a:avLst/>
          </a:prstGeom>
          <a:noFill/>
        </p:spPr>
        <p:txBody>
          <a:bodyPr wrap="square">
            <a:spAutoFit/>
          </a:bodyPr>
          <a:lstStyle/>
          <a:p>
            <a:pPr algn="l"/>
            <a:r>
              <a:rPr sz="1150" b="0" i="0">
                <a:solidFill>
                  <a:srgbClr val="64748B"/>
                </a:solidFill>
                <a:latin typeface="Calibri"/>
              </a:rPr>
              <a:t>     apply !important override</a:t>
            </a:r>
          </a:p>
        </p:txBody>
      </p:sp>
      <p:sp>
        <p:nvSpPr>
          <p:cNvPr id="54" name="TextBox 53"/>
          <p:cNvSpPr txBox="1"/>
          <p:nvPr/>
        </p:nvSpPr>
        <p:spPr>
          <a:xfrm>
            <a:off x="6355080" y="6444234"/>
            <a:ext cx="5394960" cy="121158"/>
          </a:xfrm>
          <a:prstGeom prst="rect">
            <a:avLst/>
          </a:prstGeom>
          <a:noFill/>
        </p:spPr>
        <p:txBody>
          <a:bodyPr wrap="square">
            <a:spAutoFit/>
          </a:bodyPr>
          <a:lstStyle/>
          <a:p>
            <a:pPr algn="l"/>
            <a:r>
              <a:rPr sz="1150" b="0" i="0">
                <a:solidFill>
                  <a:srgbClr val="64748B"/>
                </a:solidFill>
                <a:latin typeface="Calibri"/>
              </a:rPr>
              <a:t>     copy from the next sibling</a:t>
            </a:r>
          </a:p>
        </p:txBody>
      </p:sp>
    </p:spTree>
    <p:extLst>
      <p:ext uri="{BB962C8B-B14F-4D97-AF65-F5344CB8AC3E}">
        <p14:creationId xmlns:p14="http://schemas.microsoft.com/office/powerpoint/2010/main" val="7775593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6403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144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0085832" y="45720"/>
            <a:ext cx="2011680" cy="475488"/>
          </a:xfrm>
          <a:prstGeom prst="rect">
            <a:avLst/>
          </a:prstGeom>
          <a:solidFill>
            <a:srgbClr val="064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85832" y="109728"/>
            <a:ext cx="2011680" cy="365760"/>
          </a:xfrm>
          <a:prstGeom prst="rect">
            <a:avLst/>
          </a:prstGeom>
          <a:noFill/>
        </p:spPr>
        <p:txBody>
          <a:bodyPr wrap="square">
            <a:spAutoFit/>
          </a:bodyPr>
          <a:lstStyle/>
          <a:p>
            <a:pPr algn="ctr"/>
            <a:r>
              <a:rPr sz="1000" b="1" i="0">
                <a:solidFill>
                  <a:srgbClr val="14B8A6"/>
                </a:solidFill>
                <a:latin typeface="Calibri"/>
              </a:rPr>
              <a:t>WEEK 3 · FRIDAY</a:t>
            </a:r>
          </a:p>
        </p:txBody>
      </p:sp>
      <p:sp>
        <p:nvSpPr>
          <p:cNvPr id="5" name="TextBox 4"/>
          <p:cNvSpPr txBox="1"/>
          <p:nvPr/>
        </p:nvSpPr>
        <p:spPr>
          <a:xfrm>
            <a:off x="365760" y="137160"/>
            <a:ext cx="9628632" cy="640080"/>
          </a:xfrm>
          <a:prstGeom prst="rect">
            <a:avLst/>
          </a:prstGeom>
          <a:noFill/>
        </p:spPr>
        <p:txBody>
          <a:bodyPr wrap="square">
            <a:spAutoFit/>
          </a:bodyPr>
          <a:lstStyle/>
          <a:p>
            <a:pPr algn="l"/>
            <a:r>
              <a:rPr sz="2000" b="1" i="0">
                <a:solidFill>
                  <a:srgbClr val="F0FDFA"/>
                </a:solidFill>
                <a:latin typeface="Calibri"/>
              </a:rPr>
              <a:t>Week 3 · Friday — CSS Advanced</a:t>
            </a:r>
          </a:p>
        </p:txBody>
      </p:sp>
      <p:sp>
        <p:nvSpPr>
          <p:cNvPr id="6" name="TextBox 5"/>
          <p:cNvSpPr txBox="1"/>
          <p:nvPr/>
        </p:nvSpPr>
        <p:spPr>
          <a:xfrm>
            <a:off x="365760" y="1143000"/>
            <a:ext cx="11457432" cy="502920"/>
          </a:xfrm>
          <a:prstGeom prst="rect">
            <a:avLst/>
          </a:prstGeom>
          <a:noFill/>
        </p:spPr>
        <p:txBody>
          <a:bodyPr wrap="square">
            <a:spAutoFit/>
          </a:bodyPr>
          <a:lstStyle/>
          <a:p>
            <a:pPr algn="l"/>
            <a:r>
              <a:rPr sz="2000" b="1" i="0">
                <a:solidFill>
                  <a:srgbClr val="14B8A6"/>
                </a:solidFill>
                <a:latin typeface="Calibri"/>
              </a:rPr>
              <a:t>What you can now do:</a:t>
            </a:r>
          </a:p>
        </p:txBody>
      </p:sp>
      <p:sp>
        <p:nvSpPr>
          <p:cNvPr id="7" name="Rectangle 6"/>
          <p:cNvSpPr/>
          <p:nvPr/>
        </p:nvSpPr>
        <p:spPr>
          <a:xfrm>
            <a:off x="365760" y="1783080"/>
            <a:ext cx="5486400" cy="9601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783080"/>
            <a:ext cx="91440" cy="96012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6928" y="1856232"/>
            <a:ext cx="1371600" cy="411480"/>
          </a:xfrm>
          <a:prstGeom prst="rect">
            <a:avLst/>
          </a:prstGeom>
          <a:noFill/>
        </p:spPr>
        <p:txBody>
          <a:bodyPr wrap="square">
            <a:spAutoFit/>
          </a:bodyPr>
          <a:lstStyle/>
          <a:p>
            <a:pPr algn="l"/>
            <a:r>
              <a:rPr sz="1300" b="1" i="0">
                <a:solidFill>
                  <a:srgbClr val="14B8A6"/>
                </a:solidFill>
                <a:latin typeface="Calibri"/>
              </a:rPr>
              <a:t>Position</a:t>
            </a:r>
          </a:p>
        </p:txBody>
      </p:sp>
      <p:sp>
        <p:nvSpPr>
          <p:cNvPr id="10" name="TextBox 9"/>
          <p:cNvSpPr txBox="1"/>
          <p:nvPr/>
        </p:nvSpPr>
        <p:spPr>
          <a:xfrm>
            <a:off x="1965960" y="1856232"/>
            <a:ext cx="3749039" cy="777240"/>
          </a:xfrm>
          <a:prstGeom prst="rect">
            <a:avLst/>
          </a:prstGeom>
          <a:noFill/>
        </p:spPr>
        <p:txBody>
          <a:bodyPr wrap="square">
            <a:spAutoFit/>
          </a:bodyPr>
          <a:lstStyle/>
          <a:p>
            <a:pPr algn="l"/>
            <a:r>
              <a:rPr sz="1250" b="0" i="0">
                <a:solidFill>
                  <a:srgbClr val="FFFFFF"/>
                </a:solidFill>
                <a:latin typeface="Calibri"/>
              </a:rPr>
              <a:t>Use static/relative/absolute/fixed/sticky to place elements precisely</a:t>
            </a:r>
          </a:p>
        </p:txBody>
      </p:sp>
      <p:sp>
        <p:nvSpPr>
          <p:cNvPr id="11" name="Rectangle 10"/>
          <p:cNvSpPr/>
          <p:nvPr/>
        </p:nvSpPr>
        <p:spPr>
          <a:xfrm>
            <a:off x="6172200" y="1783080"/>
            <a:ext cx="5486400" cy="9601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72200" y="1783080"/>
            <a:ext cx="91440" cy="9601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73368" y="1856232"/>
            <a:ext cx="1371600" cy="411480"/>
          </a:xfrm>
          <a:prstGeom prst="rect">
            <a:avLst/>
          </a:prstGeom>
          <a:noFill/>
        </p:spPr>
        <p:txBody>
          <a:bodyPr wrap="square">
            <a:spAutoFit/>
          </a:bodyPr>
          <a:lstStyle/>
          <a:p>
            <a:pPr algn="l"/>
            <a:r>
              <a:rPr sz="1300" b="1" i="0">
                <a:solidFill>
                  <a:srgbClr val="8B5CF6"/>
                </a:solidFill>
                <a:latin typeface="Calibri"/>
              </a:rPr>
              <a:t>Pseudo</a:t>
            </a:r>
          </a:p>
        </p:txBody>
      </p:sp>
      <p:sp>
        <p:nvSpPr>
          <p:cNvPr id="14" name="TextBox 13"/>
          <p:cNvSpPr txBox="1"/>
          <p:nvPr/>
        </p:nvSpPr>
        <p:spPr>
          <a:xfrm>
            <a:off x="7772400" y="1856232"/>
            <a:ext cx="3749039" cy="777240"/>
          </a:xfrm>
          <a:prstGeom prst="rect">
            <a:avLst/>
          </a:prstGeom>
          <a:noFill/>
        </p:spPr>
        <p:txBody>
          <a:bodyPr wrap="square">
            <a:spAutoFit/>
          </a:bodyPr>
          <a:lstStyle/>
          <a:p>
            <a:pPr algn="l"/>
            <a:r>
              <a:rPr sz="1250" b="0" i="0">
                <a:solidFill>
                  <a:srgbClr val="FFFFFF"/>
                </a:solidFill>
                <a:latin typeface="Calibri"/>
              </a:rPr>
              <a:t>Style elements by state (:hover :focus) and insert content (::before ::after)</a:t>
            </a:r>
          </a:p>
        </p:txBody>
      </p:sp>
      <p:sp>
        <p:nvSpPr>
          <p:cNvPr id="15" name="Rectangle 14"/>
          <p:cNvSpPr/>
          <p:nvPr/>
        </p:nvSpPr>
        <p:spPr>
          <a:xfrm>
            <a:off x="365760" y="2880360"/>
            <a:ext cx="5486400" cy="9601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65760" y="2880360"/>
            <a:ext cx="91440" cy="9601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66928" y="2953512"/>
            <a:ext cx="1371600" cy="411480"/>
          </a:xfrm>
          <a:prstGeom prst="rect">
            <a:avLst/>
          </a:prstGeom>
          <a:noFill/>
        </p:spPr>
        <p:txBody>
          <a:bodyPr wrap="square">
            <a:spAutoFit/>
          </a:bodyPr>
          <a:lstStyle/>
          <a:p>
            <a:pPr algn="l"/>
            <a:r>
              <a:rPr sz="1300" b="1" i="0">
                <a:solidFill>
                  <a:srgbClr val="F59E0B"/>
                </a:solidFill>
                <a:latin typeface="Calibri"/>
              </a:rPr>
              <a:t>Transition</a:t>
            </a:r>
          </a:p>
        </p:txBody>
      </p:sp>
      <p:sp>
        <p:nvSpPr>
          <p:cNvPr id="18" name="TextBox 17"/>
          <p:cNvSpPr txBox="1"/>
          <p:nvPr/>
        </p:nvSpPr>
        <p:spPr>
          <a:xfrm>
            <a:off x="1965960" y="2953512"/>
            <a:ext cx="3749039" cy="777240"/>
          </a:xfrm>
          <a:prstGeom prst="rect">
            <a:avLst/>
          </a:prstGeom>
          <a:noFill/>
        </p:spPr>
        <p:txBody>
          <a:bodyPr wrap="square">
            <a:spAutoFit/>
          </a:bodyPr>
          <a:lstStyle/>
          <a:p>
            <a:pPr algn="l"/>
            <a:r>
              <a:rPr sz="1250" b="0" i="0">
                <a:solidFill>
                  <a:srgbClr val="FFFFFF"/>
                </a:solidFill>
                <a:latin typeface="Calibri"/>
              </a:rPr>
              <a:t>Animate property changes smoothly with transition: property duration easing</a:t>
            </a:r>
          </a:p>
        </p:txBody>
      </p:sp>
      <p:sp>
        <p:nvSpPr>
          <p:cNvPr id="19" name="Rectangle 18"/>
          <p:cNvSpPr/>
          <p:nvPr/>
        </p:nvSpPr>
        <p:spPr>
          <a:xfrm>
            <a:off x="6172200" y="2880360"/>
            <a:ext cx="5486400" cy="9601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72200" y="2880360"/>
            <a:ext cx="91440" cy="96012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73368" y="2953512"/>
            <a:ext cx="1371600" cy="411480"/>
          </a:xfrm>
          <a:prstGeom prst="rect">
            <a:avLst/>
          </a:prstGeom>
          <a:noFill/>
        </p:spPr>
        <p:txBody>
          <a:bodyPr wrap="square">
            <a:spAutoFit/>
          </a:bodyPr>
          <a:lstStyle/>
          <a:p>
            <a:pPr algn="l"/>
            <a:r>
              <a:rPr sz="1300" b="1" i="0">
                <a:solidFill>
                  <a:srgbClr val="22C55E"/>
                </a:solidFill>
                <a:latin typeface="Calibri"/>
              </a:rPr>
              <a:t>Animation</a:t>
            </a:r>
          </a:p>
        </p:txBody>
      </p:sp>
      <p:sp>
        <p:nvSpPr>
          <p:cNvPr id="22" name="TextBox 21"/>
          <p:cNvSpPr txBox="1"/>
          <p:nvPr/>
        </p:nvSpPr>
        <p:spPr>
          <a:xfrm>
            <a:off x="7772400" y="2953512"/>
            <a:ext cx="3749039" cy="777240"/>
          </a:xfrm>
          <a:prstGeom prst="rect">
            <a:avLst/>
          </a:prstGeom>
          <a:noFill/>
        </p:spPr>
        <p:txBody>
          <a:bodyPr wrap="square">
            <a:spAutoFit/>
          </a:bodyPr>
          <a:lstStyle/>
          <a:p>
            <a:pPr algn="l"/>
            <a:r>
              <a:rPr sz="1250" b="0" i="0">
                <a:solidFill>
                  <a:srgbClr val="FFFFFF"/>
                </a:solidFill>
                <a:latin typeface="Calibri"/>
              </a:rPr>
              <a:t>Create multi-step effects with @keyframes and the animation shorthand</a:t>
            </a:r>
          </a:p>
        </p:txBody>
      </p:sp>
      <p:sp>
        <p:nvSpPr>
          <p:cNvPr id="23" name="Rectangle 22"/>
          <p:cNvSpPr/>
          <p:nvPr/>
        </p:nvSpPr>
        <p:spPr>
          <a:xfrm>
            <a:off x="365760" y="3977640"/>
            <a:ext cx="5486400" cy="9601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365760" y="3977640"/>
            <a:ext cx="91440" cy="9601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66928" y="4050792"/>
            <a:ext cx="1371600" cy="411480"/>
          </a:xfrm>
          <a:prstGeom prst="rect">
            <a:avLst/>
          </a:prstGeom>
          <a:noFill/>
        </p:spPr>
        <p:txBody>
          <a:bodyPr wrap="square">
            <a:spAutoFit/>
          </a:bodyPr>
          <a:lstStyle/>
          <a:p>
            <a:pPr algn="l"/>
            <a:r>
              <a:rPr sz="1300" b="1" i="0">
                <a:solidFill>
                  <a:srgbClr val="38BDF8"/>
                </a:solidFill>
                <a:latin typeface="Calibri"/>
              </a:rPr>
              <a:t>Variables</a:t>
            </a:r>
          </a:p>
        </p:txBody>
      </p:sp>
      <p:sp>
        <p:nvSpPr>
          <p:cNvPr id="26" name="TextBox 25"/>
          <p:cNvSpPr txBox="1"/>
          <p:nvPr/>
        </p:nvSpPr>
        <p:spPr>
          <a:xfrm>
            <a:off x="1965960" y="4050792"/>
            <a:ext cx="3749039" cy="777240"/>
          </a:xfrm>
          <a:prstGeom prst="rect">
            <a:avLst/>
          </a:prstGeom>
          <a:noFill/>
        </p:spPr>
        <p:txBody>
          <a:bodyPr wrap="square">
            <a:spAutoFit/>
          </a:bodyPr>
          <a:lstStyle/>
          <a:p>
            <a:pPr algn="l"/>
            <a:r>
              <a:rPr sz="1250" b="0" i="0">
                <a:solidFill>
                  <a:srgbClr val="FFFFFF"/>
                </a:solidFill>
                <a:latin typeface="Calibri"/>
              </a:rPr>
              <a:t>Define --custom-properties in :root and use them everywhere with var()</a:t>
            </a:r>
          </a:p>
        </p:txBody>
      </p:sp>
      <p:sp>
        <p:nvSpPr>
          <p:cNvPr id="27" name="Rectangle 26"/>
          <p:cNvSpPr/>
          <p:nvPr/>
        </p:nvSpPr>
        <p:spPr>
          <a:xfrm>
            <a:off x="6172200" y="3977640"/>
            <a:ext cx="5486400" cy="9601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172200" y="3977640"/>
            <a:ext cx="91440" cy="96012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373368" y="4050792"/>
            <a:ext cx="1371600" cy="411480"/>
          </a:xfrm>
          <a:prstGeom prst="rect">
            <a:avLst/>
          </a:prstGeom>
          <a:noFill/>
        </p:spPr>
        <p:txBody>
          <a:bodyPr wrap="square">
            <a:spAutoFit/>
          </a:bodyPr>
          <a:lstStyle/>
          <a:p>
            <a:pPr algn="l"/>
            <a:r>
              <a:rPr sz="1300" b="1" i="0">
                <a:solidFill>
                  <a:srgbClr val="F43F5E"/>
                </a:solidFill>
                <a:latin typeface="Calibri"/>
              </a:rPr>
              <a:t>Responsive</a:t>
            </a:r>
          </a:p>
        </p:txBody>
      </p:sp>
      <p:sp>
        <p:nvSpPr>
          <p:cNvPr id="30" name="TextBox 29"/>
          <p:cNvSpPr txBox="1"/>
          <p:nvPr/>
        </p:nvSpPr>
        <p:spPr>
          <a:xfrm>
            <a:off x="7772400" y="4050792"/>
            <a:ext cx="3749039" cy="777240"/>
          </a:xfrm>
          <a:prstGeom prst="rect">
            <a:avLst/>
          </a:prstGeom>
          <a:noFill/>
        </p:spPr>
        <p:txBody>
          <a:bodyPr wrap="square">
            <a:spAutoFit/>
          </a:bodyPr>
          <a:lstStyle/>
          <a:p>
            <a:pPr algn="l"/>
            <a:r>
              <a:rPr sz="1250" b="0" i="0">
                <a:solidFill>
                  <a:srgbClr val="FFFFFF"/>
                </a:solidFill>
                <a:latin typeface="Calibri"/>
              </a:rPr>
              <a:t>Use @media (max-width: …) to apply styles only at certain viewport sizes</a:t>
            </a:r>
          </a:p>
        </p:txBody>
      </p:sp>
      <p:sp>
        <p:nvSpPr>
          <p:cNvPr id="31" name="Rectangle 30"/>
          <p:cNvSpPr/>
          <p:nvPr/>
        </p:nvSpPr>
        <p:spPr>
          <a:xfrm>
            <a:off x="3337560" y="5074920"/>
            <a:ext cx="5486400" cy="9601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3337560" y="5074920"/>
            <a:ext cx="91440" cy="96012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538728" y="5148072"/>
            <a:ext cx="1371600" cy="411480"/>
          </a:xfrm>
          <a:prstGeom prst="rect">
            <a:avLst/>
          </a:prstGeom>
          <a:noFill/>
        </p:spPr>
        <p:txBody>
          <a:bodyPr wrap="square">
            <a:spAutoFit/>
          </a:bodyPr>
          <a:lstStyle/>
          <a:p>
            <a:pPr algn="l"/>
            <a:r>
              <a:rPr sz="1300" b="1" i="0">
                <a:solidFill>
                  <a:srgbClr val="14B8A6"/>
                </a:solidFill>
                <a:latin typeface="Calibri"/>
              </a:rPr>
              <a:t>Grid</a:t>
            </a:r>
          </a:p>
        </p:txBody>
      </p:sp>
      <p:sp>
        <p:nvSpPr>
          <p:cNvPr id="34" name="TextBox 33"/>
          <p:cNvSpPr txBox="1"/>
          <p:nvPr/>
        </p:nvSpPr>
        <p:spPr>
          <a:xfrm>
            <a:off x="4937760" y="5148072"/>
            <a:ext cx="3749039" cy="777240"/>
          </a:xfrm>
          <a:prstGeom prst="rect">
            <a:avLst/>
          </a:prstGeom>
          <a:noFill/>
        </p:spPr>
        <p:txBody>
          <a:bodyPr wrap="square">
            <a:spAutoFit/>
          </a:bodyPr>
          <a:lstStyle/>
          <a:p>
            <a:pPr algn="l"/>
            <a:r>
              <a:rPr sz="1250" b="0" i="0">
                <a:solidFill>
                  <a:srgbClr val="FFFFFF"/>
                </a:solidFill>
                <a:latin typeface="Calibri"/>
              </a:rPr>
              <a:t>Create 2-dimensional layouts with display:grid and grid-template-columns</a:t>
            </a:r>
          </a:p>
        </p:txBody>
      </p:sp>
      <p:sp>
        <p:nvSpPr>
          <p:cNvPr id="35" name="TextBox 34"/>
          <p:cNvSpPr txBox="1"/>
          <p:nvPr/>
        </p:nvSpPr>
        <p:spPr>
          <a:xfrm>
            <a:off x="365760" y="6355080"/>
            <a:ext cx="11457432" cy="411480"/>
          </a:xfrm>
          <a:prstGeom prst="rect">
            <a:avLst/>
          </a:prstGeom>
          <a:noFill/>
        </p:spPr>
        <p:txBody>
          <a:bodyPr wrap="square">
            <a:spAutoFit/>
          </a:bodyPr>
          <a:lstStyle/>
          <a:p>
            <a:pPr algn="l"/>
            <a:r>
              <a:rPr sz="1350" b="0" i="0">
                <a:solidFill>
                  <a:srgbClr val="64748B"/>
                </a:solidFill>
                <a:latin typeface="Calibri"/>
              </a:rPr>
              <a:t>Next: Week 4 · Monday → JavaScript Introduction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282</TotalTime>
  <Words>11875</Words>
  <Application>Microsoft Office PowerPoint</Application>
  <PresentationFormat>Custom</PresentationFormat>
  <Paragraphs>1061</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Mukhiddin Toshpulatov</cp:lastModifiedBy>
  <cp:revision>20</cp:revision>
  <dcterms:created xsi:type="dcterms:W3CDTF">2013-01-27T09:14:16Z</dcterms:created>
  <dcterms:modified xsi:type="dcterms:W3CDTF">2026-09-17T09:37:46Z</dcterms:modified>
  <cp:category/>
</cp:coreProperties>
</file>