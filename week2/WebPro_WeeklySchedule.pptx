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F8BA4"/>
                </a:solidFill>
                <a:latin typeface="Plus Jakarta Sans"/>
              </a:rPr>
              <a:t>01 /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9A7"/>
                </a:solidFill>
                <a:latin typeface="Plus Jakarta Sans"/>
              </a:rPr>
              <a:t>K0126002  ·  WEB PROGRAMMING  ·  FALL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Outfit"/>
              </a:rPr>
              <a:t>How our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FFFFFF"/>
                </a:solidFill>
                <a:latin typeface="Outfit"/>
              </a:rPr>
              <a:t>week </a:t>
            </a:r>
            <a:r>
              <a:rPr sz="4800" b="1">
                <a:solidFill>
                  <a:srgbClr val="00C9A7"/>
                </a:solidFill>
                <a:latin typeface="Outfit"/>
              </a:rPr>
              <a:t>works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743200"/>
            <a:ext cx="2194560" cy="50292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798064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60D14"/>
                </a:solidFill>
                <a:latin typeface="Plus Jakarta Sans"/>
              </a:rPr>
              <a:t>Monday  1 hr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08960" y="2743200"/>
            <a:ext cx="2194560" cy="502920"/>
          </a:xfrm>
          <a:prstGeom prst="rect">
            <a:avLst/>
          </a:prstGeom>
          <a:solidFill>
            <a:srgbClr val="A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18688" y="2798064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60D14"/>
                </a:solidFill>
                <a:latin typeface="Plus Jakarta Sans"/>
              </a:rPr>
              <a:t>Friday  2 hrs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5643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F8BA4"/>
                </a:solidFill>
                <a:latin typeface="Plus Jakarta Sans"/>
              </a:rPr>
              <a:t>Two sessions, one goal: from zero to full-stack web developer.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F8BA4"/>
                </a:solidFill>
                <a:latin typeface="Plus Jakarta Sans"/>
              </a:rPr>
              <a:t>02 /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9A7"/>
                </a:solidFill>
                <a:latin typeface="Plus Jakarta Sans"/>
              </a:rPr>
              <a:t>MONDAY — 1 HOUR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Outfit"/>
              </a:rPr>
              <a:t>Concepts &amp;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00C9A7"/>
                </a:solidFill>
                <a:latin typeface="Outfit"/>
              </a:rPr>
              <a:t>quiz check-in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55648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D166"/>
                </a:solidFill>
                <a:latin typeface="Plus Jakarta Sans"/>
              </a:rPr>
              <a:t>Monday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331720"/>
            <a:ext cx="10789920" cy="1005840"/>
          </a:xfrm>
          <a:prstGeom prst="rect">
            <a:avLst/>
          </a:prstGeom>
          <a:solidFill>
            <a:srgbClr val="0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331720"/>
            <a:ext cx="64008" cy="100584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40487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9A7"/>
                </a:solidFill>
                <a:latin typeface="JetBrains Mono"/>
              </a:rPr>
              <a:t>00:00 – 00:10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73405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lus Jakarta Sans"/>
              </a:rPr>
              <a:t>Pre-class quiz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026664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F8BA4"/>
                </a:solidFill>
                <a:latin typeface="Plus Jakarta Sans"/>
              </a:rPr>
              <a:t>Discuss answers together; clarify misconceptions from the video.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410712"/>
            <a:ext cx="10789920" cy="1005840"/>
          </a:xfrm>
          <a:prstGeom prst="rect">
            <a:avLst/>
          </a:prstGeom>
          <a:solidFill>
            <a:srgbClr val="0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410712"/>
            <a:ext cx="64008" cy="100584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483864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166"/>
                </a:solidFill>
                <a:latin typeface="JetBrains Mono"/>
              </a:rPr>
              <a:t>00:10 – 00:40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381304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lus Jakarta Sans"/>
              </a:rPr>
              <a:t>New concept + live demo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4105656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F8BA4"/>
                </a:solidFill>
                <a:latin typeface="Plus Jakarta Sans"/>
              </a:rPr>
              <a:t>Professor introduces this week's topic with a working code example.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489704"/>
            <a:ext cx="10789920" cy="1005840"/>
          </a:xfrm>
          <a:prstGeom prst="rect">
            <a:avLst/>
          </a:prstGeom>
          <a:solidFill>
            <a:srgbClr val="0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489704"/>
            <a:ext cx="64008" cy="1005840"/>
          </a:xfrm>
          <a:prstGeom prst="rect">
            <a:avLst/>
          </a:prstGeom>
          <a:solidFill>
            <a:srgbClr val="A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4562856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88BFF"/>
                </a:solidFill>
                <a:latin typeface="JetBrains Mono"/>
              </a:rPr>
              <a:t>00:40 – 00:55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48920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lus Jakarta Sans"/>
              </a:rPr>
              <a:t>Q&amp;A / pair discussion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5184648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F8BA4"/>
                </a:solidFill>
                <a:latin typeface="Plus Jakarta Sans"/>
              </a:rPr>
              <a:t>Turn to the person next to you — 2 questions, 2 minutes each.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568696"/>
            <a:ext cx="10789920" cy="1005840"/>
          </a:xfrm>
          <a:prstGeom prst="rect">
            <a:avLst/>
          </a:prstGeom>
          <a:solidFill>
            <a:srgbClr val="0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5568696"/>
            <a:ext cx="64008" cy="1005840"/>
          </a:xfrm>
          <a:prstGeom prst="rect">
            <a:avLst/>
          </a:prstGeom>
          <a:solidFill>
            <a:srgbClr val="38D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5641848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D996"/>
                </a:solidFill>
                <a:latin typeface="JetBrains Mono"/>
              </a:rPr>
              <a:t>00:55 – 01:00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59710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lus Jakarta Sans"/>
              </a:rPr>
              <a:t>Wrap-up + Friday preview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6263640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F8BA4"/>
                </a:solidFill>
                <a:latin typeface="Plus Jakarta Sans"/>
              </a:rPr>
              <a:t>What to practice before Friday. Close the laptop.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F8BA4"/>
                </a:solidFill>
                <a:latin typeface="Plus Jakarta Sans"/>
              </a:rPr>
              <a:t>03 /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9A7"/>
                </a:solidFill>
                <a:latin typeface="Plus Jakarta Sans"/>
              </a:rPr>
              <a:t>FRIDAY — 2 HOURS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Outfit"/>
              </a:rPr>
              <a:t>Build &amp;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00C9A7"/>
                </a:solidFill>
                <a:latin typeface="Outfit"/>
              </a:rPr>
              <a:t>practice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10789920" cy="1005840"/>
          </a:xfrm>
          <a:prstGeom prst="rect">
            <a:avLst/>
          </a:prstGeom>
          <a:solidFill>
            <a:srgbClr val="0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11680"/>
            <a:ext cx="64008" cy="100584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08483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9A7"/>
                </a:solidFill>
                <a:latin typeface="JetBrains Mono"/>
              </a:rPr>
              <a:t>00:00 – 00:15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41401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lus Jakarta Sans"/>
              </a:rPr>
              <a:t>Quick recap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706624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F8BA4"/>
                </a:solidFill>
                <a:latin typeface="Plus Jakarta Sans"/>
              </a:rPr>
              <a:t>Monday's concept in 3 bullet points. Short live Q&amp;A.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916936"/>
            <a:ext cx="10789920" cy="1005840"/>
          </a:xfrm>
          <a:prstGeom prst="rect">
            <a:avLst/>
          </a:prstGeom>
          <a:solidFill>
            <a:srgbClr val="0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916936"/>
            <a:ext cx="64008" cy="100584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2990088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166"/>
                </a:solidFill>
                <a:latin typeface="JetBrains Mono"/>
              </a:rPr>
              <a:t>00:15 – 00:45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331927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lus Jakarta Sans"/>
              </a:rPr>
              <a:t>Follow-along coding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3611880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F8BA4"/>
                </a:solidFill>
                <a:latin typeface="Plus Jakarta Sans"/>
              </a:rPr>
              <a:t>Prof codes live. You open the same file and code along. Laptop on knees is fine.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822192"/>
            <a:ext cx="10789920" cy="1005840"/>
          </a:xfrm>
          <a:prstGeom prst="rect">
            <a:avLst/>
          </a:prstGeom>
          <a:solidFill>
            <a:srgbClr val="0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822192"/>
            <a:ext cx="64008" cy="1005840"/>
          </a:xfrm>
          <a:prstGeom prst="rect">
            <a:avLst/>
          </a:prstGeom>
          <a:solidFill>
            <a:srgbClr val="A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3895344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88BFF"/>
                </a:solidFill>
                <a:latin typeface="JetBrains Mono"/>
              </a:rPr>
              <a:t>00:45 – 01:20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42245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lus Jakarta Sans"/>
              </a:rPr>
              <a:t>Solo / pair practice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4517136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F8BA4"/>
                </a:solidFill>
                <a:latin typeface="Plus Jakarta Sans"/>
              </a:rPr>
              <a:t>Your turn. Given starter file → achieve the target output.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727448"/>
            <a:ext cx="10789920" cy="1005840"/>
          </a:xfrm>
          <a:prstGeom prst="rect">
            <a:avLst/>
          </a:prstGeom>
          <a:solidFill>
            <a:srgbClr val="0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727448"/>
            <a:ext cx="64008" cy="1005840"/>
          </a:xfrm>
          <a:prstGeom prst="rect">
            <a:avLst/>
          </a:prstGeom>
          <a:solidFill>
            <a:srgbClr val="38D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480060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D996"/>
                </a:solidFill>
                <a:latin typeface="JetBrains Mono"/>
              </a:rPr>
              <a:t>01:20 – 01:45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512978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lus Jakarta Sans"/>
              </a:rPr>
              <a:t>Team project time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5422392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F8BA4"/>
                </a:solidFill>
                <a:latin typeface="Plus Jakarta Sans"/>
              </a:rPr>
              <a:t>Work on your team project milestone. TA + Prof circulate.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632704"/>
            <a:ext cx="10789920" cy="1005840"/>
          </a:xfrm>
          <a:prstGeom prst="rect">
            <a:avLst/>
          </a:prstGeom>
          <a:solidFill>
            <a:srgbClr val="0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5632704"/>
            <a:ext cx="64008" cy="100584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" y="5705856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6B"/>
                </a:solidFill>
                <a:latin typeface="JetBrains Mono"/>
              </a:rPr>
              <a:t>01:45 – 02:00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60350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lus Jakarta Sans"/>
              </a:rPr>
              <a:t>Share + next week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" y="6327648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F8BA4"/>
                </a:solidFill>
                <a:latin typeface="Plus Jakarta Sans"/>
              </a:rPr>
              <a:t>1–2 teams demo progress. Next week's topic preview.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F8BA4"/>
                </a:solidFill>
                <a:latin typeface="Plus Jakarta Sans"/>
              </a:rPr>
              <a:t>04 /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9A7"/>
                </a:solidFill>
                <a:latin typeface="Plus Jakarta Sans"/>
              </a:rPr>
              <a:t>BEFORE CLASS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Outfit"/>
              </a:rPr>
              <a:t>Two things,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FFFFFF"/>
                </a:solidFill>
                <a:latin typeface="Outfit"/>
              </a:rPr>
              <a:t> ~15 minutes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377440"/>
            <a:ext cx="3383280" cy="3383280"/>
          </a:xfrm>
          <a:prstGeom prst="rect">
            <a:avLst/>
          </a:prstGeom>
          <a:solidFill>
            <a:srgbClr val="0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377440"/>
            <a:ext cx="3383280" cy="457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9A7"/>
                </a:solidFill>
                <a:latin typeface="Plus Jakarta Sans"/>
              </a:rPr>
              <a:t>① Watch the video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61488"/>
            <a:ext cx="310896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Plus Jakarta Sans"/>
              </a:rPr>
              <a:t>10 min video released Sunday night.
Watch once — no notes needed.
Counts as attendance (10%).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60" y="2377440"/>
            <a:ext cx="3383280" cy="3383280"/>
          </a:xfrm>
          <a:prstGeom prst="rect">
            <a:avLst/>
          </a:prstGeom>
          <a:solidFill>
            <a:srgbClr val="0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60" y="2377440"/>
            <a:ext cx="3383280" cy="4572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248716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166"/>
                </a:solidFill>
                <a:latin typeface="Plus Jakarta Sans"/>
              </a:rPr>
              <a:t>② Do the quiz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761488"/>
            <a:ext cx="310896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Plus Jakarta Sans"/>
              </a:rPr>
              <a:t>8 quick questions.
Done at home, phone or laptop.
Automatically recorded (10%).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01000" y="2377440"/>
            <a:ext cx="3383280" cy="3383280"/>
          </a:xfrm>
          <a:prstGeom prst="rect">
            <a:avLst/>
          </a:prstGeom>
          <a:solidFill>
            <a:srgbClr val="0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01000" y="2377440"/>
            <a:ext cx="3383280" cy="45720"/>
          </a:xfrm>
          <a:prstGeom prst="rect">
            <a:avLst/>
          </a:prstGeom>
          <a:solidFill>
            <a:srgbClr val="A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80" y="248716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88BFF"/>
                </a:solidFill>
                <a:latin typeface="Plus Jakarta Sans"/>
              </a:rPr>
              <a:t>③ Bring a question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80" y="2761488"/>
            <a:ext cx="310896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Plus Jakarta Sans"/>
              </a:rPr>
              <a:t>One thing that confused you
in the video. We discuss it
together on Monday.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989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F8BA4"/>
                </a:solidFill>
                <a:latin typeface="Plus Jakarta Sans"/>
              </a:rPr>
              <a:t>Together these are 20% of your Attendance grade. Missing both = 0 for that week.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F8BA4"/>
                </a:solidFill>
                <a:latin typeface="Plus Jakarta Sans"/>
              </a:rPr>
              <a:t>05 /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9A7"/>
                </a:solidFill>
                <a:latin typeface="Plus Jakarta Sans"/>
              </a:rPr>
              <a:t>FOR EVERY SKILL LEVEL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Outfit"/>
              </a:rPr>
              <a:t>No one gets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00C9A7"/>
                </a:solidFill>
                <a:latin typeface="Outfit"/>
              </a:rPr>
              <a:t>left behind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286000"/>
            <a:ext cx="3383280" cy="3566160"/>
          </a:xfrm>
          <a:prstGeom prst="rect">
            <a:avLst/>
          </a:prstGeom>
          <a:solidFill>
            <a:srgbClr val="0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286000"/>
            <a:ext cx="3383280" cy="457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39572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9A7"/>
                </a:solidFill>
                <a:latin typeface="Plus Jakarta Sans"/>
              </a:rPr>
              <a:t>🌱  Beginner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670048"/>
            <a:ext cx="310896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Plus Jakarta Sans"/>
              </a:rPr>
              <a:t>Never coded?
Friday gives you a starter
file — just fill in the blanks.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60" y="2286000"/>
            <a:ext cx="3383280" cy="3566160"/>
          </a:xfrm>
          <a:prstGeom prst="rect">
            <a:avLst/>
          </a:prstGeom>
          <a:solidFill>
            <a:srgbClr val="0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60" y="2286000"/>
            <a:ext cx="3383280" cy="4572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239572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166"/>
                </a:solidFill>
                <a:latin typeface="Plus Jakarta Sans"/>
              </a:rPr>
              <a:t>⚡  Intermediate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670048"/>
            <a:ext cx="310896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Plus Jakarta Sans"/>
              </a:rPr>
              <a:t>Some experience?
Extend the exercise.
Try the bonus challenge.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01000" y="2286000"/>
            <a:ext cx="3383280" cy="3566160"/>
          </a:xfrm>
          <a:prstGeom prst="rect">
            <a:avLst/>
          </a:prstGeom>
          <a:solidFill>
            <a:srgbClr val="0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01000" y="2286000"/>
            <a:ext cx="3383280" cy="45720"/>
          </a:xfrm>
          <a:prstGeom prst="rect">
            <a:avLst/>
          </a:prstGeom>
          <a:solidFill>
            <a:srgbClr val="A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80" y="239572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88BFF"/>
                </a:solidFill>
                <a:latin typeface="Plus Jakarta Sans"/>
              </a:rPr>
              <a:t>🚀  Advanced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80" y="2670048"/>
            <a:ext cx="310896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Plus Jakarta Sans"/>
              </a:rPr>
              <a:t>Already know HTML/CSS?
Friday has a harder variant.
Help a peer — it counts.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989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F8BA4"/>
                </a:solidFill>
                <a:latin typeface="Plus Jakarta Sans"/>
              </a:rPr>
              <a:t>The pre-class quiz auto-detects your level. Friday exercises ship in three tiers.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F8BA4"/>
                </a:solidFill>
                <a:latin typeface="Plus Jakarta Sans"/>
              </a:rPr>
              <a:t>06 /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9A7"/>
                </a:solidFill>
                <a:latin typeface="Plus Jakarta Sans"/>
              </a:rPr>
              <a:t>PRACTICAL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Outfit"/>
              </a:rPr>
              <a:t>Laptops on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00C9A7"/>
                </a:solidFill>
                <a:latin typeface="Outfit"/>
              </a:rPr>
              <a:t>knees — tips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965960"/>
            <a:ext cx="54864" cy="71323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02536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lus Jakarta Sans"/>
              </a:rPr>
              <a:t>Charge before class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13432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F8BA4"/>
                </a:solidFill>
                <a:latin typeface="Plus Jakarta Sans"/>
              </a:rPr>
              <a:t>No wall power in the room. Start each class with &gt; 50% battery.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852928"/>
            <a:ext cx="54864" cy="713232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889504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lus Jakarta Sans"/>
              </a:rPr>
              <a:t>Close when not coding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200400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F8BA4"/>
                </a:solidFill>
                <a:latin typeface="Plus Jakarta Sans"/>
              </a:rPr>
              <a:t>Prof will say "open laptops" and "close laptops". Save battery for coding time.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739896"/>
            <a:ext cx="54864" cy="713232"/>
          </a:xfrm>
          <a:prstGeom prst="rect">
            <a:avLst/>
          </a:prstGeom>
          <a:solidFill>
            <a:srgbClr val="A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77647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lus Jakarta Sans"/>
              </a:rPr>
              <a:t>Phone is fine for quiz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087368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F8BA4"/>
                </a:solidFill>
                <a:latin typeface="Plus Jakarta Sans"/>
              </a:rPr>
              <a:t>The pre-class quiz works on any device. Phone = no battery wasted.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626864"/>
            <a:ext cx="54864" cy="713232"/>
          </a:xfrm>
          <a:prstGeom prst="rect">
            <a:avLst/>
          </a:prstGeom>
          <a:solidFill>
            <a:srgbClr val="38D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6344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lus Jakarta Sans"/>
              </a:rPr>
              <a:t>Large font, dim screen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974336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F8BA4"/>
                </a:solidFill>
                <a:latin typeface="Plus Jakarta Sans"/>
              </a:rPr>
              <a:t>Browser zoom 125%+. Reduces strain and saves ~15% battery.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513832"/>
            <a:ext cx="54864" cy="71323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55040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lus Jakarta Sans"/>
              </a:rPr>
              <a:t>Save every 2 minutes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861304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F8BA4"/>
                </a:solidFill>
                <a:latin typeface="Plus Jakarta Sans"/>
              </a:rPr>
              <a:t>Ctrl+S. No auto-save in the class editors. Unsaved = lost.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