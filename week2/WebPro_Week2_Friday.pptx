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WEEK 2  ·  FRIDAY  ·  2 HOURS  ·  WEB PROGRAMMING K0126002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HTML Lab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9A7"/>
                </a:solidFill>
                <a:latin typeface="Outfit"/>
              </a:rPr>
              <a:t>build your profile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554480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0:00–0:15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7980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Monday recap + semantic 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10128"/>
            <a:ext cx="1554480" cy="5486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3456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0:15–0:45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4564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Follow-along: semantic page scaffold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68496"/>
            <a:ext cx="1554480" cy="54864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114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0:45–1:20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Solo lab: 3 tiers, choose yours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26864"/>
            <a:ext cx="1554480" cy="54864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773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1:20–1:45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773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Team project milestone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85232"/>
            <a:ext cx="1554480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5431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1:45–2:00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4315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Share + Week 3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RECAP  ·  0:00–0:15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Monday in 5 bullets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4"/>
                </a:solidFill>
                <a:latin typeface="Plus Jakarta Sans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214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Every HTML file starts with &lt;!DOCTYPE html&gt;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70048"/>
            <a:ext cx="4572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797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4"/>
                </a:solidFill>
                <a:latin typeface="Plus Jakarta Sa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797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&lt;head&gt; = invisible metadata  ·  &lt;body&gt; = visible 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28416"/>
            <a:ext cx="457200" cy="5029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43814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4"/>
                </a:solidFill>
                <a:latin typeface="Plus Jakarta Sa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381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Tags have attributes: href, src, alt, id,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86784"/>
            <a:ext cx="457200" cy="50292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965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4"/>
                </a:solidFill>
                <a:latin typeface="Plus Jakarta San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965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Block elements stack vertically (div, p, h1)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45152"/>
            <a:ext cx="45720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75488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4"/>
                </a:solidFill>
                <a:latin typeface="Plus Jakarta Sa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Inline elements sit in a line (span, a, strong, em)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8BA4"/>
                </a:solidFill>
                <a:latin typeface="Plus Jakarta Sans"/>
              </a:rPr>
              <a:t>Quick check: what does &lt;a href="#"&gt; do?  (Turn to your neighbour — 30 seconds)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NEW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Semantic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Use tags that MEAN something, not just &lt;div&gt; for everything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394960" cy="448056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45720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5166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8D996"/>
                </a:solidFill>
                <a:latin typeface="JetBrains Mono"/>
              </a:rPr>
              <a:t>&lt;header&gt;
  &lt;nav&gt;
    &lt;a </a:t>
            </a:r>
            <a:r>
              <a:rPr sz="1100" b="0" i="0" dirty="0" err="1">
                <a:solidFill>
                  <a:srgbClr val="38D996"/>
                </a:solidFill>
                <a:latin typeface="JetBrains Mono"/>
              </a:rPr>
              <a:t>href</a:t>
            </a:r>
            <a:r>
              <a:rPr sz="1100" b="0" i="0" dirty="0">
                <a:solidFill>
                  <a:srgbClr val="38D996"/>
                </a:solidFill>
                <a:latin typeface="JetBrains Mono"/>
              </a:rPr>
              <a:t>="/"&gt;Home&lt;/a&gt;
    &lt;a </a:t>
            </a:r>
            <a:r>
              <a:rPr sz="1100" b="0" i="0" dirty="0" err="1">
                <a:solidFill>
                  <a:srgbClr val="38D996"/>
                </a:solidFill>
                <a:latin typeface="JetBrains Mono"/>
              </a:rPr>
              <a:t>href</a:t>
            </a:r>
            <a:r>
              <a:rPr sz="1100" b="0" i="0" dirty="0">
                <a:solidFill>
                  <a:srgbClr val="38D996"/>
                </a:solidFill>
                <a:latin typeface="JetBrains Mono"/>
              </a:rPr>
              <a:t>="/about"&gt;About&lt;/a&gt;
  &lt;/nav&gt;
&lt;/header&gt;
&lt;main&gt;
  &lt;article&gt;
    &lt;h1&gt;My Blog Post&lt;/h1&gt;
    &lt;p&gt;Content here…&lt;/p&gt;
  &lt;/article&gt;
&lt;/main&gt;
&lt;footer&gt;
  &lt;p&gt;&amp;copy; 2026 My Name&lt;/p&gt;
&lt;/footer&gt;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20240"/>
            <a:ext cx="5257800" cy="5486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2048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&lt;header&gt;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482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Top section — logo, nav, banner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5257800" cy="5486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642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&lt;nav&gt;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426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Navigation links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108960"/>
            <a:ext cx="5257800" cy="5486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3236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&lt;main&gt;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369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Primary page content (use once)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03320"/>
            <a:ext cx="5257800" cy="5486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8313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&lt;article&gt;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313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Self-contained content (blog post, card)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97680"/>
            <a:ext cx="5257800" cy="5486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4425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&lt;section&gt;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256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Group of related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892040"/>
            <a:ext cx="5257800" cy="5486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&lt;aside&gt;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200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Sidebar / secondary info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486400"/>
            <a:ext cx="5257800" cy="5486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5614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D996"/>
                </a:solidFill>
                <a:latin typeface="JetBrains Mono"/>
              </a:rPr>
              <a:t>&lt;footer&gt;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6144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Bottom — copyright, contact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WHY SEMANTIC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Three reasons to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4864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011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Plus Jakarta Sans"/>
              </a:rPr>
              <a:t>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lus Jakarta Sans"/>
              </a:rPr>
              <a:t>Screen readers (for blind users) use semantic tags to navigate.
&lt;nav&gt; tells the reader "here are the navigation links."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F8BA4"/>
                </a:solidFill>
                <a:latin typeface="Plus Jakarta Sans"/>
              </a:rPr>
              <a:t>A visually impaired student using a screen reader
cannot navigate a page built only with &lt;div&gt;.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56432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456432"/>
            <a:ext cx="54864" cy="13716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Plus Jakarta Sans"/>
              </a:rPr>
              <a:t>SEO (search ranking)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67912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lus Jakarta Sans"/>
              </a:rPr>
              <a:t>Google reads your HTML. &lt;article&gt; and &lt;h1&gt; signal
"this is important content." Divs signal nothing.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67912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F8BA4"/>
                </a:solidFill>
                <a:latin typeface="Plus Jakarta Sans"/>
              </a:rPr>
              <a:t>A page using semantic tags ranks higher on Google
than the same content in &lt;div&gt; soup.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92624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992624"/>
            <a:ext cx="54864" cy="137160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0840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8BFF"/>
                </a:solidFill>
                <a:latin typeface="Plus Jakarta Sans"/>
              </a:rPr>
              <a:t>Code readability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04104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lus Jakarta Sans"/>
              </a:rPr>
              <a:t>A teammate reading &lt;main&gt;&lt;article&gt;&lt;h1&gt; understands
your page structure in 5 seconds. 30 divs do not.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04104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F8BA4"/>
                </a:solidFill>
                <a:latin typeface="Plus Jakarta Sans"/>
              </a:rPr>
              <a:t>Semantic code is self-documenting — you can see
the page structure without reading every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FOLLOW-ALONG CODING  ·  0:15–0:45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Open your profile.html from Monday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We build together — you code, I code, same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4864" cy="7132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4825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Step 1 — Replace &lt;div&gt; wrappers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Wrap your content in &lt;header&gt;, &lt;main&gt;, &lt;footer&gt;.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71216"/>
            <a:ext cx="54864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077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Step 2 — Add a &lt;nav&gt;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Two links: "About Me" and "My Projects" (they can go nowhere yet — href="#").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30752"/>
            <a:ext cx="54864" cy="713232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Step 3 — Move your bio into &lt;article&gt;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96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Your name h1, one-sentence &lt;p&gt;, and photo &lt;img&gt; go inside &lt;article&gt;.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54864" cy="713232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626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Step 4 — Add an &lt;aside&gt;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5604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Three bullet points: your hobbies, your skills, or your goals.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449824"/>
            <a:ext cx="54864" cy="7132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Step 5 —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15584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F8BA4"/>
                </a:solidFill>
                <a:latin typeface="Plus Jakarta Sans"/>
              </a:rPr>
              <a:t>Go to  validator.w3.org</a:t>
            </a:r>
            <a:r>
              <a:rPr lang="en-US" sz="1100" b="0" i="0" dirty="0">
                <a:solidFill>
                  <a:srgbClr val="5F8BA4"/>
                </a:solidFill>
                <a:latin typeface="Plus Jakarta Sans"/>
              </a:rPr>
              <a:t> and </a:t>
            </a:r>
            <a:r>
              <a:rPr sz="1100" b="0" i="0" dirty="0">
                <a:solidFill>
                  <a:srgbClr val="5F8BA4"/>
                </a:solidFill>
                <a:latin typeface="Plus Jakarta Sans"/>
              </a:rPr>
              <a:t>paste your code. Zero errors = full marks for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SOLO LAB  ·  0:45–1:20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Your turn — choose your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8BA4"/>
                </a:solidFill>
                <a:latin typeface="Plus Jakarta Sans"/>
              </a:rPr>
              <a:t>Pick the level that challenges YOU. Finishing faster than expected? Move 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383280" cy="40233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33832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Plus Jakarta Sans"/>
              </a:rPr>
              <a:t>🌱  Tier 1 — Beginner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Starter file provided.
Fill in the blanks:
→ Add your name in &lt;h1&gt;
→ Write 2 paragraphs about yourself
→ Add one image (can be a cat)
→ Add one link to your favourite site
Target: working HTML page with 5+ tags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286000"/>
            <a:ext cx="3383280" cy="40233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2286000"/>
            <a:ext cx="33832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Plus Jakarta Sans"/>
              </a:rPr>
              <a:t>⚡  Tier 2 — Intermediate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No starter file. Build from scratch:
→ Semantic structure (header/main/footer)
→ Navigation bar with 3 links
→ Profile section with image + bio
→ Skills list (&lt;ul&gt;)
→ Contact section with a mailto: link
Target: real-looking profile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286000"/>
            <a:ext cx="3383280" cy="40233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286000"/>
            <a:ext cx="3383280" cy="457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395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8BFF"/>
                </a:solidFill>
                <a:latin typeface="Plus Jakarta Sans"/>
              </a:rPr>
              <a:t>🚀  Tier 3 — 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Same as Tier 2, PLUS:
→ Add &lt;meta&gt; tags (description, author)
→ Embed a YouTube video (&lt;iframe&gt;)
→ HTML-only table of your schedule
→ A &lt;form&gt; (name + email + submit)
→ Validate: zero W3C errors
Target: production-quality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TIER 1 STARTER FILE  ·  COPY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Outfit"/>
              </a:rPr>
              <a:t>profile_starter.html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F8BA4"/>
                </a:solidFill>
                <a:latin typeface="Plus Jakarta Sans"/>
              </a:rPr>
              <a:t>Fill in every 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11155680" cy="45720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45720" cy="4572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0927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8D996"/>
                </a:solidFill>
                <a:latin typeface="JetBrains Mono"/>
              </a:rPr>
              <a:t>&lt;!DOCTYPE html&gt;
&lt;html lang="</a:t>
            </a:r>
            <a:r>
              <a:rPr sz="1100" b="0" i="0" dirty="0" err="1">
                <a:solidFill>
                  <a:srgbClr val="38D996"/>
                </a:solidFill>
                <a:latin typeface="JetBrains Mono"/>
              </a:rPr>
              <a:t>en</a:t>
            </a:r>
            <a:r>
              <a:rPr sz="1100" b="0" i="0" dirty="0">
                <a:solidFill>
                  <a:srgbClr val="38D996"/>
                </a:solidFill>
                <a:latin typeface="JetBrains Mono"/>
              </a:rPr>
              <a:t>"&gt;
&lt;head&gt;
  &lt;meta charset="UTF-8"&gt;
  &lt;title&gt;___ Profile Page&lt;/title&gt;
&lt;/head&gt;
&lt;body&gt;
  &lt;header&gt;
    &lt;h1&gt;___&lt;/h1&gt;            &lt;!-- your name --&gt;
    &lt;p&gt;___ · ___ year&lt;/p&gt;  &lt;!-- dept + year --&gt;
  &lt;/header&gt;
  &lt;main&gt;
    &lt;</a:t>
            </a:r>
            <a:r>
              <a:rPr sz="1100" b="0" i="0" dirty="0" err="1">
                <a:solidFill>
                  <a:srgbClr val="38D996"/>
                </a:solidFill>
                <a:latin typeface="JetBrains Mono"/>
              </a:rPr>
              <a:t>img</a:t>
            </a:r>
            <a:r>
              <a:rPr sz="1100" b="0" i="0" dirty="0">
                <a:solidFill>
                  <a:srgbClr val="38D996"/>
                </a:solidFill>
                <a:latin typeface="JetBrains Mono"/>
              </a:rPr>
              <a:t> </a:t>
            </a:r>
            <a:r>
              <a:rPr sz="1100" b="0" i="0" dirty="0" err="1">
                <a:solidFill>
                  <a:srgbClr val="38D996"/>
                </a:solidFill>
                <a:latin typeface="JetBrains Mono"/>
              </a:rPr>
              <a:t>src</a:t>
            </a:r>
            <a:r>
              <a:rPr sz="1100" b="0" i="0" dirty="0">
                <a:solidFill>
                  <a:srgbClr val="38D996"/>
                </a:solidFill>
                <a:latin typeface="JetBrains Mono"/>
              </a:rPr>
              <a:t>="___" alt="photo of ___" width="200"&gt;
    &lt;p&gt;___&lt;/p&gt;              &lt;!-- one sentence about you --&gt;
    &lt;a </a:t>
            </a:r>
            <a:r>
              <a:rPr sz="1100" b="0" i="0" dirty="0" err="1">
                <a:solidFill>
                  <a:srgbClr val="38D996"/>
                </a:solidFill>
                <a:latin typeface="JetBrains Mono"/>
              </a:rPr>
              <a:t>href</a:t>
            </a:r>
            <a:r>
              <a:rPr sz="1100" b="0" i="0" dirty="0">
                <a:solidFill>
                  <a:srgbClr val="38D996"/>
                </a:solidFill>
                <a:latin typeface="JetBrains Mono"/>
              </a:rPr>
              <a:t>="___"&gt;My </a:t>
            </a:r>
            <a:r>
              <a:rPr sz="1100" b="0" i="0" dirty="0" err="1">
                <a:solidFill>
                  <a:srgbClr val="38D996"/>
                </a:solidFill>
                <a:latin typeface="JetBrains Mono"/>
              </a:rPr>
              <a:t>favourite</a:t>
            </a:r>
            <a:r>
              <a:rPr sz="1100" b="0" i="0" dirty="0">
                <a:solidFill>
                  <a:srgbClr val="38D996"/>
                </a:solidFill>
                <a:latin typeface="JetBrains Mono"/>
              </a:rPr>
              <a:t> website&lt;/a&gt;
  &lt;/main&gt;
  &lt;footer&gt;&lt;p&gt;Made in Web Programming K0126002&lt;/p&gt;&lt;/footer&gt;
&lt;/body&gt;
&lt;/html&gt;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TEAM PROJECT  ·  1:20–1:45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Week 2 milestone — team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8BA4"/>
                </a:solidFill>
                <a:latin typeface="Plus Jakarta Sans"/>
              </a:rPr>
              <a:t>Teams must be registered by Week 3. Use this time to find teammates.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1155680" cy="129844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111556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3957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Plus Jakarta Sans"/>
              </a:rPr>
              <a:t>Find 2–3 classmates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06624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Same dept or mixed — your choice
• Talk to the people around you NOW
• Don't wait until Week 3 — popular ideas fill fast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30752"/>
            <a:ext cx="11155680" cy="129844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730752"/>
            <a:ext cx="111556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3840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Plus Jakarta Sans"/>
              </a:rPr>
              <a:t>Agree on a rough project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151376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What kind of website? (portfolio, tool, game, store…)
• Does it need a backend? (PHP/database = more complex)
• Can 3–4 people each contribute something meaningful?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75504"/>
            <a:ext cx="11155680" cy="129844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175504"/>
            <a:ext cx="11155680" cy="457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52852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Plus Jakarta Sans"/>
              </a:rPr>
              <a:t>Register by Week 3 Friday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596128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Submit: team name, member IDs, one-line project idea
• Submit via the course form (link posted Monday)
• Late registration = late penalty on midterm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LAB SURVIVAL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Coding without a desk — it's fine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4825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Use an online editor if VS Code feels heavy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F8BA4"/>
                </a:solidFill>
                <a:latin typeface="Plus Jakarta Sans"/>
              </a:rPr>
              <a:t>codepen.io  or  jsfiddle.net  — zero install, auto-saves, shows preview instantly.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89504"/>
            <a:ext cx="54864" cy="7315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Zoom in your browser to 125%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5526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Easier to read, less scrolling, less squinting. Ctrl+= on Windows / Cmd+= on Mac.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67328"/>
            <a:ext cx="54864" cy="7315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0390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Plus Jakarta Sans"/>
              </a:rPr>
              <a:t>Keep only 2 tabs 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3308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F8BA4"/>
                </a:solidFill>
                <a:latin typeface="Plus Jakarta Sans"/>
              </a:rPr>
              <a:t>Your HTML file + the course page. Every extra tab costs battery AND focus.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45152"/>
            <a:ext cx="54864" cy="73152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817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Plus Jakarta Sans"/>
              </a:rPr>
              <a:t>Ctrl+Z</a:t>
            </a:r>
            <a:r>
              <a:rPr sz="1300" b="1" i="0" dirty="0">
                <a:solidFill>
                  <a:srgbClr val="FFFFFF"/>
                </a:solidFill>
                <a:latin typeface="Plus Jakarta Sans"/>
              </a:rPr>
              <a:t> is your best friend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109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F8BA4"/>
                </a:solidFill>
                <a:latin typeface="Plus Jakarta Sans"/>
              </a:rPr>
              <a:t>Broke something? Undo it. Don't panic and start over. Undo 10 times if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22976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5595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Plus Jakarta Sans"/>
              </a:rPr>
              <a:t>Ask before you're stuck for 10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88736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F8BA4"/>
                </a:solidFill>
                <a:latin typeface="Plus Jakarta Sans"/>
              </a:rPr>
              <a:t>Raise your hand. TA and prof circulate every 10 min. Stuck = raise </a:t>
            </a:r>
            <a:r>
              <a:rPr lang="en-US" sz="1100" b="0" i="0" dirty="0">
                <a:solidFill>
                  <a:srgbClr val="5F8BA4"/>
                </a:solidFill>
                <a:latin typeface="Plus Jakarta Sans"/>
              </a:rPr>
              <a:t>your </a:t>
            </a:r>
            <a:r>
              <a:rPr sz="1100" b="0" i="0" dirty="0">
                <a:solidFill>
                  <a:srgbClr val="5F8BA4"/>
                </a:solidFill>
                <a:latin typeface="Plus Jakarta Sans"/>
              </a:rPr>
              <a:t>hand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LOOKING AHEAD  ·  1:45–2:00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Share + Week 3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8BA4"/>
                </a:solidFill>
                <a:latin typeface="Plus Jakarta Sans"/>
              </a:rPr>
              <a:t>2 students will show their screen. Volunteer — partial credit for sharing!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3383280" cy="39319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33832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Plus Jakarta Sans"/>
              </a:rPr>
              <a:t>Week 3 Monday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CSS — styling your HTML
Colors · Fonts · Box model
Selectors (class, id, element)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331720"/>
            <a:ext cx="3383280" cy="39319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2331720"/>
            <a:ext cx="33832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4505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Plus Jakarta Sans"/>
              </a:rPr>
              <a:t>Week 3 Friday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88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CSS Lab
Style your profile page:
colours, layout, typography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331720"/>
            <a:ext cx="3383280" cy="39319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331720"/>
            <a:ext cx="3383280" cy="457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4505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8BFF"/>
                </a:solidFill>
                <a:latin typeface="Plus Jakarta Sans"/>
              </a:rPr>
              <a:t>Before Monday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788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Watch 10-min video:
"CSS — your first styles"
Quiz: 8 questions
Due: Monday 09:00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Plus Jakarta Sans"/>
              </a:rPr>
              <a:t>Reminder: team registration deadline = Week 3 Friday. Find your team this weekend.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1416</Words>
  <Application>Microsoft Office PowerPoint</Application>
  <PresentationFormat>Custom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JetBrains Mono</vt:lpstr>
      <vt:lpstr>Outfit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Mukhiddin Toshpulatov</cp:lastModifiedBy>
  <cp:revision>3</cp:revision>
  <dcterms:created xsi:type="dcterms:W3CDTF">2013-01-27T09:14:16Z</dcterms:created>
  <dcterms:modified xsi:type="dcterms:W3CDTF">2026-09-04T21:25:04Z</dcterms:modified>
  <cp:category/>
</cp:coreProperties>
</file>