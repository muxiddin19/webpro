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WEEK 2  ·  MONDAY  ·  1 HOUR  ·  WEB PROGRAMMING K0126002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Outfit"/>
              </a:rPr>
              <a:t>HTML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C9A7"/>
                </a:solidFill>
                <a:latin typeface="Outfit"/>
              </a:rPr>
              <a:t>building a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1280160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98094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D14"/>
                </a:solidFill>
                <a:latin typeface="Plus Jakarta Sans"/>
              </a:rPr>
              <a:t>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9809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Quiz answers 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93008"/>
            <a:ext cx="1280160" cy="5486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36393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D14"/>
                </a:solidFill>
                <a:latin typeface="Plus Jakarta Sans"/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6393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HTML structure + core tags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51376"/>
            <a:ext cx="1280160" cy="54864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2976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D14"/>
                </a:solidFill>
                <a:latin typeface="Plus Jakarta Sans"/>
              </a:rPr>
              <a:t>15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Attributes + links + images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09744"/>
            <a:ext cx="1280160" cy="548640"/>
          </a:xfrm>
          <a:prstGeom prst="rect">
            <a:avLst/>
          </a:prstGeom>
          <a:solidFill>
            <a:srgbClr val="5F8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495604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D14"/>
                </a:solidFill>
                <a:latin typeface="Plus Jakarta Sans"/>
              </a:rPr>
              <a:t>05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956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Friday preview &amp; homework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QUIZ REVIEW  ·  10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What did the pre-class quiz cover?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13969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396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What happens when you type a URL and press Enter?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864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9806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Which three languages run in the browser?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28416"/>
            <a:ext cx="548640" cy="5029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5643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What does HTTP stand for?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86784"/>
            <a:ext cx="548640" cy="50292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1480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What is a server?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45152"/>
            <a:ext cx="54864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7731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Q5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77316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Which file extension do HTML files use?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F8BA4"/>
                </a:solidFill>
                <a:latin typeface="Plus Jakarta Sans"/>
              </a:rPr>
              <a:t>→ Raise your hand if you got it right. Explain the answer to your neighbour.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Anatomy of an HTML 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03520" cy="438912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45720" cy="4389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5074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D996"/>
                </a:solidFill>
                <a:latin typeface="JetBrains Mono"/>
              </a:rPr>
              <a:t>&lt;!DOCTYPE html&gt;
&lt;html lang="en"&gt;
  &lt;head&gt;
    &lt;meta charset="UTF-8"&gt;
    &lt;title&gt;My Page&lt;/title&gt;
  &lt;/head&gt;
  &lt;body&gt;
    &lt;h1&gt;Hello, world!&lt;/h1&gt;
    &lt;p&gt;My first paragraph.&lt;/p&gt;
  &lt;/body&gt;
&lt;/html&gt;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920240"/>
            <a:ext cx="5074920" cy="74980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920240"/>
            <a:ext cx="45720" cy="7498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6832" y="19842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JetBrains Mono"/>
              </a:rPr>
              <a:t>&lt;!DOCTYPE html&gt;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30428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Tells the browser: "this is modern HTML5 — not old HTML4."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880360"/>
            <a:ext cx="5074920" cy="74980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2880360"/>
            <a:ext cx="45720" cy="7498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2" y="2944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JetBrains Mono"/>
              </a:rPr>
              <a:t>&lt;head&gt;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26440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Invisible metadata — page title, character set, CSS links. Not shown on screen.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840480"/>
            <a:ext cx="5074920" cy="74980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2240" y="3840480"/>
            <a:ext cx="45720" cy="749808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56832" y="3904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8BFF"/>
                </a:solidFill>
                <a:latin typeface="JetBrains Mono"/>
              </a:rPr>
              <a:t>&lt;body&gt;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422452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Everything the user SEES lives here. Text, images, buttons — all children of &lt;body&gt;.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800600"/>
            <a:ext cx="5074920" cy="74980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92240" y="4800600"/>
            <a:ext cx="45720" cy="749808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6832" y="48646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D996"/>
                </a:solidFill>
                <a:latin typeface="JetBrains Mono"/>
              </a:rPr>
              <a:t>&lt;h1&gt; / &lt;p&gt;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518464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h1 = biggest heading. p = paragraph. Both are block-level — each starts a new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ESSENTIAL TAGS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The 10 tags you'll use every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029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&lt;h1&gt;…&lt;h6&gt;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029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Headings (h1 = biggest, h6 = smallest)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920240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1112" y="2029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&lt;p&gt;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029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Paragraph of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78024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587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JetBrains Mono"/>
              </a:rPr>
              <a:t>&lt;a href=""&gt;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877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Hyperlink — connects pages together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478024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2587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JetBrains Mono"/>
              </a:rPr>
              <a:t>&lt;img src="" alt=""&gt;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5877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Embed an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35808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31455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JetBrains Mono"/>
              </a:rPr>
              <a:t>&lt;div&gt;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1455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Generic block container (for layout)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3035808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11112" y="31455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JetBrains Mono"/>
              </a:rPr>
              <a:t>&lt;span&gt;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1455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Generic inline container (for styling)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593592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D996"/>
                </a:solidFill>
                <a:latin typeface="JetBrains Mono"/>
              </a:rPr>
              <a:t>&lt;ul&gt; / &lt;ol&gt;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703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Unordered / ordered 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593592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11112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D996"/>
                </a:solidFill>
                <a:latin typeface="JetBrains Mono"/>
              </a:rPr>
              <a:t>&lt;li&gt;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703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List item (child of ul or ol)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151376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" y="4261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JetBrains Mono"/>
              </a:rPr>
              <a:t>&lt;strong&gt;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261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Bold/important 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4151376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11112" y="4261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JetBrains Mono"/>
              </a:rPr>
              <a:t>&lt;em&gt;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261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Italic/emphasised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Tags can have attributes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Extra info inside the opening tag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858000" cy="411480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45720" cy="4114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6629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D996"/>
                </a:solidFill>
                <a:latin typeface="JetBrains Mono"/>
              </a:rPr>
              <a:t>&lt;!-- Link to another page --&gt;
&lt;a href="https://google.com" target="_blank"&gt;Open Google&lt;/a&gt;
&lt;!-- Display an image --&gt;
&lt;img src="photo.jpg" alt="A cat sitting on a keyboard" width="300"&gt;
&lt;!-- Name an element for CSS / JavaScript --&gt;
&lt;div id="main-header" class="blue-box"&gt;
  Content here
&lt;/div&gt;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011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href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Where the link goes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578608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26700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JetBrains Mono"/>
              </a:rPr>
              <a:t>src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67004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Image file path or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236976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33284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JetBrains Mono"/>
              </a:rPr>
              <a:t>alt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328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Text if image fails to load (accessibility)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3895344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39867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JetBrains Mono"/>
              </a:rPr>
              <a:t>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986784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Unique name — use once per page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4553712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4645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JetBrains Mono"/>
              </a:rPr>
              <a:t>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64515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Reusable label — use many times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5212080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53035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D996"/>
                </a:solidFill>
                <a:latin typeface="JetBrains Mono"/>
              </a:rPr>
              <a:t>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30352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"_blank" opens in new tab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LIVE DEMO  ·  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Build: a simple profile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Watch, then try yourself on Friday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396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1. Open VS Code (or browser editor)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New file → save as  profile.html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80944"/>
            <a:ext cx="54864" cy="7315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2. Type the skeleton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284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&lt;!DOCTYPE html&gt; → &lt;html&gt; → &lt;head&gt; → &lt;body&gt;  (use Emmet: type "!" and press Tab)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58768"/>
            <a:ext cx="54864" cy="7315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8953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3. Add your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&lt;h1&gt; your name  ·  &lt;p&gt; one sentence about yourself  ·  &lt;img&gt; a placeholder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36592"/>
            <a:ext cx="54864" cy="73152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773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4. Add a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840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&lt;a href="…"&gt; linking to your favourite website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614416"/>
            <a:ext cx="54864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6509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5. Open in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618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Double-click the file  OR  drag it into Chrome.  Reload after every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WATCH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Outfit"/>
              </a:rPr>
              <a:t>Common beginner mistakes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315200" cy="16002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81912"/>
            <a:ext cx="45720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Plus Jakarta Sans"/>
              </a:rPr>
              <a:t>Forgetting to close a 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93392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Plus Jakarta Sans"/>
              </a:rPr>
              <a:t>&lt;p&gt;Hello  →  browser tries to guess where it ends. Always close: &lt;p&gt;Hello&lt;/p&gt;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499616"/>
            <a:ext cx="3657600" cy="160020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1572768"/>
            <a:ext cx="45720" cy="1600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682496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D996"/>
                </a:solidFill>
                <a:latin typeface="JetBrains Mono"/>
              </a:rPr>
              <a:t>&lt;p&gt;Hello
↓  fix
&lt;p&gt;Hello&lt;/p&gt;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74136"/>
            <a:ext cx="7315200" cy="16002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374136"/>
            <a:ext cx="45720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4655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Plus Jakarta Sans"/>
              </a:rPr>
              <a:t>Wrong quote 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7947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lus Jakarta Sans"/>
              </a:rPr>
              <a:t>Use straight quotes " "  not curly "  "  — your keyboard default is correct.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374136"/>
            <a:ext cx="3657600" cy="160020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01000" y="3374136"/>
            <a:ext cx="45720" cy="1600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3483864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D996"/>
                </a:solidFill>
                <a:latin typeface="JetBrains Mono"/>
              </a:rPr>
              <a:t>&lt;a href=“https://…”&gt;  ✗
&lt;a href="https://…"&gt; 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157216"/>
            <a:ext cx="7315200" cy="16002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221224"/>
            <a:ext cx="45720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2486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Plus Jakarta Sans"/>
              </a:rPr>
              <a:t>File name mismatch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5778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lus Jakarta Sans"/>
              </a:rPr>
              <a:t>photo.jpg ≠ Photo.JPG on a web server. Keep names lowercase, no spaces.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5157216"/>
            <a:ext cx="3657600" cy="160020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01000" y="5157216"/>
            <a:ext cx="45720" cy="1600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5266944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D996"/>
                </a:solidFill>
                <a:latin typeface="JetBrains Mono"/>
              </a:rPr>
              <a:t>&lt;img src="Photo.JPG"&gt;  ✗
&lt;img src="photo.jpg"&gt; 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BEFORE FRIDAY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Your homework (15 min total)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1155680" cy="1371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111556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30428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Plus Jakarta Sans"/>
              </a:rPr>
              <a:t>① Watch the video  (10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15184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lus Jakarta Sans"/>
              </a:rPr>
              <a:t>• Release: Wednesday night on course page
• Topic: Semantic HTML — why it matters
• Quiz opens after you watch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03320"/>
            <a:ext cx="11155680" cy="1371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1115568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813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Plus Jakarta Sans"/>
              </a:rPr>
              <a:t>② Do the quiz  (5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123944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lus Jakarta Sans"/>
              </a:rPr>
              <a:t>• 8 questions about the video content
• Due: before Friday 09:00
• Opens on the same link as today's quiz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212080"/>
            <a:ext cx="11155680" cy="1371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5212080"/>
            <a:ext cx="11155680" cy="457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532180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Plus Jakarta Sans"/>
              </a:rPr>
              <a:t>③ Optional: play with your profile.html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632704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lus Jakarta Sans"/>
              </a:rPr>
              <a:t>• Add more tags from today's slides
• Try changing colours with &lt;style&gt;
• Broken code is fine — bring questions Friday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911</Words>
  <Application>Microsoft Office PowerPoint</Application>
  <PresentationFormat>Custom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JetBrains Mono</vt:lpstr>
      <vt:lpstr>Outfit</vt:lpstr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Mukhiddin Toshpulatov</cp:lastModifiedBy>
  <cp:revision>2</cp:revision>
  <dcterms:created xsi:type="dcterms:W3CDTF">2013-01-27T09:14:16Z</dcterms:created>
  <dcterms:modified xsi:type="dcterms:W3CDTF">2026-09-04T21:15:02Z</dcterms:modified>
  <cp:category/>
</cp:coreProperties>
</file>