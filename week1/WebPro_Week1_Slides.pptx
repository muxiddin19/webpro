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654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0" b="1" i="0">
                <a:solidFill>
                  <a:srgbClr val="0D1F2D"/>
                </a:solidFill>
                <a:latin typeface="Outfit"/>
              </a:rPr>
              <a:t>&lt;/&gt;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8BA4"/>
                </a:solidFill>
                <a:latin typeface="JetBrains Mono"/>
              </a:rPr>
              <a:t>K0126002 · 2026 Fall · 학생회관-100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EDF2F7"/>
                </a:solidFill>
                <a:latin typeface="Outfit"/>
              </a:rPr>
              <a:t>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3736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 dirty="0">
                <a:solidFill>
                  <a:srgbClr val="00C9A7"/>
                </a:solidFill>
                <a:latin typeface="Outfit"/>
              </a:rPr>
              <a:t>Program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46888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EDF2F7"/>
                </a:solidFill>
                <a:latin typeface="Outfit"/>
              </a:rPr>
              <a:t>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625596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 dirty="0">
                <a:solidFill>
                  <a:srgbClr val="5F8BA4"/>
                </a:solidFill>
                <a:latin typeface="Plus Jakarta Sans"/>
              </a:rPr>
              <a:t>Week 1 — Orientation &amp; Introduction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1148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A7"/>
                </a:solidFill>
                <a:latin typeface="JetBrains Mono"/>
              </a:rPr>
              <a:t>INSTRUCTOR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40740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DF2F7"/>
                </a:solidFill>
                <a:latin typeface="Plus Jakarta Sans"/>
              </a:rPr>
              <a:t>Dr. Mukhiddin Toshpulatov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41148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A7"/>
                </a:solidFill>
                <a:latin typeface="JetBrains Mono"/>
              </a:rPr>
              <a:t>SCHEDULE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440740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DF2F7"/>
                </a:solidFill>
                <a:latin typeface="Plus Jakarta Sans"/>
              </a:rPr>
              <a:t>Mon A · Fri E · Fri 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41148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A7"/>
                </a:solidFill>
                <a:latin typeface="JetBrains Mono"/>
              </a:rPr>
              <a:t>CONTACT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440740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DF2F7"/>
                </a:solidFill>
                <a:latin typeface="Plus Jakarta Sans"/>
              </a:rPr>
              <a:t>muhiddin@gachon.ac.kr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6807708"/>
            <a:ext cx="12188952" cy="5029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F8BA4"/>
                </a:solidFill>
                <a:latin typeface="JetBrains Mono"/>
              </a:rPr>
              <a:t>02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A7"/>
                </a:solidFill>
                <a:latin typeface="JetBrains Mono"/>
              </a:rPr>
              <a:t>STUDENT SURVEY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EDF2F7"/>
                </a:solidFill>
                <a:latin typeface="Outfit"/>
              </a:rPr>
              <a:t>Let's start </a:t>
            </a:r>
            <a:r>
              <a:rPr sz="4000" b="1">
                <a:solidFill>
                  <a:srgbClr val="00C9A7"/>
                </a:solidFill>
                <a:latin typeface="Outfit"/>
              </a:rPr>
              <a:t>with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7451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F8BA4"/>
                </a:solidFill>
                <a:latin typeface="JetBrains Mono"/>
              </a:rPr>
              <a:t>TECHNICAL EXPERIENCE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212848"/>
            <a:ext cx="5303520" cy="438912"/>
          </a:xfrm>
          <a:prstGeom prst="rect">
            <a:avLst/>
          </a:prstGeom>
          <a:solidFill>
            <a:srgbClr val="0D1F2D"/>
          </a:solidFill>
          <a:ln w="12700">
            <a:solidFill>
              <a:srgbClr val="5F8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30428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0C9A7"/>
                </a:solidFill>
                <a:latin typeface="JetBrains Mono"/>
              </a:rPr>
              <a:t>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042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EDF2F7"/>
                </a:solidFill>
                <a:latin typeface="Plus Jakarta Sans"/>
              </a:rPr>
              <a:t>I have written HTML before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715768"/>
            <a:ext cx="5303520" cy="438912"/>
          </a:xfrm>
          <a:prstGeom prst="rect">
            <a:avLst/>
          </a:prstGeom>
          <a:solidFill>
            <a:srgbClr val="0D1F2D"/>
          </a:solidFill>
          <a:ln w="12700">
            <a:solidFill>
              <a:srgbClr val="5F8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280720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A7"/>
                </a:solidFill>
                <a:latin typeface="JetBrains Mono"/>
              </a:rPr>
              <a:t>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80720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DF2F7"/>
                </a:solidFill>
                <a:latin typeface="Plus Jakarta Sans"/>
              </a:rPr>
              <a:t>I have used CSS before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218688"/>
            <a:ext cx="5303520" cy="438912"/>
          </a:xfrm>
          <a:prstGeom prst="rect">
            <a:avLst/>
          </a:prstGeom>
          <a:solidFill>
            <a:srgbClr val="0D1F2D"/>
          </a:solidFill>
          <a:ln w="12700">
            <a:solidFill>
              <a:srgbClr val="5F8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331012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A7"/>
                </a:solidFill>
                <a:latin typeface="JetBrains Mono"/>
              </a:rPr>
              <a:t>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31012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DF2F7"/>
                </a:solidFill>
                <a:latin typeface="Plus Jakarta Sans"/>
              </a:rPr>
              <a:t>I have written JavaScript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721608"/>
            <a:ext cx="5303520" cy="438912"/>
          </a:xfrm>
          <a:prstGeom prst="rect">
            <a:avLst/>
          </a:prstGeom>
          <a:solidFill>
            <a:srgbClr val="0D1F2D"/>
          </a:solidFill>
          <a:ln w="12700">
            <a:solidFill>
              <a:srgbClr val="5F8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3232" y="381304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A7"/>
                </a:solidFill>
                <a:latin typeface="JetBrains Mono"/>
              </a:rPr>
              <a:t>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81304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DF2F7"/>
                </a:solidFill>
                <a:latin typeface="Plus Jakarta Sans"/>
              </a:rPr>
              <a:t>I have used VS Code or another code editor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224528"/>
            <a:ext cx="5303520" cy="438912"/>
          </a:xfrm>
          <a:prstGeom prst="rect">
            <a:avLst/>
          </a:prstGeom>
          <a:solidFill>
            <a:srgbClr val="0D1F2D"/>
          </a:solidFill>
          <a:ln w="12700">
            <a:solidFill>
              <a:srgbClr val="5F8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3232" y="431596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A7"/>
                </a:solidFill>
                <a:latin typeface="JetBrains Mono"/>
              </a:rPr>
              <a:t>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31596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DF2F7"/>
                </a:solidFill>
                <a:latin typeface="Plus Jakarta Sans"/>
              </a:rPr>
              <a:t>I have used Git or GitHub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87451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F8BA4"/>
                </a:solidFill>
                <a:latin typeface="JetBrains Mono"/>
              </a:rPr>
              <a:t>SETUP &amp; BACKGROUND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2212848"/>
            <a:ext cx="5303520" cy="438912"/>
          </a:xfrm>
          <a:prstGeom prst="rect">
            <a:avLst/>
          </a:prstGeom>
          <a:solidFill>
            <a:srgbClr val="0D1F2D"/>
          </a:solidFill>
          <a:ln w="12700">
            <a:solidFill>
              <a:srgbClr val="5F8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11112" y="230428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0C9A7"/>
                </a:solidFill>
                <a:latin typeface="JetBrains Mono"/>
              </a:rPr>
              <a:t>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23042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DF2F7"/>
                </a:solidFill>
                <a:latin typeface="Plus Jakarta Sans"/>
              </a:rPr>
              <a:t>I completed programming courses before this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2715768"/>
            <a:ext cx="5303520" cy="438912"/>
          </a:xfrm>
          <a:prstGeom prst="rect">
            <a:avLst/>
          </a:prstGeom>
          <a:solidFill>
            <a:srgbClr val="0D1F2D"/>
          </a:solidFill>
          <a:ln w="12700">
            <a:solidFill>
              <a:srgbClr val="5F8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11112" y="280720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A7"/>
                </a:solidFill>
                <a:latin typeface="JetBrains Mono"/>
              </a:rPr>
              <a:t>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280720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DF2F7"/>
                </a:solidFill>
                <a:latin typeface="Plus Jakarta Sans"/>
              </a:rPr>
              <a:t>I have VS Code already installed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3218688"/>
            <a:ext cx="5303520" cy="438912"/>
          </a:xfrm>
          <a:prstGeom prst="rect">
            <a:avLst/>
          </a:prstGeom>
          <a:solidFill>
            <a:srgbClr val="0D1F2D"/>
          </a:solidFill>
          <a:ln w="12700">
            <a:solidFill>
              <a:srgbClr val="5F8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11112" y="331012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A7"/>
                </a:solidFill>
                <a:latin typeface="JetBrains Mono"/>
              </a:rPr>
              <a:t>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331012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DF2F7"/>
                </a:solidFill>
                <a:latin typeface="Plus Jakarta Sans"/>
              </a:rPr>
              <a:t>I will bring my own laptop to class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3721608"/>
            <a:ext cx="5303520" cy="438912"/>
          </a:xfrm>
          <a:prstGeom prst="rect">
            <a:avLst/>
          </a:prstGeom>
          <a:solidFill>
            <a:srgbClr val="0D1F2D"/>
          </a:solidFill>
          <a:ln w="12700">
            <a:solidFill>
              <a:srgbClr val="5F8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611112" y="381304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A7"/>
                </a:solidFill>
                <a:latin typeface="JetBrains Mono"/>
              </a:rPr>
              <a:t>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381304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DF2F7"/>
                </a:solidFill>
                <a:latin typeface="Plus Jakarta Sans"/>
              </a:rPr>
              <a:t>I have a GitHub account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807708"/>
            <a:ext cx="12188952" cy="5029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F8BA4"/>
                </a:solidFill>
                <a:latin typeface="JetBrains Mono"/>
              </a:rPr>
              <a:t>03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A7"/>
                </a:solidFill>
                <a:latin typeface="JetBrains Mono"/>
              </a:rPr>
              <a:t>COURSE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EDF2F7"/>
                </a:solidFill>
                <a:latin typeface="Outfit"/>
              </a:rPr>
              <a:t>What we </a:t>
            </a:r>
            <a:r>
              <a:rPr sz="4000" b="1">
                <a:solidFill>
                  <a:srgbClr val="00C9A7"/>
                </a:solidFill>
                <a:latin typeface="Outfit"/>
              </a:rPr>
              <a:t>build</a:t>
            </a:r>
            <a:r>
              <a:rPr sz="4000" b="1">
                <a:solidFill>
                  <a:srgbClr val="EDF2F7"/>
                </a:solidFill>
                <a:latin typeface="Outfit"/>
              </a:rPr>
              <a:t> this semester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3657600" cy="91440"/>
          </a:xfrm>
          <a:prstGeom prst="rect">
            <a:avLst/>
          </a:prstGeom>
          <a:solidFill>
            <a:srgbClr val="E34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965960"/>
            <a:ext cx="3657600" cy="3108960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2084831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E34F26"/>
                </a:solidFill>
                <a:latin typeface="JetBrains Mono"/>
              </a:rPr>
              <a:t>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697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DF2F7"/>
                </a:solidFill>
                <a:latin typeface="Outfit"/>
              </a:rPr>
              <a:t>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090672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F8BA4"/>
                </a:solidFill>
                <a:latin typeface="Plus Jakarta Sans"/>
              </a:rPr>
              <a:t>The skeleton of every page — headings, paragraphs, links, images, forms, tables.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" y="4709160"/>
            <a:ext cx="1188720" cy="310896"/>
          </a:xfrm>
          <a:prstGeom prst="rect">
            <a:avLst/>
          </a:prstGeom>
          <a:solidFill>
            <a:srgbClr val="132636"/>
          </a:solidFill>
          <a:ln w="12700">
            <a:solidFill>
              <a:srgbClr val="E34F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" y="473659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34F26"/>
                </a:solidFill>
                <a:latin typeface="JetBrains Mono"/>
              </a:rPr>
              <a:t>Weeks 1–2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874519"/>
            <a:ext cx="3657600" cy="91440"/>
          </a:xfrm>
          <a:prstGeom prst="rect">
            <a:avLst/>
          </a:prstGeom>
          <a:solidFill>
            <a:srgbClr val="296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43400" y="1965960"/>
            <a:ext cx="3657600" cy="3108960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07992" y="2084831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2965F1"/>
                </a:solidFill>
                <a:latin typeface="JetBrains Mono"/>
              </a:rPr>
              <a:t>CSS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2697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DF2F7"/>
                </a:solidFill>
                <a:latin typeface="Outfit"/>
              </a:rPr>
              <a:t>Appearance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3090672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F8BA4"/>
                </a:solidFill>
                <a:latin typeface="Plus Jakarta Sans"/>
              </a:rPr>
              <a:t>Colors, fonts, layout (flexbox/grid), animations, and responsive design.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07992" y="4709160"/>
            <a:ext cx="1188720" cy="310896"/>
          </a:xfrm>
          <a:prstGeom prst="rect">
            <a:avLst/>
          </a:prstGeom>
          <a:solidFill>
            <a:srgbClr val="132636"/>
          </a:solidFill>
          <a:ln w="12700">
            <a:solidFill>
              <a:srgbClr val="296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07992" y="473659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965F1"/>
                </a:solidFill>
                <a:latin typeface="JetBrains Mono"/>
              </a:rPr>
              <a:t>Week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83880" y="1874519"/>
            <a:ext cx="3657600" cy="91440"/>
          </a:xfrm>
          <a:prstGeom prst="rect">
            <a:avLst/>
          </a:prstGeom>
          <a:solidFill>
            <a:srgbClr val="C7B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183880" y="1965960"/>
            <a:ext cx="3657600" cy="3108960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48472" y="2084831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C7B200"/>
                </a:solidFill>
                <a:latin typeface="JetBrains Mono"/>
              </a:rPr>
              <a:t>JS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2" y="2697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DF2F7"/>
                </a:solidFill>
                <a:latin typeface="Outfit"/>
              </a:rPr>
              <a:t>Behavior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8472" y="3090672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F8BA4"/>
                </a:solidFill>
                <a:latin typeface="Plus Jakarta Sans"/>
              </a:rPr>
              <a:t>Events, dynamic updates, API calls — what the page actually does.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48472" y="4709160"/>
            <a:ext cx="1188720" cy="310896"/>
          </a:xfrm>
          <a:prstGeom prst="rect">
            <a:avLst/>
          </a:prstGeom>
          <a:solidFill>
            <a:srgbClr val="132636"/>
          </a:solidFill>
          <a:ln w="12700">
            <a:solidFill>
              <a:srgbClr val="C7B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48472" y="473659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7B200"/>
                </a:solidFill>
                <a:latin typeface="JetBrains Mono"/>
              </a:rPr>
              <a:t>Weeks 4–9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212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F8BA4"/>
                </a:solidFill>
                <a:latin typeface="Plus Jakarta Sans"/>
              </a:rPr>
              <a:t>Final goal → a deployed web application your team builds and presents in Week 14.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807708"/>
            <a:ext cx="12188952" cy="5029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F8BA4"/>
                </a:solidFill>
                <a:latin typeface="JetBrains Mono"/>
              </a:rPr>
              <a:t>04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A7"/>
                </a:solidFill>
                <a:latin typeface="JetBrains Mono"/>
              </a:rPr>
              <a:t>COURSE FORMAT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EDF2F7"/>
                </a:solidFill>
                <a:latin typeface="Outfit"/>
              </a:rPr>
              <a:t>How this class </a:t>
            </a:r>
            <a:r>
              <a:rPr sz="4000" b="1">
                <a:solidFill>
                  <a:srgbClr val="00C9A7"/>
                </a:solidFill>
                <a:latin typeface="Outfit"/>
              </a:rPr>
              <a:t>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3566160" cy="1828800"/>
          </a:xfrm>
          <a:prstGeom prst="rect">
            <a:avLst/>
          </a:prstGeom>
          <a:solidFill>
            <a:srgbClr val="0D1F2D"/>
          </a:solidFill>
          <a:ln w="12700">
            <a:solidFill>
              <a:srgbClr val="5F8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F8BA4"/>
                </a:solidFill>
                <a:latin typeface="JetBrains Mono"/>
              </a:rPr>
              <a:t>BEFORE CLASS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1284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DF2F7"/>
                </a:solidFill>
                <a:latin typeface="Outfit"/>
              </a:rPr>
              <a:t>~25 min video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9748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F8BA4"/>
                </a:solidFill>
                <a:latin typeface="Plus Jakarta Sans"/>
              </a:rPr>
              <a:t>Watch on Cyber Campus.
Complete the short quiz.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03370" y="24688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 dirty="0">
                <a:solidFill>
                  <a:srgbClr val="5F8BA4"/>
                </a:solidFill>
                <a:latin typeface="Outfit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828800"/>
            <a:ext cx="3566160" cy="1828800"/>
          </a:xfrm>
          <a:prstGeom prst="rect">
            <a:avLst/>
          </a:prstGeom>
          <a:solidFill>
            <a:srgbClr val="132636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0560" y="19202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A7"/>
                </a:solidFill>
                <a:latin typeface="JetBrains Mono"/>
              </a:rPr>
              <a:t>IN CLASS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21284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C9A7"/>
                </a:solidFill>
                <a:latin typeface="Outfit"/>
              </a:rPr>
              <a:t>Code · Build · Fix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69748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5F8BA4"/>
                </a:solidFill>
                <a:latin typeface="Plus Jakarta Sans"/>
              </a:rPr>
              <a:t>Hands-on practice,
team projects, discussion.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4800" y="24688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 dirty="0">
                <a:solidFill>
                  <a:srgbClr val="5F8BA4"/>
                </a:solidFill>
                <a:latin typeface="Outfit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80" y="1828800"/>
            <a:ext cx="3566160" cy="1828800"/>
          </a:xfrm>
          <a:prstGeom prst="rect">
            <a:avLst/>
          </a:prstGeom>
          <a:solidFill>
            <a:srgbClr val="0D1F2D"/>
          </a:solidFill>
          <a:ln w="12700">
            <a:solidFill>
              <a:srgbClr val="5F8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0" y="19202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F8BA4"/>
                </a:solidFill>
                <a:latin typeface="JetBrains Mono"/>
              </a:rPr>
              <a:t>AFTER 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21284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DF2F7"/>
                </a:solidFill>
                <a:latin typeface="Outfit"/>
              </a:rPr>
              <a:t>Practice &amp;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69748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F8BA4"/>
                </a:solidFill>
                <a:latin typeface="Plus Jakarta Sans"/>
              </a:rPr>
              <a:t>Reinforce concepts.
Build your team app.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840480"/>
            <a:ext cx="11155680" cy="868680"/>
          </a:xfrm>
          <a:prstGeom prst="rect">
            <a:avLst/>
          </a:prstGeom>
          <a:solidFill>
            <a:srgbClr val="0D1F2D"/>
          </a:solidFill>
          <a:ln w="254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950208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EDF2F7"/>
                </a:solidFill>
                <a:latin typeface="Plus Jakarta Sans"/>
              </a:rPr>
              <a:t>Note — Even in flipped-learning weeks, at least 80% of class time is in-person. No session is replaced by video alone. All 15 weeks run in this classroom.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846320"/>
            <a:ext cx="3611880" cy="777240"/>
          </a:xfrm>
          <a:prstGeom prst="rect">
            <a:avLst/>
          </a:prstGeom>
          <a:solidFill>
            <a:srgbClr val="0D1F2D"/>
          </a:solidFill>
          <a:ln w="12700">
            <a:solidFill>
              <a:srgbClr val="5F8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2648" y="493776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EDF2F7"/>
                </a:solidFill>
                <a:latin typeface="Plus Jakarta Sans"/>
              </a:rPr>
              <a:t>📹 Video attendance — 10% of your grade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51959" y="4846320"/>
            <a:ext cx="3611880" cy="777240"/>
          </a:xfrm>
          <a:prstGeom prst="rect">
            <a:avLst/>
          </a:prstGeom>
          <a:solidFill>
            <a:srgbClr val="0D1F2D"/>
          </a:solidFill>
          <a:ln w="12700">
            <a:solidFill>
              <a:srgbClr val="5F8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61687" y="493776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EDF2F7"/>
                </a:solidFill>
                <a:latin typeface="Plus Jakarta Sans"/>
              </a:rPr>
              <a:t>📝 Pre-class quiz — 10% — done before arriving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00998" y="4846320"/>
            <a:ext cx="3611880" cy="777240"/>
          </a:xfrm>
          <a:prstGeom prst="rect">
            <a:avLst/>
          </a:prstGeom>
          <a:solidFill>
            <a:srgbClr val="0D1F2D"/>
          </a:solidFill>
          <a:ln w="12700">
            <a:solidFill>
              <a:srgbClr val="5F8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10726" y="493776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DF2F7"/>
                </a:solidFill>
                <a:latin typeface="Plus Jakarta Sans"/>
              </a:rPr>
              <a:t>🙋 In-class participation — 15% of your grade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807708"/>
            <a:ext cx="12188952" cy="5029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50292"/>
            <a:ext cx="12188952" cy="6858000"/>
          </a:xfrm>
          <a:prstGeom prst="rect">
            <a:avLst/>
          </a:prstGeom>
          <a:solidFill>
            <a:srgbClr val="06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F8BA4"/>
                </a:solidFill>
                <a:latin typeface="JetBrains Mono"/>
              </a:rPr>
              <a:t>05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A7"/>
                </a:solidFill>
                <a:latin typeface="JetBrains Mono"/>
              </a:rPr>
              <a:t>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EDF2F7"/>
                </a:solidFill>
                <a:latin typeface="Outfit"/>
              </a:rPr>
              <a:t>Your </a:t>
            </a:r>
            <a:r>
              <a:rPr sz="4000" b="1">
                <a:solidFill>
                  <a:srgbClr val="00C9A7"/>
                </a:solidFill>
                <a:latin typeface="Outfit"/>
              </a:rPr>
              <a:t>grade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2024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EDF2F7"/>
                </a:solidFill>
                <a:latin typeface="Plus Jakarta Sans"/>
              </a:rPr>
              <a:t>Attendance &amp; participation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1011" y="2002536"/>
            <a:ext cx="2216281" cy="221027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72783" y="2002536"/>
            <a:ext cx="1288229" cy="179653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833872" y="1947134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0C9A7"/>
                </a:solidFill>
                <a:latin typeface="Outfit"/>
              </a:rPr>
              <a:t>35%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724912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DF2F7"/>
                </a:solidFill>
                <a:latin typeface="Plus Jakarta Sans"/>
              </a:rPr>
              <a:t>Team project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64792" y="2741587"/>
            <a:ext cx="4471416" cy="247022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828800" y="2788921"/>
            <a:ext cx="943983" cy="17656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149840" y="2724912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166"/>
                </a:solidFill>
                <a:latin typeface="Outfit"/>
              </a:rPr>
              <a:t>25%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529584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DF2F7"/>
                </a:solidFill>
                <a:latin typeface="Plus Jakarta Sans"/>
              </a:rPr>
              <a:t>Midterm exam  (Week 8)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51760" y="3586331"/>
            <a:ext cx="3605162" cy="206950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651760" y="3592113"/>
            <a:ext cx="845820" cy="201168"/>
          </a:xfrm>
          <a:prstGeom prst="rect">
            <a:avLst/>
          </a:prstGeom>
          <a:solidFill>
            <a:srgbClr val="5F8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149840" y="3529584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F8BA4"/>
                </a:solidFill>
                <a:latin typeface="Outfit"/>
              </a:rPr>
              <a:t>20%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334256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DF2F7"/>
                </a:solidFill>
                <a:latin typeface="Plus Jakarta Sans"/>
              </a:rPr>
              <a:t>Final exam  (Week 15)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16441" y="4400012"/>
            <a:ext cx="3840481" cy="201168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400300" y="4393692"/>
            <a:ext cx="719418" cy="201168"/>
          </a:xfrm>
          <a:prstGeom prst="rect">
            <a:avLst/>
          </a:prstGeom>
          <a:solidFill>
            <a:srgbClr val="5F8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149840" y="4334256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5F8BA4"/>
                </a:solidFill>
                <a:latin typeface="Outfit"/>
              </a:rPr>
              <a:t>20%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68796" y="1762506"/>
            <a:ext cx="5303520" cy="1325880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06477" y="2018942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rgbClr val="00C9A7"/>
                </a:solidFill>
                <a:latin typeface="Outfit"/>
              </a:rPr>
              <a:t>Attendance = 35%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2340864"/>
            <a:ext cx="4974336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F8BA4"/>
                </a:solidFill>
                <a:latin typeface="Plus Jakarta Sans"/>
              </a:rPr>
              <a:t>10% video · 10% quiz · 15% in-class participation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3246120"/>
            <a:ext cx="5303520" cy="1325880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65392" y="3410712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166"/>
                </a:solidFill>
                <a:latin typeface="Outfit"/>
              </a:rPr>
              <a:t>Team project = 25%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65392" y="3758184"/>
            <a:ext cx="4974336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F8BA4"/>
                </a:solidFill>
                <a:latin typeface="Plus Jakarta Sans"/>
              </a:rPr>
              <a:t>Groups of 3–4 · Submit Week 13 · Present Week 14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4663440"/>
            <a:ext cx="5303520" cy="1325880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65392" y="4828032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6B"/>
                </a:solidFill>
                <a:latin typeface="Outfit"/>
              </a:rPr>
              <a:t>Late penalty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65392" y="5175504"/>
            <a:ext cx="4974336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F8BA4"/>
                </a:solidFill>
                <a:latin typeface="Plus Jakarta Sans"/>
              </a:rPr>
              <a:t>−10% per day late · Zero points after 3 days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807708"/>
            <a:ext cx="12188952" cy="5029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30F453D-D43A-F6D5-A295-6915B2BD09F5}"/>
              </a:ext>
            </a:extLst>
          </p:cNvPr>
          <p:cNvSpPr txBox="1"/>
          <p:nvPr/>
        </p:nvSpPr>
        <p:spPr>
          <a:xfrm>
            <a:off x="5792724" y="2686857"/>
            <a:ext cx="731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1" i="0" dirty="0">
                <a:solidFill>
                  <a:srgbClr val="00C9A7"/>
                </a:solidFill>
                <a:latin typeface="Outfit"/>
              </a:rPr>
              <a:t>2</a:t>
            </a:r>
            <a:r>
              <a:rPr sz="1600" b="1" i="0" dirty="0">
                <a:solidFill>
                  <a:srgbClr val="00C9A7"/>
                </a:solidFill>
                <a:latin typeface="Outfit"/>
              </a:rPr>
              <a:t>5%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62D2340-9C06-86E7-374B-43403CA65CBA}"/>
              </a:ext>
            </a:extLst>
          </p:cNvPr>
          <p:cNvSpPr txBox="1"/>
          <p:nvPr/>
        </p:nvSpPr>
        <p:spPr>
          <a:xfrm>
            <a:off x="5785605" y="3543434"/>
            <a:ext cx="731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1" i="0" dirty="0">
                <a:solidFill>
                  <a:srgbClr val="00C9A7"/>
                </a:solidFill>
                <a:latin typeface="Outfit"/>
              </a:rPr>
              <a:t>20</a:t>
            </a:r>
            <a:r>
              <a:rPr sz="1600" b="1" i="0" dirty="0">
                <a:solidFill>
                  <a:srgbClr val="00C9A7"/>
                </a:solidFill>
                <a:latin typeface="Outfit"/>
              </a:rPr>
              <a:t>%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AC818DD-086A-BE07-A97E-6EDD5F723618}"/>
              </a:ext>
            </a:extLst>
          </p:cNvPr>
          <p:cNvSpPr txBox="1"/>
          <p:nvPr/>
        </p:nvSpPr>
        <p:spPr>
          <a:xfrm>
            <a:off x="5839251" y="4309648"/>
            <a:ext cx="731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1" i="0" dirty="0">
                <a:solidFill>
                  <a:srgbClr val="00C9A7"/>
                </a:solidFill>
                <a:latin typeface="Outfit"/>
              </a:rPr>
              <a:t>20</a:t>
            </a:r>
            <a:r>
              <a:rPr sz="1600" b="1" i="0" dirty="0">
                <a:solidFill>
                  <a:srgbClr val="00C9A7"/>
                </a:solidFill>
                <a:latin typeface="Outfit"/>
              </a:rPr>
              <a:t>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9436" y="0"/>
            <a:ext cx="12188952" cy="6858000"/>
          </a:xfrm>
          <a:prstGeom prst="rect">
            <a:avLst/>
          </a:prstGeom>
          <a:solidFill>
            <a:srgbClr val="06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F8BA4"/>
                </a:solidFill>
                <a:latin typeface="JetBrains Mono"/>
              </a:rPr>
              <a:t>06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A7"/>
                </a:solidFill>
                <a:latin typeface="JetBrains Mono"/>
              </a:rPr>
              <a:t>CLASS 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EDF2F7"/>
                </a:solidFill>
                <a:latin typeface="Outfit"/>
              </a:rPr>
              <a:t>House </a:t>
            </a:r>
            <a:r>
              <a:rPr sz="4000" b="1">
                <a:solidFill>
                  <a:srgbClr val="00C9A7"/>
                </a:solidFill>
                <a:latin typeface="Outfit"/>
              </a:rPr>
              <a:t>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5669280" cy="749808"/>
          </a:xfrm>
          <a:prstGeom prst="rect">
            <a:avLst/>
          </a:prstGeom>
          <a:solidFill>
            <a:srgbClr val="0D1F2D"/>
          </a:solidFill>
          <a:ln w="12700">
            <a:solidFill>
              <a:srgbClr val="5F8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2648" y="205739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A7"/>
                </a:solidFill>
                <a:latin typeface="JetBrains Mono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011679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DF2F7"/>
                </a:solidFill>
                <a:latin typeface="Plus Jakarta Sans"/>
              </a:rPr>
              <a:t>Watch the pre-class video before arriving — not during class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697479"/>
            <a:ext cx="5669280" cy="749808"/>
          </a:xfrm>
          <a:prstGeom prst="rect">
            <a:avLst/>
          </a:prstGeom>
          <a:solidFill>
            <a:srgbClr val="0D1F2D"/>
          </a:solidFill>
          <a:ln w="12700">
            <a:solidFill>
              <a:srgbClr val="5F8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2648" y="288035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A7"/>
                </a:solidFill>
                <a:latin typeface="JetBrains Mono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834639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DF2F7"/>
                </a:solidFill>
                <a:latin typeface="Plus Jakarta Sans"/>
              </a:rPr>
              <a:t>Bring a laptop to every session (let me know if this is a problem)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520439"/>
            <a:ext cx="5669280" cy="749808"/>
          </a:xfrm>
          <a:prstGeom prst="rect">
            <a:avLst/>
          </a:prstGeom>
          <a:solidFill>
            <a:srgbClr val="0D1F2D"/>
          </a:solidFill>
          <a:ln w="12700">
            <a:solidFill>
              <a:srgbClr val="5F8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2648" y="370331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A7"/>
                </a:solidFill>
                <a:latin typeface="JetBrains Mono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657599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DF2F7"/>
                </a:solidFill>
                <a:latin typeface="Plus Jakarta Sans"/>
              </a:rPr>
              <a:t>Missing 4 or more sessions = automatic F regardless of exam scores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343399"/>
            <a:ext cx="5669280" cy="749808"/>
          </a:xfrm>
          <a:prstGeom prst="rect">
            <a:avLst/>
          </a:prstGeom>
          <a:solidFill>
            <a:srgbClr val="0D1F2D"/>
          </a:solidFill>
          <a:ln w="12700">
            <a:solidFill>
              <a:srgbClr val="5F8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2648" y="452627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A7"/>
                </a:solidFill>
                <a:latin typeface="JetBrains Mono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480559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DF2F7"/>
                </a:solidFill>
                <a:latin typeface="Plus Jakarta Sans"/>
              </a:rPr>
              <a:t>Late is better than absent — come in quietly and mark yourself late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166359"/>
            <a:ext cx="5669280" cy="749808"/>
          </a:xfrm>
          <a:prstGeom prst="rect">
            <a:avLst/>
          </a:prstGeom>
          <a:solidFill>
            <a:srgbClr val="0D1F2D"/>
          </a:solidFill>
          <a:ln w="12700">
            <a:solidFill>
              <a:srgbClr val="5F8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2648" y="534923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A7"/>
                </a:solidFill>
                <a:latin typeface="JetBrains Mono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5303519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 dirty="0">
                <a:solidFill>
                  <a:srgbClr val="EDF2F7"/>
                </a:solidFill>
                <a:latin typeface="Plus Jakarta Sans"/>
              </a:rPr>
              <a:t>Office hours: Monday 15:00–18:00, </a:t>
            </a:r>
            <a:r>
              <a:rPr sz="1250" b="0" i="0" dirty="0" err="1">
                <a:solidFill>
                  <a:srgbClr val="EDF2F7"/>
                </a:solidFill>
                <a:latin typeface="Plus Jakarta Sans"/>
              </a:rPr>
              <a:t>AI공학관</a:t>
            </a:r>
            <a:r>
              <a:rPr sz="1250" b="0" i="0" dirty="0">
                <a:solidFill>
                  <a:srgbClr val="EDF2F7"/>
                </a:solidFill>
                <a:latin typeface="Plus Jakarta Sans"/>
              </a:rPr>
              <a:t> 520호, or email anytime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1874519"/>
            <a:ext cx="5669280" cy="749808"/>
          </a:xfrm>
          <a:prstGeom prst="rect">
            <a:avLst/>
          </a:prstGeom>
          <a:solidFill>
            <a:srgbClr val="0D1F2D"/>
          </a:solidFill>
          <a:ln w="12700">
            <a:solidFill>
              <a:srgbClr val="5F8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19088" y="205739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6B"/>
                </a:solidFill>
                <a:latin typeface="JetBrains Mono"/>
              </a:rPr>
              <a:t>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2011679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DF2F7"/>
                </a:solidFill>
                <a:latin typeface="Plus Jakarta Sans"/>
              </a:rPr>
              <a:t>Submitting AI output as your own work without understanding it = violation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2697479"/>
            <a:ext cx="5669280" cy="749808"/>
          </a:xfrm>
          <a:prstGeom prst="rect">
            <a:avLst/>
          </a:prstGeom>
          <a:solidFill>
            <a:srgbClr val="0D1F2D"/>
          </a:solidFill>
          <a:ln w="12700">
            <a:solidFill>
              <a:srgbClr val="5F8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19088" y="288035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6B"/>
                </a:solidFill>
                <a:latin typeface="JetBrains Mono"/>
              </a:rPr>
              <a:t>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2834639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DF2F7"/>
                </a:solidFill>
                <a:latin typeface="Plus Jakarta Sans"/>
              </a:rPr>
              <a:t>Sharing quiz answers or proxy attendance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3520439"/>
            <a:ext cx="5669280" cy="749808"/>
          </a:xfrm>
          <a:prstGeom prst="rect">
            <a:avLst/>
          </a:prstGeom>
          <a:solidFill>
            <a:srgbClr val="0D1F2D"/>
          </a:solidFill>
          <a:ln w="12700">
            <a:solidFill>
              <a:srgbClr val="5F8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19088" y="370331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A7"/>
                </a:solidFill>
                <a:latin typeface="JetBrains Mono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3657599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DF2F7"/>
                </a:solidFill>
                <a:latin typeface="Plus Jakarta Sans"/>
              </a:rPr>
              <a:t>Using AI tools to help you code (Copilot, ChatGPT) is encouraged — in syllabus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4343399"/>
            <a:ext cx="5669280" cy="749808"/>
          </a:xfrm>
          <a:prstGeom prst="rect">
            <a:avLst/>
          </a:prstGeom>
          <a:solidFill>
            <a:srgbClr val="0D1F2D"/>
          </a:solidFill>
          <a:ln w="12700">
            <a:solidFill>
              <a:srgbClr val="5F8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19088" y="452627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A7"/>
                </a:solidFill>
                <a:latin typeface="JetBrains Mono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4480559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DF2F7"/>
                </a:solidFill>
                <a:latin typeface="Plus Jakarta Sans"/>
              </a:rPr>
              <a:t>Questions in English — clarity matters more than perfection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807708"/>
            <a:ext cx="12188952" cy="5029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F8BA4"/>
                </a:solidFill>
                <a:latin typeface="JetBrains Mono"/>
              </a:rPr>
              <a:t>07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A7"/>
                </a:solidFill>
                <a:latin typeface="JetBrains Mono"/>
              </a:rPr>
              <a:t>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EDF2F7"/>
                </a:solidFill>
                <a:latin typeface="Outfit"/>
              </a:rPr>
              <a:t>How the </a:t>
            </a:r>
            <a:r>
              <a:rPr sz="4000" b="1">
                <a:solidFill>
                  <a:srgbClr val="00C9A7"/>
                </a:solidFill>
                <a:latin typeface="Outfit"/>
              </a:rPr>
              <a:t>web</a:t>
            </a:r>
            <a:r>
              <a:rPr sz="4000" b="1">
                <a:solidFill>
                  <a:srgbClr val="EDF2F7"/>
                </a:solidFill>
                <a:latin typeface="Outfit"/>
              </a:rPr>
              <a:t>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83080"/>
            <a:ext cx="3566160" cy="1920240"/>
          </a:xfrm>
          <a:prstGeom prst="rect">
            <a:avLst/>
          </a:prstGeom>
          <a:solidFill>
            <a:srgbClr val="0D1F2D"/>
          </a:solidFill>
          <a:ln w="12700">
            <a:solidFill>
              <a:srgbClr val="5F8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90195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F8BA4"/>
                </a:solidFill>
                <a:latin typeface="JetBrains Mono"/>
              </a:rPr>
              <a:t>YOUR DEVICE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DF2F7"/>
                </a:solidFill>
                <a:latin typeface="Outfit"/>
              </a:rPr>
              <a:t>Browser (Client)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88336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F8BA4"/>
                </a:solidFill>
                <a:latin typeface="JetBrains Mono"/>
              </a:rPr>
              <a:t>Chrome, Firefox, Safari
GET /index.html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2860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F8BA4"/>
                </a:solidFill>
                <a:latin typeface="Outfit"/>
              </a:rPr>
              <a:t>⟶ HTTP request 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783080"/>
            <a:ext cx="3566160" cy="1920240"/>
          </a:xfrm>
          <a:prstGeom prst="rect">
            <a:avLst/>
          </a:prstGeom>
          <a:solidFill>
            <a:srgbClr val="132636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34840" y="190195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9A7"/>
                </a:solidFill>
                <a:latin typeface="JetBrains Mono"/>
              </a:rPr>
              <a:t>SOMEWHERE IN THE WORLD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1945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C9A7"/>
                </a:solidFill>
                <a:latin typeface="Outfit"/>
              </a:rPr>
              <a:t>Web 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688336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5F8BA4"/>
                </a:solidFill>
                <a:latin typeface="JetBrains Mono"/>
              </a:rPr>
              <a:t>Processes request
200 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22860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F8BA4"/>
                </a:solidFill>
                <a:latin typeface="Outfit"/>
              </a:rPr>
              <a:t>⟵ HTML+CSS+JS 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1783080"/>
            <a:ext cx="3566160" cy="1920240"/>
          </a:xfrm>
          <a:prstGeom prst="rect">
            <a:avLst/>
          </a:prstGeom>
          <a:solidFill>
            <a:srgbClr val="0D1F2D"/>
          </a:solidFill>
          <a:ln w="12700">
            <a:solidFill>
              <a:srgbClr val="5F8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0" y="190195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F8BA4"/>
                </a:solidFill>
                <a:latin typeface="JetBrains Mono"/>
              </a:rPr>
              <a:t>BROWSER RENDERS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1945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DF2F7"/>
                </a:solidFill>
                <a:latin typeface="Outfit"/>
              </a:rPr>
              <a:t>Web Page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688336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F8BA4"/>
                </a:solidFill>
                <a:latin typeface="JetBrains Mono"/>
              </a:rPr>
              <a:t>Parsed, styled,
displayed to you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886200"/>
            <a:ext cx="3657600" cy="1234440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7512" y="4050792"/>
            <a:ext cx="3328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9A7"/>
                </a:solidFill>
                <a:latin typeface="Outfit"/>
              </a:rPr>
              <a:t>HTTP / HTTPS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" y="4398264"/>
            <a:ext cx="3328416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8BA4"/>
                </a:solidFill>
                <a:latin typeface="Plus Jakarta Sans"/>
              </a:rPr>
              <a:t>The protocol (language) browser and server use. HTTPS = encrypted.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43400" y="3886200"/>
            <a:ext cx="3657600" cy="1234440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07992" y="4050792"/>
            <a:ext cx="3328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9A7"/>
                </a:solidFill>
                <a:latin typeface="Outfit"/>
              </a:rPr>
              <a:t>URL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07992" y="4398264"/>
            <a:ext cx="3328416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8BA4"/>
                </a:solidFill>
                <a:latin typeface="Plus Jakarta Sans"/>
              </a:rPr>
              <a:t>The address of a resource — page, image, API endpoint, video.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83880" y="3886200"/>
            <a:ext cx="3657600" cy="1234440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48472" y="4050792"/>
            <a:ext cx="3328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9A7"/>
                </a:solidFill>
                <a:latin typeface="Outfit"/>
              </a:rPr>
              <a:t>DNS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48472" y="4398264"/>
            <a:ext cx="3328416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8BA4"/>
                </a:solidFill>
                <a:latin typeface="Plus Jakarta Sans"/>
              </a:rPr>
              <a:t>Converts gachon.ac.kr into an IP address the server actually uses.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807708"/>
            <a:ext cx="12188952" cy="5029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F8BA4"/>
                </a:solidFill>
                <a:latin typeface="JetBrains Mono"/>
              </a:rPr>
              <a:t>08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A7"/>
                </a:solidFill>
                <a:latin typeface="JetBrains Mono"/>
              </a:rPr>
              <a:t>THE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EDF2F7"/>
                </a:solidFill>
                <a:latin typeface="Outfit"/>
              </a:rPr>
              <a:t>Three languages — </a:t>
            </a:r>
            <a:r>
              <a:rPr sz="4000" b="1">
                <a:solidFill>
                  <a:srgbClr val="00C9A7"/>
                </a:solidFill>
                <a:latin typeface="Outfit"/>
              </a:rPr>
              <a:t>one page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3657600" cy="109728"/>
          </a:xfrm>
          <a:prstGeom prst="rect">
            <a:avLst/>
          </a:prstGeom>
          <a:solidFill>
            <a:srgbClr val="E34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984248"/>
            <a:ext cx="3657600" cy="3657600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210312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E34F26"/>
                </a:solidFill>
                <a:latin typeface="JetBrains Mono"/>
              </a:rPr>
              <a:t>&lt;HTML&gt;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81635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DF2F7"/>
                </a:solidFill>
                <a:latin typeface="Outfit"/>
              </a:rPr>
              <a:t>Content &amp; 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218688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F8BA4"/>
                </a:solidFill>
                <a:latin typeface="Plus Jakarta Sans"/>
              </a:rPr>
              <a:t>Headings, paragraphs, links, images, forms, tables.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46177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34F26"/>
                </a:solidFill>
                <a:latin typeface="JetBrains Mono"/>
              </a:rPr>
              <a:t>&lt;h1&gt;  &lt;p&gt;  &lt;a href="…"&gt;  &lt;img&gt;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874519"/>
            <a:ext cx="3657600" cy="109728"/>
          </a:xfrm>
          <a:prstGeom prst="rect">
            <a:avLst/>
          </a:prstGeom>
          <a:solidFill>
            <a:srgbClr val="296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1984248"/>
            <a:ext cx="3657600" cy="3657600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07992" y="210312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2965F1"/>
                </a:solidFill>
                <a:latin typeface="JetBrains Mono"/>
              </a:rPr>
              <a:t>{CSS}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281635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DF2F7"/>
                </a:solidFill>
                <a:latin typeface="Outfit"/>
              </a:rPr>
              <a:t>Presentation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3218688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F8BA4"/>
                </a:solidFill>
                <a:latin typeface="Plus Jakarta Sans"/>
              </a:rPr>
              <a:t>Colors, fonts, spacing, layout, responsive design.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46177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965F1"/>
                </a:solidFill>
                <a:latin typeface="JetBrains Mono"/>
              </a:rPr>
              <a:t>color:  display: flex  @media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83880" y="1874519"/>
            <a:ext cx="3657600" cy="109728"/>
          </a:xfrm>
          <a:prstGeom prst="rect">
            <a:avLst/>
          </a:prstGeom>
          <a:solidFill>
            <a:srgbClr val="C7B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83880" y="1984248"/>
            <a:ext cx="3657600" cy="3657600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48472" y="210312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C7B200"/>
                </a:solidFill>
                <a:latin typeface="JetBrains Mono"/>
              </a:rPr>
              <a:t>JS()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2" y="281635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DF2F7"/>
                </a:solidFill>
                <a:latin typeface="Outfit"/>
              </a:rPr>
              <a:t>Behavior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2" y="3218688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F8BA4"/>
                </a:solidFill>
                <a:latin typeface="Plus Jakarta Sans"/>
              </a:rPr>
              <a:t>Click events, dynamic data, API calls.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2" y="461772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7B200"/>
                </a:solidFill>
                <a:latin typeface="JetBrains Mono"/>
              </a:rPr>
              <a:t>addEventListener  fetch()  DOM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807708"/>
            <a:ext cx="12188952" cy="5029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143"/>
            <a:ext cx="12188952" cy="6858000"/>
          </a:xfrm>
          <a:prstGeom prst="rect">
            <a:avLst/>
          </a:prstGeom>
          <a:solidFill>
            <a:srgbClr val="06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F8BA4"/>
                </a:solidFill>
                <a:latin typeface="JetBrains Mono"/>
              </a:rPr>
              <a:t>09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A7"/>
                </a:solidFill>
                <a:latin typeface="JetBrains Mono"/>
              </a:rPr>
              <a:t>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EDF2F7"/>
                </a:solidFill>
                <a:latin typeface="Outfit"/>
              </a:rPr>
              <a:t>Your </a:t>
            </a:r>
            <a:r>
              <a:rPr sz="4000" b="1">
                <a:solidFill>
                  <a:srgbClr val="00C9A7"/>
                </a:solidFill>
                <a:latin typeface="Outfit"/>
              </a:rPr>
              <a:t>toolkit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5577840" cy="1417320"/>
          </a:xfrm>
          <a:prstGeom prst="rect">
            <a:avLst/>
          </a:prstGeom>
          <a:solidFill>
            <a:srgbClr val="0D1F2D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" y="2039111"/>
            <a:ext cx="5248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DF2F7"/>
                </a:solidFill>
                <a:latin typeface="Outfit"/>
              </a:rPr>
              <a:t>VS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386583"/>
            <a:ext cx="5248656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8BA4"/>
                </a:solidFill>
                <a:latin typeface="Plus Jakarta Sans"/>
              </a:rPr>
              <a:t>Free code editor. Install the Live Server extension — saves a file, instantly refreshes your browser.
code.visualstudio.com → free download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456431"/>
            <a:ext cx="5577840" cy="1188720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" y="3621023"/>
            <a:ext cx="5248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DF2F7"/>
                </a:solidFill>
                <a:latin typeface="Outfit"/>
              </a:rPr>
              <a:t>Browser DevTools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3968495"/>
            <a:ext cx="524865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8BA4"/>
                </a:solidFill>
                <a:latin typeface="Plus Jakarta Sans"/>
              </a:rPr>
              <a:t>Press F12 in Chrome or Firefox. Inspect HTML, live-edit CSS, see network requests — your debugging home base.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874519"/>
            <a:ext cx="5394960" cy="914400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28232" y="2039111"/>
            <a:ext cx="50657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DF2F7"/>
                </a:solidFill>
                <a:latin typeface="Outfit"/>
              </a:rPr>
              <a:t>GitHub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2386583"/>
            <a:ext cx="50657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8BA4"/>
                </a:solidFill>
                <a:latin typeface="Plus Jakarta Sans"/>
              </a:rPr>
              <a:t>Where your team project lives and gets deployed. Free account required. Create your account now.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2953511"/>
            <a:ext cx="5394960" cy="804672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28232" y="3118103"/>
            <a:ext cx="50657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DF2F7"/>
                </a:solidFill>
                <a:latin typeface="Outfit"/>
              </a:rPr>
              <a:t>Cyber Campus (LMS)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3465575"/>
            <a:ext cx="506577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F8BA4"/>
                </a:solidFill>
                <a:latin typeface="Plus Jakarta Sans"/>
              </a:rPr>
              <a:t>Pre-class videos, quizzes, and all submission portals. Check before every class.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3922774"/>
            <a:ext cx="5394960" cy="1997965"/>
          </a:xfrm>
          <a:prstGeom prst="rect">
            <a:avLst/>
          </a:prstGeom>
          <a:solidFill>
            <a:srgbClr val="0D1F2D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28232" y="4087367"/>
            <a:ext cx="50657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rgbClr val="EDF2F7"/>
                </a:solidFill>
                <a:latin typeface="Outfit"/>
              </a:rPr>
              <a:t>Free References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4434839"/>
            <a:ext cx="506577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5F8BA4"/>
                </a:solidFill>
                <a:latin typeface="Plus Jakarta Sans"/>
              </a:rPr>
              <a:t>w3schools.com  </a:t>
            </a:r>
            <a:endParaRPr lang="en-US" sz="1200" b="0" i="0" dirty="0">
              <a:solidFill>
                <a:srgbClr val="5F8BA4"/>
              </a:solidFill>
              <a:latin typeface="Plus Jakarta Sans"/>
            </a:endParaRPr>
          </a:p>
          <a:p>
            <a:pPr algn="l"/>
            <a:r>
              <a:rPr sz="1200" b="0" i="0" dirty="0">
                <a:solidFill>
                  <a:srgbClr val="5F8BA4"/>
                </a:solidFill>
                <a:latin typeface="Plus Jakarta Sans"/>
              </a:rPr>
              <a:t>geeksforgeeks.org
eloquentjavascript.net</a:t>
            </a:r>
            <a:endParaRPr lang="en-US" sz="1200" b="0" i="0" dirty="0">
              <a:solidFill>
                <a:srgbClr val="5F8BA4"/>
              </a:solidFill>
              <a:latin typeface="Plus Jakarta Sans"/>
            </a:endParaRPr>
          </a:p>
          <a:p>
            <a:pPr algn="ctr"/>
            <a:r>
              <a:rPr lang="en-US" altLang="ko-KR" sz="1200" dirty="0">
                <a:solidFill>
                  <a:srgbClr val="5F8BA4"/>
                </a:solidFill>
                <a:latin typeface="Plus Jakarta Sans"/>
              </a:rPr>
              <a:t>Textbooks</a:t>
            </a:r>
          </a:p>
          <a:p>
            <a:pPr algn="l"/>
            <a:r>
              <a:rPr lang="en-US" altLang="ko-KR" sz="1200" dirty="0">
                <a:solidFill>
                  <a:srgbClr val="5F8BA4"/>
                </a:solidFill>
                <a:latin typeface="Plus Jakarta Sans"/>
              </a:rPr>
              <a:t>- HTML and CSS: Design and Build Websites Jon Duckett Wiley 2011</a:t>
            </a:r>
          </a:p>
          <a:p>
            <a:pPr algn="l"/>
            <a:r>
              <a:rPr lang="en-US" altLang="ko-KR" sz="1200" dirty="0">
                <a:solidFill>
                  <a:srgbClr val="5F8BA4"/>
                </a:solidFill>
                <a:latin typeface="Plus Jakarta Sans"/>
              </a:rPr>
              <a:t>- Eloquent JavaScript (3rd Edition) Marijn </a:t>
            </a:r>
            <a:r>
              <a:rPr lang="en-US" altLang="ko-KR" sz="1200" dirty="0" err="1">
                <a:solidFill>
                  <a:srgbClr val="5F8BA4"/>
                </a:solidFill>
                <a:latin typeface="Plus Jakarta Sans"/>
              </a:rPr>
              <a:t>Haverbeke</a:t>
            </a:r>
            <a:r>
              <a:rPr lang="en-US" altLang="ko-KR" sz="1200" dirty="0">
                <a:solidFill>
                  <a:srgbClr val="5F8BA4"/>
                </a:solidFill>
                <a:latin typeface="Plus Jakarta Sans"/>
              </a:rPr>
              <a:t> No Starch Press 2018</a:t>
            </a:r>
          </a:p>
          <a:p>
            <a:pPr algn="l"/>
            <a:r>
              <a:rPr lang="en-US" altLang="ko-KR" sz="1200" dirty="0">
                <a:solidFill>
                  <a:srgbClr val="5F8BA4"/>
                </a:solidFill>
                <a:latin typeface="Plus Jakarta Sans"/>
              </a:rPr>
              <a:t>- You Don't Know JS: Up &amp; Going Kyle Simpson O'Reilly Media 2015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807708"/>
            <a:ext cx="12188952" cy="5029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F8BA4"/>
                </a:solidFill>
                <a:latin typeface="JetBrains Mono"/>
              </a:rPr>
              <a:t>10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A7"/>
                </a:solidFill>
                <a:latin typeface="JetBrains Mono"/>
              </a:rPr>
              <a:t>IN-CLASS ACTIVITY ·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EDF2F7"/>
                </a:solidFill>
                <a:latin typeface="Outfit"/>
              </a:rPr>
              <a:t>Your </a:t>
            </a:r>
            <a:r>
              <a:rPr sz="4000" b="1">
                <a:solidFill>
                  <a:srgbClr val="00C9A7"/>
                </a:solidFill>
                <a:latin typeface="Outfit"/>
              </a:rPr>
              <a:t>first 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5486400" cy="603504"/>
          </a:xfrm>
          <a:prstGeom prst="rect">
            <a:avLst/>
          </a:prstGeom>
          <a:solidFill>
            <a:srgbClr val="0D1F2D"/>
          </a:solidFill>
          <a:ln w="12700">
            <a:solidFill>
              <a:srgbClr val="5F8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201167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DF2F7"/>
                </a:solidFill>
                <a:latin typeface="Plus Jakarta Sans"/>
              </a:rPr>
              <a:t>1  Install VS Code + the Live Server extension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542031"/>
            <a:ext cx="5486400" cy="603504"/>
          </a:xfrm>
          <a:prstGeom prst="rect">
            <a:avLst/>
          </a:prstGeom>
          <a:solidFill>
            <a:srgbClr val="0D1F2D"/>
          </a:solidFill>
          <a:ln w="12700">
            <a:solidFill>
              <a:srgbClr val="5F8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2679191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DF2F7"/>
                </a:solidFill>
                <a:latin typeface="Plus Jakarta Sans"/>
              </a:rPr>
              <a:t>2  Create a folder  web-prog/week1/  on your laptop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209543"/>
            <a:ext cx="5486400" cy="603504"/>
          </a:xfrm>
          <a:prstGeom prst="rect">
            <a:avLst/>
          </a:prstGeom>
          <a:solidFill>
            <a:srgbClr val="0D1F2D"/>
          </a:solidFill>
          <a:ln w="12700">
            <a:solidFill>
              <a:srgbClr val="5F8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3346703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DF2F7"/>
                </a:solidFill>
                <a:latin typeface="Plus Jakarta Sans"/>
              </a:rPr>
              <a:t>3  Inside it, create a file called  index.html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877055"/>
            <a:ext cx="5486400" cy="603504"/>
          </a:xfrm>
          <a:prstGeom prst="rect">
            <a:avLst/>
          </a:prstGeom>
          <a:solidFill>
            <a:srgbClr val="0D1F2D"/>
          </a:solidFill>
          <a:ln w="12700">
            <a:solidFill>
              <a:srgbClr val="5F8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" y="4014215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DF2F7"/>
                </a:solidFill>
                <a:latin typeface="Plus Jakarta Sans"/>
              </a:rPr>
              <a:t>4  Type (don't paste) the skeleton shown → then add your name, country, and one fact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544567"/>
            <a:ext cx="5486400" cy="603504"/>
          </a:xfrm>
          <a:prstGeom prst="rect">
            <a:avLst/>
          </a:prstGeom>
          <a:solidFill>
            <a:srgbClr val="0D1F2D"/>
          </a:solidFill>
          <a:ln w="12700">
            <a:solidFill>
              <a:srgbClr val="5F8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" y="4681727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DF2F7"/>
                </a:solidFill>
                <a:latin typeface="Plus Jakarta Sans"/>
              </a:rPr>
              <a:t>5  Click Go Live in VS Code — see it in your browser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212079"/>
            <a:ext cx="5486400" cy="603504"/>
          </a:xfrm>
          <a:prstGeom prst="rect">
            <a:avLst/>
          </a:prstGeom>
          <a:solidFill>
            <a:srgbClr val="0D1F2D"/>
          </a:solidFill>
          <a:ln w="12700">
            <a:solidFill>
              <a:srgbClr val="5F8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" y="534923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DF2F7"/>
                </a:solidFill>
                <a:latin typeface="Plus Jakarta Sans"/>
              </a:rPr>
              <a:t>6  Show the person next to you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874519"/>
            <a:ext cx="5394960" cy="3794760"/>
          </a:xfrm>
          <a:prstGeom prst="rect">
            <a:avLst/>
          </a:prstGeom>
          <a:solidFill>
            <a:srgbClr val="132636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2011680"/>
            <a:ext cx="502920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C9A7"/>
                </a:solidFill>
                <a:latin typeface="JetBrains Mono"/>
              </a:rPr>
              <a:t>&lt;!DOCTYPE html&gt;
&lt;html lang="en"&gt;
&lt;head&gt;
  &lt;meta charset="UTF-8"&gt;
  &lt;title&gt;My Page&lt;/title&gt;
&lt;/head&gt;
&lt;body&gt;
  &lt;h1&gt;Hello, I am ...&lt;/h1&gt;
  &lt;p&gt;I am from ...&lt;/p&gt;
  &lt;p&gt;One fact: ...&lt;/p&gt;
&lt;/body&gt;
&lt;/html&gt;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807708"/>
            <a:ext cx="12188952" cy="5029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F8BA4"/>
                </a:solidFill>
                <a:latin typeface="JetBrains Mono"/>
              </a:rPr>
              <a:t>11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A7"/>
                </a:solidFill>
                <a:latin typeface="JetBrains Mono"/>
              </a:rPr>
              <a:t>BEFORE NEXT CLASS · WEEK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EDF2F7"/>
                </a:solidFill>
                <a:latin typeface="Outfit"/>
              </a:rPr>
              <a:t>Before </a:t>
            </a:r>
            <a:r>
              <a:rPr sz="4000" b="1">
                <a:solidFill>
                  <a:srgbClr val="00C9A7"/>
                </a:solidFill>
                <a:latin typeface="Outfit"/>
              </a:rPr>
              <a:t>Friday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74519"/>
            <a:ext cx="5577840" cy="1234440"/>
          </a:xfrm>
          <a:prstGeom prst="rect">
            <a:avLst/>
          </a:prstGeom>
          <a:solidFill>
            <a:srgbClr val="0D1F2D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" y="2039111"/>
            <a:ext cx="5248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9A7"/>
                </a:solidFill>
                <a:latin typeface="Outfit"/>
              </a:rPr>
              <a:t>📹  Watch: HTML Structure &amp; Semantic Markup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386583"/>
            <a:ext cx="5248656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F8BA4"/>
                </a:solidFill>
                <a:latin typeface="Plus Jakarta Sans"/>
              </a:rPr>
              <a:t>Cyber Campus  ·  ~25 minute video
Watch it before Friday's class, not during.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246120"/>
            <a:ext cx="5577840" cy="1051560"/>
          </a:xfrm>
          <a:prstGeom prst="rect">
            <a:avLst/>
          </a:prstGeom>
          <a:solidFill>
            <a:srgbClr val="0D1F2D"/>
          </a:solidFill>
          <a:ln w="127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" y="3410712"/>
            <a:ext cx="5248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166"/>
                </a:solidFill>
                <a:latin typeface="Outfit"/>
              </a:rPr>
              <a:t>📝  Pre-class Quiz · 5 questions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3758184"/>
            <a:ext cx="524865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F8BA4"/>
                </a:solidFill>
                <a:latin typeface="Plus Jakarta Sans"/>
              </a:rPr>
              <a:t>Complete right after the video. Counts toward your 10% quiz grade.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874519"/>
            <a:ext cx="5394960" cy="1234440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28232" y="2039111"/>
            <a:ext cx="50657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DF2F7"/>
                </a:solidFill>
                <a:latin typeface="Outfit"/>
              </a:rPr>
              <a:t>Week 2 topics: HTML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2386583"/>
            <a:ext cx="5065776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F8BA4"/>
                </a:solidFill>
                <a:latin typeface="Plus Jakarta Sans"/>
              </a:rPr>
              <a:t>Headings, paragraphs, links, images, lists, and semantic elements:
&lt;header&gt;  &lt;main&gt;  &lt;article&gt;  &lt;footer&gt;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3246120"/>
            <a:ext cx="5394960" cy="1325880"/>
          </a:xfrm>
          <a:prstGeom prst="rect">
            <a:avLst/>
          </a:prstGeom>
          <a:solidFill>
            <a:srgbClr val="0D1F2D"/>
          </a:solidFill>
          <a:ln w="127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28232" y="3410712"/>
            <a:ext cx="50657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DF2F7"/>
                </a:solidFill>
                <a:latin typeface="Outfit"/>
              </a:rPr>
              <a:t>Questions?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3758184"/>
            <a:ext cx="5065776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F8BA4"/>
                </a:solidFill>
                <a:latin typeface="Plus Jakarta Sans"/>
              </a:rPr>
              <a:t>muhiddin@gachon.ac.kr
Office hours: Monday 15:00–18:00
AI공학관 520호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4709159"/>
            <a:ext cx="5394960" cy="1092709"/>
          </a:xfrm>
          <a:prstGeom prst="rect">
            <a:avLst/>
          </a:prstGeom>
          <a:solidFill>
            <a:srgbClr val="0D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28232" y="4873752"/>
            <a:ext cx="50657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5F8BA4"/>
                </a:solidFill>
                <a:latin typeface="Outfit"/>
              </a:rPr>
              <a:t>Good references this week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5221224"/>
            <a:ext cx="50657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5F8BA4"/>
                </a:solidFill>
                <a:latin typeface="Plus Jakarta Sans"/>
              </a:rPr>
              <a:t>w3schools.com/html  </a:t>
            </a:r>
            <a:endParaRPr lang="en-US" sz="1200" b="0" i="0" dirty="0">
              <a:solidFill>
                <a:srgbClr val="5F8BA4"/>
              </a:solidFill>
              <a:latin typeface="Plus Jakarta Sans"/>
            </a:endParaRPr>
          </a:p>
          <a:p>
            <a:pPr algn="l"/>
            <a:r>
              <a:rPr sz="1200" b="0" i="0" dirty="0">
                <a:solidFill>
                  <a:srgbClr val="5F8BA4"/>
                </a:solidFill>
                <a:latin typeface="Plus Jakarta Sans"/>
              </a:rPr>
              <a:t>geeksforgeeks.org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807708"/>
            <a:ext cx="12188952" cy="5029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1156</Words>
  <Application>Microsoft Office PowerPoint</Application>
  <PresentationFormat>Custom</PresentationFormat>
  <Paragraphs>187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JetBrains Mono</vt:lpstr>
      <vt:lpstr>Outfit</vt:lpstr>
      <vt:lpstr>Plus Jakarta Sans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Mukhiddin Toshpulatov</cp:lastModifiedBy>
  <cp:revision>11</cp:revision>
  <dcterms:created xsi:type="dcterms:W3CDTF">2013-01-27T09:14:16Z</dcterms:created>
  <dcterms:modified xsi:type="dcterms:W3CDTF">2026-09-03T09:46:28Z</dcterms:modified>
  <cp:category/>
</cp:coreProperties>
</file>